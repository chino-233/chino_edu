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12"/>
  </p:notesMasterIdLst>
  <p:sldIdLst>
    <p:sldId id="256" r:id="rId2"/>
    <p:sldId id="257" r:id="rId3"/>
    <p:sldId id="312" r:id="rId4"/>
    <p:sldId id="295" r:id="rId5"/>
    <p:sldId id="314" r:id="rId6"/>
    <p:sldId id="297" r:id="rId7"/>
    <p:sldId id="315" r:id="rId8"/>
    <p:sldId id="298" r:id="rId9"/>
    <p:sldId id="299" r:id="rId10"/>
    <p:sldId id="269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28" autoAdjust="0"/>
  </p:normalViewPr>
  <p:slideViewPr>
    <p:cSldViewPr>
      <p:cViewPr varScale="1">
        <p:scale>
          <a:sx n="101" d="100"/>
          <a:sy n="101" d="100"/>
        </p:scale>
        <p:origin x="345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1E426-506A-4EB7-96EA-C1F3EDAB1006}" type="datetimeFigureOut">
              <a:rPr lang="zh-CN" altLang="en-US" smtClean="0"/>
              <a:t>2021/11/29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B04B2-861A-4C95-A24A-12981646B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101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0413" cy="3429000"/>
          </a:xfrm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fld id="{49F17852-88E2-4383-9323-AFF73FD3FA36}" type="slidenum">
              <a:rPr lang="zh-CN" altLang="en-US" smtClean="0">
                <a:latin typeface="Calibri" pitchFamily="34" charset="0"/>
              </a:rPr>
              <a:pPr>
                <a:buFont typeface="Arial" charset="0"/>
                <a:buNone/>
              </a:pPr>
              <a:t>1</a:t>
            </a:fld>
            <a:endParaRPr lang="en-US" altLang="zh-CN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0413" cy="3429000"/>
          </a:xfrm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fld id="{D1EDA361-EBAA-4783-8D17-E567095C1B18}" type="slidenum">
              <a:rPr lang="zh-CN" altLang="en-US" smtClean="0">
                <a:latin typeface="Calibri" pitchFamily="34" charset="0"/>
              </a:rPr>
              <a:pPr>
                <a:buFont typeface="Arial" charset="0"/>
                <a:buNone/>
              </a:pPr>
              <a:t>2</a:t>
            </a:fld>
            <a:endParaRPr lang="en-US" altLang="zh-CN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B04B2-861A-4C95-A24A-12981646BFD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134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B04B2-861A-4C95-A24A-12981646BFD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98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B30CF0-75E1-4053-887D-B1538C8EAEA2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39CCE9-7BB8-49FD-9FDB-7148EBB6417D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95778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25DD46-EE38-47FF-BEF0-70B37DAEDFFC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85FFE-A842-4E55-96ED-237B4EC0DB7F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36890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1F249-AF14-47F1-A92F-A6B327A01BC3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42C4C-4FFD-46CB-971E-830434BE259F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17448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524000"/>
            <a:ext cx="40005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524000"/>
            <a:ext cx="40005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37CC4-A07F-4168-ABD0-FB82CA856269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E54618-A427-4C02-964B-2AAE353B2FA4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82483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D558B-EC76-4244-A4D4-BC06947B2E31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509D7-1C1A-426F-9D99-EADC20C23077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90376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A234C-68F6-4C39-AB99-3A136B14137D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12DF02-1E6A-485E-8932-029630DA8ED2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14757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BF0A1-C534-48D2-A402-431622CFED69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8CE3E8-F3E4-42F0-89AD-DD1DF6D9A50D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37268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1CE4D-DFD9-406F-B041-A925086080C6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1834DF-E5E8-4442-8357-768457E1ED09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04220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FD800-C54F-4636-889D-7D003081ED28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06470-11CB-45A9-9D68-BCE4D12A7764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14952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5FE23-EBDC-4A02-AACB-34D0B6A1B7D4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CF1D4-345D-4A6B-9A63-8819EAAC33E7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20314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381000"/>
            <a:ext cx="203835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6265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B7042-89BB-456A-A344-53D4B7143F6D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04C95-57EC-4846-B1D9-9F2A4A608CBF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03090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0010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24000"/>
            <a:ext cx="8153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98CAFA4-FBE3-404D-9B5C-76542AFD27FF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B7CD0FF-435F-40EC-BE4F-EC8637DBC60F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0" y="1052513"/>
            <a:ext cx="3708400" cy="73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0" y="1052513"/>
            <a:ext cx="6692900" cy="476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56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ransition>
    <p:wipe/>
  </p:transition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Cambria" pitchFamily="18" charset="0"/>
          <a:ea typeface="华文中宋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Cambria" pitchFamily="18" charset="0"/>
          <a:ea typeface="华文中宋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Cambria" pitchFamily="18" charset="0"/>
          <a:ea typeface="华文中宋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Cambria" pitchFamily="18" charset="0"/>
          <a:ea typeface="华文中宋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Cambria" pitchFamily="18" charset="0"/>
          <a:ea typeface="华文中宋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Cambria" pitchFamily="18" charset="0"/>
          <a:ea typeface="华文中宋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Cambria" pitchFamily="18" charset="0"/>
          <a:ea typeface="华文中宋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Cambria" pitchFamily="18" charset="0"/>
          <a:ea typeface="华文中宋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8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F1B92D-64DC-4B36-8E90-A7EA0C31603F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A270EF-FF59-489D-8AA1-B2F6811A934F}" type="slidenum">
              <a:rPr lang="zh-CN" alt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2050" name="标题 3"/>
          <p:cNvSpPr>
            <a:spLocks noGrp="1"/>
          </p:cNvSpPr>
          <p:nvPr>
            <p:ph type="ctrTitle" idx="4294967295"/>
          </p:nvPr>
        </p:nvSpPr>
        <p:spPr>
          <a:xfrm>
            <a:off x="0" y="1989138"/>
            <a:ext cx="9144000" cy="792162"/>
          </a:xfrm>
        </p:spPr>
        <p:txBody>
          <a:bodyPr/>
          <a:lstStyle/>
          <a:p>
            <a:pPr algn="ctr"/>
            <a:r>
              <a:rPr lang="zh-CN" altLang="en-US" sz="44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数 学 分 析（</a:t>
            </a:r>
            <a:r>
              <a:rPr lang="en-US" altLang="zh-CN" sz="44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44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sz="4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1" name="副标题 4"/>
          <p:cNvSpPr txBox="1">
            <a:spLocks noChangeArrowheads="1"/>
          </p:cNvSpPr>
          <p:nvPr/>
        </p:nvSpPr>
        <p:spPr bwMode="auto">
          <a:xfrm>
            <a:off x="2771775" y="3573016"/>
            <a:ext cx="3101975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授课教师：刘强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spcBef>
                <a:spcPct val="20000"/>
              </a:spcBef>
            </a:pPr>
            <a:endParaRPr lang="en-US" altLang="zh-CN" sz="1000" dirty="0"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科技楼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413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微软雅黑" pitchFamily="34" charset="-122"/>
                <a:ea typeface="微软雅黑" pitchFamily="34" charset="-122"/>
              </a:rPr>
              <a:t>Tel: 26538957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                </a:t>
            </a:r>
            <a:endParaRPr lang="en-US" sz="3200" dirty="0"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spcBef>
                <a:spcPct val="20000"/>
              </a:spcBef>
            </a:pPr>
            <a:endParaRPr 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44463" y="500063"/>
            <a:ext cx="80279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深圳大学-数学与统计学院</a:t>
            </a:r>
          </a:p>
        </p:txBody>
      </p:sp>
    </p:spTree>
    <p:extLst>
      <p:ext uri="{BB962C8B-B14F-4D97-AF65-F5344CB8AC3E}">
        <p14:creationId xmlns:p14="http://schemas.microsoft.com/office/powerpoint/2010/main" val="248634208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3350" y="142875"/>
            <a:ext cx="6310313" cy="836613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</a:rPr>
              <a:t>第</a:t>
            </a:r>
            <a:r>
              <a:rPr lang="en-US" altLang="zh-CN" b="1" dirty="0">
                <a:solidFill>
                  <a:schemeClr val="tx1"/>
                </a:solidFill>
              </a:rPr>
              <a:t>21</a:t>
            </a:r>
            <a:r>
              <a:rPr lang="zh-CN" altLang="en-US" b="1" dirty="0">
                <a:solidFill>
                  <a:schemeClr val="tx1"/>
                </a:solidFill>
              </a:rPr>
              <a:t>章   重积分</a:t>
            </a:r>
            <a:endParaRPr lang="zh-CN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835150"/>
            <a:ext cx="7777162" cy="4762500"/>
          </a:xfrm>
        </p:spPr>
        <p:txBody>
          <a:bodyPr/>
          <a:lstStyle/>
          <a:p>
            <a:pPr marL="0" indent="0">
              <a:lnSpc>
                <a:spcPct val="14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3200" dirty="0"/>
              <a:t>§6</a:t>
            </a:r>
            <a:r>
              <a:rPr lang="zh-CN" altLang="en-US" sz="3200" dirty="0"/>
              <a:t>  重积分的应用</a:t>
            </a:r>
            <a:endParaRPr lang="en-US" altLang="zh-CN" sz="3200" dirty="0"/>
          </a:p>
          <a:p>
            <a:pPr marL="0" indent="0">
              <a:lnSpc>
                <a:spcPct val="14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sz="800" dirty="0">
              <a:latin typeface="微软雅黑" pitchFamily="34" charset="-122"/>
              <a:ea typeface="微软雅黑" pitchFamily="34" charset="-122"/>
              <a:sym typeface="Arial" charset="0"/>
            </a:endParaRPr>
          </a:p>
          <a:p>
            <a:pPr marL="0" indent="0">
              <a:lnSpc>
                <a:spcPct val="14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sz="3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345BB7-E7D6-43C3-B41F-5122DB38ECCD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8DF144-6F20-4E1A-B591-7627BBDA85F5}" type="slidenum">
              <a:rPr lang="zh-CN" altLang="en-US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7896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Text Box 3">
            <a:extLst>
              <a:ext uri="{FF2B5EF4-FFF2-40B4-BE49-F238E27FC236}">
                <a16:creationId xmlns:a16="http://schemas.microsoft.com/office/drawing/2014/main" id="{F3054922-9007-470F-87D3-E7C503A45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132856"/>
            <a:ext cx="8064896" cy="1954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dirty="0"/>
              <a:t>         设空间有</a:t>
            </a:r>
            <a:r>
              <a:rPr lang="en-US" altLang="zh-CN" sz="2800" i="1" dirty="0"/>
              <a:t>n</a:t>
            </a:r>
            <a:r>
              <a:rPr lang="zh-CN" altLang="en-US" sz="2800" dirty="0"/>
              <a:t>个质点</a:t>
            </a:r>
            <a:r>
              <a:rPr lang="en-US" altLang="zh-CN" sz="2800" dirty="0"/>
              <a:t>,</a:t>
            </a:r>
            <a:r>
              <a:rPr lang="zh-CN" altLang="en-US" sz="2800" dirty="0"/>
              <a:t>分别位于                          其质量分别为                                           由力学知</a:t>
            </a:r>
            <a:r>
              <a:rPr lang="en-US" altLang="zh-CN" sz="2800" dirty="0"/>
              <a:t>, </a:t>
            </a:r>
            <a:r>
              <a:rPr lang="zh-CN" altLang="en-US" sz="2800" dirty="0"/>
              <a:t>该质点系的质心坐标为</a:t>
            </a:r>
            <a:endParaRPr lang="en-US" altLang="zh-CN" sz="2800" dirty="0"/>
          </a:p>
        </p:txBody>
      </p:sp>
      <p:graphicFrame>
        <p:nvGraphicFramePr>
          <p:cNvPr id="65540" name="Object 4">
            <a:extLst>
              <a:ext uri="{FF2B5EF4-FFF2-40B4-BE49-F238E27FC236}">
                <a16:creationId xmlns:a16="http://schemas.microsoft.com/office/drawing/2014/main" id="{D4221C7A-3BC0-4B27-886F-CC3EB3536F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080" y="2276936"/>
          <a:ext cx="1984000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3" imgW="787320" imgH="228600" progId="Equation.DSMT4">
                  <p:embed/>
                </p:oleObj>
              </mc:Choice>
              <mc:Fallback>
                <p:oleObj name="Equation" r:id="rId3" imgW="787320" imgH="228600" progId="Equation.DSMT4">
                  <p:embed/>
                  <p:pic>
                    <p:nvPicPr>
                      <p:cNvPr id="65540" name="Object 4">
                        <a:extLst>
                          <a:ext uri="{FF2B5EF4-FFF2-40B4-BE49-F238E27FC236}">
                            <a16:creationId xmlns:a16="http://schemas.microsoft.com/office/drawing/2014/main" id="{D4221C7A-3BC0-4B27-886F-CC3EB3536F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2276936"/>
                        <a:ext cx="1984000" cy="57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7">
            <a:extLst>
              <a:ext uri="{FF2B5EF4-FFF2-40B4-BE49-F238E27FC236}">
                <a16:creationId xmlns:a16="http://schemas.microsoft.com/office/drawing/2014/main" id="{90F3B920-C381-4D80-B52B-3A345270DB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688" y="2925008"/>
          <a:ext cx="3296000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5" imgW="1307880" imgH="228600" progId="Equation.DSMT4">
                  <p:embed/>
                </p:oleObj>
              </mc:Choice>
              <mc:Fallback>
                <p:oleObj name="Equation" r:id="rId5" imgW="1307880" imgH="228600" progId="Equation.DSMT4">
                  <p:embed/>
                  <p:pic>
                    <p:nvPicPr>
                      <p:cNvPr id="65543" name="Object 7">
                        <a:extLst>
                          <a:ext uri="{FF2B5EF4-FFF2-40B4-BE49-F238E27FC236}">
                            <a16:creationId xmlns:a16="http://schemas.microsoft.com/office/drawing/2014/main" id="{90F3B920-C381-4D80-B52B-3A345270DB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925008"/>
                        <a:ext cx="3296000" cy="57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5" name="Object 9">
            <a:extLst>
              <a:ext uri="{FF2B5EF4-FFF2-40B4-BE49-F238E27FC236}">
                <a16:creationId xmlns:a16="http://schemas.microsoft.com/office/drawing/2014/main" id="{3F862302-F38C-4CB4-A855-64EED13E5B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966" y="4522018"/>
          <a:ext cx="2309454" cy="20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7" imgW="927000" imgH="838080" progId="Equation.DSMT4">
                  <p:embed/>
                </p:oleObj>
              </mc:Choice>
              <mc:Fallback>
                <p:oleObj name="Equation" r:id="rId7" imgW="927000" imgH="838080" progId="Equation.DSMT4">
                  <p:embed/>
                  <p:pic>
                    <p:nvPicPr>
                      <p:cNvPr id="65545" name="Object 9">
                        <a:extLst>
                          <a:ext uri="{FF2B5EF4-FFF2-40B4-BE49-F238E27FC236}">
                            <a16:creationId xmlns:a16="http://schemas.microsoft.com/office/drawing/2014/main" id="{3F862302-F38C-4CB4-A855-64EED13E5B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66" y="4522018"/>
                        <a:ext cx="2309454" cy="208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6" name="Object 10">
            <a:extLst>
              <a:ext uri="{FF2B5EF4-FFF2-40B4-BE49-F238E27FC236}">
                <a16:creationId xmlns:a16="http://schemas.microsoft.com/office/drawing/2014/main" id="{7A801E87-7848-4C51-82E7-BEB636CD79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1029" y="4522018"/>
          <a:ext cx="2341091" cy="20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9" imgW="939600" imgH="838080" progId="Equation.DSMT4">
                  <p:embed/>
                </p:oleObj>
              </mc:Choice>
              <mc:Fallback>
                <p:oleObj name="Equation" r:id="rId9" imgW="939600" imgH="838080" progId="Equation.DSMT4">
                  <p:embed/>
                  <p:pic>
                    <p:nvPicPr>
                      <p:cNvPr id="65546" name="Object 10">
                        <a:extLst>
                          <a:ext uri="{FF2B5EF4-FFF2-40B4-BE49-F238E27FC236}">
                            <a16:creationId xmlns:a16="http://schemas.microsoft.com/office/drawing/2014/main" id="{7A801E87-7848-4C51-82E7-BEB636CD79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029" y="4522018"/>
                        <a:ext cx="2341091" cy="208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7" name="Object 11">
            <a:extLst>
              <a:ext uri="{FF2B5EF4-FFF2-40B4-BE49-F238E27FC236}">
                <a16:creationId xmlns:a16="http://schemas.microsoft.com/office/drawing/2014/main" id="{086A0522-9F79-47E4-B1C1-F28249AFFE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152" y="4522018"/>
          <a:ext cx="2214545" cy="20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11" imgW="888840" imgH="838080" progId="Equation.DSMT4">
                  <p:embed/>
                </p:oleObj>
              </mc:Choice>
              <mc:Fallback>
                <p:oleObj name="Equation" r:id="rId11" imgW="888840" imgH="838080" progId="Equation.DSMT4">
                  <p:embed/>
                  <p:pic>
                    <p:nvPicPr>
                      <p:cNvPr id="65547" name="Object 11">
                        <a:extLst>
                          <a:ext uri="{FF2B5EF4-FFF2-40B4-BE49-F238E27FC236}">
                            <a16:creationId xmlns:a16="http://schemas.microsoft.com/office/drawing/2014/main" id="{086A0522-9F79-47E4-B1C1-F28249AFFE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4522018"/>
                        <a:ext cx="2214545" cy="208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2">
            <a:extLst>
              <a:ext uri="{FF2B5EF4-FFF2-40B4-BE49-F238E27FC236}">
                <a16:creationId xmlns:a16="http://schemas.microsoft.com/office/drawing/2014/main" id="{383C3F21-BCEE-434A-B7D1-9134A6023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" y="115888"/>
            <a:ext cx="3892412" cy="78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buClr>
                <a:schemeClr val="tx1"/>
              </a:buClr>
              <a:buFont typeface="Arial" pitchFamily="34" charset="0"/>
              <a:buNone/>
              <a:defRPr/>
            </a:pPr>
            <a:r>
              <a:rPr lang="en-US" altLang="zh-CN" sz="3600" b="1" dirty="0">
                <a:latin typeface="+mj-lt"/>
                <a:ea typeface="+mj-ea"/>
                <a:cs typeface="+mj-cs"/>
              </a:rPr>
              <a:t>§6  </a:t>
            </a:r>
            <a:r>
              <a:rPr lang="zh-CN" altLang="en-US" sz="3600" b="1" dirty="0">
                <a:latin typeface="+mj-lt"/>
                <a:ea typeface="+mj-ea"/>
                <a:cs typeface="+mj-cs"/>
              </a:rPr>
              <a:t>重积分的应用</a:t>
            </a:r>
            <a:endParaRPr lang="en-US" altLang="zh-CN" sz="3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5A81F4FD-C727-4ED7-A9D8-B8DDC67D6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19" y="1340768"/>
            <a:ext cx="3200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9pPr>
          </a:lstStyle>
          <a:p>
            <a:r>
              <a:rPr lang="zh-CN" altLang="en-US" sz="3200" b="1" kern="0" dirty="0">
                <a:ea typeface="楷体_GB2312" pitchFamily="49" charset="-122"/>
              </a:rPr>
              <a:t>二、物体的质心</a:t>
            </a:r>
          </a:p>
        </p:txBody>
      </p:sp>
    </p:spTree>
    <p:extLst>
      <p:ext uri="{BB962C8B-B14F-4D97-AF65-F5344CB8AC3E}">
        <p14:creationId xmlns:p14="http://schemas.microsoft.com/office/powerpoint/2010/main" val="2557378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2">
            <a:extLst>
              <a:ext uri="{FF2B5EF4-FFF2-40B4-BE49-F238E27FC236}">
                <a16:creationId xmlns:a16="http://schemas.microsoft.com/office/drawing/2014/main" id="{383C3F21-BCEE-434A-B7D1-9134A6023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" y="115888"/>
            <a:ext cx="3892412" cy="78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buClr>
                <a:schemeClr val="tx1"/>
              </a:buClr>
              <a:buFont typeface="Arial" pitchFamily="34" charset="0"/>
              <a:buNone/>
              <a:defRPr/>
            </a:pPr>
            <a:r>
              <a:rPr lang="en-US" altLang="zh-CN" sz="3600" b="1" dirty="0">
                <a:latin typeface="+mj-lt"/>
                <a:ea typeface="+mj-ea"/>
                <a:cs typeface="+mj-cs"/>
              </a:rPr>
              <a:t>§6  </a:t>
            </a:r>
            <a:r>
              <a:rPr lang="zh-CN" altLang="en-US" sz="3600" b="1" dirty="0">
                <a:latin typeface="+mj-lt"/>
                <a:ea typeface="+mj-ea"/>
                <a:cs typeface="+mj-cs"/>
              </a:rPr>
              <a:t>重积分的应用</a:t>
            </a:r>
            <a:endParaRPr lang="en-US" altLang="zh-CN" sz="3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5A81F4FD-C727-4ED7-A9D8-B8DDC67D6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19" y="1340768"/>
            <a:ext cx="3200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9pPr>
          </a:lstStyle>
          <a:p>
            <a:r>
              <a:rPr lang="zh-CN" altLang="en-US" sz="3200" b="1" kern="0" dirty="0">
                <a:ea typeface="楷体_GB2312" pitchFamily="49" charset="-122"/>
              </a:rPr>
              <a:t>二、物体的质心</a:t>
            </a:r>
          </a:p>
        </p:txBody>
      </p:sp>
      <p:sp>
        <p:nvSpPr>
          <p:cNvPr id="30" name="Text Box 12">
            <a:extLst>
              <a:ext uri="{FF2B5EF4-FFF2-40B4-BE49-F238E27FC236}">
                <a16:creationId xmlns:a16="http://schemas.microsoft.com/office/drawing/2014/main" id="{1A896509-5C06-4992-8A5C-36564CE81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2184584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   设物体占有空间域 </a:t>
            </a:r>
            <a:r>
              <a:rPr lang="zh-CN" altLang="en-US" sz="2800" dirty="0">
                <a:solidFill>
                  <a:schemeClr val="tx2"/>
                </a:solidFill>
                <a:sym typeface="Symbol" panose="05050102010706020507" pitchFamily="18" charset="2"/>
              </a:rPr>
              <a:t></a:t>
            </a:r>
            <a:r>
              <a:rPr lang="zh-CN" altLang="en-US" sz="2800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endParaRPr lang="en-US" altLang="zh-CN" sz="2800" dirty="0"/>
          </a:p>
        </p:txBody>
      </p:sp>
      <p:graphicFrame>
        <p:nvGraphicFramePr>
          <p:cNvPr id="31" name="Object 13">
            <a:extLst>
              <a:ext uri="{FF2B5EF4-FFF2-40B4-BE49-F238E27FC236}">
                <a16:creationId xmlns:a16="http://schemas.microsoft.com/office/drawing/2014/main" id="{03D39B65-DD33-4704-BA23-14FED035DE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899912"/>
              </p:ext>
            </p:extLst>
          </p:nvPr>
        </p:nvGraphicFramePr>
        <p:xfrm>
          <a:off x="6804456" y="2132856"/>
          <a:ext cx="1872000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3" imgW="660240" imgH="203040" progId="Equation.DSMT4">
                  <p:embed/>
                </p:oleObj>
              </mc:Choice>
              <mc:Fallback>
                <p:oleObj name="Equation" r:id="rId3" imgW="660240" imgH="203040" progId="Equation.DSMT4">
                  <p:embed/>
                  <p:pic>
                    <p:nvPicPr>
                      <p:cNvPr id="65549" name="Object 13">
                        <a:extLst>
                          <a:ext uri="{FF2B5EF4-FFF2-40B4-BE49-F238E27FC236}">
                            <a16:creationId xmlns:a16="http://schemas.microsoft.com/office/drawing/2014/main" id="{89933661-3D19-4E59-AC5B-4669A2093D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456" y="2132856"/>
                        <a:ext cx="1872000" cy="57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14">
            <a:extLst>
              <a:ext uri="{FF2B5EF4-FFF2-40B4-BE49-F238E27FC236}">
                <a16:creationId xmlns:a16="http://schemas.microsoft.com/office/drawing/2014/main" id="{1E976A44-4C88-48D6-AC49-A68FC460E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400" y="2184584"/>
            <a:ext cx="28552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 有连续密度函数</a:t>
            </a:r>
          </a:p>
        </p:txBody>
      </p:sp>
      <p:sp>
        <p:nvSpPr>
          <p:cNvPr id="34" name="Text Box 16">
            <a:extLst>
              <a:ext uri="{FF2B5EF4-FFF2-40B4-BE49-F238E27FC236}">
                <a16:creationId xmlns:a16="http://schemas.microsoft.com/office/drawing/2014/main" id="{EBAA47EA-55C5-465B-BFAE-7C613DD2B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41871"/>
            <a:ext cx="1073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/>
              <a:t>公式 </a:t>
            </a:r>
            <a:r>
              <a:rPr lang="en-US" altLang="zh-CN" sz="2800"/>
              <a:t>,</a:t>
            </a:r>
          </a:p>
        </p:txBody>
      </p:sp>
      <p:sp>
        <p:nvSpPr>
          <p:cNvPr id="35" name="Text Box 20">
            <a:extLst>
              <a:ext uri="{FF2B5EF4-FFF2-40B4-BE49-F238E27FC236}">
                <a16:creationId xmlns:a16="http://schemas.microsoft.com/office/drawing/2014/main" id="{A2D8EFFC-BD60-46B5-818F-464E006A6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3341871"/>
            <a:ext cx="638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/>
              <a:t>即</a:t>
            </a:r>
            <a:r>
              <a:rPr lang="en-US" altLang="zh-CN" sz="2800"/>
              <a:t>:</a:t>
            </a:r>
          </a:p>
        </p:txBody>
      </p:sp>
      <p:sp>
        <p:nvSpPr>
          <p:cNvPr id="36" name="Text Box 21">
            <a:extLst>
              <a:ext uri="{FF2B5EF4-FFF2-40B4-BE49-F238E27FC236}">
                <a16:creationId xmlns:a16="http://schemas.microsoft.com/office/drawing/2014/main" id="{7A5A78BF-7A0E-40AC-8C6E-1D0274CDA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2794184"/>
            <a:ext cx="88553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/>
              <a:t>采用 </a:t>
            </a:r>
            <a:r>
              <a:rPr lang="zh-CN" altLang="en-US" sz="2800" dirty="0">
                <a:solidFill>
                  <a:schemeClr val="tx2"/>
                </a:solidFill>
              </a:rPr>
              <a:t>“</a:t>
            </a:r>
            <a:r>
              <a:rPr lang="zh-CN" altLang="en-US" sz="2800" dirty="0">
                <a:solidFill>
                  <a:srgbClr val="FF0000"/>
                </a:solidFill>
              </a:rPr>
              <a:t>大化小</a:t>
            </a:r>
            <a:r>
              <a:rPr lang="en-US" altLang="zh-CN" sz="2800" dirty="0">
                <a:solidFill>
                  <a:srgbClr val="FF0000"/>
                </a:solidFill>
              </a:rPr>
              <a:t>, </a:t>
            </a:r>
            <a:r>
              <a:rPr lang="zh-CN" altLang="en-US" sz="2800" dirty="0">
                <a:solidFill>
                  <a:srgbClr val="FF0000"/>
                </a:solidFill>
              </a:rPr>
              <a:t>常代变</a:t>
            </a:r>
            <a:r>
              <a:rPr lang="en-US" altLang="zh-CN" sz="2800" dirty="0">
                <a:solidFill>
                  <a:srgbClr val="FF0000"/>
                </a:solidFill>
              </a:rPr>
              <a:t>, </a:t>
            </a:r>
            <a:r>
              <a:rPr lang="zh-CN" altLang="en-US" sz="2800" dirty="0">
                <a:solidFill>
                  <a:srgbClr val="FF0000"/>
                </a:solidFill>
              </a:rPr>
              <a:t>近似和</a:t>
            </a:r>
            <a:r>
              <a:rPr lang="en-US" altLang="zh-CN" sz="2800" dirty="0">
                <a:solidFill>
                  <a:srgbClr val="FF0000"/>
                </a:solidFill>
              </a:rPr>
              <a:t>, </a:t>
            </a:r>
            <a:r>
              <a:rPr lang="zh-CN" altLang="en-US" sz="2800" dirty="0">
                <a:solidFill>
                  <a:srgbClr val="FF0000"/>
                </a:solidFill>
              </a:rPr>
              <a:t>取极限</a:t>
            </a:r>
            <a:r>
              <a:rPr lang="zh-CN" altLang="en-US" sz="2800" dirty="0">
                <a:solidFill>
                  <a:schemeClr val="tx2"/>
                </a:solidFill>
              </a:rPr>
              <a:t>”</a:t>
            </a:r>
            <a:r>
              <a:rPr lang="zh-CN" altLang="en-US" sz="2800" dirty="0"/>
              <a:t> 可导出其质心</a:t>
            </a:r>
          </a:p>
        </p:txBody>
      </p:sp>
      <p:sp>
        <p:nvSpPr>
          <p:cNvPr id="37" name="Text Box 4">
            <a:extLst>
              <a:ext uri="{FF2B5EF4-FFF2-40B4-BE49-F238E27FC236}">
                <a16:creationId xmlns:a16="http://schemas.microsoft.com/office/drawing/2014/main" id="{4F840277-2613-4F1C-9B69-9155E45AD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4009231"/>
            <a:ext cx="3524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ym typeface="Symbol" panose="05050102010706020507" pitchFamily="18" charset="2"/>
              </a:rPr>
              <a:t> 将 </a:t>
            </a:r>
            <a:r>
              <a:rPr lang="zh-CN" altLang="en-US" sz="2800" dirty="0">
                <a:solidFill>
                  <a:schemeClr val="tx2"/>
                </a:solidFill>
                <a:sym typeface="Symbol" panose="05050102010706020507" pitchFamily="18" charset="2"/>
              </a:rPr>
              <a:t> </a:t>
            </a:r>
            <a:r>
              <a:rPr lang="zh-CN" altLang="en-US" sz="2800" dirty="0"/>
              <a:t>分成</a:t>
            </a:r>
            <a:r>
              <a:rPr lang="zh-CN" altLang="en-US" sz="2800" i="1" dirty="0"/>
              <a:t> </a:t>
            </a:r>
            <a:r>
              <a:rPr lang="en-US" altLang="zh-CN" sz="2800" i="1" dirty="0"/>
              <a:t>n</a:t>
            </a:r>
            <a:r>
              <a:rPr lang="en-US" altLang="zh-CN" sz="2800" dirty="0"/>
              <a:t> </a:t>
            </a:r>
            <a:r>
              <a:rPr lang="zh-CN" altLang="en-US" sz="2800" dirty="0"/>
              <a:t>小块</a:t>
            </a:r>
            <a:r>
              <a:rPr lang="en-US" altLang="zh-CN" sz="2800" dirty="0"/>
              <a:t>,</a:t>
            </a:r>
          </a:p>
        </p:txBody>
      </p:sp>
      <p:graphicFrame>
        <p:nvGraphicFramePr>
          <p:cNvPr id="38" name="Object 5">
            <a:extLst>
              <a:ext uri="{FF2B5EF4-FFF2-40B4-BE49-F238E27FC236}">
                <a16:creationId xmlns:a16="http://schemas.microsoft.com/office/drawing/2014/main" id="{A769C8BC-49A4-4D42-9BB2-644EFCAF0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322007"/>
              </p:ext>
            </p:extLst>
          </p:nvPr>
        </p:nvGraphicFramePr>
        <p:xfrm>
          <a:off x="6748448" y="4005064"/>
          <a:ext cx="1856000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5" imgW="736560" imgH="228600" progId="Equation.DSMT4">
                  <p:embed/>
                </p:oleObj>
              </mc:Choice>
              <mc:Fallback>
                <p:oleObj name="Equation" r:id="rId5" imgW="736560" imgH="228600" progId="Equation.DSMT4">
                  <p:embed/>
                  <p:pic>
                    <p:nvPicPr>
                      <p:cNvPr id="80901" name="Object 5">
                        <a:extLst>
                          <a:ext uri="{FF2B5EF4-FFF2-40B4-BE49-F238E27FC236}">
                            <a16:creationId xmlns:a16="http://schemas.microsoft.com/office/drawing/2014/main" id="{8E7276AF-845A-48D8-8A55-FA468D7EA6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448" y="4005064"/>
                        <a:ext cx="1856000" cy="57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6">
            <a:extLst>
              <a:ext uri="{FF2B5EF4-FFF2-40B4-BE49-F238E27FC236}">
                <a16:creationId xmlns:a16="http://schemas.microsoft.com/office/drawing/2014/main" id="{BC26C127-735C-4C1E-B0A4-E0428BD7F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604543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/>
              <a:t>将第 </a:t>
            </a:r>
            <a:r>
              <a:rPr lang="en-US" altLang="zh-CN" sz="2800" i="1">
                <a:solidFill>
                  <a:schemeClr val="tx2"/>
                </a:solidFill>
              </a:rPr>
              <a:t>k </a:t>
            </a:r>
            <a:r>
              <a:rPr lang="zh-CN" altLang="en-US" sz="2800"/>
              <a:t>块看作质量集中于点</a:t>
            </a:r>
          </a:p>
        </p:txBody>
      </p:sp>
      <p:graphicFrame>
        <p:nvGraphicFramePr>
          <p:cNvPr id="40" name="Object 7">
            <a:extLst>
              <a:ext uri="{FF2B5EF4-FFF2-40B4-BE49-F238E27FC236}">
                <a16:creationId xmlns:a16="http://schemas.microsoft.com/office/drawing/2014/main" id="{BEF83026-89C6-46DC-8F31-689582A5BB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44278"/>
              </p:ext>
            </p:extLst>
          </p:nvPr>
        </p:nvGraphicFramePr>
        <p:xfrm>
          <a:off x="4716208" y="4581128"/>
          <a:ext cx="1728000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7" imgW="685800" imgH="228600" progId="Equation.DSMT4">
                  <p:embed/>
                </p:oleObj>
              </mc:Choice>
              <mc:Fallback>
                <p:oleObj name="Equation" r:id="rId7" imgW="685800" imgH="228600" progId="Equation.DSMT4">
                  <p:embed/>
                  <p:pic>
                    <p:nvPicPr>
                      <p:cNvPr id="80903" name="Object 7">
                        <a:extLst>
                          <a:ext uri="{FF2B5EF4-FFF2-40B4-BE49-F238E27FC236}">
                            <a16:creationId xmlns:a16="http://schemas.microsoft.com/office/drawing/2014/main" id="{3A869BD3-E339-4D84-ABEC-056FD3653A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208" y="4581128"/>
                        <a:ext cx="1728000" cy="57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8">
            <a:extLst>
              <a:ext uri="{FF2B5EF4-FFF2-40B4-BE49-F238E27FC236}">
                <a16:creationId xmlns:a16="http://schemas.microsoft.com/office/drawing/2014/main" id="{AB3A090F-E032-4DD9-A33B-ABFA01F4E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214143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/>
              <a:t>例如</a:t>
            </a:r>
            <a:r>
              <a:rPr lang="en-US" altLang="zh-CN" sz="2800"/>
              <a:t>,</a:t>
            </a:r>
          </a:p>
        </p:txBody>
      </p:sp>
      <p:sp>
        <p:nvSpPr>
          <p:cNvPr id="42" name="Text Box 14">
            <a:extLst>
              <a:ext uri="{FF2B5EF4-FFF2-40B4-BE49-F238E27FC236}">
                <a16:creationId xmlns:a16="http://schemas.microsoft.com/office/drawing/2014/main" id="{35AEFC67-EDE6-4760-91EB-57E5DB92E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214143"/>
            <a:ext cx="708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/>
              <a:t>系的质心坐标就近似该物体的质心坐标</a:t>
            </a:r>
            <a:r>
              <a:rPr lang="en-US" altLang="zh-CN" sz="2800"/>
              <a:t>.</a:t>
            </a:r>
          </a:p>
        </p:txBody>
      </p:sp>
      <p:sp>
        <p:nvSpPr>
          <p:cNvPr id="43" name="Text Box 15">
            <a:extLst>
              <a:ext uri="{FF2B5EF4-FFF2-40B4-BE49-F238E27FC236}">
                <a16:creationId xmlns:a16="http://schemas.microsoft.com/office/drawing/2014/main" id="{DD998816-4E86-4645-ABD9-294DAFCDA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4604543"/>
            <a:ext cx="1477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/>
              <a:t>的质点</a:t>
            </a:r>
            <a:r>
              <a:rPr lang="en-US" altLang="zh-CN" sz="2800"/>
              <a:t>,</a:t>
            </a:r>
          </a:p>
        </p:txBody>
      </p:sp>
      <p:sp>
        <p:nvSpPr>
          <p:cNvPr id="44" name="Text Box 17">
            <a:extLst>
              <a:ext uri="{FF2B5EF4-FFF2-40B4-BE49-F238E27FC236}">
                <a16:creationId xmlns:a16="http://schemas.microsoft.com/office/drawing/2014/main" id="{437DFB63-68A3-4E14-A62D-F79CC8954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618831"/>
            <a:ext cx="1250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/>
              <a:t>此质点</a:t>
            </a:r>
          </a:p>
        </p:txBody>
      </p:sp>
      <p:sp>
        <p:nvSpPr>
          <p:cNvPr id="45" name="Text Box 20">
            <a:extLst>
              <a:ext uri="{FF2B5EF4-FFF2-40B4-BE49-F238E27FC236}">
                <a16:creationId xmlns:a16="http://schemas.microsoft.com/office/drawing/2014/main" id="{C0B04BC8-A9AE-4D09-9BDF-9EA678E6D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005064"/>
            <a:ext cx="3363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/>
              <a:t>在第 </a:t>
            </a:r>
            <a:r>
              <a:rPr lang="en-US" altLang="zh-CN" sz="2800" i="1" dirty="0">
                <a:solidFill>
                  <a:schemeClr val="tx2"/>
                </a:solidFill>
              </a:rPr>
              <a:t>k </a:t>
            </a:r>
            <a:r>
              <a:rPr lang="zh-CN" altLang="en-US" sz="2800" dirty="0"/>
              <a:t>块上任取一点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 autoUpdateAnimBg="0"/>
      <p:bldP spid="32" grpId="0" build="p" autoUpdateAnimBg="0"/>
      <p:bldP spid="34" grpId="0" build="p" autoUpdateAnimBg="0" advAuto="0"/>
      <p:bldP spid="35" grpId="0" build="p" autoUpdateAnimBg="0"/>
      <p:bldP spid="36" grpId="0" build="p" autoUpdateAnimBg="0" advAuto="0"/>
      <p:bldP spid="37" grpId="0" autoUpdateAnimBg="0"/>
      <p:bldP spid="39" grpId="0" autoUpdateAnimBg="0"/>
      <p:bldP spid="41" grpId="0" autoUpdateAnimBg="0"/>
      <p:bldP spid="42" grpId="0" autoUpdateAnimBg="0"/>
      <p:bldP spid="43" grpId="0" autoUpdateAnimBg="0"/>
      <p:bldP spid="44" grpId="0" build="p" autoUpdateAnimBg="0"/>
      <p:bldP spid="4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2">
            <a:extLst>
              <a:ext uri="{FF2B5EF4-FFF2-40B4-BE49-F238E27FC236}">
                <a16:creationId xmlns:a16="http://schemas.microsoft.com/office/drawing/2014/main" id="{383C3F21-BCEE-434A-B7D1-9134A6023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" y="115888"/>
            <a:ext cx="3892412" cy="78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buClr>
                <a:schemeClr val="tx1"/>
              </a:buClr>
              <a:buFont typeface="Arial" pitchFamily="34" charset="0"/>
              <a:buNone/>
              <a:defRPr/>
            </a:pPr>
            <a:r>
              <a:rPr lang="en-US" altLang="zh-CN" sz="3600" b="1" dirty="0">
                <a:latin typeface="+mj-lt"/>
                <a:ea typeface="+mj-ea"/>
                <a:cs typeface="+mj-cs"/>
              </a:rPr>
              <a:t>§6  </a:t>
            </a:r>
            <a:r>
              <a:rPr lang="zh-CN" altLang="en-US" sz="3600" b="1" dirty="0">
                <a:latin typeface="+mj-lt"/>
                <a:ea typeface="+mj-ea"/>
                <a:cs typeface="+mj-cs"/>
              </a:rPr>
              <a:t>重积分的应用</a:t>
            </a:r>
            <a:endParaRPr lang="en-US" altLang="zh-CN" sz="3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5A81F4FD-C727-4ED7-A9D8-B8DDC67D6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19" y="1340768"/>
            <a:ext cx="3200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Cambria" pitchFamily="18" charset="0"/>
                <a:ea typeface="华文中宋" pitchFamily="2" charset="-122"/>
              </a:defRPr>
            </a:lvl9pPr>
          </a:lstStyle>
          <a:p>
            <a:r>
              <a:rPr lang="zh-CN" altLang="en-US" sz="3200" b="1" kern="0" dirty="0">
                <a:ea typeface="楷体_GB2312" pitchFamily="49" charset="-122"/>
              </a:rPr>
              <a:t>二、物体的质心</a:t>
            </a:r>
          </a:p>
        </p:txBody>
      </p:sp>
      <p:graphicFrame>
        <p:nvGraphicFramePr>
          <p:cNvPr id="19" name="Object 9">
            <a:extLst>
              <a:ext uri="{FF2B5EF4-FFF2-40B4-BE49-F238E27FC236}">
                <a16:creationId xmlns:a16="http://schemas.microsoft.com/office/drawing/2014/main" id="{F5504498-0B6D-4398-B4B8-50E297141F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570956"/>
              </p:ext>
            </p:extLst>
          </p:nvPr>
        </p:nvGraphicFramePr>
        <p:xfrm>
          <a:off x="1619672" y="2142133"/>
          <a:ext cx="3811984" cy="1905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3" imgW="1676160" imgH="838080" progId="Equation.DSMT4">
                  <p:embed/>
                </p:oleObj>
              </mc:Choice>
              <mc:Fallback>
                <p:oleObj name="Equation" r:id="rId3" imgW="1676160" imgH="838080" progId="Equation.DSMT4">
                  <p:embed/>
                  <p:pic>
                    <p:nvPicPr>
                      <p:cNvPr id="80905" name="Object 9">
                        <a:extLst>
                          <a:ext uri="{FF2B5EF4-FFF2-40B4-BE49-F238E27FC236}">
                            <a16:creationId xmlns:a16="http://schemas.microsoft.com/office/drawing/2014/main" id="{1B7E6B24-C76D-4545-BB2D-71751B3373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2142133"/>
                        <a:ext cx="3811984" cy="1905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0">
            <a:extLst>
              <a:ext uri="{FF2B5EF4-FFF2-40B4-BE49-F238E27FC236}">
                <a16:creationId xmlns:a16="http://schemas.microsoft.com/office/drawing/2014/main" id="{30C5E46C-AD69-407C-8E36-9887E903D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251325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令各小区域的最大直径</a:t>
            </a:r>
          </a:p>
        </p:txBody>
      </p:sp>
      <p:graphicFrame>
        <p:nvGraphicFramePr>
          <p:cNvPr id="21" name="Object 11">
            <a:extLst>
              <a:ext uri="{FF2B5EF4-FFF2-40B4-BE49-F238E27FC236}">
                <a16:creationId xmlns:a16="http://schemas.microsoft.com/office/drawing/2014/main" id="{A6E758AC-947A-423A-8648-22D444B714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048447"/>
              </p:ext>
            </p:extLst>
          </p:nvPr>
        </p:nvGraphicFramePr>
        <p:xfrm>
          <a:off x="3996088" y="4293096"/>
          <a:ext cx="1368000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5" imgW="482400" imgH="203040" progId="Equation.DSMT4">
                  <p:embed/>
                </p:oleObj>
              </mc:Choice>
              <mc:Fallback>
                <p:oleObj name="Equation" r:id="rId5" imgW="482400" imgH="203040" progId="Equation.DSMT4">
                  <p:embed/>
                  <p:pic>
                    <p:nvPicPr>
                      <p:cNvPr id="80907" name="Object 11">
                        <a:extLst>
                          <a:ext uri="{FF2B5EF4-FFF2-40B4-BE49-F238E27FC236}">
                            <a16:creationId xmlns:a16="http://schemas.microsoft.com/office/drawing/2014/main" id="{1A163FBA-2AF7-4E75-BCC0-33DAAA894B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6088" y="4293096"/>
                        <a:ext cx="1368000" cy="57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2">
            <a:extLst>
              <a:ext uri="{FF2B5EF4-FFF2-40B4-BE49-F238E27FC236}">
                <a16:creationId xmlns:a16="http://schemas.microsoft.com/office/drawing/2014/main" id="{0C04485B-FF5B-4380-8B09-8117D6A584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297462"/>
              </p:ext>
            </p:extLst>
          </p:nvPr>
        </p:nvGraphicFramePr>
        <p:xfrm>
          <a:off x="1413743" y="4995863"/>
          <a:ext cx="467042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7" imgW="1917360" imgH="609480" progId="Equation.DSMT4">
                  <p:embed/>
                </p:oleObj>
              </mc:Choice>
              <mc:Fallback>
                <p:oleObj name="Equation" r:id="rId7" imgW="1917360" imgH="609480" progId="Equation.DSMT4">
                  <p:embed/>
                  <p:pic>
                    <p:nvPicPr>
                      <p:cNvPr id="80908" name="Object 12">
                        <a:extLst>
                          <a:ext uri="{FF2B5EF4-FFF2-40B4-BE49-F238E27FC236}">
                            <a16:creationId xmlns:a16="http://schemas.microsoft.com/office/drawing/2014/main" id="{A8A71284-6E80-421C-A2E7-E9DF74ECC3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743" y="4995863"/>
                        <a:ext cx="4670425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6">
            <a:extLst>
              <a:ext uri="{FF2B5EF4-FFF2-40B4-BE49-F238E27FC236}">
                <a16:creationId xmlns:a16="http://schemas.microsoft.com/office/drawing/2014/main" id="{07F274F1-9708-4E32-9A56-23DA6F7C4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267200"/>
            <a:ext cx="17750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   即得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DDE15A-A224-4863-952D-FF7A2AD3AB07}"/>
              </a:ext>
            </a:extLst>
          </p:cNvPr>
          <p:cNvSpPr txBox="1"/>
          <p:nvPr/>
        </p:nvSpPr>
        <p:spPr>
          <a:xfrm>
            <a:off x="611560" y="213285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例如：</a:t>
            </a:r>
          </a:p>
        </p:txBody>
      </p:sp>
    </p:spTree>
    <p:extLst>
      <p:ext uri="{BB962C8B-B14F-4D97-AF65-F5344CB8AC3E}">
        <p14:creationId xmlns:p14="http://schemas.microsoft.com/office/powerpoint/2010/main" val="248875292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9" name="Rectangle 5">
            <a:extLst>
              <a:ext uri="{FF2B5EF4-FFF2-40B4-BE49-F238E27FC236}">
                <a16:creationId xmlns:a16="http://schemas.microsoft.com/office/drawing/2014/main" id="{9FAB7677-DBE1-4764-BF82-42006327C5D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1091208"/>
            <a:ext cx="1828800" cy="609600"/>
          </a:xfrm>
        </p:spPr>
        <p:txBody>
          <a:bodyPr/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同理可得</a:t>
            </a:r>
            <a:endParaRPr lang="zh-CN" altLang="en-US" sz="2800" dirty="0"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67591" name="Object 7">
            <a:extLst>
              <a:ext uri="{FF2B5EF4-FFF2-40B4-BE49-F238E27FC236}">
                <a16:creationId xmlns:a16="http://schemas.microsoft.com/office/drawing/2014/main" id="{82E0D93D-4B3B-45E7-90B0-F4462778F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934084"/>
              </p:ext>
            </p:extLst>
          </p:nvPr>
        </p:nvGraphicFramePr>
        <p:xfrm>
          <a:off x="1619672" y="1961213"/>
          <a:ext cx="5437501" cy="18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4" imgW="1841400" imgH="609480" progId="Equation.DSMT4">
                  <p:embed/>
                </p:oleObj>
              </mc:Choice>
              <mc:Fallback>
                <p:oleObj name="Equation" r:id="rId4" imgW="1841400" imgH="609480" progId="Equation.DSMT4">
                  <p:embed/>
                  <p:pic>
                    <p:nvPicPr>
                      <p:cNvPr id="67591" name="Object 7">
                        <a:extLst>
                          <a:ext uri="{FF2B5EF4-FFF2-40B4-BE49-F238E27FC236}">
                            <a16:creationId xmlns:a16="http://schemas.microsoft.com/office/drawing/2014/main" id="{82E0D93D-4B3B-45E7-90B0-F4462778FB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961213"/>
                        <a:ext cx="5437501" cy="180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2" name="Object 8">
            <a:extLst>
              <a:ext uri="{FF2B5EF4-FFF2-40B4-BE49-F238E27FC236}">
                <a16:creationId xmlns:a16="http://schemas.microsoft.com/office/drawing/2014/main" id="{6854141E-31A1-4C27-8187-DCA0CE1CA6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042924"/>
              </p:ext>
            </p:extLst>
          </p:nvPr>
        </p:nvGraphicFramePr>
        <p:xfrm>
          <a:off x="1657172" y="4221088"/>
          <a:ext cx="5362500" cy="18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6" imgW="1815840" imgH="609480" progId="Equation.DSMT4">
                  <p:embed/>
                </p:oleObj>
              </mc:Choice>
              <mc:Fallback>
                <p:oleObj name="Equation" r:id="rId6" imgW="1815840" imgH="609480" progId="Equation.DSMT4">
                  <p:embed/>
                  <p:pic>
                    <p:nvPicPr>
                      <p:cNvPr id="67592" name="Object 8">
                        <a:extLst>
                          <a:ext uri="{FF2B5EF4-FFF2-40B4-BE49-F238E27FC236}">
                            <a16:creationId xmlns:a16="http://schemas.microsoft.com/office/drawing/2014/main" id="{6854141E-31A1-4C27-8187-DCA0CE1CA6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172" y="4221088"/>
                        <a:ext cx="5362500" cy="180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2">
            <a:extLst>
              <a:ext uri="{FF2B5EF4-FFF2-40B4-BE49-F238E27FC236}">
                <a16:creationId xmlns:a16="http://schemas.microsoft.com/office/drawing/2014/main" id="{05618DA6-72A5-4805-B8BD-B6AD511A8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" y="115888"/>
            <a:ext cx="3892412" cy="78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buClr>
                <a:schemeClr val="tx1"/>
              </a:buClr>
              <a:buFont typeface="Arial" pitchFamily="34" charset="0"/>
              <a:buNone/>
              <a:defRPr/>
            </a:pPr>
            <a:r>
              <a:rPr lang="en-US" altLang="zh-CN" sz="3600" b="1" dirty="0">
                <a:latin typeface="+mj-lt"/>
                <a:ea typeface="+mj-ea"/>
                <a:cs typeface="+mj-cs"/>
              </a:rPr>
              <a:t>§6  </a:t>
            </a:r>
            <a:r>
              <a:rPr lang="zh-CN" altLang="en-US" sz="3600" b="1" dirty="0">
                <a:latin typeface="+mj-lt"/>
                <a:ea typeface="+mj-ea"/>
                <a:cs typeface="+mj-cs"/>
              </a:rPr>
              <a:t>重积分的应用</a:t>
            </a:r>
            <a:endParaRPr lang="en-US" altLang="zh-CN" sz="3600" b="1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96" name="Object 12">
            <a:extLst>
              <a:ext uri="{FF2B5EF4-FFF2-40B4-BE49-F238E27FC236}">
                <a16:creationId xmlns:a16="http://schemas.microsoft.com/office/drawing/2014/main" id="{81B2E708-2E1C-493A-9EA9-FB2AD4963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39557"/>
              </p:ext>
            </p:extLst>
          </p:nvPr>
        </p:nvGraphicFramePr>
        <p:xfrm>
          <a:off x="247622" y="1460732"/>
          <a:ext cx="3794824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4" imgW="1422360" imgH="215640" progId="Equation.DSMT4">
                  <p:embed/>
                </p:oleObj>
              </mc:Choice>
              <mc:Fallback>
                <p:oleObj name="Equation" r:id="rId4" imgW="1422360" imgH="215640" progId="Equation.DSMT4">
                  <p:embed/>
                  <p:pic>
                    <p:nvPicPr>
                      <p:cNvPr id="67596" name="Object 12">
                        <a:extLst>
                          <a:ext uri="{FF2B5EF4-FFF2-40B4-BE49-F238E27FC236}">
                            <a16:creationId xmlns:a16="http://schemas.microsoft.com/office/drawing/2014/main" id="{81B2E708-2E1C-493A-9EA9-FB2AD49633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22" y="1460732"/>
                        <a:ext cx="3794824" cy="57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9" name="Object 15">
            <a:extLst>
              <a:ext uri="{FF2B5EF4-FFF2-40B4-BE49-F238E27FC236}">
                <a16:creationId xmlns:a16="http://schemas.microsoft.com/office/drawing/2014/main" id="{8E7DD514-D3C4-4CB4-BA03-BE0DE85770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302721"/>
              </p:ext>
            </p:extLst>
          </p:nvPr>
        </p:nvGraphicFramePr>
        <p:xfrm>
          <a:off x="166392" y="2339491"/>
          <a:ext cx="4264615" cy="15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6" imgW="1333440" imgH="495000" progId="Equation.DSMT4">
                  <p:embed/>
                </p:oleObj>
              </mc:Choice>
              <mc:Fallback>
                <p:oleObj name="Equation" r:id="rId6" imgW="1333440" imgH="495000" progId="Equation.DSMT4">
                  <p:embed/>
                  <p:pic>
                    <p:nvPicPr>
                      <p:cNvPr id="67599" name="Object 15">
                        <a:extLst>
                          <a:ext uri="{FF2B5EF4-FFF2-40B4-BE49-F238E27FC236}">
                            <a16:creationId xmlns:a16="http://schemas.microsoft.com/office/drawing/2014/main" id="{8E7DD514-D3C4-4CB4-BA03-BE0DE85770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92" y="2339491"/>
                        <a:ext cx="4264615" cy="158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0" name="Object 16">
            <a:extLst>
              <a:ext uri="{FF2B5EF4-FFF2-40B4-BE49-F238E27FC236}">
                <a16:creationId xmlns:a16="http://schemas.microsoft.com/office/drawing/2014/main" id="{E3E9DBD1-1A8D-43E3-BB0E-E6B31CB7E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45444"/>
              </p:ext>
            </p:extLst>
          </p:nvPr>
        </p:nvGraphicFramePr>
        <p:xfrm>
          <a:off x="4739781" y="2339491"/>
          <a:ext cx="4345846" cy="15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8" imgW="1358640" imgH="495000" progId="Equation.DSMT4">
                  <p:embed/>
                </p:oleObj>
              </mc:Choice>
              <mc:Fallback>
                <p:oleObj name="Equation" r:id="rId8" imgW="1358640" imgH="495000" progId="Equation.DSMT4">
                  <p:embed/>
                  <p:pic>
                    <p:nvPicPr>
                      <p:cNvPr id="67600" name="Object 16">
                        <a:extLst>
                          <a:ext uri="{FF2B5EF4-FFF2-40B4-BE49-F238E27FC236}">
                            <a16:creationId xmlns:a16="http://schemas.microsoft.com/office/drawing/2014/main" id="{E3E9DBD1-1A8D-43E3-BB0E-E6B31CB7E8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9781" y="2339491"/>
                        <a:ext cx="4345846" cy="158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1" name="Object 17">
            <a:extLst>
              <a:ext uri="{FF2B5EF4-FFF2-40B4-BE49-F238E27FC236}">
                <a16:creationId xmlns:a16="http://schemas.microsoft.com/office/drawing/2014/main" id="{0A49CAA4-5D31-4E26-85F3-0FB7C4A4CD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81480"/>
              </p:ext>
            </p:extLst>
          </p:nvPr>
        </p:nvGraphicFramePr>
        <p:xfrm>
          <a:off x="247622" y="4226250"/>
          <a:ext cx="4183385" cy="15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10" imgW="1307880" imgH="495000" progId="Equation.DSMT4">
                  <p:embed/>
                </p:oleObj>
              </mc:Choice>
              <mc:Fallback>
                <p:oleObj name="Equation" r:id="rId10" imgW="1307880" imgH="495000" progId="Equation.DSMT4">
                  <p:embed/>
                  <p:pic>
                    <p:nvPicPr>
                      <p:cNvPr id="67601" name="Object 17">
                        <a:extLst>
                          <a:ext uri="{FF2B5EF4-FFF2-40B4-BE49-F238E27FC236}">
                            <a16:creationId xmlns:a16="http://schemas.microsoft.com/office/drawing/2014/main" id="{0A49CAA4-5D31-4E26-85F3-0FB7C4A4CD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22" y="4226250"/>
                        <a:ext cx="4183385" cy="158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2" name="Object 18">
            <a:extLst>
              <a:ext uri="{FF2B5EF4-FFF2-40B4-BE49-F238E27FC236}">
                <a16:creationId xmlns:a16="http://schemas.microsoft.com/office/drawing/2014/main" id="{FE018BC6-D93D-4758-B07E-0316715E5E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97837"/>
              </p:ext>
            </p:extLst>
          </p:nvPr>
        </p:nvGraphicFramePr>
        <p:xfrm>
          <a:off x="4976813" y="4868863"/>
          <a:ext cx="387191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Equation" r:id="rId12" imgW="2133360" imgH="317160" progId="Equation.DSMT4">
                  <p:embed/>
                </p:oleObj>
              </mc:Choice>
              <mc:Fallback>
                <p:oleObj name="Equation" r:id="rId12" imgW="2133360" imgH="317160" progId="Equation.DSMT4">
                  <p:embed/>
                  <p:pic>
                    <p:nvPicPr>
                      <p:cNvPr id="67602" name="Object 18">
                        <a:extLst>
                          <a:ext uri="{FF2B5EF4-FFF2-40B4-BE49-F238E27FC236}">
                            <a16:creationId xmlns:a16="http://schemas.microsoft.com/office/drawing/2014/main" id="{FE018BC6-D93D-4758-B07E-0316715E5E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6813" y="4868863"/>
                        <a:ext cx="387191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2">
            <a:extLst>
              <a:ext uri="{FF2B5EF4-FFF2-40B4-BE49-F238E27FC236}">
                <a16:creationId xmlns:a16="http://schemas.microsoft.com/office/drawing/2014/main" id="{05618DA6-72A5-4805-B8BD-B6AD511A8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" y="115888"/>
            <a:ext cx="3892412" cy="78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buClr>
                <a:schemeClr val="tx1"/>
              </a:buClr>
              <a:buFont typeface="Arial" pitchFamily="34" charset="0"/>
              <a:buNone/>
              <a:defRPr/>
            </a:pPr>
            <a:r>
              <a:rPr lang="en-US" altLang="zh-CN" sz="3600" b="1" dirty="0">
                <a:latin typeface="+mj-lt"/>
                <a:ea typeface="+mj-ea"/>
                <a:cs typeface="+mj-cs"/>
              </a:rPr>
              <a:t>§6  </a:t>
            </a:r>
            <a:r>
              <a:rPr lang="zh-CN" altLang="en-US" sz="3600" b="1" dirty="0">
                <a:latin typeface="+mj-lt"/>
                <a:ea typeface="+mj-ea"/>
                <a:cs typeface="+mj-cs"/>
              </a:rPr>
              <a:t>重积分的应用</a:t>
            </a:r>
            <a:endParaRPr lang="en-US" altLang="zh-CN" sz="3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675061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1026">
            <a:extLst>
              <a:ext uri="{FF2B5EF4-FFF2-40B4-BE49-F238E27FC236}">
                <a16:creationId xmlns:a16="http://schemas.microsoft.com/office/drawing/2014/main" id="{AFDCEE7B-CAFC-434A-B298-E1E596BD8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00088"/>
            <a:ext cx="670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/>
              <a:t>若物体为占有</a:t>
            </a:r>
            <a:r>
              <a:rPr lang="en-US" altLang="zh-CN" sz="2800" i="1"/>
              <a:t>xoy </a:t>
            </a:r>
            <a:r>
              <a:rPr lang="zh-CN" altLang="en-US" sz="2800"/>
              <a:t>面上区域 </a:t>
            </a:r>
            <a:r>
              <a:rPr lang="en-US" altLang="zh-CN" sz="2800" i="1"/>
              <a:t>D </a:t>
            </a:r>
            <a:r>
              <a:rPr lang="zh-CN" altLang="en-US" sz="2800"/>
              <a:t>的平面薄片</a:t>
            </a:r>
            <a:r>
              <a:rPr lang="en-US" altLang="zh-CN" sz="2800"/>
              <a:t>,</a:t>
            </a:r>
          </a:p>
        </p:txBody>
      </p:sp>
      <p:graphicFrame>
        <p:nvGraphicFramePr>
          <p:cNvPr id="68611" name="Object 1027">
            <a:extLst>
              <a:ext uri="{FF2B5EF4-FFF2-40B4-BE49-F238E27FC236}">
                <a16:creationId xmlns:a16="http://schemas.microsoft.com/office/drawing/2014/main" id="{52636DF5-B22C-431B-8B55-F27DFD1ED0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133754"/>
              </p:ext>
            </p:extLst>
          </p:nvPr>
        </p:nvGraphicFramePr>
        <p:xfrm>
          <a:off x="58738" y="1746250"/>
          <a:ext cx="18288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3" imgW="685800" imgH="215640" progId="Equation.DSMT4">
                  <p:embed/>
                </p:oleObj>
              </mc:Choice>
              <mc:Fallback>
                <p:oleObj name="Equation" r:id="rId3" imgW="685800" imgH="215640" progId="Equation.DSMT4">
                  <p:embed/>
                  <p:pic>
                    <p:nvPicPr>
                      <p:cNvPr id="68611" name="Object 1027">
                        <a:extLst>
                          <a:ext uri="{FF2B5EF4-FFF2-40B4-BE49-F238E27FC236}">
                            <a16:creationId xmlns:a16="http://schemas.microsoft.com/office/drawing/2014/main" id="{52636DF5-B22C-431B-8B55-F27DFD1ED0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8" y="1746250"/>
                        <a:ext cx="18288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1028">
            <a:extLst>
              <a:ext uri="{FF2B5EF4-FFF2-40B4-BE49-F238E27FC236}">
                <a16:creationId xmlns:a16="http://schemas.microsoft.com/office/drawing/2014/main" id="{0F8CBFDF-4B79-4D95-B2FC-9C9D2A669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839082"/>
              </p:ext>
            </p:extLst>
          </p:nvPr>
        </p:nvGraphicFramePr>
        <p:xfrm>
          <a:off x="764176" y="2474437"/>
          <a:ext cx="3480000" cy="14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Equation" r:id="rId5" imgW="1473120" imgH="609480" progId="Equation.DSMT4">
                  <p:embed/>
                </p:oleObj>
              </mc:Choice>
              <mc:Fallback>
                <p:oleObj name="Equation" r:id="rId5" imgW="1473120" imgH="609480" progId="Equation.DSMT4">
                  <p:embed/>
                  <p:pic>
                    <p:nvPicPr>
                      <p:cNvPr id="68612" name="Object 1028">
                        <a:extLst>
                          <a:ext uri="{FF2B5EF4-FFF2-40B4-BE49-F238E27FC236}">
                            <a16:creationId xmlns:a16="http://schemas.microsoft.com/office/drawing/2014/main" id="{0F8CBFDF-4B79-4D95-B2FC-9C9D2A669F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176" y="2474437"/>
                        <a:ext cx="3480000" cy="14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1029">
            <a:extLst>
              <a:ext uri="{FF2B5EF4-FFF2-40B4-BE49-F238E27FC236}">
                <a16:creationId xmlns:a16="http://schemas.microsoft.com/office/drawing/2014/main" id="{E5BB5CC0-D957-4F94-A2AF-1AB07E1C14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306107"/>
              </p:ext>
            </p:extLst>
          </p:nvPr>
        </p:nvGraphicFramePr>
        <p:xfrm>
          <a:off x="4430713" y="2474913"/>
          <a:ext cx="3509962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Equation" r:id="rId7" imgW="1485720" imgH="609480" progId="Equation.DSMT4">
                  <p:embed/>
                </p:oleObj>
              </mc:Choice>
              <mc:Fallback>
                <p:oleObj name="Equation" r:id="rId7" imgW="1485720" imgH="609480" progId="Equation.DSMT4">
                  <p:embed/>
                  <p:pic>
                    <p:nvPicPr>
                      <p:cNvPr id="68613" name="Object 1029">
                        <a:extLst>
                          <a:ext uri="{FF2B5EF4-FFF2-40B4-BE49-F238E27FC236}">
                            <a16:creationId xmlns:a16="http://schemas.microsoft.com/office/drawing/2014/main" id="{E5BB5CC0-D957-4F94-A2AF-1AB07E1C14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713" y="2474913"/>
                        <a:ext cx="3509962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1031">
            <a:extLst>
              <a:ext uri="{FF2B5EF4-FFF2-40B4-BE49-F238E27FC236}">
                <a16:creationId xmlns:a16="http://schemas.microsoft.com/office/drawing/2014/main" id="{CD9E198B-92EB-459D-992D-98EDE20B4D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939158"/>
              </p:ext>
            </p:extLst>
          </p:nvPr>
        </p:nvGraphicFramePr>
        <p:xfrm>
          <a:off x="609600" y="4092724"/>
          <a:ext cx="2176941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9" imgW="812520" imgH="215640" progId="Equation.DSMT4">
                  <p:embed/>
                </p:oleObj>
              </mc:Choice>
              <mc:Fallback>
                <p:oleObj name="Equation" r:id="rId9" imgW="812520" imgH="215640" progId="Equation.DSMT4">
                  <p:embed/>
                  <p:pic>
                    <p:nvPicPr>
                      <p:cNvPr id="68615" name="Object 1031">
                        <a:extLst>
                          <a:ext uri="{FF2B5EF4-FFF2-40B4-BE49-F238E27FC236}">
                            <a16:creationId xmlns:a16="http://schemas.microsoft.com/office/drawing/2014/main" id="{CD9E198B-92EB-459D-992D-98EDE20B4D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092724"/>
                        <a:ext cx="2176941" cy="57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7" name="Object 1033">
            <a:extLst>
              <a:ext uri="{FF2B5EF4-FFF2-40B4-BE49-F238E27FC236}">
                <a16:creationId xmlns:a16="http://schemas.microsoft.com/office/drawing/2014/main" id="{E49AB1D8-D600-4E12-96B8-9E0CFD98B5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198806"/>
              </p:ext>
            </p:extLst>
          </p:nvPr>
        </p:nvGraphicFramePr>
        <p:xfrm>
          <a:off x="860862" y="4877485"/>
          <a:ext cx="3101538" cy="14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11" imgW="1066680" imgH="495000" progId="Equation.DSMT4">
                  <p:embed/>
                </p:oleObj>
              </mc:Choice>
              <mc:Fallback>
                <p:oleObj name="Equation" r:id="rId11" imgW="1066680" imgH="495000" progId="Equation.DSMT4">
                  <p:embed/>
                  <p:pic>
                    <p:nvPicPr>
                      <p:cNvPr id="68617" name="Object 1033">
                        <a:extLst>
                          <a:ext uri="{FF2B5EF4-FFF2-40B4-BE49-F238E27FC236}">
                            <a16:creationId xmlns:a16="http://schemas.microsoft.com/office/drawing/2014/main" id="{E49AB1D8-D600-4E12-96B8-9E0CFD98B5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862" y="4877485"/>
                        <a:ext cx="3101538" cy="14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8" name="Object 1034">
            <a:extLst>
              <a:ext uri="{FF2B5EF4-FFF2-40B4-BE49-F238E27FC236}">
                <a16:creationId xmlns:a16="http://schemas.microsoft.com/office/drawing/2014/main" id="{F83855FA-1467-476E-8982-EAB577D214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174587"/>
              </p:ext>
            </p:extLst>
          </p:nvPr>
        </p:nvGraphicFramePr>
        <p:xfrm>
          <a:off x="4478338" y="4876800"/>
          <a:ext cx="3063875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13" imgW="1054080" imgH="495000" progId="Equation.DSMT4">
                  <p:embed/>
                </p:oleObj>
              </mc:Choice>
              <mc:Fallback>
                <p:oleObj name="Equation" r:id="rId13" imgW="1054080" imgH="495000" progId="Equation.DSMT4">
                  <p:embed/>
                  <p:pic>
                    <p:nvPicPr>
                      <p:cNvPr id="68618" name="Object 1034">
                        <a:extLst>
                          <a:ext uri="{FF2B5EF4-FFF2-40B4-BE49-F238E27FC236}">
                            <a16:creationId xmlns:a16="http://schemas.microsoft.com/office/drawing/2014/main" id="{F83855FA-1467-476E-8982-EAB577D214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338" y="4876800"/>
                        <a:ext cx="3063875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9" name="Text Box 1035">
            <a:extLst>
              <a:ext uri="{FF2B5EF4-FFF2-40B4-BE49-F238E27FC236}">
                <a16:creationId xmlns:a16="http://schemas.microsoft.com/office/drawing/2014/main" id="{44A932AC-DE01-477A-B3A1-D8172F2B4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731" y="6338887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 </a:t>
            </a:r>
            <a:r>
              <a:rPr lang="zh-CN" altLang="en-US" sz="2800" dirty="0"/>
              <a:t>为 </a:t>
            </a:r>
            <a:r>
              <a:rPr lang="en-US" altLang="zh-CN" sz="2800" i="1" dirty="0"/>
              <a:t>D</a:t>
            </a:r>
            <a:r>
              <a:rPr lang="en-US" altLang="zh-CN" sz="2800" dirty="0"/>
              <a:t> </a:t>
            </a:r>
            <a:r>
              <a:rPr lang="zh-CN" altLang="en-US" sz="2800" dirty="0"/>
              <a:t>的面积</a:t>
            </a:r>
            <a:r>
              <a:rPr lang="en-US" altLang="zh-CN" sz="2800" dirty="0"/>
              <a:t>)</a:t>
            </a:r>
          </a:p>
        </p:txBody>
      </p:sp>
      <p:sp>
        <p:nvSpPr>
          <p:cNvPr id="68620" name="Text Box 1036">
            <a:extLst>
              <a:ext uri="{FF2B5EF4-FFF2-40B4-BE49-F238E27FC236}">
                <a16:creationId xmlns:a16="http://schemas.microsoft.com/office/drawing/2014/main" id="{5F9550C9-CF8A-4A67-BE23-1CE2F69E0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671" y="4109920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/>
              <a:t>得</a:t>
            </a:r>
            <a:r>
              <a:rPr lang="en-US" altLang="zh-CN" sz="2800" i="1"/>
              <a:t>D</a:t>
            </a:r>
            <a:r>
              <a:rPr lang="en-US" altLang="zh-CN" sz="2800"/>
              <a:t> </a:t>
            </a:r>
            <a:r>
              <a:rPr lang="zh-CN" altLang="en-US" sz="2800"/>
              <a:t>的</a:t>
            </a:r>
            <a:r>
              <a:rPr lang="zh-CN" altLang="en-US" sz="2800">
                <a:solidFill>
                  <a:schemeClr val="tx2"/>
                </a:solidFill>
              </a:rPr>
              <a:t>形心坐标</a:t>
            </a:r>
            <a:r>
              <a:rPr lang="en-US" altLang="zh-CN" sz="2800"/>
              <a:t>:</a:t>
            </a:r>
          </a:p>
        </p:txBody>
      </p:sp>
      <p:sp>
        <p:nvSpPr>
          <p:cNvPr id="68621" name="Text Box 1037">
            <a:extLst>
              <a:ext uri="{FF2B5EF4-FFF2-40B4-BE49-F238E27FC236}">
                <a16:creationId xmlns:a16="http://schemas.microsoft.com/office/drawing/2014/main" id="{35AB2FD4-D8BF-47DE-AA9F-D8B61D824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1772816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则它的质心坐标为</a:t>
            </a:r>
          </a:p>
        </p:txBody>
      </p:sp>
      <p:sp>
        <p:nvSpPr>
          <p:cNvPr id="68624" name="Text Box 1040">
            <a:extLst>
              <a:ext uri="{FF2B5EF4-FFF2-40B4-BE49-F238E27FC236}">
                <a16:creationId xmlns:a16="http://schemas.microsoft.com/office/drawing/2014/main" id="{716F50BB-328F-4441-971A-736AC144A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085800"/>
            <a:ext cx="1695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/>
              <a:t>其面密度 </a:t>
            </a: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902290C3-BB62-42A2-B58D-08246E638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" y="115888"/>
            <a:ext cx="3892412" cy="78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buClr>
                <a:schemeClr val="tx1"/>
              </a:buClr>
              <a:buFont typeface="Arial" pitchFamily="34" charset="0"/>
              <a:buNone/>
              <a:defRPr/>
            </a:pPr>
            <a:r>
              <a:rPr lang="en-US" altLang="zh-CN" sz="3600" b="1" dirty="0">
                <a:latin typeface="+mj-lt"/>
                <a:ea typeface="+mj-ea"/>
                <a:cs typeface="+mj-cs"/>
              </a:rPr>
              <a:t>§6  </a:t>
            </a:r>
            <a:r>
              <a:rPr lang="zh-CN" altLang="en-US" sz="3600" b="1" dirty="0">
                <a:latin typeface="+mj-lt"/>
                <a:ea typeface="+mj-ea"/>
                <a:cs typeface="+mj-cs"/>
              </a:rPr>
              <a:t>重积分的应用</a:t>
            </a:r>
            <a:endParaRPr lang="en-US" altLang="zh-CN" sz="3600" b="1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9" grpId="0" autoUpdateAnimBg="0"/>
      <p:bldP spid="68620" grpId="0" autoUpdateAnimBg="0"/>
      <p:bldP spid="68621" grpId="0" autoUpdateAnimBg="0"/>
      <p:bldP spid="68624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051E125B-518A-48C8-8EC2-6216E56099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1379240"/>
            <a:ext cx="7418784" cy="609600"/>
          </a:xfrm>
        </p:spPr>
        <p:txBody>
          <a:bodyPr/>
          <a:lstStyle/>
          <a:p>
            <a:pPr algn="l"/>
            <a:r>
              <a:rPr lang="zh-CN" altLang="en-US" sz="2800" b="1" dirty="0">
                <a:ea typeface="楷体_GB2312" pitchFamily="49" charset="-122"/>
              </a:rPr>
              <a:t>例</a:t>
            </a:r>
            <a:r>
              <a:rPr lang="en-US" altLang="zh-CN" sz="2800" b="1" dirty="0">
                <a:ea typeface="楷体_GB2312" pitchFamily="49" charset="-122"/>
              </a:rPr>
              <a:t>4. 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一求密度均匀的上半椭球体的质心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B56D2122-49A6-41ED-8220-A3303F466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" y="115888"/>
            <a:ext cx="3892412" cy="78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buClr>
                <a:schemeClr val="tx1"/>
              </a:buClr>
              <a:buFont typeface="Arial" pitchFamily="34" charset="0"/>
              <a:buNone/>
              <a:defRPr/>
            </a:pPr>
            <a:r>
              <a:rPr lang="en-US" altLang="zh-CN" sz="3600" b="1" dirty="0">
                <a:latin typeface="+mj-lt"/>
                <a:ea typeface="+mj-ea"/>
                <a:cs typeface="+mj-cs"/>
              </a:rPr>
              <a:t>§6  </a:t>
            </a:r>
            <a:r>
              <a:rPr lang="zh-CN" altLang="en-US" sz="3600" b="1" dirty="0">
                <a:latin typeface="+mj-lt"/>
                <a:ea typeface="+mj-ea"/>
                <a:cs typeface="+mj-cs"/>
              </a:rPr>
              <a:t>重积分的应用</a:t>
            </a:r>
            <a:endParaRPr lang="en-US" altLang="zh-CN" sz="3600" b="1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6725" y="1989138"/>
            <a:ext cx="7777163" cy="3240087"/>
          </a:xfrm>
        </p:spPr>
        <p:txBody>
          <a:bodyPr/>
          <a:lstStyle/>
          <a:p>
            <a:pPr marL="0" indent="0">
              <a:lnSpc>
                <a:spcPct val="14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1.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第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241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页，第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1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题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(1).</a:t>
            </a:r>
            <a:endParaRPr lang="zh-CN" altLang="en-US" sz="3200" dirty="0">
              <a:latin typeface="微软雅黑" pitchFamily="34" charset="-122"/>
              <a:ea typeface="微软雅黑" pitchFamily="34" charset="-122"/>
              <a:sym typeface="Arial" charset="0"/>
            </a:endParaRPr>
          </a:p>
          <a:p>
            <a:pPr marL="0" indent="0">
              <a:lnSpc>
                <a:spcPct val="14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2.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第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242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页，第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4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题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sym typeface="Arial" charset="0"/>
              </a:rPr>
              <a:t>(2).</a:t>
            </a:r>
          </a:p>
          <a:p>
            <a:pPr marL="0" indent="0">
              <a:lnSpc>
                <a:spcPct val="140000"/>
              </a:lnSpc>
              <a:buClr>
                <a:schemeClr val="tx1"/>
              </a:buClr>
              <a:buFont typeface="Wingdings" pitchFamily="2" charset="2"/>
              <a:buNone/>
            </a:pPr>
            <a:endParaRPr lang="zh-CN" altLang="en-US" sz="3200" dirty="0">
              <a:latin typeface="微软雅黑" pitchFamily="34" charset="-122"/>
              <a:ea typeface="微软雅黑" pitchFamily="34" charset="-122"/>
              <a:sym typeface="Arial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7E7CA78-5B7C-4C4B-BC18-04D3E6E57FD6}" type="datetime2">
              <a:rPr lang="zh-CN" altLang="en-US"/>
              <a:pPr>
                <a:defRPr/>
              </a:pPr>
              <a:t>2021年11月29日</a:t>
            </a:fld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4809F1-9B4F-4DF8-8C40-F99BD3D0B5D4}" type="slidenum">
              <a:rPr lang="zh-CN" alt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5366" name="Text Box 2"/>
          <p:cNvSpPr txBox="1">
            <a:spLocks noChangeArrowheads="1"/>
          </p:cNvSpPr>
          <p:nvPr/>
        </p:nvSpPr>
        <p:spPr bwMode="auto">
          <a:xfrm>
            <a:off x="395288" y="1196975"/>
            <a:ext cx="4586287" cy="708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latin typeface="Times New Roman" pitchFamily="18" charset="0"/>
              </a:rPr>
              <a:t>作业：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E9A5334-AF56-4888-AC6A-93A066CCC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" y="115888"/>
            <a:ext cx="3892412" cy="78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buClr>
                <a:schemeClr val="tx1"/>
              </a:buClr>
              <a:buFont typeface="Arial" pitchFamily="34" charset="0"/>
              <a:buNone/>
              <a:defRPr/>
            </a:pPr>
            <a:r>
              <a:rPr lang="en-US" altLang="zh-CN" sz="3600" b="1" dirty="0">
                <a:latin typeface="+mj-lt"/>
                <a:ea typeface="+mj-ea"/>
                <a:cs typeface="+mj-cs"/>
              </a:rPr>
              <a:t>§6  </a:t>
            </a:r>
            <a:r>
              <a:rPr lang="zh-CN" altLang="en-US" sz="3600" b="1" dirty="0">
                <a:latin typeface="+mj-lt"/>
                <a:ea typeface="+mj-ea"/>
                <a:cs typeface="+mj-cs"/>
              </a:rPr>
              <a:t>重积分的应用</a:t>
            </a:r>
            <a:endParaRPr lang="en-US" altLang="zh-CN" sz="3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7141583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Cambria"/>
        <a:ea typeface="华文中宋"/>
        <a:cs typeface=""/>
      </a:majorFont>
      <a:minorFont>
        <a:latin typeface="Cambria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295</Words>
  <Application>Microsoft Office PowerPoint</Application>
  <PresentationFormat>全屏显示(4:3)</PresentationFormat>
  <Paragraphs>56</Paragraphs>
  <Slides>10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黑体</vt:lpstr>
      <vt:lpstr>微软雅黑</vt:lpstr>
      <vt:lpstr>Arial</vt:lpstr>
      <vt:lpstr>Calibri</vt:lpstr>
      <vt:lpstr>Cambria</vt:lpstr>
      <vt:lpstr>Times New Roman</vt:lpstr>
      <vt:lpstr>Wingdings</vt:lpstr>
      <vt:lpstr>Profile</vt:lpstr>
      <vt:lpstr>Equation</vt:lpstr>
      <vt:lpstr>数 学 分 析（3）</vt:lpstr>
      <vt:lpstr>第21章   重积分</vt:lpstr>
      <vt:lpstr>PowerPoint 演示文稿</vt:lpstr>
      <vt:lpstr>PowerPoint 演示文稿</vt:lpstr>
      <vt:lpstr>PowerPoint 演示文稿</vt:lpstr>
      <vt:lpstr>同理可得</vt:lpstr>
      <vt:lpstr>PowerPoint 演示文稿</vt:lpstr>
      <vt:lpstr>PowerPoint 演示文稿</vt:lpstr>
      <vt:lpstr>例4.  一求密度均匀的上半椭球体的质心.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学 分 析（3）</dc:title>
  <dc:creator>liumgao</dc:creator>
  <cp:lastModifiedBy>liu qiang</cp:lastModifiedBy>
  <cp:revision>115</cp:revision>
  <dcterms:created xsi:type="dcterms:W3CDTF">2016-08-26T12:24:15Z</dcterms:created>
  <dcterms:modified xsi:type="dcterms:W3CDTF">2021-11-29T07:13:08Z</dcterms:modified>
</cp:coreProperties>
</file>