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62" r:id="rId2"/>
    <p:sldMasterId id="2147483663" r:id="rId3"/>
  </p:sldMasterIdLst>
  <p:notesMasterIdLst>
    <p:notesMasterId r:id="rId157"/>
  </p:notesMasterIdLst>
  <p:sldIdLst>
    <p:sldId id="257" r:id="rId4"/>
    <p:sldId id="259" r:id="rId5"/>
    <p:sldId id="260" r:id="rId6"/>
    <p:sldId id="286" r:id="rId7"/>
    <p:sldId id="261" r:id="rId8"/>
    <p:sldId id="262" r:id="rId9"/>
    <p:sldId id="263" r:id="rId10"/>
    <p:sldId id="264" r:id="rId11"/>
    <p:sldId id="288" r:id="rId12"/>
    <p:sldId id="289" r:id="rId13"/>
    <p:sldId id="265" r:id="rId14"/>
    <p:sldId id="266" r:id="rId15"/>
    <p:sldId id="267" r:id="rId16"/>
    <p:sldId id="268" r:id="rId17"/>
    <p:sldId id="285" r:id="rId18"/>
    <p:sldId id="269" r:id="rId19"/>
    <p:sldId id="270" r:id="rId20"/>
    <p:sldId id="292" r:id="rId21"/>
    <p:sldId id="293" r:id="rId22"/>
    <p:sldId id="271" r:id="rId23"/>
    <p:sldId id="272" r:id="rId24"/>
    <p:sldId id="413" r:id="rId25"/>
    <p:sldId id="414" r:id="rId26"/>
    <p:sldId id="415" r:id="rId27"/>
    <p:sldId id="416" r:id="rId28"/>
    <p:sldId id="273" r:id="rId29"/>
    <p:sldId id="417" r:id="rId30"/>
    <p:sldId id="419" r:id="rId31"/>
    <p:sldId id="420" r:id="rId32"/>
    <p:sldId id="421" r:id="rId33"/>
    <p:sldId id="422" r:id="rId34"/>
    <p:sldId id="298" r:id="rId35"/>
    <p:sldId id="423" r:id="rId36"/>
    <p:sldId id="287" r:id="rId37"/>
    <p:sldId id="275" r:id="rId38"/>
    <p:sldId id="276" r:id="rId39"/>
    <p:sldId id="277" r:id="rId40"/>
    <p:sldId id="290" r:id="rId41"/>
    <p:sldId id="391" r:id="rId42"/>
    <p:sldId id="392" r:id="rId43"/>
    <p:sldId id="393" r:id="rId44"/>
    <p:sldId id="278" r:id="rId45"/>
    <p:sldId id="279" r:id="rId46"/>
    <p:sldId id="280" r:id="rId47"/>
    <p:sldId id="281" r:id="rId48"/>
    <p:sldId id="297" r:id="rId49"/>
    <p:sldId id="283" r:id="rId50"/>
    <p:sldId id="284" r:id="rId51"/>
    <p:sldId id="381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99" r:id="rId76"/>
    <p:sldId id="394" r:id="rId77"/>
    <p:sldId id="323" r:id="rId78"/>
    <p:sldId id="324" r:id="rId79"/>
    <p:sldId id="325" r:id="rId80"/>
    <p:sldId id="326" r:id="rId81"/>
    <p:sldId id="424" r:id="rId82"/>
    <p:sldId id="425" r:id="rId83"/>
    <p:sldId id="426" r:id="rId84"/>
    <p:sldId id="427" r:id="rId85"/>
    <p:sldId id="428" r:id="rId86"/>
    <p:sldId id="327" r:id="rId87"/>
    <p:sldId id="328" r:id="rId88"/>
    <p:sldId id="329" r:id="rId89"/>
    <p:sldId id="330" r:id="rId90"/>
    <p:sldId id="331" r:id="rId91"/>
    <p:sldId id="332" r:id="rId92"/>
    <p:sldId id="333" r:id="rId93"/>
    <p:sldId id="334" r:id="rId94"/>
    <p:sldId id="335" r:id="rId95"/>
    <p:sldId id="336" r:id="rId96"/>
    <p:sldId id="337" r:id="rId97"/>
    <p:sldId id="338" r:id="rId98"/>
    <p:sldId id="339" r:id="rId99"/>
    <p:sldId id="340" r:id="rId100"/>
    <p:sldId id="385" r:id="rId101"/>
    <p:sldId id="341" r:id="rId102"/>
    <p:sldId id="342" r:id="rId103"/>
    <p:sldId id="343" r:id="rId104"/>
    <p:sldId id="344" r:id="rId105"/>
    <p:sldId id="345" r:id="rId106"/>
    <p:sldId id="346" r:id="rId107"/>
    <p:sldId id="347" r:id="rId108"/>
    <p:sldId id="384" r:id="rId109"/>
    <p:sldId id="348" r:id="rId110"/>
    <p:sldId id="349" r:id="rId111"/>
    <p:sldId id="386" r:id="rId112"/>
    <p:sldId id="350" r:id="rId113"/>
    <p:sldId id="352" r:id="rId114"/>
    <p:sldId id="353" r:id="rId115"/>
    <p:sldId id="387" r:id="rId116"/>
    <p:sldId id="354" r:id="rId117"/>
    <p:sldId id="355" r:id="rId118"/>
    <p:sldId id="356" r:id="rId119"/>
    <p:sldId id="357" r:id="rId120"/>
    <p:sldId id="358" r:id="rId121"/>
    <p:sldId id="359" r:id="rId122"/>
    <p:sldId id="360" r:id="rId123"/>
    <p:sldId id="361" r:id="rId124"/>
    <p:sldId id="362" r:id="rId125"/>
    <p:sldId id="363" r:id="rId126"/>
    <p:sldId id="364" r:id="rId127"/>
    <p:sldId id="365" r:id="rId128"/>
    <p:sldId id="366" r:id="rId129"/>
    <p:sldId id="367" r:id="rId130"/>
    <p:sldId id="368" r:id="rId131"/>
    <p:sldId id="369" r:id="rId132"/>
    <p:sldId id="370" r:id="rId133"/>
    <p:sldId id="396" r:id="rId134"/>
    <p:sldId id="389" r:id="rId135"/>
    <p:sldId id="372" r:id="rId136"/>
    <p:sldId id="395" r:id="rId137"/>
    <p:sldId id="373" r:id="rId138"/>
    <p:sldId id="374" r:id="rId139"/>
    <p:sldId id="375" r:id="rId140"/>
    <p:sldId id="376" r:id="rId141"/>
    <p:sldId id="377" r:id="rId142"/>
    <p:sldId id="378" r:id="rId143"/>
    <p:sldId id="390" r:id="rId144"/>
    <p:sldId id="379" r:id="rId145"/>
    <p:sldId id="397" r:id="rId146"/>
    <p:sldId id="398" r:id="rId147"/>
    <p:sldId id="429" r:id="rId148"/>
    <p:sldId id="430" r:id="rId149"/>
    <p:sldId id="431" r:id="rId150"/>
    <p:sldId id="432" r:id="rId151"/>
    <p:sldId id="433" r:id="rId152"/>
    <p:sldId id="434" r:id="rId153"/>
    <p:sldId id="435" r:id="rId154"/>
    <p:sldId id="436" r:id="rId155"/>
    <p:sldId id="437" r:id="rId15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CC"/>
    <a:srgbClr val="0033CC"/>
    <a:srgbClr val="009900"/>
    <a:srgbClr val="D9FFFF"/>
    <a:srgbClr val="FFFFC1"/>
    <a:srgbClr val="FECCBE"/>
    <a:srgbClr val="A50021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00" autoAdjust="0"/>
    <p:restoredTop sz="74354" autoAdjust="0"/>
  </p:normalViewPr>
  <p:slideViewPr>
    <p:cSldViewPr>
      <p:cViewPr varScale="1">
        <p:scale>
          <a:sx n="52" d="100"/>
          <a:sy n="52" d="100"/>
        </p:scale>
        <p:origin x="-222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345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33" Type="http://schemas.openxmlformats.org/officeDocument/2006/relationships/slide" Target="slides/slide130.xml"/><Relationship Id="rId138" Type="http://schemas.openxmlformats.org/officeDocument/2006/relationships/slide" Target="slides/slide135.xml"/><Relationship Id="rId154" Type="http://schemas.openxmlformats.org/officeDocument/2006/relationships/slide" Target="slides/slide151.xml"/><Relationship Id="rId159" Type="http://schemas.openxmlformats.org/officeDocument/2006/relationships/viewProps" Target="viewProps.xml"/><Relationship Id="rId16" Type="http://schemas.openxmlformats.org/officeDocument/2006/relationships/slide" Target="slides/slide13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slide" Target="slides/slide120.xml"/><Relationship Id="rId128" Type="http://schemas.openxmlformats.org/officeDocument/2006/relationships/slide" Target="slides/slide125.xml"/><Relationship Id="rId144" Type="http://schemas.openxmlformats.org/officeDocument/2006/relationships/slide" Target="slides/slide141.xml"/><Relationship Id="rId149" Type="http://schemas.openxmlformats.org/officeDocument/2006/relationships/slide" Target="slides/slide146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160" Type="http://schemas.openxmlformats.org/officeDocument/2006/relationships/theme" Target="theme/theme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18" Type="http://schemas.openxmlformats.org/officeDocument/2006/relationships/slide" Target="slides/slide115.xml"/><Relationship Id="rId134" Type="http://schemas.openxmlformats.org/officeDocument/2006/relationships/slide" Target="slides/slide131.xml"/><Relationship Id="rId139" Type="http://schemas.openxmlformats.org/officeDocument/2006/relationships/slide" Target="slides/slide13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50" Type="http://schemas.openxmlformats.org/officeDocument/2006/relationships/slide" Target="slides/slide147.xml"/><Relationship Id="rId155" Type="http://schemas.openxmlformats.org/officeDocument/2006/relationships/slide" Target="slides/slide15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124" Type="http://schemas.openxmlformats.org/officeDocument/2006/relationships/slide" Target="slides/slide121.xml"/><Relationship Id="rId129" Type="http://schemas.openxmlformats.org/officeDocument/2006/relationships/slide" Target="slides/slide126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11" Type="http://schemas.openxmlformats.org/officeDocument/2006/relationships/slide" Target="slides/slide108.xml"/><Relationship Id="rId132" Type="http://schemas.openxmlformats.org/officeDocument/2006/relationships/slide" Target="slides/slide129.xml"/><Relationship Id="rId140" Type="http://schemas.openxmlformats.org/officeDocument/2006/relationships/slide" Target="slides/slide137.xml"/><Relationship Id="rId145" Type="http://schemas.openxmlformats.org/officeDocument/2006/relationships/slide" Target="slides/slide142.xml"/><Relationship Id="rId153" Type="http://schemas.openxmlformats.org/officeDocument/2006/relationships/slide" Target="slides/slide150.xml"/><Relationship Id="rId16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14" Type="http://schemas.openxmlformats.org/officeDocument/2006/relationships/slide" Target="slides/slide111.xml"/><Relationship Id="rId119" Type="http://schemas.openxmlformats.org/officeDocument/2006/relationships/slide" Target="slides/slide116.xml"/><Relationship Id="rId127" Type="http://schemas.openxmlformats.org/officeDocument/2006/relationships/slide" Target="slides/slide12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130" Type="http://schemas.openxmlformats.org/officeDocument/2006/relationships/slide" Target="slides/slide127.xml"/><Relationship Id="rId135" Type="http://schemas.openxmlformats.org/officeDocument/2006/relationships/slide" Target="slides/slide132.xml"/><Relationship Id="rId143" Type="http://schemas.openxmlformats.org/officeDocument/2006/relationships/slide" Target="slides/slide140.xml"/><Relationship Id="rId148" Type="http://schemas.openxmlformats.org/officeDocument/2006/relationships/slide" Target="slides/slide145.xml"/><Relationship Id="rId151" Type="http://schemas.openxmlformats.org/officeDocument/2006/relationships/slide" Target="slides/slide148.xml"/><Relationship Id="rId156" Type="http://schemas.openxmlformats.org/officeDocument/2006/relationships/slide" Target="slides/slide153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120" Type="http://schemas.openxmlformats.org/officeDocument/2006/relationships/slide" Target="slides/slide117.xml"/><Relationship Id="rId125" Type="http://schemas.openxmlformats.org/officeDocument/2006/relationships/slide" Target="slides/slide122.xml"/><Relationship Id="rId141" Type="http://schemas.openxmlformats.org/officeDocument/2006/relationships/slide" Target="slides/slide138.xml"/><Relationship Id="rId146" Type="http://schemas.openxmlformats.org/officeDocument/2006/relationships/slide" Target="slides/slide14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16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slide" Target="slides/slide112.xml"/><Relationship Id="rId131" Type="http://schemas.openxmlformats.org/officeDocument/2006/relationships/slide" Target="slides/slide128.xml"/><Relationship Id="rId136" Type="http://schemas.openxmlformats.org/officeDocument/2006/relationships/slide" Target="slides/slide133.xml"/><Relationship Id="rId157" Type="http://schemas.openxmlformats.org/officeDocument/2006/relationships/notesMaster" Target="notesMasters/notesMaster1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52" Type="http://schemas.openxmlformats.org/officeDocument/2006/relationships/slide" Target="slides/slide14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26" Type="http://schemas.openxmlformats.org/officeDocument/2006/relationships/slide" Target="slides/slide123.xml"/><Relationship Id="rId147" Type="http://schemas.openxmlformats.org/officeDocument/2006/relationships/slide" Target="slides/slide14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142" Type="http://schemas.openxmlformats.org/officeDocument/2006/relationships/slide" Target="slides/slide139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slide" Target="slides/slide113.xml"/><Relationship Id="rId137" Type="http://schemas.openxmlformats.org/officeDocument/2006/relationships/slide" Target="slides/slide134.xml"/><Relationship Id="rId15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image" Target="../media/image37.wmf"/><Relationship Id="rId7" Type="http://schemas.openxmlformats.org/officeDocument/2006/relationships/image" Target="../media/image41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10" Type="http://schemas.openxmlformats.org/officeDocument/2006/relationships/image" Target="../media/image44.wmf"/><Relationship Id="rId4" Type="http://schemas.openxmlformats.org/officeDocument/2006/relationships/image" Target="../media/image38.wmf"/><Relationship Id="rId9" Type="http://schemas.openxmlformats.org/officeDocument/2006/relationships/image" Target="../media/image43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42.wmf"/><Relationship Id="rId7" Type="http://schemas.openxmlformats.org/officeDocument/2006/relationships/image" Target="../media/image49.wmf"/><Relationship Id="rId2" Type="http://schemas.openxmlformats.org/officeDocument/2006/relationships/image" Target="../media/image45.wmf"/><Relationship Id="rId1" Type="http://schemas.openxmlformats.org/officeDocument/2006/relationships/image" Target="../media/image41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56.wmf"/><Relationship Id="rId2" Type="http://schemas.openxmlformats.org/officeDocument/2006/relationships/image" Target="../media/image51.wmf"/><Relationship Id="rId1" Type="http://schemas.openxmlformats.org/officeDocument/2006/relationships/image" Target="../media/image40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image" Target="../media/image73.wmf"/><Relationship Id="rId7" Type="http://schemas.openxmlformats.org/officeDocument/2006/relationships/image" Target="../media/image77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Relationship Id="rId9" Type="http://schemas.openxmlformats.org/officeDocument/2006/relationships/image" Target="../media/image79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image" Target="../media/image87.wmf"/><Relationship Id="rId7" Type="http://schemas.openxmlformats.org/officeDocument/2006/relationships/image" Target="../media/image91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10" Type="http://schemas.openxmlformats.org/officeDocument/2006/relationships/image" Target="../media/image93.wmf"/><Relationship Id="rId4" Type="http://schemas.openxmlformats.org/officeDocument/2006/relationships/image" Target="../media/image88.wmf"/><Relationship Id="rId9" Type="http://schemas.openxmlformats.org/officeDocument/2006/relationships/image" Target="../media/image51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image" Target="../media/image87.wmf"/><Relationship Id="rId7" Type="http://schemas.openxmlformats.org/officeDocument/2006/relationships/image" Target="../media/image51.wmf"/><Relationship Id="rId2" Type="http://schemas.openxmlformats.org/officeDocument/2006/relationships/image" Target="../media/image86.wmf"/><Relationship Id="rId1" Type="http://schemas.openxmlformats.org/officeDocument/2006/relationships/image" Target="../media/image94.wmf"/><Relationship Id="rId6" Type="http://schemas.openxmlformats.org/officeDocument/2006/relationships/image" Target="../media/image88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wmf"/><Relationship Id="rId1" Type="http://schemas.openxmlformats.org/officeDocument/2006/relationships/image" Target="../media/image100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image" Target="../media/image104.wmf"/><Relationship Id="rId7" Type="http://schemas.openxmlformats.org/officeDocument/2006/relationships/image" Target="../media/image107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6" Type="http://schemas.openxmlformats.org/officeDocument/2006/relationships/image" Target="../media/image106.wmf"/><Relationship Id="rId11" Type="http://schemas.openxmlformats.org/officeDocument/2006/relationships/image" Target="../media/image111.wmf"/><Relationship Id="rId5" Type="http://schemas.openxmlformats.org/officeDocument/2006/relationships/image" Target="../media/image105.wmf"/><Relationship Id="rId10" Type="http://schemas.openxmlformats.org/officeDocument/2006/relationships/image" Target="../media/image110.wmf"/><Relationship Id="rId4" Type="http://schemas.openxmlformats.org/officeDocument/2006/relationships/image" Target="../media/image77.wmf"/><Relationship Id="rId9" Type="http://schemas.openxmlformats.org/officeDocument/2006/relationships/image" Target="../media/image109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7" Type="http://schemas.openxmlformats.org/officeDocument/2006/relationships/image" Target="../media/image115.wmf"/><Relationship Id="rId2" Type="http://schemas.openxmlformats.org/officeDocument/2006/relationships/image" Target="../media/image73.wmf"/><Relationship Id="rId1" Type="http://schemas.openxmlformats.org/officeDocument/2006/relationships/image" Target="../media/image104.wmf"/><Relationship Id="rId6" Type="http://schemas.openxmlformats.org/officeDocument/2006/relationships/image" Target="../media/image77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8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68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B0C8DC3-4AD2-4BCD-A6A0-23D8158590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93363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现实社会中存在各种关系，比如人与人之间，存在着朋友关系、兄弟关系、父子关系、同学关系、上下级关系等。两个数之间有大于关系、小于关系、等于关系等等。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所有这些关系最终可抽象为同一集合上的元素之间的关系，或者是不同集合之间元素之间的关系。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关系理论是数据库理论的数学基础。比如我们在信息管理系统中实现学生选课功能，那么数据库中至少要存在</a:t>
            </a:r>
            <a:r>
              <a:rPr lang="en-US" altLang="zh-CN" dirty="0">
                <a:latin typeface="Arial" panose="020B0604020202020204" pitchFamily="34" charset="0"/>
              </a:rPr>
              <a:t>3</a:t>
            </a:r>
            <a:r>
              <a:rPr lang="zh-CN" altLang="en-US" dirty="0">
                <a:latin typeface="Arial" panose="020B0604020202020204" pitchFamily="34" charset="0"/>
              </a:rPr>
              <a:t>张表：一张学生信息表（基础信息表）、一张教师信息表（基础信息表）、一张选课表（关系表）。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 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从这一节开始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zh-CN" altLang="en-US" dirty="0">
                <a:latin typeface="Arial" panose="020B0604020202020204" pitchFamily="34" charset="0"/>
              </a:rPr>
              <a:t>我们要研究关系并讨论其性质，首要的问题是要找到一个适当的方式来表示关系。为此用到笛卡尔积的概念。</a:t>
            </a:r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D921ACE-A87E-4093-BB4C-A18C33559F31}" type="slidenum">
              <a:rPr lang="en-US" altLang="zh-CN" sz="1200">
                <a:latin typeface="Arial" panose="020B0604020202020204" pitchFamily="34" charset="0"/>
              </a:rPr>
              <a:pPr/>
              <a:t>1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821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在学习笛卡尔积之前，我们先看什么是有序对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6E50E96-2C58-4046-BC7F-9EFCB9CF53EB}" type="slidenum">
              <a:rPr lang="en-US" altLang="zh-CN" sz="1200">
                <a:latin typeface="Arial" panose="020B0604020202020204" pitchFamily="34" charset="0"/>
              </a:rPr>
              <a:pPr/>
              <a:t>2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213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当个体数值相同且位置次序也相同时，序偶才相等。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刚刚我们讲的有序对是针对二元组的，现在我们将有序对的概念推广到</a:t>
            </a:r>
            <a:r>
              <a:rPr lang="en-US" altLang="zh-CN" dirty="0">
                <a:latin typeface="Arial" panose="020B0604020202020204" pitchFamily="34" charset="0"/>
              </a:rPr>
              <a:t>n</a:t>
            </a:r>
            <a:r>
              <a:rPr lang="zh-CN" altLang="en-US" dirty="0">
                <a:latin typeface="Arial" panose="020B0604020202020204" pitchFamily="34" charset="0"/>
              </a:rPr>
              <a:t>元组。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57DED32-27BC-4E5C-B86B-0D8AB5EE8A7D}" type="slidenum">
              <a:rPr lang="en-US" altLang="zh-CN" sz="1200">
                <a:latin typeface="Arial" panose="020B0604020202020204" pitchFamily="34" charset="0"/>
              </a:rPr>
              <a:pPr/>
              <a:t>3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122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由</a:t>
            </a:r>
            <a:r>
              <a:rPr lang="en-US" altLang="zh-CN">
                <a:latin typeface="Arial" panose="020B0604020202020204" pitchFamily="34" charset="0"/>
              </a:rPr>
              <a:t>n</a:t>
            </a:r>
            <a:r>
              <a:rPr lang="zh-CN" altLang="en-US">
                <a:latin typeface="Arial" panose="020B0604020202020204" pitchFamily="34" charset="0"/>
              </a:rPr>
              <a:t>元组的概念可推出笛卡尔积的定义</a:t>
            </a: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B0EFFBB-97D5-4290-8D59-5CE1B6D87BB6}" type="slidenum">
              <a:rPr lang="en-US" altLang="zh-CN" sz="1200">
                <a:latin typeface="Arial" panose="020B0604020202020204" pitchFamily="34" charset="0"/>
              </a:rPr>
              <a:pPr/>
              <a:t>4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220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笛卡尔积也是集合间的一种运算，但不是代数运算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zh-CN" altLang="en-US" dirty="0">
                <a:latin typeface="Arial" panose="020B0604020202020204" pitchFamily="34" charset="0"/>
              </a:rPr>
              <a:t>不封闭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由例可见，交换律不成立。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此外，若笛卡尔积不为空，笛卡尔积中的元素个数是多少呢 </a:t>
            </a:r>
            <a:r>
              <a:rPr lang="en-US" altLang="zh-CN" dirty="0">
                <a:latin typeface="Arial" panose="020B0604020202020204" pitchFamily="34" charset="0"/>
              </a:rPr>
              <a:t>?</a:t>
            </a: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7C7DC93-8464-4965-9105-8587C6FCCDE9}" type="slidenum">
              <a:rPr lang="en-US" altLang="zh-CN" sz="1200">
                <a:latin typeface="Arial" panose="020B0604020202020204" pitchFamily="34" charset="0"/>
              </a:rPr>
              <a:pPr/>
              <a:t>5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592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我们已经可以表示笛卡尔积后，就可以开始研究笛卡儿积的性质了。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、不适合交换律，例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可证明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、不适合结合律，例如：</a:t>
            </a:r>
            <a:r>
              <a:rPr lang="en-US" altLang="zh-CN" dirty="0">
                <a:latin typeface="Arial" panose="020B0604020202020204" pitchFamily="34" charset="0"/>
              </a:rPr>
              <a:t>A={1},B={2},C={3}</a:t>
            </a:r>
            <a:r>
              <a:rPr lang="zh-CN" altLang="en-US" dirty="0">
                <a:latin typeface="Arial" panose="020B0604020202020204" pitchFamily="34" charset="0"/>
              </a:rPr>
              <a:t>，则</a:t>
            </a:r>
            <a:r>
              <a:rPr lang="en-US" altLang="zh-CN" sz="1200" b="1" i="0" dirty="0">
                <a:latin typeface="Times New Roman" panose="02020603050405020304" pitchFamily="18" charset="0"/>
              </a:rPr>
              <a:t>(A</a:t>
            </a:r>
            <a:r>
              <a:rPr lang="en-US" altLang="zh-CN" sz="1200" b="1" i="0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1200" b="1" i="0" dirty="0">
                <a:latin typeface="Times New Roman" panose="02020603050405020304" pitchFamily="18" charset="0"/>
              </a:rPr>
              <a:t>B)</a:t>
            </a:r>
            <a:r>
              <a:rPr lang="en-US" altLang="zh-CN" sz="1200" b="1" i="0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1200" b="1" i="0" dirty="0">
                <a:latin typeface="Times New Roman" panose="02020603050405020304" pitchFamily="18" charset="0"/>
              </a:rPr>
              <a:t>C</a:t>
            </a:r>
            <a:r>
              <a:rPr lang="en-US" altLang="zh-CN" sz="1200" b="1" i="0" dirty="0">
                <a:latin typeface="Times New Roman" panose="02020603050405020304" pitchFamily="18" charset="0"/>
                <a:sym typeface="Symbol" panose="05050102010706020507" pitchFamily="18" charset="2"/>
              </a:rPr>
              <a:t>={&lt;&lt;1,2&gt;,3&gt;}</a:t>
            </a:r>
            <a:r>
              <a:rPr lang="zh-CN" altLang="en-US" sz="1200" b="1" i="0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1200" b="1" i="0" dirty="0">
                <a:latin typeface="Times New Roman" panose="02020603050405020304" pitchFamily="18" charset="0"/>
              </a:rPr>
              <a:t>A</a:t>
            </a:r>
            <a:r>
              <a:rPr lang="en-US" altLang="zh-CN" sz="1200" b="1" i="0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1200" b="1" i="0" dirty="0">
                <a:latin typeface="Times New Roman" panose="02020603050405020304" pitchFamily="18" charset="0"/>
              </a:rPr>
              <a:t>(B</a:t>
            </a:r>
            <a:r>
              <a:rPr lang="en-US" altLang="zh-CN" sz="1200" b="1" i="0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1200" b="1" i="0" dirty="0">
                <a:latin typeface="Times New Roman" panose="02020603050405020304" pitchFamily="18" charset="0"/>
              </a:rPr>
              <a:t>C)={&lt;1,&lt;2,3&gt;&gt;} </a:t>
            </a:r>
            <a:endParaRPr lang="en-US" altLang="zh-CN" i="0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latin typeface="Arial" panose="020B0604020202020204" pitchFamily="34" charset="0"/>
              </a:rPr>
              <a:t>所有性质的证明都是用定义，或使用已经证明了的性质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不适合可以通过举一个反例来证明</a:t>
            </a:r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F6EDA07-C205-4E0A-8E48-E977A405D39F}" type="slidenum">
              <a:rPr lang="en-US" altLang="zh-CN" sz="1200">
                <a:latin typeface="Arial" panose="020B0604020202020204" pitchFamily="34" charset="0"/>
              </a:rPr>
              <a:pPr/>
              <a:t>6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1768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所有性质的证明都是用定义，或使用已经证明了的性质</a:t>
            </a:r>
          </a:p>
          <a:p>
            <a:r>
              <a:rPr lang="zh-CN" altLang="en-US" dirty="0"/>
              <a:t>不适合可以通过举一个反例来证明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0C8DC3-4AD2-4BCD-A6A0-23D81585907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1390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用定义证明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不成立可以通过举一个反例来证明。要多注意</a:t>
            </a:r>
            <a:r>
              <a:rPr lang="en-US" altLang="zh-CN" sz="12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1200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这种特殊的集合。</a:t>
            </a:r>
            <a:endParaRPr lang="zh-CN" altLang="en-US" b="0" dirty="0"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0C8DC3-4AD2-4BCD-A6A0-23D815859075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2877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不成立可以通过举一个反例来证明。要多注意</a:t>
            </a:r>
            <a:r>
              <a:rPr lang="en-US" altLang="zh-CN" sz="12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1200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这种特殊的集合。</a:t>
            </a:r>
            <a:endParaRPr lang="zh-CN" altLang="en-US" b="0" dirty="0">
              <a:latin typeface="Arial" panose="020B0604020202020204" pitchFamily="34" charset="0"/>
            </a:endParaRPr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5597C1C-850D-46FA-A1F4-DC42409BB8E5}" type="slidenum">
              <a:rPr lang="en-US" altLang="zh-CN" sz="1200">
                <a:latin typeface="Arial" panose="020B0604020202020204" pitchFamily="34" charset="0"/>
              </a:rPr>
              <a:pPr/>
              <a:t>9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4351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笛卡儿积是集合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和集合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上所有序偶对的集合，但通常我们只研究有意义的序偶对，或者说只研究满足某种关系的序偶对。比如一个班要参加学校的羽毛球混双比赛，那队员就只能从会打羽毛球的男女同学中选择，而不是在全班同学中选择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我们先看一个例子：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由此可见，我们可用序偶的集合来表示一个关系，由此可把对关系的研究转化为序偶集合的研究，下面给出这种表达的定义</a:t>
            </a:r>
            <a:r>
              <a:rPr lang="en-US" altLang="zh-CN" dirty="0">
                <a:latin typeface="Arial" panose="020B0604020202020204" pitchFamily="34" charset="0"/>
              </a:rPr>
              <a:t>:</a:t>
            </a: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381EEB2-996A-4451-A163-81F20D42BD7A}" type="slidenum">
              <a:rPr lang="en-US" altLang="zh-CN" sz="1200">
                <a:latin typeface="Arial" panose="020B0604020202020204" pitchFamily="34" charset="0"/>
              </a:rPr>
              <a:pPr/>
              <a:t>10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569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下面我们把二元关系的定义扩展到集合上去，</a:t>
            </a:r>
            <a:r>
              <a:rPr lang="zh-CN" altLang="en-US" b="0" dirty="0"/>
              <a:t>看什么是</a:t>
            </a:r>
            <a:r>
              <a:rPr lang="zh-CN" altLang="en-US" b="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从集合</a:t>
            </a:r>
            <a:r>
              <a:rPr lang="en-US" altLang="zh-CN" b="0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lang="zh-CN" altLang="en-US" b="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到集合</a:t>
            </a:r>
            <a:r>
              <a:rPr lang="en-US" altLang="zh-CN" b="0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</a:t>
            </a:r>
            <a:r>
              <a:rPr lang="zh-CN" altLang="en-US" b="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的关系或者集合</a:t>
            </a:r>
            <a:r>
              <a:rPr lang="en-US" altLang="zh-CN" b="0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lang="zh-CN" altLang="en-US" b="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上</a:t>
            </a:r>
            <a:r>
              <a:rPr lang="zh-CN" altLang="en-US" b="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的关系</a:t>
            </a:r>
            <a:endParaRPr lang="zh-CN" altLang="en-US" b="0" dirty="0"/>
          </a:p>
        </p:txBody>
      </p:sp>
      <p:sp>
        <p:nvSpPr>
          <p:cNvPr id="245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C284356-38E0-4E00-9362-8D9A55BA9113}" type="slidenum">
              <a:rPr lang="en-US" altLang="zh-CN" sz="1200">
                <a:latin typeface="Arial" panose="020B0604020202020204" pitchFamily="34" charset="0"/>
              </a:rPr>
              <a:pPr/>
              <a:t>11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59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一个集合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上的关系那么多，不可能全部研究一遍。我们主要学习集合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上的几个特殊的关系。</a:t>
            </a:r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616A80F-F6BC-4CB5-BAEF-8A7F97A6BF5C}" type="slidenum">
              <a:rPr lang="en-US" altLang="zh-CN" sz="1200">
                <a:latin typeface="Arial" panose="020B0604020202020204" pitchFamily="34" charset="0"/>
              </a:rPr>
              <a:pPr/>
              <a:t>12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0928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全域关系就是</a:t>
            </a:r>
            <a:r>
              <a:rPr lang="en-US" altLang="zh-CN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rgbClr val="3366CC"/>
                </a:solidFill>
                <a:latin typeface="Times New Roman" panose="02020603050405020304" pitchFamily="18" charset="0"/>
              </a:rPr>
              <a:t>×</a:t>
            </a:r>
            <a:r>
              <a:rPr lang="en-US" altLang="zh-CN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solidFill>
                  <a:srgbClr val="3366CC"/>
                </a:solidFill>
                <a:latin typeface="Times New Roman" panose="02020603050405020304" pitchFamily="18" charset="0"/>
              </a:rPr>
              <a:t>的笛卡儿积</a:t>
            </a:r>
            <a:endParaRPr lang="en-US" altLang="zh-CN" dirty="0">
              <a:solidFill>
                <a:srgbClr val="3366CC"/>
              </a:solidFill>
              <a:latin typeface="Times New Roman" panose="02020603050405020304" pitchFamily="18" charset="0"/>
            </a:endParaRPr>
          </a:p>
          <a:p>
            <a:endParaRPr lang="en-US" altLang="zh-CN" dirty="0">
              <a:solidFill>
                <a:srgbClr val="3366CC"/>
              </a:solidFill>
              <a:latin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3366CC"/>
                </a:solidFill>
                <a:latin typeface="Times New Roman" panose="02020603050405020304" pitchFamily="18" charset="0"/>
              </a:rPr>
              <a:t>全域关系的元素个数</a:t>
            </a:r>
            <a:r>
              <a:rPr lang="en-US" altLang="zh-CN" dirty="0">
                <a:solidFill>
                  <a:srgbClr val="3366CC"/>
                </a:solidFill>
                <a:latin typeface="Times New Roman" panose="02020603050405020304" pitchFamily="18" charset="0"/>
              </a:rPr>
              <a:t>=n</a:t>
            </a:r>
            <a:r>
              <a:rPr lang="en-US" altLang="zh-CN" baseline="30000" dirty="0">
                <a:solidFill>
                  <a:srgbClr val="3366CC"/>
                </a:solidFill>
                <a:latin typeface="Times New Roman" panose="02020603050405020304" pitchFamily="18" charset="0"/>
              </a:rPr>
              <a:t>2</a:t>
            </a:r>
          </a:p>
          <a:p>
            <a:r>
              <a:rPr lang="zh-CN" altLang="en-US" dirty="0">
                <a:solidFill>
                  <a:srgbClr val="3366CC"/>
                </a:solidFill>
                <a:latin typeface="Times New Roman" panose="02020603050405020304" pitchFamily="18" charset="0"/>
              </a:rPr>
              <a:t>恒等关系的元素个数</a:t>
            </a:r>
            <a:r>
              <a:rPr lang="en-US" altLang="zh-CN" dirty="0">
                <a:solidFill>
                  <a:srgbClr val="3366CC"/>
                </a:solidFill>
                <a:latin typeface="Times New Roman" panose="02020603050405020304" pitchFamily="18" charset="0"/>
              </a:rPr>
              <a:t>=n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56122BF-25A6-4B41-B453-AEBA8C4684BC}" type="slidenum">
              <a:rPr lang="en-US" altLang="zh-CN" sz="1200">
                <a:latin typeface="Arial" panose="020B0604020202020204" pitchFamily="34" charset="0"/>
              </a:rPr>
              <a:pPr/>
              <a:t>13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7688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x</a:t>
            </a:r>
            <a:r>
              <a:rPr lang="zh-CN" altLang="en-US" dirty="0"/>
              <a:t>整除</a:t>
            </a:r>
            <a:r>
              <a:rPr lang="en-US" altLang="zh-CN" dirty="0"/>
              <a:t>y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是除数，</a:t>
            </a:r>
            <a:r>
              <a:rPr lang="en-US" altLang="zh-CN" dirty="0"/>
              <a:t>y</a:t>
            </a:r>
            <a:r>
              <a:rPr lang="zh-CN" altLang="en-US" dirty="0"/>
              <a:t>是被除数，等于</a:t>
            </a:r>
            <a:r>
              <a:rPr lang="en-US" altLang="zh-CN" dirty="0"/>
              <a:t>y/x</a:t>
            </a:r>
          </a:p>
          <a:p>
            <a:endParaRPr lang="en-US" altLang="zh-CN" dirty="0"/>
          </a:p>
          <a:p>
            <a:r>
              <a:rPr lang="en-US" altLang="zh-CN" dirty="0"/>
              <a:t>x</a:t>
            </a:r>
            <a:r>
              <a:rPr lang="zh-CN" altLang="en-US" dirty="0"/>
              <a:t>被</a:t>
            </a:r>
            <a:r>
              <a:rPr lang="en-US" altLang="zh-CN" dirty="0"/>
              <a:t>y</a:t>
            </a:r>
            <a:r>
              <a:rPr lang="zh-CN" altLang="en-US" dirty="0"/>
              <a:t>整除：</a:t>
            </a:r>
            <a:r>
              <a:rPr lang="en-US" altLang="zh-CN" dirty="0"/>
              <a:t>x</a:t>
            </a:r>
            <a:r>
              <a:rPr lang="zh-CN" altLang="en-US" dirty="0"/>
              <a:t>是被除数，</a:t>
            </a:r>
            <a:r>
              <a:rPr lang="en-US" altLang="zh-CN" dirty="0"/>
              <a:t>y</a:t>
            </a:r>
            <a:r>
              <a:rPr lang="zh-CN" altLang="en-US" dirty="0"/>
              <a:t>是除数。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811E7CC-7F83-4197-8B6D-1BFD45FF840E}" type="slidenum">
              <a:rPr lang="en-US" altLang="zh-CN" sz="1200">
                <a:latin typeface="Arial" panose="020B0604020202020204" pitchFamily="34" charset="0"/>
              </a:rPr>
              <a:pPr/>
              <a:t>14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2241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P</a:t>
            </a:r>
            <a:r>
              <a:rPr lang="en-US" altLang="zh-CN" sz="12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2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12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)={</a:t>
            </a:r>
            <a:r>
              <a:rPr lang="en-US" altLang="zh-CN" sz="12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12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,{</a:t>
            </a:r>
            <a:r>
              <a:rPr lang="en-US" altLang="zh-CN" sz="12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2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},{</a:t>
            </a:r>
            <a:r>
              <a:rPr lang="en-US" altLang="zh-CN" sz="12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12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},{</a:t>
            </a:r>
            <a:r>
              <a:rPr lang="en-US" altLang="zh-CN" sz="12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2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12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12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0C8DC3-4AD2-4BCD-A6A0-23D815859075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29237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前面我们已经学习了二元关系的定义，现在我们来看下，除了用集合表示外，还可以用什么方式可以更直观的表示。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当二元关系元素有限时，除了可用序偶集合表示外，还可用矩阵或图形描述。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当集合中元素编号顺序不同时，矩阵不同，但同一关系的矩阵是置换等价的。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恒等关系</a:t>
            </a:r>
            <a:r>
              <a:rPr lang="zh-CN" altLang="en-US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的矩阵是</a:t>
            </a:r>
            <a:r>
              <a:rPr lang="en-US" altLang="zh-CN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单位距阵</a:t>
            </a:r>
            <a:r>
              <a:rPr lang="en-US" altLang="zh-CN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 )</a:t>
            </a:r>
            <a:r>
              <a:rPr lang="zh-CN" altLang="en-US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b="1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全域关系</a:t>
            </a:r>
            <a:r>
              <a:rPr lang="zh-CN" altLang="en-US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的矩阵是</a:t>
            </a:r>
            <a:r>
              <a:rPr lang="en-US" altLang="zh-CN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全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矩阵</a:t>
            </a:r>
            <a:r>
              <a:rPr lang="en-US" altLang="zh-CN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，非空集合上的</a:t>
            </a:r>
            <a:r>
              <a:rPr lang="zh-CN" altLang="en-US" b="1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空关系</a:t>
            </a:r>
            <a:r>
              <a:rPr lang="zh-CN" altLang="en-US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的矩阵是</a:t>
            </a:r>
            <a:r>
              <a:rPr lang="en-US" altLang="zh-CN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全零矩阵</a:t>
            </a:r>
            <a:r>
              <a:rPr lang="en-US" altLang="zh-CN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 )</a:t>
            </a:r>
            <a:r>
              <a:rPr lang="zh-CN" altLang="en-US" dirty="0">
                <a:solidFill>
                  <a:srgbClr val="FF00FF"/>
                </a:solidFill>
                <a:latin typeface="宋体" panose="02010600030101010101" pitchFamily="2" charset="-122"/>
                <a:ea typeface="楷体_GB2312" pitchFamily="49" charset="-122"/>
              </a:rPr>
              <a:t>。</a:t>
            </a:r>
            <a:endParaRPr lang="en-US" altLang="zh-CN" dirty="0">
              <a:solidFill>
                <a:srgbClr val="9900FF"/>
              </a:solidFill>
              <a:latin typeface="楷体_GB2312" pitchFamily="49" charset="-122"/>
              <a:ea typeface="楷体_GB2312" pitchFamily="49" charset="-122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448C02B-DDEE-43AA-B50E-3140DE3C62A5}" type="slidenum">
              <a:rPr lang="en-US" altLang="zh-CN" sz="1200">
                <a:latin typeface="Arial" panose="020B0604020202020204" pitchFamily="34" charset="0"/>
              </a:rPr>
              <a:pPr/>
              <a:t>16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1620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关系的三种表示法等价</a:t>
            </a:r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44E5FAB-B2C9-49EF-B7C3-1BCC50951A20}" type="slidenum">
              <a:rPr lang="en-US" altLang="zh-CN" sz="1200">
                <a:latin typeface="Arial" panose="020B0604020202020204" pitchFamily="34" charset="0"/>
              </a:rPr>
              <a:pPr/>
              <a:t>17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4240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在代数系统中，在定义了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3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…</a:t>
            </a:r>
            <a:r>
              <a:rPr lang="zh-CN" altLang="en-US" dirty="0">
                <a:latin typeface="Arial" panose="020B0604020202020204" pitchFamily="34" charset="0"/>
              </a:rPr>
              <a:t>之后，我们又定义了加减乘除等运算，然后研究这些运算的性质，比如结合律、分配律等等。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集合上的关系我们也按照这样的顺序来研究。上节课我们由笛卡儿积引出了二元关系的表示，这节课我们先定义几个基本运算，然后再研究这些运算的性质。</a:t>
            </a:r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0770161-9742-4FB6-8598-2D44390B50C0}" type="slidenum">
              <a:rPr lang="en-US" altLang="zh-CN" sz="1200">
                <a:latin typeface="Arial" panose="020B0604020202020204" pitchFamily="34" charset="0"/>
              </a:rPr>
              <a:pPr/>
              <a:t>20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0993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从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到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的任意关系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，其第一元取自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，第二元取自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，但并非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中所有元素都出现在关系 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的序偶中。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例如  </a:t>
            </a:r>
            <a:r>
              <a:rPr lang="en-US" altLang="zh-CN" dirty="0">
                <a:latin typeface="Arial" panose="020B0604020202020204" pitchFamily="34" charset="0"/>
              </a:rPr>
              <a:t>A={1,2, 3, 5}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B={1,2,4}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假设关系</a:t>
            </a:r>
            <a:r>
              <a:rPr lang="en-US" altLang="zh-CN" dirty="0">
                <a:latin typeface="Arial" panose="020B0604020202020204" pitchFamily="34" charset="0"/>
              </a:rPr>
              <a:t>H={&lt;1, 2&gt;, &lt;1,4&gt;, &lt;2, 4&gt;, &lt;3,4&gt;} </a:t>
            </a:r>
            <a:r>
              <a:rPr lang="zh-CN" altLang="en-US" dirty="0">
                <a:latin typeface="Arial" panose="020B0604020202020204" pitchFamily="34" charset="0"/>
              </a:rPr>
              <a:t>，则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 err="1">
                <a:latin typeface="Arial" panose="020B0604020202020204" pitchFamily="34" charset="0"/>
              </a:rPr>
              <a:t>domH</a:t>
            </a:r>
            <a:r>
              <a:rPr lang="en-US" altLang="zh-CN" dirty="0">
                <a:latin typeface="Arial" panose="020B0604020202020204" pitchFamily="34" charset="0"/>
              </a:rPr>
              <a:t>={1, 2, 3}, </a:t>
            </a:r>
          </a:p>
          <a:p>
            <a:r>
              <a:rPr lang="en-US" altLang="zh-CN" dirty="0" err="1">
                <a:latin typeface="Arial" panose="020B0604020202020204" pitchFamily="34" charset="0"/>
              </a:rPr>
              <a:t>ranH</a:t>
            </a:r>
            <a:r>
              <a:rPr lang="en-US" altLang="zh-CN" dirty="0">
                <a:latin typeface="Arial" panose="020B0604020202020204" pitchFamily="34" charset="0"/>
              </a:rPr>
              <a:t>={2,4} </a:t>
            </a:r>
          </a:p>
          <a:p>
            <a:r>
              <a:rPr lang="en-US" altLang="zh-CN" dirty="0" err="1">
                <a:latin typeface="Arial" panose="020B0604020202020204" pitchFamily="34" charset="0"/>
              </a:rPr>
              <a:t>fld</a:t>
            </a:r>
            <a:r>
              <a:rPr lang="en-US" altLang="zh-CN" dirty="0">
                <a:latin typeface="Arial" panose="020B0604020202020204" pitchFamily="34" charset="0"/>
              </a:rPr>
              <a:t> H={1, 2, 3, 4}</a:t>
            </a: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86CF4BE-98C9-4DB2-ABEA-42A0BF34BE2D}" type="slidenum">
              <a:rPr lang="en-US" altLang="zh-CN" sz="1200">
                <a:latin typeface="Arial" panose="020B0604020202020204" pitchFamily="34" charset="0"/>
              </a:rPr>
              <a:pPr/>
              <a:t>21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5550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607677F-36AC-4E2A-8848-C444A8FF3EEC}" type="slidenum">
              <a:rPr lang="en-US" altLang="zh-CN" sz="1200">
                <a:latin typeface="Arial" panose="020B0604020202020204" pitchFamily="34" charset="0"/>
              </a:rPr>
              <a:pPr/>
              <a:t>26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R∘S</a:t>
            </a:r>
            <a:r>
              <a:rPr lang="zh-CN" altLang="en-US" dirty="0">
                <a:latin typeface="Arial" panose="020B0604020202020204" pitchFamily="34" charset="0"/>
              </a:rPr>
              <a:t>：先做关系</a:t>
            </a:r>
            <a:r>
              <a:rPr lang="en-US" altLang="zh-CN" dirty="0">
                <a:latin typeface="Arial" panose="020B0604020202020204" pitchFamily="34" charset="0"/>
              </a:rPr>
              <a:t>S</a:t>
            </a:r>
            <a:r>
              <a:rPr lang="zh-CN" altLang="en-US" dirty="0">
                <a:latin typeface="Arial" panose="020B0604020202020204" pitchFamily="34" charset="0"/>
              </a:rPr>
              <a:t>，再做关系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。例子可先用画图法讲解，再讲直接做法。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若</a:t>
            </a:r>
            <a:r>
              <a:rPr lang="en-US" altLang="zh-CN" dirty="0">
                <a:latin typeface="Arial" panose="020B0604020202020204" pitchFamily="34" charset="0"/>
              </a:rPr>
              <a:t>S</a:t>
            </a:r>
            <a:r>
              <a:rPr lang="zh-CN" altLang="en-US" dirty="0">
                <a:latin typeface="Arial" panose="020B0604020202020204" pitchFamily="34" charset="0"/>
              </a:rPr>
              <a:t>的值域和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的定义域的交集为空，则</a:t>
            </a:r>
            <a:r>
              <a:rPr lang="en-US" altLang="zh-CN" dirty="0">
                <a:latin typeface="Arial" panose="020B0604020202020204" pitchFamily="34" charset="0"/>
              </a:rPr>
              <a:t>R∘S</a:t>
            </a:r>
            <a:r>
              <a:rPr lang="zh-CN" altLang="en-US" dirty="0">
                <a:latin typeface="Arial" panose="020B0604020202020204" pitchFamily="34" charset="0"/>
              </a:rPr>
              <a:t>运算结果为空。</a:t>
            </a:r>
            <a:endParaRPr lang="zh-CN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1754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0C8DC3-4AD2-4BCD-A6A0-23D815859075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16670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1200" b="1" i="1" baseline="30000" dirty="0">
                <a:latin typeface="Times New Roman" panose="02020603050405020304" pitchFamily="18" charset="0"/>
              </a:rPr>
              <a:t>-</a:t>
            </a:r>
            <a:r>
              <a:rPr lang="en-US" altLang="zh-CN" sz="12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={&lt;</a:t>
            </a:r>
            <a:r>
              <a:rPr lang="en-US" altLang="zh-CN" sz="1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x,y</a:t>
            </a:r>
            <a:r>
              <a:rPr lang="en-US" altLang="zh-CN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&gt;|</a:t>
            </a:r>
            <a:r>
              <a:rPr lang="en-US" altLang="zh-CN" sz="1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x,y</a:t>
            </a:r>
            <a:r>
              <a:rPr lang="en-US" altLang="zh-CN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lang="en-US" altLang="zh-CN" sz="1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sz="1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1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的母亲</a:t>
            </a:r>
            <a:r>
              <a:rPr lang="en-US" altLang="zh-CN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1200" b="1" i="1" baseline="30000" dirty="0">
                <a:latin typeface="Times New Roman" panose="02020603050405020304" pitchFamily="18" charset="0"/>
              </a:rPr>
              <a:t>-</a:t>
            </a:r>
            <a:r>
              <a:rPr lang="en-US" altLang="zh-CN" sz="12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={&lt;</a:t>
            </a:r>
            <a:r>
              <a:rPr lang="en-US" altLang="zh-CN" sz="1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x,y</a:t>
            </a:r>
            <a:r>
              <a:rPr lang="en-US" altLang="zh-CN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&gt;|</a:t>
            </a:r>
            <a:r>
              <a:rPr lang="en-US" altLang="zh-CN" sz="1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x,y</a:t>
            </a:r>
            <a:r>
              <a:rPr lang="en-US" altLang="zh-CN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lang="en-US" altLang="zh-CN" sz="1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sz="1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1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的父亲</a:t>
            </a:r>
            <a:r>
              <a:rPr lang="en-US" altLang="zh-CN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}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0C8DC3-4AD2-4BCD-A6A0-23D815859075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06253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dirty="0">
                <a:latin typeface="Times New Roman" panose="02020603050405020304" pitchFamily="18" charset="0"/>
              </a:rPr>
              <a:t>R</a:t>
            </a:r>
            <a:r>
              <a:rPr lang="en-US" altLang="zh-CN" sz="1200" b="0" i="0" dirty="0"/>
              <a:t>∘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S = {&lt;x, y&gt; | </a:t>
            </a:r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 z (&lt;x, </a:t>
            </a:r>
            <a:r>
              <a:rPr lang="en-US" altLang="zh-CN" sz="1200" b="0" i="0" dirty="0">
                <a:solidFill>
                  <a:srgbClr val="FFC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&gt;</a:t>
            </a:r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1200" b="0" i="0" dirty="0">
                <a:solidFill>
                  <a:srgbClr val="C0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&lt; </a:t>
            </a:r>
            <a:r>
              <a:rPr lang="en-US" altLang="zh-CN" sz="1200" b="0" i="0" dirty="0">
                <a:solidFill>
                  <a:srgbClr val="FFC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, y &gt;</a:t>
            </a:r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1200" b="0" i="0" dirty="0">
                <a:solidFill>
                  <a:srgbClr val="00B05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) } </a:t>
            </a:r>
          </a:p>
          <a:p>
            <a:endParaRPr lang="en-US" altLang="zh-CN" b="0" i="0" dirty="0"/>
          </a:p>
          <a:p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的外祖母，即</a:t>
            </a:r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zh-CN" altLang="en-US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的母亲，</a:t>
            </a:r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zh-CN" altLang="en-US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的母亲</a:t>
            </a:r>
            <a:endParaRPr lang="en-US" altLang="zh-CN" sz="1200" b="0" i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en-US" altLang="zh-CN" sz="1200" b="0" i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的祖母，即 </a:t>
            </a:r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zh-CN" altLang="en-US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的母亲，</a:t>
            </a:r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zh-CN" altLang="en-US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的父亲</a:t>
            </a:r>
            <a:endParaRPr lang="en-US" altLang="zh-CN" sz="1200" b="0" i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en-US" altLang="zh-CN" sz="1200" b="0" i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注意关系的位置，前面的关系在式子的后面。</a:t>
            </a:r>
            <a:endParaRPr lang="zh-CN" altLang="en-US" b="0" i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0C8DC3-4AD2-4BCD-A6A0-23D815859075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4898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0" dirty="0">
                <a:solidFill>
                  <a:srgbClr val="FF3300"/>
                </a:solidFill>
                <a:latin typeface="Times New Roman" panose="02020603050405020304" pitchFamily="18" charset="0"/>
              </a:rPr>
              <a:t>比如一个年级组织了数学竞赛，获奖的同学集合</a:t>
            </a:r>
            <a:r>
              <a:rPr lang="en-US" altLang="zh-CN" b="0" dirty="0">
                <a:solidFill>
                  <a:srgbClr val="FF3300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b="0" dirty="0">
                <a:solidFill>
                  <a:srgbClr val="FF3300"/>
                </a:solidFill>
                <a:latin typeface="Times New Roman" panose="02020603050405020304" pitchFamily="18" charset="0"/>
              </a:rPr>
              <a:t>（假设序偶对为</a:t>
            </a:r>
            <a:r>
              <a:rPr lang="en-US" altLang="zh-CN" b="0" dirty="0">
                <a:solidFill>
                  <a:srgbClr val="FF3300"/>
                </a:solidFill>
                <a:latin typeface="Times New Roman" panose="02020603050405020304" pitchFamily="18" charset="0"/>
              </a:rPr>
              <a:t>&lt;</a:t>
            </a:r>
            <a:r>
              <a:rPr lang="zh-CN" altLang="en-US" b="0" dirty="0">
                <a:solidFill>
                  <a:srgbClr val="FF3300"/>
                </a:solidFill>
                <a:latin typeface="Times New Roman" panose="02020603050405020304" pitchFamily="18" charset="0"/>
              </a:rPr>
              <a:t>班级，姓名</a:t>
            </a:r>
            <a:r>
              <a:rPr lang="en-US" altLang="zh-CN" b="0" dirty="0">
                <a:solidFill>
                  <a:srgbClr val="FF3300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b="0" dirty="0">
                <a:solidFill>
                  <a:srgbClr val="FF3300"/>
                </a:solidFill>
                <a:latin typeface="Times New Roman" panose="02020603050405020304" pitchFamily="18" charset="0"/>
              </a:rPr>
              <a:t>）可能来自各个班级，</a:t>
            </a:r>
            <a:r>
              <a:rPr lang="en-US" altLang="zh-CN" b="0" dirty="0">
                <a:solidFill>
                  <a:srgbClr val="FF3300"/>
                </a:solidFill>
                <a:latin typeface="Times New Roman" panose="02020603050405020304" pitchFamily="18" charset="0"/>
              </a:rPr>
              <a:t>A={1}</a:t>
            </a:r>
            <a:r>
              <a:rPr lang="zh-CN" altLang="en-US" b="0" dirty="0">
                <a:solidFill>
                  <a:srgbClr val="FF3300"/>
                </a:solidFill>
                <a:latin typeface="Times New Roman" panose="02020603050405020304" pitchFamily="18" charset="0"/>
              </a:rPr>
              <a:t>。那么想求出</a:t>
            </a:r>
            <a:r>
              <a:rPr lang="en-US" altLang="zh-CN" b="0" dirty="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0" dirty="0">
                <a:solidFill>
                  <a:srgbClr val="FF3300"/>
                </a:solidFill>
                <a:latin typeface="Times New Roman" panose="02020603050405020304" pitchFamily="18" charset="0"/>
              </a:rPr>
              <a:t>班获奖的同学时，就是求</a:t>
            </a:r>
            <a:r>
              <a:rPr lang="en-US" altLang="zh-CN" b="0" dirty="0">
                <a:solidFill>
                  <a:srgbClr val="FF3300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b="0" dirty="0">
                <a:solidFill>
                  <a:srgbClr val="FF3300"/>
                </a:solidFill>
                <a:latin typeface="Times New Roman" panose="02020603050405020304" pitchFamily="18" charset="0"/>
              </a:rPr>
              <a:t>在</a:t>
            </a:r>
            <a:r>
              <a:rPr lang="en-US" altLang="zh-CN" b="0" dirty="0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0" dirty="0">
                <a:solidFill>
                  <a:srgbClr val="FF3300"/>
                </a:solidFill>
                <a:latin typeface="Times New Roman" panose="02020603050405020304" pitchFamily="18" charset="0"/>
              </a:rPr>
              <a:t>上的限制；要求</a:t>
            </a:r>
            <a:r>
              <a:rPr lang="en-US" altLang="zh-CN" b="0" dirty="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0" dirty="0">
                <a:solidFill>
                  <a:srgbClr val="FF3300"/>
                </a:solidFill>
                <a:latin typeface="Times New Roman" panose="02020603050405020304" pitchFamily="18" charset="0"/>
              </a:rPr>
              <a:t>班这些同学的姓名时，就是求</a:t>
            </a:r>
            <a:r>
              <a:rPr lang="en-US" altLang="zh-CN" b="0" dirty="0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0" dirty="0">
                <a:solidFill>
                  <a:srgbClr val="FF3300"/>
                </a:solidFill>
                <a:latin typeface="Times New Roman" panose="02020603050405020304" pitchFamily="18" charset="0"/>
              </a:rPr>
              <a:t>在</a:t>
            </a:r>
            <a:r>
              <a:rPr lang="en-US" altLang="zh-CN" b="0" dirty="0">
                <a:solidFill>
                  <a:srgbClr val="FF3300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b="0" dirty="0">
                <a:solidFill>
                  <a:srgbClr val="FF3300"/>
                </a:solidFill>
                <a:latin typeface="Times New Roman" panose="02020603050405020304" pitchFamily="18" charset="0"/>
              </a:rPr>
              <a:t>下的像。</a:t>
            </a:r>
            <a:endParaRPr lang="en-US" altLang="zh-CN" b="0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endParaRPr lang="en-US" altLang="zh-CN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F</a:t>
            </a:r>
            <a:r>
              <a:rPr lang="zh-CN" altLang="en-US" dirty="0">
                <a:latin typeface="Arial" panose="020B0604020202020204" pitchFamily="34" charset="0"/>
              </a:rPr>
              <a:t>是一个关系，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是一个集合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F↾A</a:t>
            </a:r>
            <a:r>
              <a:rPr lang="zh-CN" altLang="en-US" dirty="0">
                <a:latin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</a:rPr>
              <a:t>F↾A</a:t>
            </a:r>
            <a:r>
              <a:rPr lang="zh-CN" altLang="en-US" dirty="0">
                <a:latin typeface="Arial" panose="020B0604020202020204" pitchFamily="34" charset="0"/>
              </a:rPr>
              <a:t>是</a:t>
            </a:r>
            <a:r>
              <a:rPr lang="en-US" altLang="zh-CN" dirty="0">
                <a:latin typeface="Arial" panose="020B0604020202020204" pitchFamily="34" charset="0"/>
              </a:rPr>
              <a:t>F</a:t>
            </a:r>
            <a:r>
              <a:rPr lang="zh-CN" altLang="en-US" dirty="0">
                <a:latin typeface="Arial" panose="020B0604020202020204" pitchFamily="34" charset="0"/>
              </a:rPr>
              <a:t>中所有关系中，定义域在集合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的那些序偶对的集合，因此是</a:t>
            </a:r>
            <a:r>
              <a:rPr lang="en-US" altLang="zh-CN" dirty="0">
                <a:latin typeface="Arial" panose="020B0604020202020204" pitchFamily="34" charset="0"/>
              </a:rPr>
              <a:t>F</a:t>
            </a:r>
            <a:r>
              <a:rPr lang="zh-CN" altLang="en-US" dirty="0">
                <a:latin typeface="Arial" panose="020B0604020202020204" pitchFamily="34" charset="0"/>
              </a:rPr>
              <a:t>的一个子集。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F↾A</a:t>
            </a:r>
            <a:r>
              <a:rPr lang="zh-CN" altLang="en-US" dirty="0">
                <a:latin typeface="Arial" panose="020B0604020202020204" pitchFamily="34" charset="0"/>
              </a:rPr>
              <a:t>是一个序偶对的集合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F[A] </a:t>
            </a:r>
            <a:r>
              <a:rPr lang="zh-CN" altLang="en-US" dirty="0">
                <a:latin typeface="Arial" panose="020B0604020202020204" pitchFamily="34" charset="0"/>
              </a:rPr>
              <a:t>是值域，要先求</a:t>
            </a:r>
            <a:r>
              <a:rPr lang="en-US" altLang="zh-CN" dirty="0">
                <a:latin typeface="Arial" panose="020B0604020202020204" pitchFamily="34" charset="0"/>
              </a:rPr>
              <a:t>F↾A</a:t>
            </a:r>
            <a:endParaRPr lang="zh-CN" altLang="en-US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142A06B-6A58-40F4-81E1-6DC91AE316FA}" type="slidenum">
              <a:rPr lang="en-US" altLang="zh-CN" sz="1200">
                <a:latin typeface="Arial" panose="020B0604020202020204" pitchFamily="34" charset="0"/>
              </a:rPr>
              <a:pPr/>
              <a:t>34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5556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条件比较简单的证明，一般从定义证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第二个的证明，要从集合扩大到关系。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0C8DC3-4AD2-4BCD-A6A0-23D815859075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90093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3</a:t>
            </a:r>
            <a:r>
              <a:rPr lang="zh-CN" altLang="en-US" dirty="0">
                <a:latin typeface="Arial" panose="020B0604020202020204" pitchFamily="34" charset="0"/>
              </a:rPr>
              <a:t>、</a:t>
            </a:r>
            <a:r>
              <a:rPr lang="en-US" altLang="zh-CN" dirty="0">
                <a:latin typeface="Arial" panose="020B0604020202020204" pitchFamily="34" charset="0"/>
              </a:rPr>
              <a:t>4</a:t>
            </a:r>
            <a:r>
              <a:rPr lang="zh-CN" altLang="en-US" dirty="0">
                <a:latin typeface="Arial" panose="020B0604020202020204" pitchFamily="34" charset="0"/>
              </a:rPr>
              <a:t>的证明不等可以用举反例来说明。这种情况是由合成运算的特点决定的。</a:t>
            </a:r>
            <a:r>
              <a:rPr lang="en-US" altLang="zh-CN" dirty="0">
                <a:latin typeface="Arial" panose="020B0604020202020204" pitchFamily="34" charset="0"/>
              </a:rPr>
              <a:t>&lt;</a:t>
            </a:r>
            <a:r>
              <a:rPr lang="en-US" altLang="zh-CN" dirty="0" err="1">
                <a:latin typeface="Arial" panose="020B0604020202020204" pitchFamily="34" charset="0"/>
              </a:rPr>
              <a:t>x,z</a:t>
            </a:r>
            <a:r>
              <a:rPr lang="en-US" altLang="zh-CN" dirty="0">
                <a:latin typeface="Arial" panose="020B0604020202020204" pitchFamily="34" charset="0"/>
              </a:rPr>
              <a:t>&gt;</a:t>
            </a:r>
            <a:r>
              <a:rPr lang="zh-CN" altLang="en-US" dirty="0">
                <a:latin typeface="Arial" panose="020B0604020202020204" pitchFamily="34" charset="0"/>
              </a:rPr>
              <a:t>和</a:t>
            </a:r>
            <a:r>
              <a:rPr lang="en-US" altLang="zh-CN" dirty="0">
                <a:latin typeface="Arial" panose="020B0604020202020204" pitchFamily="34" charset="0"/>
              </a:rPr>
              <a:t>&lt;</a:t>
            </a:r>
            <a:r>
              <a:rPr lang="en-US" altLang="zh-CN" dirty="0" err="1">
                <a:latin typeface="Arial" panose="020B0604020202020204" pitchFamily="34" charset="0"/>
              </a:rPr>
              <a:t>z,y</a:t>
            </a:r>
            <a:r>
              <a:rPr lang="en-US" altLang="zh-CN" dirty="0">
                <a:latin typeface="Arial" panose="020B0604020202020204" pitchFamily="34" charset="0"/>
              </a:rPr>
              <a:t>&gt;</a:t>
            </a:r>
            <a:r>
              <a:rPr lang="zh-CN" altLang="en-US" dirty="0">
                <a:latin typeface="Arial" panose="020B0604020202020204" pitchFamily="34" charset="0"/>
              </a:rPr>
              <a:t>生成</a:t>
            </a:r>
            <a:r>
              <a:rPr lang="en-US" altLang="zh-CN" dirty="0">
                <a:latin typeface="Arial" panose="020B0604020202020204" pitchFamily="34" charset="0"/>
              </a:rPr>
              <a:t>&lt;</a:t>
            </a:r>
            <a:r>
              <a:rPr lang="en-US" altLang="zh-CN" dirty="0" err="1">
                <a:latin typeface="Arial" panose="020B0604020202020204" pitchFamily="34" charset="0"/>
              </a:rPr>
              <a:t>x,y</a:t>
            </a:r>
            <a:r>
              <a:rPr lang="en-US" altLang="zh-CN" dirty="0">
                <a:latin typeface="Arial" panose="020B0604020202020204" pitchFamily="34" charset="0"/>
              </a:rPr>
              <a:t>&gt;</a:t>
            </a:r>
            <a:r>
              <a:rPr lang="zh-CN" altLang="en-US" dirty="0">
                <a:latin typeface="Arial" panose="020B0604020202020204" pitchFamily="34" charset="0"/>
              </a:rPr>
              <a:t>，因为</a:t>
            </a:r>
            <a:r>
              <a:rPr lang="en-US" altLang="zh-CN" dirty="0">
                <a:latin typeface="Arial" panose="020B0604020202020204" pitchFamily="34" charset="0"/>
              </a:rPr>
              <a:t>z</a:t>
            </a:r>
            <a:r>
              <a:rPr lang="zh-CN" altLang="en-US" dirty="0">
                <a:latin typeface="Arial" panose="020B0604020202020204" pitchFamily="34" charset="0"/>
              </a:rPr>
              <a:t>这个中间过程去掉了，就会造成当</a:t>
            </a:r>
            <a:r>
              <a:rPr lang="en-US" altLang="zh-CN" dirty="0">
                <a:latin typeface="Arial" panose="020B0604020202020204" pitchFamily="34" charset="0"/>
              </a:rPr>
              <a:t>z</a:t>
            </a:r>
            <a:r>
              <a:rPr lang="zh-CN" altLang="en-US" dirty="0">
                <a:latin typeface="Arial" panose="020B0604020202020204" pitchFamily="34" charset="0"/>
              </a:rPr>
              <a:t>不同时，</a:t>
            </a:r>
            <a:r>
              <a:rPr lang="en-US" altLang="zh-CN" dirty="0">
                <a:latin typeface="Arial" panose="020B0604020202020204" pitchFamily="34" charset="0"/>
              </a:rPr>
              <a:t>&lt;</a:t>
            </a:r>
            <a:r>
              <a:rPr lang="en-US" altLang="zh-CN" dirty="0" err="1">
                <a:latin typeface="Arial" panose="020B0604020202020204" pitchFamily="34" charset="0"/>
              </a:rPr>
              <a:t>x,y</a:t>
            </a:r>
            <a:r>
              <a:rPr lang="en-US" altLang="zh-CN" dirty="0">
                <a:latin typeface="Arial" panose="020B0604020202020204" pitchFamily="34" charset="0"/>
              </a:rPr>
              <a:t>&gt;</a:t>
            </a:r>
            <a:r>
              <a:rPr lang="zh-CN" altLang="en-US" dirty="0">
                <a:latin typeface="Arial" panose="020B0604020202020204" pitchFamily="34" charset="0"/>
              </a:rPr>
              <a:t>是一样的。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通常举反例都是考虑空集的情况。</a:t>
            </a:r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089FC5B-A57F-4EB5-B7E0-53E65AEBC277}" type="slidenum">
              <a:rPr lang="en-US" altLang="zh-CN" sz="1200">
                <a:latin typeface="Arial" panose="020B0604020202020204" pitchFamily="34" charset="0"/>
              </a:rPr>
              <a:pPr/>
              <a:t>38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1948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0C8DC3-4AD2-4BCD-A6A0-23D815859075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62646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b="1" i="1">
                <a:latin typeface="Arial" panose="020B0604020202020204" pitchFamily="34" charset="0"/>
              </a:rPr>
              <a:t>R</a:t>
            </a:r>
            <a:r>
              <a:rPr lang="en-US" altLang="zh-CN" b="1" baseline="30000">
                <a:latin typeface="Arial" panose="020B0604020202020204" pitchFamily="34" charset="0"/>
              </a:rPr>
              <a:t>0 </a:t>
            </a:r>
            <a:r>
              <a:rPr lang="zh-CN" altLang="en-US">
                <a:latin typeface="Arial" panose="020B0604020202020204" pitchFamily="34" charset="0"/>
              </a:rPr>
              <a:t>为恒等关系</a:t>
            </a:r>
            <a:endParaRPr lang="en-US" altLang="zh-CN" b="1">
              <a:latin typeface="Arial" panose="020B0604020202020204" pitchFamily="34" charset="0"/>
            </a:endParaRPr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C74B852-2068-436F-8070-FCDD159DDA2F}" type="slidenum">
              <a:rPr lang="en-US" altLang="zh-CN" sz="1200">
                <a:latin typeface="Arial" panose="020B0604020202020204" pitchFamily="34" charset="0"/>
              </a:rPr>
              <a:pPr/>
              <a:t>42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7236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左复合指的是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都是不断加在左边的位置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逻辑加即或运算，只要加数中有一个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，则结果为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7959811-0B8F-43DB-AB19-D8BB047541B3}" type="slidenum">
              <a:rPr lang="en-US" altLang="zh-CN" sz="1200">
                <a:latin typeface="Arial" panose="020B0604020202020204" pitchFamily="34" charset="0"/>
              </a:rPr>
              <a:pPr/>
              <a:t>43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0228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矩阵适合复杂关系，由矩阵运算来计算。矩阵乘法满足结合律，不满足交换律。因此左乘右乘结果是一样的。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0C8DC3-4AD2-4BCD-A6A0-23D815859075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27093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从关系图上看，</a:t>
            </a:r>
            <a:r>
              <a:rPr lang="en-US" altLang="zh-CN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就是从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的原图的某个顶点出发，路程为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到达的终点；</a:t>
            </a:r>
            <a:r>
              <a:rPr lang="en-US" altLang="zh-CN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就是从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的原图的某个顶点出发，路程为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到达的终点。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次方同理类推。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关系图适合简单关系，复杂的容易看错看漏。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EF47DF1-9128-4BF4-8711-7E70AD124373}" type="slidenum">
              <a:rPr lang="en-US" altLang="zh-CN" sz="1200">
                <a:latin typeface="Arial" panose="020B0604020202020204" pitchFamily="34" charset="0"/>
              </a:rPr>
              <a:pPr/>
              <a:t>45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251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上的关系是有限的，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的各次幂也是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上的一个关系；因此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的各次幂也是有限的，则必然有一些不同的幂映射到同一个关系上，因此必有一些相同。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55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D7A3BD3-E7AA-47EC-8B4F-1479611455B3}" type="slidenum">
              <a:rPr lang="en-US" altLang="zh-CN" sz="1200">
                <a:latin typeface="Arial" panose="020B0604020202020204" pitchFamily="34" charset="0"/>
              </a:rPr>
              <a:pPr/>
              <a:t>46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4255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一般来讲，当变量取自然数，并且结论显而易见时，使用数学归纳法证明比较直观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当题目有两个变量时，假定一个为某个给定的任意值，另一个为变量来证明。</a:t>
            </a:r>
            <a:endParaRPr lang="en-US" altLang="zh-CN" dirty="0">
              <a:latin typeface="Arial" panose="020B0604020202020204" pitchFamily="34" charset="0"/>
            </a:endParaRPr>
          </a:p>
          <a:p>
            <a:pPr algn="l"/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b="1" i="0" dirty="0"/>
              <a:t>F</a:t>
            </a:r>
            <a:r>
              <a:rPr lang="en-US" altLang="zh-CN" b="1" i="0" dirty="0">
                <a:latin typeface="Arial" charset="0"/>
              </a:rPr>
              <a:t>∘</a:t>
            </a:r>
            <a:r>
              <a:rPr lang="en-US" altLang="zh-CN" sz="1200" b="1" i="0" dirty="0">
                <a:latin typeface="Times New Roman" panose="02020603050405020304" pitchFamily="18" charset="0"/>
              </a:rPr>
              <a:t>I</a:t>
            </a:r>
            <a:r>
              <a:rPr lang="en-US" altLang="zh-CN" sz="1200" b="1" i="0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b="1" i="0" dirty="0"/>
              <a:t>=F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latin typeface="Arial" panose="020B0604020202020204" pitchFamily="34" charset="0"/>
              </a:rPr>
              <a:t>该定理的证明，</a:t>
            </a:r>
            <a:r>
              <a:rPr lang="zh-CN" altLang="en-US" b="0" i="0" dirty="0"/>
              <a:t>利用了定义：</a:t>
            </a:r>
            <a:r>
              <a:rPr lang="en-US" altLang="zh-CN" b="0" i="0" dirty="0"/>
              <a:t> </a:t>
            </a:r>
            <a:r>
              <a:rPr lang="en-US" altLang="zh-CN" b="1" i="0" dirty="0"/>
              <a:t>R</a:t>
            </a:r>
            <a:r>
              <a:rPr lang="en-US" altLang="zh-CN" b="1" i="0" baseline="30000" dirty="0"/>
              <a:t>n </a:t>
            </a:r>
            <a:r>
              <a:rPr lang="en-US" altLang="zh-CN" b="1" i="0" dirty="0"/>
              <a:t>= R</a:t>
            </a:r>
            <a:r>
              <a:rPr lang="en-US" altLang="zh-CN" b="1" i="0" baseline="30000" dirty="0"/>
              <a:t>n-1</a:t>
            </a:r>
            <a:r>
              <a:rPr lang="en-US" altLang="zh-CN" b="1" i="0" dirty="0">
                <a:latin typeface="Arial" charset="0"/>
              </a:rPr>
              <a:t>∘</a:t>
            </a:r>
            <a:r>
              <a:rPr lang="en-US" altLang="zh-CN" b="1" i="0" dirty="0"/>
              <a:t>R</a:t>
            </a:r>
            <a:r>
              <a:rPr lang="zh-CN" altLang="en-US" b="0" i="0" dirty="0"/>
              <a:t>和</a:t>
            </a:r>
            <a:r>
              <a:rPr lang="en-US" altLang="zh-CN" b="1" i="0" dirty="0"/>
              <a:t>(F</a:t>
            </a:r>
            <a:r>
              <a:rPr lang="en-US" altLang="zh-CN" b="1" i="0" dirty="0">
                <a:latin typeface="Arial" charset="0"/>
              </a:rPr>
              <a:t>∘</a:t>
            </a:r>
            <a:r>
              <a:rPr lang="en-US" altLang="zh-CN" b="1" i="0" dirty="0"/>
              <a:t>G)</a:t>
            </a:r>
            <a:r>
              <a:rPr lang="en-US" altLang="zh-CN" b="1" i="0" dirty="0">
                <a:latin typeface="Arial" charset="0"/>
              </a:rPr>
              <a:t>∘</a:t>
            </a:r>
            <a:r>
              <a:rPr lang="en-US" altLang="zh-CN" b="1" i="0" dirty="0"/>
              <a:t>H=F</a:t>
            </a:r>
            <a:r>
              <a:rPr lang="en-US" altLang="zh-CN" b="1" i="0" dirty="0">
                <a:latin typeface="Arial" charset="0"/>
              </a:rPr>
              <a:t>∘</a:t>
            </a:r>
            <a:r>
              <a:rPr lang="en-US" altLang="zh-CN" b="1" i="0" dirty="0"/>
              <a:t>(G</a:t>
            </a:r>
            <a:r>
              <a:rPr lang="en-US" altLang="zh-CN" b="1" i="0" dirty="0">
                <a:latin typeface="Arial" charset="0"/>
              </a:rPr>
              <a:t>∘</a:t>
            </a:r>
            <a:r>
              <a:rPr lang="en-US" altLang="zh-CN" b="1" i="0" dirty="0"/>
              <a:t>H)</a:t>
            </a:r>
            <a:r>
              <a:rPr lang="en-US" altLang="zh-CN" b="0" i="0" dirty="0"/>
              <a:t> </a:t>
            </a:r>
            <a:r>
              <a:rPr lang="zh-CN" altLang="en-US" b="0" i="0" dirty="0"/>
              <a:t>（合成关系满足结合律）</a:t>
            </a:r>
            <a:endParaRPr lang="en-US" altLang="zh-CN" b="0" i="0" dirty="0"/>
          </a:p>
          <a:p>
            <a:endParaRPr lang="zh-CN" altLang="en-US" b="0" i="0" dirty="0">
              <a:latin typeface="Arial" panose="020B0604020202020204" pitchFamily="34" charset="0"/>
            </a:endParaRPr>
          </a:p>
        </p:txBody>
      </p:sp>
      <p:sp>
        <p:nvSpPr>
          <p:cNvPr id="675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997CBEC-8577-4D5B-AB34-FF324F80D931}" type="slidenum">
              <a:rPr lang="en-US" altLang="zh-CN" sz="1200">
                <a:latin typeface="Arial" panose="020B0604020202020204" pitchFamily="34" charset="0"/>
              </a:rPr>
              <a:pPr/>
              <a:t>47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2068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latin typeface="Times New Roman" panose="02020603050405020304" pitchFamily="18" charset="0"/>
              </a:rPr>
              <a:t>(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1200" b="1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1200" b="1" dirty="0">
                <a:latin typeface="Times New Roman" panose="02020603050405020304" pitchFamily="18" charset="0"/>
              </a:rPr>
              <a:t>)</a:t>
            </a:r>
            <a:r>
              <a:rPr lang="en-US" altLang="zh-CN" sz="1200" b="1" baseline="30000" dirty="0">
                <a:latin typeface="Times New Roman" panose="02020603050405020304" pitchFamily="18" charset="0"/>
              </a:rPr>
              <a:t>0</a:t>
            </a:r>
            <a:r>
              <a:rPr lang="zh-CN" altLang="en-US" sz="1200" b="0" baseline="0" dirty="0">
                <a:latin typeface="Times New Roman" panose="02020603050405020304" pitchFamily="18" charset="0"/>
              </a:rPr>
              <a:t>中，将</a:t>
            </a:r>
            <a:r>
              <a:rPr lang="en-US" altLang="zh-CN" sz="1200" b="1" dirty="0">
                <a:latin typeface="Times New Roman" panose="02020603050405020304" pitchFamily="18" charset="0"/>
              </a:rPr>
              <a:t>(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1200" b="1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1200" b="1" dirty="0">
                <a:latin typeface="Times New Roman" panose="02020603050405020304" pitchFamily="18" charset="0"/>
              </a:rPr>
              <a:t>)</a:t>
            </a:r>
            <a:r>
              <a:rPr lang="zh-CN" altLang="en-US" sz="1200" b="0" dirty="0">
                <a:latin typeface="Times New Roman" panose="02020603050405020304" pitchFamily="18" charset="0"/>
              </a:rPr>
              <a:t>当成一个整体来看，同样是</a:t>
            </a:r>
            <a:r>
              <a:rPr lang="en-US" altLang="zh-CN" sz="1200" b="0" dirty="0">
                <a:latin typeface="Times New Roman" panose="02020603050405020304" pitchFamily="18" charset="0"/>
              </a:rPr>
              <a:t>A</a:t>
            </a:r>
            <a:r>
              <a:rPr lang="zh-CN" altLang="en-US" sz="1200" b="0" dirty="0">
                <a:latin typeface="Times New Roman" panose="02020603050405020304" pitchFamily="18" charset="0"/>
              </a:rPr>
              <a:t>上的一个关系，然后利用定义</a:t>
            </a:r>
            <a:r>
              <a:rPr lang="en-US" altLang="zh-CN" b="1" i="0" dirty="0"/>
              <a:t>R</a:t>
            </a:r>
            <a:r>
              <a:rPr lang="en-US" altLang="zh-CN" b="1" i="0" baseline="30000" dirty="0"/>
              <a:t>0</a:t>
            </a:r>
            <a:r>
              <a:rPr lang="en-US" altLang="zh-CN" b="1" i="0" dirty="0"/>
              <a:t>=I</a:t>
            </a:r>
            <a:r>
              <a:rPr lang="en-US" altLang="zh-CN" b="1" i="0" baseline="-25000" dirty="0"/>
              <a:t>A</a:t>
            </a:r>
          </a:p>
          <a:p>
            <a:endParaRPr lang="en-US" altLang="zh-CN" sz="1200" b="0" dirty="0">
              <a:latin typeface="Times New Roman" panose="02020603050405020304" pitchFamily="18" charset="0"/>
            </a:endParaRPr>
          </a:p>
          <a:p>
            <a:endParaRPr lang="en-US" altLang="zh-CN" b="0" i="0" baseline="0" dirty="0">
              <a:latin typeface="Arial" panose="020B0604020202020204" pitchFamily="34" charset="0"/>
            </a:endParaRPr>
          </a:p>
          <a:p>
            <a:r>
              <a:rPr lang="zh-CN" altLang="en-US" b="0" i="0" dirty="0">
                <a:latin typeface="Arial" panose="020B0604020202020204" pitchFamily="34" charset="0"/>
              </a:rPr>
              <a:t>（</a:t>
            </a:r>
            <a:r>
              <a:rPr lang="en-US" altLang="zh-CN" b="0" i="0" dirty="0">
                <a:latin typeface="Arial" panose="020B0604020202020204" pitchFamily="34" charset="0"/>
              </a:rPr>
              <a:t>2</a:t>
            </a:r>
            <a:r>
              <a:rPr lang="zh-CN" altLang="en-US" b="0" i="0" dirty="0">
                <a:latin typeface="Arial" panose="020B0604020202020204" pitchFamily="34" charset="0"/>
              </a:rPr>
              <a:t>）利用了（</a:t>
            </a:r>
            <a:r>
              <a:rPr lang="en-US" altLang="zh-CN" b="0" i="0" dirty="0">
                <a:latin typeface="Arial" panose="020B0604020202020204" pitchFamily="34" charset="0"/>
              </a:rPr>
              <a:t>1</a:t>
            </a:r>
            <a:r>
              <a:rPr lang="zh-CN" altLang="en-US" b="0" i="0" dirty="0">
                <a:latin typeface="Arial" panose="020B0604020202020204" pitchFamily="34" charset="0"/>
              </a:rPr>
              <a:t>）的结论：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R</a:t>
            </a:r>
            <a:r>
              <a:rPr lang="en-US" altLang="zh-CN" sz="1200" b="0" i="0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1200" b="0" i="0" dirty="0"/>
              <a:t>∘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R</a:t>
            </a:r>
            <a:r>
              <a:rPr lang="en-US" altLang="zh-CN" sz="1200" b="0" i="0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=</a:t>
            </a:r>
            <a:r>
              <a:rPr lang="en-US" altLang="zh-CN" sz="1200" b="0" i="0" dirty="0" err="1">
                <a:latin typeface="Times New Roman" panose="02020603050405020304" pitchFamily="18" charset="0"/>
              </a:rPr>
              <a:t>R</a:t>
            </a:r>
            <a:r>
              <a:rPr lang="en-US" altLang="zh-CN" sz="1200" b="0" i="0" baseline="30000" dirty="0" err="1">
                <a:latin typeface="Times New Roman" panose="02020603050405020304" pitchFamily="18" charset="0"/>
              </a:rPr>
              <a:t>m+n</a:t>
            </a:r>
            <a:endParaRPr lang="zh-CN" altLang="en-US" b="0" i="0" dirty="0">
              <a:latin typeface="Arial" panose="020B0604020202020204" pitchFamily="34" charset="0"/>
            </a:endParaRPr>
          </a:p>
        </p:txBody>
      </p:sp>
      <p:sp>
        <p:nvSpPr>
          <p:cNvPr id="696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D55D57F-2DF3-40E9-BC66-99FE4B405512}" type="slidenum">
              <a:rPr lang="en-US" altLang="zh-CN" sz="1200">
                <a:latin typeface="Arial" panose="020B0604020202020204" pitchFamily="34" charset="0"/>
              </a:rPr>
              <a:pPr/>
              <a:t>48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5021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308A399-5627-4290-9F7A-8A33159DFBCB}" type="slidenum">
              <a:rPr lang="en-US" altLang="zh-CN" sz="1200">
                <a:latin typeface="Arial" panose="020B0604020202020204" pitchFamily="34" charset="0"/>
              </a:rPr>
              <a:pPr/>
              <a:t>49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4741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上两节课我们已经学习了关系的表示（集合、关系矩阵、关系图）和关系的基本运算（定义域、值域、逆、合成、限制、像和幂运算），今天我们来研究关系的性质。</a:t>
            </a:r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4EB0AFD-51D4-4FA7-8424-E622B762BED8}" type="slidenum">
              <a:rPr lang="en-US" altLang="zh-CN" sz="1200">
                <a:latin typeface="Arial" panose="020B0604020202020204" pitchFamily="34" charset="0"/>
              </a:rPr>
              <a:pPr/>
              <a:t>50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9229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问题：若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为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到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的关系，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是否有自反性或反自反性？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答：不一定。若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包含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，则可能有自反性</a:t>
            </a: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57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2F1ABD2-994F-48B2-9B6B-91A75EAB6574}" type="slidenum">
              <a:rPr lang="en-US" altLang="zh-CN" sz="1200">
                <a:latin typeface="Arial" panose="020B0604020202020204" pitchFamily="34" charset="0"/>
              </a:rPr>
              <a:pPr/>
              <a:t>51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1548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有</a:t>
            </a:r>
            <a:r>
              <a:rPr lang="en-US" altLang="zh-CN" dirty="0">
                <a:latin typeface="Arial" panose="020B0604020202020204" pitchFamily="34" charset="0"/>
              </a:rPr>
              <a:t>3</a:t>
            </a:r>
            <a:r>
              <a:rPr lang="zh-CN" altLang="en-US" dirty="0">
                <a:latin typeface="Arial" panose="020B0604020202020204" pitchFamily="34" charset="0"/>
              </a:rPr>
              <a:t>种情况：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、自反的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、反自反的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3</a:t>
            </a:r>
            <a:r>
              <a:rPr lang="zh-CN" altLang="en-US" dirty="0">
                <a:latin typeface="Arial" panose="020B0604020202020204" pitchFamily="34" charset="0"/>
              </a:rPr>
              <a:t>、既不是自反的，又不是反自反的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78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2479AA0-83E0-4B08-A93D-6A07ECCA6E31}" type="slidenum">
              <a:rPr lang="en-US" altLang="zh-CN" sz="1200">
                <a:latin typeface="Arial" panose="020B0604020202020204" pitchFamily="34" charset="0"/>
              </a:rPr>
              <a:pPr/>
              <a:t>52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1152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顶点的环与对称性无关，对称强调的是</a:t>
            </a:r>
            <a:r>
              <a:rPr lang="zh-CN" altLang="en-US" b="1" dirty="0">
                <a:latin typeface="Arial" panose="020B0604020202020204" pitchFamily="34" charset="0"/>
              </a:rPr>
              <a:t>不同顶点</a:t>
            </a:r>
            <a:r>
              <a:rPr lang="zh-CN" altLang="en-US" dirty="0">
                <a:latin typeface="Arial" panose="020B0604020202020204" pitchFamily="34" charset="0"/>
              </a:rPr>
              <a:t>之间的关系。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对称关系：若</a:t>
            </a:r>
            <a:r>
              <a:rPr lang="zh-CN" altLang="en-US" b="1" dirty="0">
                <a:latin typeface="Arial" panose="020B0604020202020204" pitchFamily="34" charset="0"/>
              </a:rPr>
              <a:t>不同顶点</a:t>
            </a:r>
            <a:r>
              <a:rPr lang="zh-CN" altLang="en-US" dirty="0">
                <a:latin typeface="Arial" panose="020B0604020202020204" pitchFamily="34" charset="0"/>
              </a:rPr>
              <a:t>之间有边，一定是对称边；或者不同顶点之间没有边，也属于对称关系。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不同顶点间没有边的情况（比如恒等关系和空关系），既是对称关系，又是反对称关系。</a:t>
            </a:r>
          </a:p>
        </p:txBody>
      </p:sp>
      <p:sp>
        <p:nvSpPr>
          <p:cNvPr id="798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C7C5717-24B5-4103-A2A1-F0E71E2C82CC}" type="slidenum">
              <a:rPr lang="en-US" altLang="zh-CN" sz="1200">
                <a:latin typeface="Arial" panose="020B0604020202020204" pitchFamily="34" charset="0"/>
              </a:rPr>
              <a:pPr/>
              <a:t>53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68610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注意共有</a:t>
            </a:r>
            <a:r>
              <a:rPr lang="en-US" altLang="zh-CN" dirty="0">
                <a:latin typeface="Arial" panose="020B0604020202020204" pitchFamily="34" charset="0"/>
              </a:rPr>
              <a:t>4</a:t>
            </a:r>
            <a:r>
              <a:rPr lang="zh-CN" altLang="en-US" dirty="0">
                <a:latin typeface="Arial" panose="020B0604020202020204" pitchFamily="34" charset="0"/>
              </a:rPr>
              <a:t>种情况：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、对称的，不反对称（顶点之间都是对城边）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、不对称，反对称（顶点之间都是单向边）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3</a:t>
            </a:r>
            <a:r>
              <a:rPr lang="zh-CN" altLang="en-US" dirty="0">
                <a:latin typeface="Arial" panose="020B0604020202020204" pitchFamily="34" charset="0"/>
              </a:rPr>
              <a:t>、既对称，又反对称（不同顶点之间没有边）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4</a:t>
            </a:r>
            <a:r>
              <a:rPr lang="zh-CN" altLang="en-US" dirty="0">
                <a:latin typeface="Arial" panose="020B0604020202020204" pitchFamily="34" charset="0"/>
              </a:rPr>
              <a:t>、既不对称，又不反对称（有些顶点间是对称边，有些顶点间是单向边）</a:t>
            </a:r>
          </a:p>
        </p:txBody>
      </p:sp>
      <p:sp>
        <p:nvSpPr>
          <p:cNvPr id="819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CB7437B-B5EB-403F-961B-98B040BAFFE4}" type="slidenum">
              <a:rPr lang="en-US" altLang="zh-CN" sz="1200">
                <a:latin typeface="Arial" panose="020B0604020202020204" pitchFamily="34" charset="0"/>
              </a:rPr>
              <a:pPr/>
              <a:t>54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2240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AC650BD-0EB1-4821-BFD7-37D1EBD3DAB8}" type="slidenum">
              <a:rPr lang="en-US" altLang="zh-CN" sz="1200">
                <a:latin typeface="Arial" panose="020B0604020202020204" pitchFamily="34" charset="0"/>
              </a:rPr>
              <a:pPr/>
              <a:t>56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b="0" dirty="0">
                <a:latin typeface="Arial" panose="020B0604020202020204" pitchFamily="34" charset="0"/>
              </a:rPr>
              <a:t>R</a:t>
            </a:r>
            <a:r>
              <a:rPr lang="en-US" altLang="zh-CN" b="0" baseline="-25000" dirty="0">
                <a:latin typeface="Arial" panose="020B0604020202020204" pitchFamily="34" charset="0"/>
              </a:rPr>
              <a:t>1</a:t>
            </a:r>
            <a:r>
              <a:rPr lang="en-US" altLang="zh-CN" b="0" dirty="0">
                <a:latin typeface="Arial" panose="020B0604020202020204" pitchFamily="34" charset="0"/>
              </a:rPr>
              <a:t> </a:t>
            </a:r>
            <a:r>
              <a:rPr lang="en-US" altLang="zh-CN" b="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R</a:t>
            </a:r>
            <a:r>
              <a:rPr lang="en-US" altLang="zh-CN" b="0" baseline="-2500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b="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=R</a:t>
            </a:r>
            <a:r>
              <a:rPr lang="en-US" altLang="zh-CN" b="0" baseline="-2500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b="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R</a:t>
            </a:r>
            <a:r>
              <a:rPr lang="en-US" altLang="zh-CN" b="0" baseline="-2500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b="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, R</a:t>
            </a:r>
            <a:r>
              <a:rPr lang="en-US" altLang="zh-CN" b="0" baseline="-2500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b="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R</a:t>
            </a:r>
            <a:r>
              <a:rPr lang="en-US" altLang="zh-CN" b="0" baseline="-2500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b="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= </a:t>
            </a:r>
            <a:r>
              <a:rPr lang="en-US" altLang="zh-CN" b="0" i="1" dirty="0">
                <a:solidFill>
                  <a:srgbClr val="FF3300"/>
                </a:solidFill>
                <a:latin typeface="Arial" panose="020B0604020202020204" pitchFamily="34" charset="0"/>
              </a:rPr>
              <a:t>R</a:t>
            </a:r>
            <a:r>
              <a:rPr lang="en-US" altLang="zh-CN" b="0" i="1" baseline="-25000" dirty="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  <a:r>
              <a:rPr lang="zh-CN" altLang="en-US" b="0" i="1" dirty="0">
                <a:solidFill>
                  <a:srgbClr val="FF3300"/>
                </a:solidFill>
                <a:latin typeface="Arial" panose="020B0604020202020204" pitchFamily="34" charset="0"/>
              </a:rPr>
              <a:t>，</a:t>
            </a:r>
            <a:r>
              <a:rPr lang="en-US" altLang="zh-CN" b="0" i="1" dirty="0">
                <a:solidFill>
                  <a:srgbClr val="FF3300"/>
                </a:solidFill>
                <a:latin typeface="Arial" panose="020B0604020202020204" pitchFamily="34" charset="0"/>
              </a:rPr>
              <a:t> </a:t>
            </a:r>
            <a:r>
              <a:rPr lang="zh-CN" altLang="en-US" b="0" dirty="0">
                <a:solidFill>
                  <a:srgbClr val="FF3300"/>
                </a:solidFill>
                <a:latin typeface="Arial" panose="020B0604020202020204" pitchFamily="34" charset="0"/>
              </a:rPr>
              <a:t>所以</a:t>
            </a:r>
            <a:r>
              <a:rPr lang="en-US" altLang="zh-CN" b="0" dirty="0">
                <a:solidFill>
                  <a:srgbClr val="FF3300"/>
                </a:solidFill>
                <a:latin typeface="Arial" panose="020B0604020202020204" pitchFamily="34" charset="0"/>
              </a:rPr>
              <a:t>R</a:t>
            </a:r>
            <a:r>
              <a:rPr lang="en-US" altLang="zh-CN" b="0" baseline="-25000" dirty="0">
                <a:solidFill>
                  <a:srgbClr val="FF3300"/>
                </a:solidFill>
                <a:latin typeface="Arial" panose="020B0604020202020204" pitchFamily="34" charset="0"/>
              </a:rPr>
              <a:t>1</a:t>
            </a:r>
            <a:r>
              <a:rPr lang="zh-CN" altLang="en-US" b="0" dirty="0">
                <a:solidFill>
                  <a:srgbClr val="FF3300"/>
                </a:solidFill>
                <a:latin typeface="Arial" panose="020B0604020202020204" pitchFamily="34" charset="0"/>
              </a:rPr>
              <a:t>、</a:t>
            </a:r>
            <a:r>
              <a:rPr lang="en-US" altLang="zh-CN" b="0" dirty="0">
                <a:solidFill>
                  <a:srgbClr val="FF3300"/>
                </a:solidFill>
                <a:latin typeface="Arial" panose="020B0604020202020204" pitchFamily="34" charset="0"/>
              </a:rPr>
              <a:t>R</a:t>
            </a:r>
            <a:r>
              <a:rPr lang="en-US" altLang="zh-CN" b="0" baseline="-25000" dirty="0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  <a:r>
              <a:rPr lang="zh-CN" altLang="en-US" b="0" dirty="0">
                <a:solidFill>
                  <a:srgbClr val="FF3300"/>
                </a:solidFill>
                <a:latin typeface="Arial" panose="020B0604020202020204" pitchFamily="34" charset="0"/>
              </a:rPr>
              <a:t>是传递的。</a:t>
            </a:r>
            <a:endParaRPr lang="en-US" altLang="zh-CN" b="0" dirty="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 eaLnBrk="1" hangingPunct="1"/>
            <a:endParaRPr lang="en-US" altLang="zh-CN" b="0" dirty="0">
              <a:solidFill>
                <a:srgbClr val="FF33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b="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b="0" baseline="-2500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b="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R</a:t>
            </a:r>
            <a:r>
              <a:rPr lang="en-US" altLang="zh-CN" b="0" baseline="-2500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zh-CN" altLang="en-US" b="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不属于</a:t>
            </a:r>
            <a:r>
              <a:rPr lang="en-US" altLang="zh-CN" b="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b="0" baseline="-2500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zh-CN" altLang="en-US" b="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，因此</a:t>
            </a:r>
            <a:r>
              <a:rPr lang="en-US" altLang="zh-CN" b="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b="0" baseline="-2500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zh-CN" altLang="en-US" b="0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不是传递的。</a:t>
            </a:r>
            <a:endParaRPr lang="zh-CN" altLang="en-US" b="0" dirty="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5151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1" dirty="0">
                <a:latin typeface="Arial" panose="020B0604020202020204" pitchFamily="34" charset="0"/>
              </a:rPr>
              <a:t>自反</a:t>
            </a:r>
            <a:r>
              <a:rPr lang="zh-CN" altLang="en-US" dirty="0">
                <a:latin typeface="Arial" panose="020B0604020202020204" pitchFamily="34" charset="0"/>
              </a:rPr>
              <a:t>：每个顶点上都有环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反自反</a:t>
            </a:r>
            <a:r>
              <a:rPr lang="zh-CN" altLang="en-US" dirty="0">
                <a:latin typeface="Arial" panose="020B0604020202020204" pitchFamily="34" charset="0"/>
              </a:rPr>
              <a:t>：每个顶点上都没有环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既不是自反，又不是反自反</a:t>
            </a:r>
            <a:r>
              <a:rPr lang="zh-CN" altLang="en-US" dirty="0">
                <a:latin typeface="Arial" panose="020B0604020202020204" pitchFamily="34" charset="0"/>
              </a:rPr>
              <a:t>：个别顶点上有环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对称</a:t>
            </a:r>
            <a:r>
              <a:rPr lang="zh-CN" altLang="en-US" dirty="0">
                <a:latin typeface="Arial" panose="020B0604020202020204" pitchFamily="34" charset="0"/>
              </a:rPr>
              <a:t>：若两个</a:t>
            </a:r>
            <a:r>
              <a:rPr lang="zh-CN" altLang="en-US" b="1" dirty="0">
                <a:latin typeface="Arial" panose="020B0604020202020204" pitchFamily="34" charset="0"/>
              </a:rPr>
              <a:t>不同顶点</a:t>
            </a:r>
            <a:r>
              <a:rPr lang="zh-CN" altLang="en-US" dirty="0">
                <a:latin typeface="Arial" panose="020B0604020202020204" pitchFamily="34" charset="0"/>
              </a:rPr>
              <a:t>之间有边，则边对称出现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反对称</a:t>
            </a:r>
            <a:r>
              <a:rPr lang="zh-CN" altLang="en-US" dirty="0">
                <a:latin typeface="Arial" panose="020B0604020202020204" pitchFamily="34" charset="0"/>
              </a:rPr>
              <a:t>：没有对称边出现。</a:t>
            </a:r>
            <a:r>
              <a:rPr lang="en-US" altLang="zh-CN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  <a:t>∩</a:t>
            </a:r>
            <a:r>
              <a:rPr lang="en-US" altLang="zh-CN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30000" dirty="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baseline="30000" dirty="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i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即要么为空集，要么是</a:t>
            </a:r>
            <a:r>
              <a:rPr lang="en-US" altLang="zh-CN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的子集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  <a:t/>
            </a:r>
            <a:b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</a:b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既是对称的，又是反对称的：</a:t>
            </a:r>
            <a:r>
              <a:rPr lang="zh-CN" altLang="en-US" b="1" dirty="0">
                <a:latin typeface="Arial" panose="020B0604020202020204" pitchFamily="34" charset="0"/>
              </a:rPr>
              <a:t>恒等关系</a:t>
            </a:r>
            <a:r>
              <a:rPr lang="en-US" altLang="zh-CN" b="1" dirty="0">
                <a:latin typeface="Arial" panose="020B0604020202020204" pitchFamily="34" charset="0"/>
              </a:rPr>
              <a:t>I</a:t>
            </a:r>
            <a:r>
              <a:rPr lang="en-US" altLang="zh-CN" b="1" baseline="-25000" dirty="0">
                <a:latin typeface="Arial" panose="020B0604020202020204" pitchFamily="34" charset="0"/>
              </a:rPr>
              <a:t>A</a:t>
            </a:r>
            <a:r>
              <a:rPr lang="zh-CN" altLang="en-US" b="1" baseline="0" dirty="0">
                <a:latin typeface="Arial" panose="020B0604020202020204" pitchFamily="34" charset="0"/>
              </a:rPr>
              <a:t>及它的子集</a:t>
            </a:r>
            <a:endParaRPr lang="en-US" altLang="zh-CN" b="1" baseline="0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顶点是否有环没有关系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b="1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传递</a:t>
            </a:r>
            <a:r>
              <a:rPr lang="zh-CN" altLang="en-US" dirty="0">
                <a:latin typeface="Arial" panose="020B0604020202020204" pitchFamily="34" charset="0"/>
              </a:rPr>
              <a:t>：依次检查每个顶点，若顶点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可达</a:t>
            </a:r>
            <a:r>
              <a:rPr lang="en-US" altLang="zh-CN" dirty="0" err="1">
                <a:latin typeface="Arial" panose="020B0604020202020204" pitchFamily="34" charset="0"/>
              </a:rPr>
              <a:t>a,b,c</a:t>
            </a:r>
            <a:r>
              <a:rPr lang="en-US" altLang="zh-CN" dirty="0">
                <a:latin typeface="Arial" panose="020B0604020202020204" pitchFamily="34" charset="0"/>
              </a:rPr>
              <a:t>,…</a:t>
            </a:r>
            <a:r>
              <a:rPr lang="zh-CN" altLang="en-US" dirty="0">
                <a:latin typeface="Arial" panose="020B0604020202020204" pitchFamily="34" charset="0"/>
              </a:rPr>
              <a:t>，则看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是否有到</a:t>
            </a:r>
            <a:r>
              <a:rPr lang="en-US" altLang="zh-CN" dirty="0" err="1">
                <a:latin typeface="Arial" panose="020B0604020202020204" pitchFamily="34" charset="0"/>
              </a:rPr>
              <a:t>a,b,c</a:t>
            </a:r>
            <a:r>
              <a:rPr lang="en-US" altLang="zh-CN" dirty="0">
                <a:latin typeface="Arial" panose="020B0604020202020204" pitchFamily="34" charset="0"/>
              </a:rPr>
              <a:t>,…</a:t>
            </a:r>
            <a:r>
              <a:rPr lang="zh-CN" altLang="en-US" dirty="0">
                <a:latin typeface="Arial" panose="020B0604020202020204" pitchFamily="34" charset="0"/>
              </a:rPr>
              <a:t>的直接连线。或</a:t>
            </a:r>
            <a:r>
              <a:rPr lang="en-US" altLang="zh-CN" b="1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 R</a:t>
            </a:r>
            <a:r>
              <a:rPr lang="en-US" altLang="zh-CN" b="1" i="1" dirty="0">
                <a:solidFill>
                  <a:srgbClr val="FF3300"/>
                </a:solidFill>
                <a:latin typeface="Arial" panose="020B0604020202020204" pitchFamily="34" charset="0"/>
              </a:rPr>
              <a:t>R</a:t>
            </a:r>
          </a:p>
          <a:p>
            <a:r>
              <a:rPr lang="zh-CN" altLang="en-US" b="1" dirty="0">
                <a:solidFill>
                  <a:srgbClr val="FF3300"/>
                </a:solidFill>
                <a:latin typeface="Arial" panose="020B0604020202020204" pitchFamily="34" charset="0"/>
              </a:rPr>
              <a:t>不传递：</a:t>
            </a:r>
            <a:r>
              <a:rPr lang="en-US" altLang="zh-CN" b="1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 R</a:t>
            </a:r>
            <a:r>
              <a:rPr lang="zh-CN" altLang="en-US" b="1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不属于</a:t>
            </a:r>
            <a:r>
              <a:rPr lang="en-US" altLang="zh-CN" b="1" i="1" dirty="0">
                <a:solidFill>
                  <a:srgbClr val="FF3300"/>
                </a:solidFill>
                <a:latin typeface="Arial" panose="020B0604020202020204" pitchFamily="34" charset="0"/>
              </a:rPr>
              <a:t>R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99B69B1-841F-42B4-A42A-9D93D7DFEAC7}" type="slidenum">
              <a:rPr lang="en-US" altLang="zh-CN" sz="1200">
                <a:latin typeface="Arial" panose="020B0604020202020204" pitchFamily="34" charset="0"/>
              </a:rPr>
              <a:pPr/>
              <a:t>57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0632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1" dirty="0">
                <a:latin typeface="Arial" panose="020B0604020202020204" pitchFamily="34" charset="0"/>
              </a:rPr>
              <a:t>自反</a:t>
            </a:r>
            <a:r>
              <a:rPr lang="zh-CN" altLang="en-US" dirty="0">
                <a:latin typeface="Arial" panose="020B0604020202020204" pitchFamily="34" charset="0"/>
              </a:rPr>
              <a:t>：每个顶点上都有环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反自反</a:t>
            </a:r>
            <a:r>
              <a:rPr lang="zh-CN" altLang="en-US" dirty="0">
                <a:latin typeface="Arial" panose="020B0604020202020204" pitchFamily="34" charset="0"/>
              </a:rPr>
              <a:t>：每个顶点上都没有环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既不是自反，又不是反自反</a:t>
            </a:r>
            <a:r>
              <a:rPr lang="zh-CN" altLang="en-US" dirty="0">
                <a:latin typeface="Arial" panose="020B0604020202020204" pitchFamily="34" charset="0"/>
              </a:rPr>
              <a:t>：个别顶点上有环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对称</a:t>
            </a:r>
            <a:r>
              <a:rPr lang="zh-CN" altLang="en-US" dirty="0">
                <a:latin typeface="Arial" panose="020B0604020202020204" pitchFamily="34" charset="0"/>
              </a:rPr>
              <a:t>：若两个</a:t>
            </a:r>
            <a:r>
              <a:rPr lang="zh-CN" altLang="en-US" b="1" dirty="0">
                <a:latin typeface="Arial" panose="020B0604020202020204" pitchFamily="34" charset="0"/>
              </a:rPr>
              <a:t>不同顶点</a:t>
            </a:r>
            <a:r>
              <a:rPr lang="zh-CN" altLang="en-US" dirty="0">
                <a:latin typeface="Arial" panose="020B0604020202020204" pitchFamily="34" charset="0"/>
              </a:rPr>
              <a:t>之间有边，则边对称出现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反对称</a:t>
            </a:r>
            <a:r>
              <a:rPr lang="zh-CN" altLang="en-US" dirty="0">
                <a:latin typeface="Arial" panose="020B0604020202020204" pitchFamily="34" charset="0"/>
              </a:rPr>
              <a:t>：没有对称边出现。</a:t>
            </a:r>
            <a:r>
              <a:rPr lang="en-US" altLang="zh-CN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  <a:t>∩</a:t>
            </a:r>
            <a:r>
              <a:rPr lang="en-US" altLang="zh-CN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30000" dirty="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baseline="30000" dirty="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i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即要么为空集，要么是</a:t>
            </a:r>
            <a:r>
              <a:rPr lang="en-US" altLang="zh-CN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的子集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  <a:t/>
            </a:r>
            <a:b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</a:b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既是对称的，又是反对称的：</a:t>
            </a:r>
            <a:r>
              <a:rPr lang="zh-CN" altLang="en-US" b="1" dirty="0">
                <a:latin typeface="Arial" panose="020B0604020202020204" pitchFamily="34" charset="0"/>
              </a:rPr>
              <a:t>恒等关系</a:t>
            </a:r>
            <a:r>
              <a:rPr lang="en-US" altLang="zh-CN" b="1" dirty="0">
                <a:latin typeface="Arial" panose="020B0604020202020204" pitchFamily="34" charset="0"/>
              </a:rPr>
              <a:t>I</a:t>
            </a:r>
            <a:r>
              <a:rPr lang="en-US" altLang="zh-CN" b="1" baseline="-25000" dirty="0">
                <a:latin typeface="Arial" panose="020B0604020202020204" pitchFamily="34" charset="0"/>
              </a:rPr>
              <a:t>A</a:t>
            </a:r>
            <a:r>
              <a:rPr lang="zh-CN" altLang="en-US" b="1" baseline="0" dirty="0">
                <a:latin typeface="Arial" panose="020B0604020202020204" pitchFamily="34" charset="0"/>
              </a:rPr>
              <a:t>及它的子集</a:t>
            </a:r>
            <a:endParaRPr lang="en-US" altLang="zh-CN" b="1" baseline="0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顶点是否有环没有关系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b="1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传递</a:t>
            </a:r>
            <a:r>
              <a:rPr lang="zh-CN" altLang="en-US" dirty="0">
                <a:latin typeface="Arial" panose="020B0604020202020204" pitchFamily="34" charset="0"/>
              </a:rPr>
              <a:t>：依次检查每个顶点，若顶点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可达</a:t>
            </a:r>
            <a:r>
              <a:rPr lang="en-US" altLang="zh-CN" dirty="0" err="1">
                <a:latin typeface="Arial" panose="020B0604020202020204" pitchFamily="34" charset="0"/>
              </a:rPr>
              <a:t>a,b,c</a:t>
            </a:r>
            <a:r>
              <a:rPr lang="en-US" altLang="zh-CN" dirty="0">
                <a:latin typeface="Arial" panose="020B0604020202020204" pitchFamily="34" charset="0"/>
              </a:rPr>
              <a:t>,…</a:t>
            </a:r>
            <a:r>
              <a:rPr lang="zh-CN" altLang="en-US" dirty="0">
                <a:latin typeface="Arial" panose="020B0604020202020204" pitchFamily="34" charset="0"/>
              </a:rPr>
              <a:t>，则看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是否有到</a:t>
            </a:r>
            <a:r>
              <a:rPr lang="en-US" altLang="zh-CN" dirty="0" err="1">
                <a:latin typeface="Arial" panose="020B0604020202020204" pitchFamily="34" charset="0"/>
              </a:rPr>
              <a:t>a,b,c</a:t>
            </a:r>
            <a:r>
              <a:rPr lang="en-US" altLang="zh-CN" dirty="0">
                <a:latin typeface="Arial" panose="020B0604020202020204" pitchFamily="34" charset="0"/>
              </a:rPr>
              <a:t>,…</a:t>
            </a:r>
            <a:r>
              <a:rPr lang="zh-CN" altLang="en-US" dirty="0">
                <a:latin typeface="Arial" panose="020B0604020202020204" pitchFamily="34" charset="0"/>
              </a:rPr>
              <a:t>的直接连线。或</a:t>
            </a:r>
            <a:r>
              <a:rPr lang="en-US" altLang="zh-CN" b="1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 R</a:t>
            </a:r>
            <a:r>
              <a:rPr lang="en-US" altLang="zh-CN" b="1" i="1" dirty="0">
                <a:solidFill>
                  <a:srgbClr val="FF3300"/>
                </a:solidFill>
                <a:latin typeface="Arial" panose="020B0604020202020204" pitchFamily="34" charset="0"/>
              </a:rPr>
              <a:t>R</a:t>
            </a:r>
          </a:p>
          <a:p>
            <a:r>
              <a:rPr lang="zh-CN" altLang="en-US" b="1" dirty="0">
                <a:solidFill>
                  <a:srgbClr val="FF3300"/>
                </a:solidFill>
                <a:latin typeface="Arial" panose="020B0604020202020204" pitchFamily="34" charset="0"/>
              </a:rPr>
              <a:t>不传递：</a:t>
            </a:r>
            <a:r>
              <a:rPr lang="en-US" altLang="zh-CN" b="1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 R</a:t>
            </a:r>
            <a:r>
              <a:rPr lang="zh-CN" altLang="en-US" b="1" dirty="0">
                <a:solidFill>
                  <a:srgbClr val="FF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不属于</a:t>
            </a:r>
            <a:r>
              <a:rPr lang="en-US" altLang="zh-CN" b="1" i="1" dirty="0">
                <a:solidFill>
                  <a:srgbClr val="FF3300"/>
                </a:solidFill>
                <a:latin typeface="Arial" panose="020B0604020202020204" pitchFamily="34" charset="0"/>
              </a:rPr>
              <a:t>R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b="1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90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CE42406-8FE6-4DD8-BFB9-1A9E79527C60}" type="slidenum">
              <a:rPr lang="en-US" altLang="zh-CN" sz="1200">
                <a:latin typeface="Arial" panose="020B0604020202020204" pitchFamily="34" charset="0"/>
              </a:rPr>
              <a:pPr/>
              <a:t>58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90407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均由定义出发证明</a:t>
            </a:r>
          </a:p>
        </p:txBody>
      </p:sp>
      <p:sp>
        <p:nvSpPr>
          <p:cNvPr id="921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A8BA743-D431-4BD5-85F6-88E0A87FCCF3}" type="slidenum">
              <a:rPr lang="en-US" altLang="zh-CN" sz="1200">
                <a:latin typeface="Arial" panose="020B0604020202020204" pitchFamily="34" charset="0"/>
              </a:rPr>
              <a:pPr/>
              <a:t>60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4485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均由定义出发证明</a:t>
            </a: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42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E6AB880-0205-4156-B20A-0DCF4EC6F82F}" type="slidenum">
              <a:rPr lang="en-US" altLang="zh-CN" sz="1200">
                <a:latin typeface="Arial" panose="020B0604020202020204" pitchFamily="34" charset="0"/>
              </a:rPr>
              <a:pPr/>
              <a:t>61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03745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均由定义出发证明</a:t>
            </a: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62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326EF15-134B-4A38-AC05-E43236FA8DF8}" type="slidenum">
              <a:rPr lang="en-US" altLang="zh-CN" sz="1200">
                <a:latin typeface="Arial" panose="020B0604020202020204" pitchFamily="34" charset="0"/>
              </a:rPr>
              <a:pPr/>
              <a:t>62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65120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均由定义出发证明</a:t>
            </a: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83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6524D07-6451-4074-B31E-52CA9EBA2EE6}" type="slidenum">
              <a:rPr lang="en-US" altLang="zh-CN" sz="1200">
                <a:latin typeface="Arial" panose="020B0604020202020204" pitchFamily="34" charset="0"/>
              </a:rPr>
              <a:pPr/>
              <a:t>63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28518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0C8DC3-4AD2-4BCD-A6A0-23D815859075}" type="slidenum">
              <a:rPr lang="en-US" altLang="zh-CN" smtClean="0"/>
              <a:pPr>
                <a:defRPr/>
              </a:pPr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537650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0C8DC3-4AD2-4BCD-A6A0-23D815859075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162673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很多的关系都不具备前面讲的</a:t>
            </a:r>
            <a:r>
              <a:rPr lang="en-US" altLang="zh-CN">
                <a:latin typeface="Arial" panose="020B0604020202020204" pitchFamily="34" charset="0"/>
              </a:rPr>
              <a:t>5</a:t>
            </a:r>
            <a:r>
              <a:rPr lang="zh-CN" altLang="en-US">
                <a:latin typeface="Arial" panose="020B0604020202020204" pitchFamily="34" charset="0"/>
              </a:rPr>
              <a:t>种性质，我们需要想办法将他们改造成具有这些性质的关系，这就是闭包。</a:t>
            </a:r>
          </a:p>
        </p:txBody>
      </p:sp>
      <p:sp>
        <p:nvSpPr>
          <p:cNvPr id="1024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CE76B5F-4DD2-4916-8116-BDF109ABA531}" type="slidenum">
              <a:rPr lang="en-US" altLang="zh-CN" sz="1200">
                <a:latin typeface="Arial" panose="020B0604020202020204" pitchFamily="34" charset="0"/>
              </a:rPr>
              <a:pPr/>
              <a:t>66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17248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latin typeface="Arial" panose="020B0604020202020204" pitchFamily="34" charset="0"/>
              </a:rPr>
              <a:t>自反性 ：</a:t>
            </a:r>
            <a:r>
              <a:rPr lang="en-US" altLang="zh-CN" dirty="0">
                <a:latin typeface="Arial" panose="020B0604020202020204" pitchFamily="34" charset="0"/>
              </a:rPr>
              <a:t>reflexivity      </a:t>
            </a:r>
            <a:r>
              <a:rPr lang="zh-CN" altLang="en-US" dirty="0">
                <a:latin typeface="Arial" panose="020B0604020202020204" pitchFamily="34" charset="0"/>
              </a:rPr>
              <a:t>英 </a:t>
            </a:r>
            <a:r>
              <a:rPr lang="en-US" altLang="zh-CN" dirty="0">
                <a:latin typeface="Arial" panose="020B0604020202020204" pitchFamily="34" charset="0"/>
              </a:rPr>
              <a:t>[</a:t>
            </a:r>
            <a:r>
              <a:rPr lang="en-US" altLang="zh-CN" dirty="0" err="1">
                <a:latin typeface="Arial" panose="020B0604020202020204" pitchFamily="34" charset="0"/>
              </a:rPr>
              <a:t>rɪflek'sɪvɪtɪ</a:t>
            </a:r>
            <a:r>
              <a:rPr lang="en-US" altLang="zh-CN" dirty="0">
                <a:latin typeface="Arial" panose="020B0604020202020204" pitchFamily="34" charset="0"/>
              </a:rPr>
              <a:t>]            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对称性：</a:t>
            </a:r>
            <a:r>
              <a:rPr lang="en-US" altLang="zh-CN" dirty="0">
                <a:latin typeface="Arial" panose="020B0604020202020204" pitchFamily="34" charset="0"/>
              </a:rPr>
              <a:t>symmetrical characteristic   </a:t>
            </a:r>
            <a:r>
              <a:rPr lang="zh-CN" altLang="en-US" dirty="0">
                <a:latin typeface="Arial" panose="020B0604020202020204" pitchFamily="34" charset="0"/>
              </a:rPr>
              <a:t>英 </a:t>
            </a:r>
            <a:r>
              <a:rPr lang="en-US" altLang="zh-CN" dirty="0">
                <a:latin typeface="Arial" panose="020B0604020202020204" pitchFamily="34" charset="0"/>
              </a:rPr>
              <a:t>[</a:t>
            </a:r>
            <a:r>
              <a:rPr lang="en-US" altLang="zh-CN" dirty="0" err="1">
                <a:latin typeface="Arial" panose="020B0604020202020204" pitchFamily="34" charset="0"/>
              </a:rPr>
              <a:t>sɪˈmetrɪkəl</a:t>
            </a:r>
            <a:r>
              <a:rPr lang="en-US" altLang="zh-CN" dirty="0">
                <a:latin typeface="Arial" panose="020B0604020202020204" pitchFamily="34" charset="0"/>
              </a:rPr>
              <a:t> ˌ</a:t>
            </a:r>
            <a:r>
              <a:rPr lang="en-US" altLang="zh-CN" dirty="0" err="1">
                <a:latin typeface="Arial" panose="020B0604020202020204" pitchFamily="34" charset="0"/>
              </a:rPr>
              <a:t>kæriktəˈristik</a:t>
            </a:r>
            <a:r>
              <a:rPr lang="en-US" altLang="zh-CN" dirty="0">
                <a:latin typeface="Arial" panose="020B0604020202020204" pitchFamily="34" charset="0"/>
              </a:rPr>
              <a:t>]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传递性：</a:t>
            </a:r>
            <a:r>
              <a:rPr lang="en-US" altLang="zh-CN" dirty="0">
                <a:latin typeface="Arial" panose="020B0604020202020204" pitchFamily="34" charset="0"/>
              </a:rPr>
              <a:t>transitivity    </a:t>
            </a:r>
            <a:r>
              <a:rPr lang="zh-CN" altLang="en-US" dirty="0">
                <a:latin typeface="Arial" panose="020B0604020202020204" pitchFamily="34" charset="0"/>
              </a:rPr>
              <a:t>英 </a:t>
            </a:r>
            <a:r>
              <a:rPr lang="en-US" altLang="zh-CN" dirty="0">
                <a:latin typeface="Arial" panose="020B0604020202020204" pitchFamily="34" charset="0"/>
              </a:rPr>
              <a:t>[ˌ</a:t>
            </a:r>
            <a:r>
              <a:rPr lang="en-US" altLang="zh-CN" dirty="0" err="1">
                <a:latin typeface="Arial" panose="020B0604020202020204" pitchFamily="34" charset="0"/>
              </a:rPr>
              <a:t>trænsəˈtɪvəti</a:t>
            </a:r>
            <a:r>
              <a:rPr lang="en-US" altLang="zh-CN" dirty="0">
                <a:latin typeface="Arial" panose="020B0604020202020204" pitchFamily="34" charset="0"/>
              </a:rPr>
              <a:t>]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的自反闭包是在原来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的基础上，将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变成具有自反性质的最小集合（即每个顶点都有环）。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的对称闭包是在原来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的基础上，将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变成具有对称性质的最小集合（即每条边都变成对称边）。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的传递闭包是在原来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的基础上，将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变成具有传递性质的最小集合（即依次检查每个顶点，若顶点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可达</a:t>
            </a:r>
            <a:r>
              <a:rPr lang="en-US" altLang="zh-CN" dirty="0" err="1">
                <a:latin typeface="Arial" panose="020B0604020202020204" pitchFamily="34" charset="0"/>
              </a:rPr>
              <a:t>a,b,c</a:t>
            </a:r>
            <a:r>
              <a:rPr lang="en-US" altLang="zh-CN" dirty="0">
                <a:latin typeface="Arial" panose="020B0604020202020204" pitchFamily="34" charset="0"/>
              </a:rPr>
              <a:t>,…</a:t>
            </a:r>
            <a:r>
              <a:rPr lang="zh-CN" altLang="en-US" dirty="0">
                <a:latin typeface="Arial" panose="020B0604020202020204" pitchFamily="34" charset="0"/>
              </a:rPr>
              <a:t>，则看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是否有到</a:t>
            </a:r>
            <a:r>
              <a:rPr lang="en-US" altLang="zh-CN" dirty="0" err="1">
                <a:latin typeface="Arial" panose="020B0604020202020204" pitchFamily="34" charset="0"/>
              </a:rPr>
              <a:t>a,b,c</a:t>
            </a:r>
            <a:r>
              <a:rPr lang="en-US" altLang="zh-CN" dirty="0">
                <a:latin typeface="Arial" panose="020B0604020202020204" pitchFamily="34" charset="0"/>
              </a:rPr>
              <a:t>,…</a:t>
            </a:r>
            <a:r>
              <a:rPr lang="zh-CN" altLang="en-US" dirty="0">
                <a:latin typeface="Arial" panose="020B0604020202020204" pitchFamily="34" charset="0"/>
              </a:rPr>
              <a:t>的直接连线，没有就加上）。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44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5EC40C0-B675-4254-9028-C57A822691F9}" type="slidenum">
              <a:rPr lang="en-US" altLang="zh-CN" sz="1200">
                <a:latin typeface="Arial" panose="020B0604020202020204" pitchFamily="34" charset="0"/>
              </a:rPr>
              <a:pPr/>
              <a:t>67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62569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ea typeface="宋体" charset="-122"/>
              </a:rPr>
              <a:t> t(R)</a:t>
            </a:r>
            <a:r>
              <a:rPr lang="zh-CN" altLang="en-US" sz="1200" b="0" i="0" dirty="0">
                <a:latin typeface="Times New Roman" panose="02020603050405020304" pitchFamily="18" charset="0"/>
              </a:rPr>
              <a:t>要一直进行到不再变化为止</a:t>
            </a:r>
            <a:endParaRPr lang="zh-CN" altLang="en-US" b="0" i="0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问题：</a:t>
            </a:r>
            <a:r>
              <a:rPr lang="en-US" altLang="zh-CN" b="1" i="1" dirty="0">
                <a:latin typeface="Arial" panose="020B0604020202020204" pitchFamily="34" charset="0"/>
              </a:rPr>
              <a:t>t</a:t>
            </a:r>
            <a:r>
              <a:rPr lang="en-US" altLang="zh-CN" b="1" dirty="0">
                <a:latin typeface="Arial" panose="020B0604020202020204" pitchFamily="34" charset="0"/>
              </a:rPr>
              <a:t>(</a:t>
            </a:r>
            <a:r>
              <a:rPr lang="en-US" altLang="zh-CN" b="1" i="1" dirty="0">
                <a:latin typeface="Arial" panose="020B0604020202020204" pitchFamily="34" charset="0"/>
              </a:rPr>
              <a:t>R</a:t>
            </a:r>
            <a:r>
              <a:rPr lang="en-US" altLang="zh-CN" b="1" dirty="0">
                <a:latin typeface="Arial" panose="020B0604020202020204" pitchFamily="34" charset="0"/>
              </a:rPr>
              <a:t>) </a:t>
            </a:r>
            <a:r>
              <a:rPr lang="zh-CN" altLang="en-US" b="1" dirty="0">
                <a:latin typeface="Arial" panose="020B0604020202020204" pitchFamily="34" charset="0"/>
              </a:rPr>
              <a:t>为什么不是</a:t>
            </a:r>
            <a:r>
              <a:rPr lang="en-US" altLang="zh-CN" b="1" dirty="0">
                <a:latin typeface="Arial" panose="020B0604020202020204" pitchFamily="34" charset="0"/>
              </a:rPr>
              <a:t>=</a:t>
            </a:r>
            <a:r>
              <a:rPr lang="en-US" altLang="zh-CN" b="1" i="1" dirty="0">
                <a:latin typeface="Arial" panose="020B0604020202020204" pitchFamily="34" charset="0"/>
              </a:rPr>
              <a:t>R</a:t>
            </a:r>
            <a:r>
              <a:rPr lang="en-US" altLang="zh-CN" b="1" dirty="0">
                <a:latin typeface="Arial" panose="020B0604020202020204" pitchFamily="34" charset="0"/>
              </a:rPr>
              <a:t>∪</a:t>
            </a:r>
            <a:r>
              <a:rPr lang="en-US" altLang="zh-CN" b="1" i="1" dirty="0">
                <a:latin typeface="Arial" panose="020B0604020202020204" pitchFamily="34" charset="0"/>
              </a:rPr>
              <a:t>R</a:t>
            </a:r>
            <a:r>
              <a:rPr lang="en-US" altLang="zh-CN" b="1" baseline="30000" dirty="0">
                <a:latin typeface="Arial" panose="020B0604020202020204" pitchFamily="34" charset="0"/>
              </a:rPr>
              <a:t>2</a:t>
            </a:r>
            <a:r>
              <a:rPr lang="zh-CN" altLang="en-US" b="1" baseline="30000" dirty="0">
                <a:latin typeface="Arial" panose="020B0604020202020204" pitchFamily="34" charset="0"/>
              </a:rPr>
              <a:t>，</a:t>
            </a:r>
            <a:r>
              <a:rPr lang="zh-CN" altLang="en-US" b="1" dirty="0">
                <a:latin typeface="Arial" panose="020B0604020202020204" pitchFamily="34" charset="0"/>
              </a:rPr>
              <a:t>而是</a:t>
            </a:r>
            <a:r>
              <a:rPr lang="en-US" altLang="zh-CN" b="1" dirty="0">
                <a:latin typeface="Arial" panose="020B0604020202020204" pitchFamily="34" charset="0"/>
              </a:rPr>
              <a:t>=R∪R</a:t>
            </a:r>
            <a:r>
              <a:rPr lang="en-US" altLang="zh-CN" b="1" baseline="30000" dirty="0">
                <a:latin typeface="Arial" panose="020B0604020202020204" pitchFamily="34" charset="0"/>
              </a:rPr>
              <a:t>2</a:t>
            </a:r>
            <a:r>
              <a:rPr lang="en-US" altLang="zh-CN" b="1" dirty="0">
                <a:latin typeface="Arial" panose="020B0604020202020204" pitchFamily="34" charset="0"/>
              </a:rPr>
              <a:t>∪R</a:t>
            </a:r>
            <a:r>
              <a:rPr lang="en-US" altLang="zh-CN" b="1" baseline="30000" dirty="0">
                <a:latin typeface="Arial" panose="020B0604020202020204" pitchFamily="34" charset="0"/>
              </a:rPr>
              <a:t>3</a:t>
            </a:r>
            <a:r>
              <a:rPr lang="en-US" altLang="zh-CN" b="1" dirty="0">
                <a:latin typeface="Arial" panose="020B0604020202020204" pitchFamily="34" charset="0"/>
              </a:rPr>
              <a:t>∪…</a:t>
            </a:r>
          </a:p>
          <a:p>
            <a:r>
              <a:rPr lang="zh-CN" altLang="en-US" b="1" dirty="0">
                <a:latin typeface="Arial" panose="020B0604020202020204" pitchFamily="34" charset="0"/>
              </a:rPr>
              <a:t>答：当判断</a:t>
            </a:r>
            <a:r>
              <a:rPr lang="en-US" altLang="zh-CN" b="1" dirty="0">
                <a:latin typeface="Arial" panose="020B0604020202020204" pitchFamily="34" charset="0"/>
              </a:rPr>
              <a:t>R</a:t>
            </a:r>
            <a:r>
              <a:rPr lang="zh-CN" altLang="en-US" b="1" dirty="0">
                <a:latin typeface="Arial" panose="020B0604020202020204" pitchFamily="34" charset="0"/>
              </a:rPr>
              <a:t>是否具有传递性时，我们只需要看</a:t>
            </a:r>
            <a:r>
              <a:rPr lang="en-US" altLang="zh-CN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，但是</a:t>
            </a:r>
            <a:r>
              <a:rPr lang="en-US" altLang="zh-CN" b="1" dirty="0">
                <a:latin typeface="Arial" panose="020B0604020202020204" pitchFamily="34" charset="0"/>
              </a:rPr>
              <a:t>R∪R</a:t>
            </a:r>
            <a:r>
              <a:rPr lang="en-US" altLang="zh-CN" b="1" baseline="30000" dirty="0">
                <a:latin typeface="Arial" panose="020B0604020202020204" pitchFamily="34" charset="0"/>
              </a:rPr>
              <a:t>2</a:t>
            </a:r>
            <a:r>
              <a:rPr lang="zh-CN" altLang="en-US" b="1" dirty="0">
                <a:latin typeface="Arial" panose="020B0604020202020204" pitchFamily="34" charset="0"/>
              </a:rPr>
              <a:t>时集合元素增加了，因此又要在这个集合上重新判断，因此</a:t>
            </a:r>
            <a:r>
              <a:rPr lang="en-US" altLang="zh-CN" b="1" dirty="0">
                <a:latin typeface="Arial" panose="020B0604020202020204" pitchFamily="34" charset="0"/>
              </a:rPr>
              <a:t>t(R) = R∪R</a:t>
            </a:r>
            <a:r>
              <a:rPr lang="en-US" altLang="zh-CN" b="1" baseline="30000" dirty="0">
                <a:latin typeface="Arial" panose="020B0604020202020204" pitchFamily="34" charset="0"/>
              </a:rPr>
              <a:t>2</a:t>
            </a:r>
            <a:r>
              <a:rPr lang="en-US" altLang="zh-CN" b="1" dirty="0">
                <a:latin typeface="Arial" panose="020B0604020202020204" pitchFamily="34" charset="0"/>
              </a:rPr>
              <a:t>∪R</a:t>
            </a:r>
            <a:r>
              <a:rPr lang="en-US" altLang="zh-CN" b="1" baseline="30000" dirty="0">
                <a:latin typeface="Arial" panose="020B0604020202020204" pitchFamily="34" charset="0"/>
              </a:rPr>
              <a:t>3</a:t>
            </a:r>
            <a:r>
              <a:rPr lang="en-US" altLang="zh-CN" b="1" dirty="0">
                <a:latin typeface="Arial" panose="020B0604020202020204" pitchFamily="34" charset="0"/>
              </a:rPr>
              <a:t>∪…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65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D19E754-D915-4920-BE1B-218277DC805C}" type="slidenum">
              <a:rPr lang="en-US" altLang="zh-CN" sz="1200">
                <a:latin typeface="Arial" panose="020B0604020202020204" pitchFamily="34" charset="0"/>
              </a:rPr>
              <a:pPr/>
              <a:t>68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62276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加法是逻辑加，即只要有一个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，整个结果就为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sz="1200" b="0" i="0" dirty="0">
                <a:latin typeface="Times New Roman" panose="02020603050405020304" pitchFamily="18" charset="0"/>
              </a:rPr>
              <a:t>M</a:t>
            </a:r>
            <a:r>
              <a:rPr lang="en-US" altLang="zh-CN" sz="1200" b="0" i="0" baseline="-25000" dirty="0">
                <a:latin typeface="Times New Roman" panose="02020603050405020304" pitchFamily="18" charset="0"/>
              </a:rPr>
              <a:t>t 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 </a:t>
            </a:r>
            <a:r>
              <a:rPr lang="zh-CN" altLang="en-US" sz="1200" b="0" i="0" dirty="0">
                <a:latin typeface="Times New Roman" panose="02020603050405020304" pitchFamily="18" charset="0"/>
              </a:rPr>
              <a:t>要一直运算到不再变化为止</a:t>
            </a:r>
            <a:endParaRPr lang="zh-CN" altLang="en-US" b="0" i="0" dirty="0">
              <a:latin typeface="Arial" panose="020B0604020202020204" pitchFamily="34" charset="0"/>
            </a:endParaRPr>
          </a:p>
        </p:txBody>
      </p:sp>
      <p:sp>
        <p:nvSpPr>
          <p:cNvPr id="1085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06A58FF-8888-4333-9876-2A62400A4E5B}" type="slidenum">
              <a:rPr lang="en-US" altLang="zh-CN" sz="1200">
                <a:latin typeface="Arial" panose="020B0604020202020204" pitchFamily="34" charset="0"/>
              </a:rPr>
              <a:pPr/>
              <a:t>69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42532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G</a:t>
            </a:r>
            <a:r>
              <a:rPr lang="en-US" altLang="zh-CN" sz="1200" b="0" i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t</a:t>
            </a:r>
            <a:r>
              <a:rPr lang="en-US" altLang="zh-CN" sz="1200" b="0" i="1" baseline="-25000" dirty="0">
                <a:ea typeface="宋体" charset="-122"/>
              </a:rPr>
              <a:t> </a:t>
            </a:r>
            <a:r>
              <a:rPr lang="en-US" altLang="zh-CN" sz="1200" b="0" dirty="0">
                <a:ea typeface="宋体" charset="-122"/>
              </a:rPr>
              <a:t>. </a:t>
            </a:r>
            <a:r>
              <a:rPr lang="zh-CN" altLang="en-US" sz="1200" b="0" dirty="0">
                <a:ea typeface="宋体" charset="-122"/>
              </a:rPr>
              <a:t>没有路径长度限制，只要两个顶点间能达到，不管走多少路径，两个顶点间都要添加一条边。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0C8DC3-4AD2-4BCD-A6A0-23D815859075}" type="slidenum">
              <a:rPr lang="en-US" altLang="zh-CN" smtClean="0"/>
              <a:pPr>
                <a:defRPr/>
              </a:pPr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309435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4BAEB62-6C7F-4AD8-954E-B5884D0A1122}" type="slidenum">
              <a:rPr lang="en-US" altLang="zh-CN" sz="1200">
                <a:latin typeface="Arial" panose="020B0604020202020204" pitchFamily="34" charset="0"/>
              </a:rPr>
              <a:pPr/>
              <a:t>74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61348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等价关系是现实世界中很普遍的关系，如实数集上的等于</a:t>
            </a:r>
            <a:r>
              <a:rPr lang="en-US" altLang="zh-CN" dirty="0">
                <a:latin typeface="Arial" panose="020B0604020202020204" pitchFamily="34" charset="0"/>
              </a:rPr>
              <a:t>=</a:t>
            </a:r>
            <a:r>
              <a:rPr lang="zh-CN" altLang="en-US" dirty="0">
                <a:latin typeface="Arial" panose="020B0604020202020204" pitchFamily="34" charset="0"/>
              </a:rPr>
              <a:t>，集合间的相等，三角形上的全等关系，命题公式上的等价</a:t>
            </a:r>
            <a:r>
              <a:rPr lang="en-US" altLang="zh-CN" dirty="0">
                <a:latin typeface="Arial" panose="020B0604020202020204" pitchFamily="34" charset="0"/>
              </a:rPr>
              <a:t>...</a:t>
            </a:r>
            <a:r>
              <a:rPr lang="zh-CN" altLang="en-US" dirty="0">
                <a:latin typeface="Arial" panose="020B0604020202020204" pitchFamily="34" charset="0"/>
              </a:rPr>
              <a:t>等等。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那数学上如何表示一个等价关系呢？我们来看一下它的定义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57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57DB1B8-44EC-4046-998C-C4A72FE107CD}" type="slidenum">
              <a:rPr lang="en-US" altLang="zh-CN" sz="1200">
                <a:latin typeface="Arial" panose="020B0604020202020204" pitchFamily="34" charset="0"/>
              </a:rPr>
              <a:pPr/>
              <a:t>75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35872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D3137DC-F1E8-4BFB-B9DF-97C261D3E4B7}" type="slidenum">
              <a:rPr lang="en-US" altLang="zh-CN" sz="1200">
                <a:latin typeface="Arial" panose="020B0604020202020204" pitchFamily="34" charset="0"/>
              </a:rPr>
              <a:pPr/>
              <a:t>76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例如：实数集合上的数的相等；集合之间的相等；命题公式之间的逻辑等价。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399767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981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3</a:t>
            </a:r>
            <a:r>
              <a:rPr lang="zh-CN" altLang="en-US" dirty="0">
                <a:latin typeface="Arial" panose="020B0604020202020204" pitchFamily="34" charset="0"/>
              </a:rPr>
              <a:t>个性质都直接由定义证明</a:t>
            </a:r>
          </a:p>
        </p:txBody>
      </p:sp>
      <p:sp>
        <p:nvSpPr>
          <p:cNvPr id="1198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2F42737-E638-4596-AD1B-4776ABEBC3BE}" type="slidenum">
              <a:rPr lang="en-US" altLang="zh-CN" sz="1200">
                <a:latin typeface="Arial" panose="020B0604020202020204" pitchFamily="34" charset="0"/>
              </a:rPr>
              <a:pPr/>
              <a:t>77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89598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185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、</a:t>
            </a:r>
            <a:r>
              <a:rPr lang="en-US" altLang="zh-CN" dirty="0">
                <a:latin typeface="Arial" panose="020B0604020202020204" pitchFamily="34" charset="0"/>
              </a:rPr>
              <a:t>4</a:t>
            </a:r>
            <a:r>
              <a:rPr lang="zh-CN" altLang="en-US" dirty="0">
                <a:latin typeface="Arial" panose="020B0604020202020204" pitchFamily="34" charset="0"/>
              </a:rPr>
              <a:t>、</a:t>
            </a:r>
            <a:r>
              <a:rPr lang="en-US" altLang="zh-CN" dirty="0">
                <a:latin typeface="Arial" panose="020B0604020202020204" pitchFamily="34" charset="0"/>
              </a:rPr>
              <a:t>7</a:t>
            </a:r>
            <a:r>
              <a:rPr lang="zh-CN" altLang="en-US" dirty="0">
                <a:latin typeface="Arial" panose="020B0604020202020204" pitchFamily="34" charset="0"/>
              </a:rPr>
              <a:t>之间是全域关系（即任何两个顶点之间都有关系，同时每个顶点都有环）；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、</a:t>
            </a:r>
            <a:r>
              <a:rPr lang="en-US" altLang="zh-CN" dirty="0">
                <a:latin typeface="Arial" panose="020B0604020202020204" pitchFamily="34" charset="0"/>
              </a:rPr>
              <a:t>5</a:t>
            </a:r>
            <a:r>
              <a:rPr lang="zh-CN" altLang="en-US" dirty="0">
                <a:latin typeface="Arial" panose="020B0604020202020204" pitchFamily="34" charset="0"/>
              </a:rPr>
              <a:t>、</a:t>
            </a:r>
            <a:r>
              <a:rPr lang="en-US" altLang="zh-CN" dirty="0">
                <a:latin typeface="Arial" panose="020B0604020202020204" pitchFamily="34" charset="0"/>
              </a:rPr>
              <a:t>8</a:t>
            </a:r>
            <a:r>
              <a:rPr lang="zh-CN" altLang="en-US" dirty="0">
                <a:latin typeface="Arial" panose="020B0604020202020204" pitchFamily="34" charset="0"/>
              </a:rPr>
              <a:t>之间是全域关系；</a:t>
            </a:r>
            <a:r>
              <a:rPr lang="en-US" altLang="zh-CN" dirty="0">
                <a:latin typeface="Arial" panose="020B0604020202020204" pitchFamily="34" charset="0"/>
              </a:rPr>
              <a:t>3</a:t>
            </a:r>
            <a:r>
              <a:rPr lang="zh-CN" altLang="en-US" dirty="0">
                <a:latin typeface="Arial" panose="020B0604020202020204" pitchFamily="34" charset="0"/>
              </a:rPr>
              <a:t>、</a:t>
            </a:r>
            <a:r>
              <a:rPr lang="en-US" altLang="zh-CN" dirty="0">
                <a:latin typeface="Arial" panose="020B0604020202020204" pitchFamily="34" charset="0"/>
              </a:rPr>
              <a:t>6</a:t>
            </a:r>
            <a:r>
              <a:rPr lang="zh-CN" altLang="en-US" dirty="0">
                <a:latin typeface="Arial" panose="020B0604020202020204" pitchFamily="34" charset="0"/>
              </a:rPr>
              <a:t>之间是全域关系。整个集合被分成了</a:t>
            </a:r>
            <a:r>
              <a:rPr lang="en-US" altLang="zh-CN" dirty="0">
                <a:latin typeface="Arial" panose="020B0604020202020204" pitchFamily="34" charset="0"/>
              </a:rPr>
              <a:t>3</a:t>
            </a:r>
            <a:r>
              <a:rPr lang="zh-CN" altLang="en-US" dirty="0">
                <a:latin typeface="Arial" panose="020B0604020202020204" pitchFamily="34" charset="0"/>
              </a:rPr>
              <a:t>个部分，每个部分之间没有交集，每个部分都是全域关系。因此，我们引出一个新的概念：等价类</a:t>
            </a:r>
          </a:p>
        </p:txBody>
      </p:sp>
      <p:sp>
        <p:nvSpPr>
          <p:cNvPr id="1218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3FFE979-9925-4996-B8AF-3A68EB89C128}" type="slidenum">
              <a:rPr lang="en-US" altLang="zh-CN" sz="1200">
                <a:latin typeface="Arial" panose="020B0604020202020204" pitchFamily="34" charset="0"/>
              </a:rPr>
              <a:pPr/>
              <a:t>78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90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b="0" dirty="0">
                <a:latin typeface="Arial" panose="020B0604020202020204" pitchFamily="34" charset="0"/>
              </a:rPr>
              <a:t>[x]</a:t>
            </a:r>
            <a:r>
              <a:rPr lang="en-US" altLang="zh-CN" b="0" baseline="-25000" dirty="0">
                <a:latin typeface="Arial" panose="020B0604020202020204" pitchFamily="34" charset="0"/>
              </a:rPr>
              <a:t>R </a:t>
            </a:r>
            <a:r>
              <a:rPr lang="en-US" altLang="zh-CN" b="0" dirty="0">
                <a:latin typeface="Arial" panose="020B0604020202020204" pitchFamily="34" charset="0"/>
              </a:rPr>
              <a:t> </a:t>
            </a:r>
            <a:r>
              <a:rPr lang="zh-CN" altLang="en-US" b="0" dirty="0">
                <a:latin typeface="Arial" panose="020B0604020202020204" pitchFamily="34" charset="0"/>
              </a:rPr>
              <a:t>即在</a:t>
            </a:r>
            <a:r>
              <a:rPr lang="en-US" altLang="zh-CN" b="0" dirty="0">
                <a:latin typeface="Arial" panose="020B0604020202020204" pitchFamily="34" charset="0"/>
              </a:rPr>
              <a:t>R</a:t>
            </a:r>
            <a:r>
              <a:rPr lang="zh-CN" altLang="en-US" b="0" dirty="0">
                <a:latin typeface="Arial" panose="020B0604020202020204" pitchFamily="34" charset="0"/>
              </a:rPr>
              <a:t>中所有和</a:t>
            </a:r>
            <a:r>
              <a:rPr lang="en-US" altLang="zh-CN" b="0" dirty="0">
                <a:latin typeface="Arial" panose="020B0604020202020204" pitchFamily="34" charset="0"/>
              </a:rPr>
              <a:t>x</a:t>
            </a:r>
            <a:r>
              <a:rPr lang="zh-CN" altLang="en-US" b="0" dirty="0">
                <a:latin typeface="Arial" panose="020B0604020202020204" pitchFamily="34" charset="0"/>
              </a:rPr>
              <a:t>有关系的</a:t>
            </a:r>
            <a:r>
              <a:rPr lang="en-US" altLang="zh-CN" b="0" dirty="0">
                <a:latin typeface="Arial" panose="020B0604020202020204" pitchFamily="34" charset="0"/>
              </a:rPr>
              <a:t>y</a:t>
            </a:r>
            <a:r>
              <a:rPr lang="zh-CN" altLang="en-US" b="0" dirty="0">
                <a:latin typeface="Arial" panose="020B0604020202020204" pitchFamily="34" charset="0"/>
              </a:rPr>
              <a:t>的集合，在关系图中表现为：顶点</a:t>
            </a:r>
            <a:r>
              <a:rPr lang="en-US" altLang="zh-CN" b="0" dirty="0">
                <a:latin typeface="Arial" panose="020B0604020202020204" pitchFamily="34" charset="0"/>
              </a:rPr>
              <a:t>x</a:t>
            </a:r>
            <a:r>
              <a:rPr lang="zh-CN" altLang="en-US" b="0" dirty="0">
                <a:latin typeface="Arial" panose="020B0604020202020204" pitchFamily="34" charset="0"/>
              </a:rPr>
              <a:t>出去的边连接的顶点集合。</a:t>
            </a:r>
          </a:p>
        </p:txBody>
      </p:sp>
      <p:sp>
        <p:nvSpPr>
          <p:cNvPr id="1239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B36014C-0A8F-40F8-9C28-6D3793B77EB9}" type="slidenum">
              <a:rPr lang="en-US" altLang="zh-CN" sz="1200">
                <a:latin typeface="Arial" panose="020B0604020202020204" pitchFamily="34" charset="0"/>
              </a:rPr>
              <a:pPr/>
              <a:t>84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60435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[x]</a:t>
            </a:r>
            <a:r>
              <a:rPr lang="en-US" altLang="zh-CN" baseline="-25000" dirty="0"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  </a:t>
            </a:r>
            <a:r>
              <a:rPr lang="zh-CN" altLang="en-US" dirty="0">
                <a:latin typeface="Arial" panose="020B0604020202020204" pitchFamily="34" charset="0"/>
              </a:rPr>
              <a:t>即在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中所有和</a:t>
            </a:r>
            <a:r>
              <a:rPr lang="en-US" altLang="zh-CN" dirty="0">
                <a:latin typeface="Arial" panose="020B0604020202020204" pitchFamily="34" charset="0"/>
              </a:rPr>
              <a:t>x</a:t>
            </a:r>
            <a:r>
              <a:rPr lang="zh-CN" altLang="en-US" dirty="0">
                <a:latin typeface="Arial" panose="020B0604020202020204" pitchFamily="34" charset="0"/>
              </a:rPr>
              <a:t>有关系的</a:t>
            </a:r>
            <a:r>
              <a:rPr lang="en-US" altLang="zh-CN" dirty="0">
                <a:latin typeface="Arial" panose="020B0604020202020204" pitchFamily="34" charset="0"/>
              </a:rPr>
              <a:t>y</a:t>
            </a:r>
            <a:r>
              <a:rPr lang="zh-CN" altLang="en-US" dirty="0">
                <a:latin typeface="Arial" panose="020B0604020202020204" pitchFamily="34" charset="0"/>
              </a:rPr>
              <a:t>的集合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b="0" dirty="0">
                <a:latin typeface="Arial" panose="020B0604020202020204" pitchFamily="34" charset="0"/>
              </a:rPr>
              <a:t>（</a:t>
            </a:r>
            <a:r>
              <a:rPr lang="en-US" altLang="zh-CN" b="0" dirty="0">
                <a:latin typeface="Arial" panose="020B0604020202020204" pitchFamily="34" charset="0"/>
              </a:rPr>
              <a:t>1</a:t>
            </a:r>
            <a:r>
              <a:rPr lang="zh-CN" altLang="en-US" b="0" dirty="0">
                <a:latin typeface="Arial" panose="020B0604020202020204" pitchFamily="34" charset="0"/>
              </a:rPr>
              <a:t>）因为</a:t>
            </a:r>
            <a:r>
              <a:rPr lang="en-US" altLang="zh-CN" b="0" dirty="0">
                <a:latin typeface="Arial" panose="020B0604020202020204" pitchFamily="34" charset="0"/>
              </a:rPr>
              <a:t>R</a:t>
            </a:r>
            <a:r>
              <a:rPr lang="zh-CN" altLang="en-US" b="0" dirty="0">
                <a:latin typeface="Arial" panose="020B0604020202020204" pitchFamily="34" charset="0"/>
              </a:rPr>
              <a:t>是自反的，所以</a:t>
            </a:r>
            <a:r>
              <a:rPr lang="en-US" altLang="zh-CN" b="0" dirty="0">
                <a:latin typeface="Arial" panose="020B0604020202020204" pitchFamily="34" charset="0"/>
              </a:rPr>
              <a:t>&lt;</a:t>
            </a:r>
            <a:r>
              <a:rPr lang="en-US" altLang="zh-CN" b="0" dirty="0" err="1">
                <a:latin typeface="Arial" panose="020B0604020202020204" pitchFamily="34" charset="0"/>
              </a:rPr>
              <a:t>x,x</a:t>
            </a:r>
            <a:r>
              <a:rPr lang="en-US" altLang="zh-CN" b="0" dirty="0">
                <a:latin typeface="Arial" panose="020B0604020202020204" pitchFamily="34" charset="0"/>
              </a:rPr>
              <a:t>&gt;∈ [x]</a:t>
            </a:r>
            <a:r>
              <a:rPr lang="zh-CN" altLang="en-US" b="0" dirty="0">
                <a:latin typeface="Arial" panose="020B0604020202020204" pitchFamily="34" charset="0"/>
              </a:rPr>
              <a:t>。因此</a:t>
            </a:r>
            <a:r>
              <a:rPr lang="en-US" altLang="zh-CN" b="0" dirty="0">
                <a:latin typeface="Arial" panose="020B0604020202020204" pitchFamily="34" charset="0"/>
              </a:rPr>
              <a:t>[x]</a:t>
            </a:r>
            <a:r>
              <a:rPr lang="en-US" altLang="zh-CN" b="0" baseline="-25000" dirty="0">
                <a:latin typeface="Arial" panose="020B0604020202020204" pitchFamily="34" charset="0"/>
              </a:rPr>
              <a:t>R</a:t>
            </a:r>
            <a:r>
              <a:rPr lang="en-US" altLang="zh-CN" b="0" dirty="0">
                <a:latin typeface="Arial" panose="020B0604020202020204" pitchFamily="34" charset="0"/>
              </a:rPr>
              <a:t> </a:t>
            </a:r>
            <a:r>
              <a:rPr lang="zh-CN" altLang="en-US" b="0" dirty="0">
                <a:latin typeface="Arial" panose="020B0604020202020204" pitchFamily="34" charset="0"/>
              </a:rPr>
              <a:t>中至少有</a:t>
            </a:r>
            <a:r>
              <a:rPr lang="en-US" altLang="zh-CN" b="0" dirty="0">
                <a:latin typeface="Arial" panose="020B0604020202020204" pitchFamily="34" charset="0"/>
              </a:rPr>
              <a:t>x</a:t>
            </a:r>
            <a:r>
              <a:rPr lang="zh-CN" altLang="en-US" b="0" dirty="0">
                <a:latin typeface="Arial" panose="020B0604020202020204" pitchFamily="34" charset="0"/>
              </a:rPr>
              <a:t>，不可能为空集。</a:t>
            </a:r>
          </a:p>
          <a:p>
            <a:r>
              <a:rPr lang="zh-CN" altLang="en-US" b="0" dirty="0">
                <a:latin typeface="Arial" panose="020B0604020202020204" pitchFamily="34" charset="0"/>
              </a:rPr>
              <a:t>（</a:t>
            </a:r>
            <a:r>
              <a:rPr lang="en-US" altLang="zh-CN" b="0" dirty="0">
                <a:latin typeface="Arial" panose="020B0604020202020204" pitchFamily="34" charset="0"/>
              </a:rPr>
              <a:t>2</a:t>
            </a:r>
            <a:r>
              <a:rPr lang="zh-CN" altLang="en-US" b="0" dirty="0">
                <a:latin typeface="Arial" panose="020B0604020202020204" pitchFamily="34" charset="0"/>
              </a:rPr>
              <a:t>）任取</a:t>
            </a:r>
            <a:r>
              <a:rPr lang="en-US" altLang="zh-CN" b="0" dirty="0">
                <a:latin typeface="Arial" panose="020B0604020202020204" pitchFamily="34" charset="0"/>
              </a:rPr>
              <a:t>z</a:t>
            </a:r>
            <a:r>
              <a:rPr lang="zh-CN" altLang="en-US" b="0" dirty="0">
                <a:latin typeface="Arial" panose="020B0604020202020204" pitchFamily="34" charset="0"/>
              </a:rPr>
              <a:t>，若</a:t>
            </a:r>
            <a:r>
              <a:rPr lang="en-US" altLang="zh-CN" b="0" dirty="0">
                <a:latin typeface="Arial" panose="020B0604020202020204" pitchFamily="34" charset="0"/>
              </a:rPr>
              <a:t>z</a:t>
            </a:r>
            <a:r>
              <a:rPr lang="en-US" altLang="zh-CN" sz="1200" b="0" dirty="0">
                <a:latin typeface="Times New Roman" panose="02020603050405020304" pitchFamily="18" charset="0"/>
              </a:rPr>
              <a:t>∈</a:t>
            </a:r>
            <a:r>
              <a:rPr lang="zh-CN" altLang="en-US" sz="1200" b="0" dirty="0">
                <a:latin typeface="Times New Roman" panose="02020603050405020304" pitchFamily="18" charset="0"/>
              </a:rPr>
              <a:t> </a:t>
            </a:r>
            <a:r>
              <a:rPr lang="en-US" altLang="zh-CN" sz="1200" b="0" dirty="0">
                <a:latin typeface="Times New Roman" panose="02020603050405020304" pitchFamily="18" charset="0"/>
              </a:rPr>
              <a:t>[</a:t>
            </a:r>
            <a:r>
              <a:rPr lang="en-US" altLang="zh-CN" sz="1200" b="0" i="1" dirty="0">
                <a:latin typeface="Times New Roman" panose="02020603050405020304" pitchFamily="18" charset="0"/>
              </a:rPr>
              <a:t>x</a:t>
            </a:r>
            <a:r>
              <a:rPr lang="en-US" altLang="zh-CN" sz="1200" b="0" dirty="0">
                <a:latin typeface="Times New Roman" panose="02020603050405020304" pitchFamily="18" charset="0"/>
              </a:rPr>
              <a:t>]</a:t>
            </a:r>
            <a:r>
              <a:rPr lang="zh-CN" altLang="en-US" sz="1200" b="0" dirty="0">
                <a:latin typeface="Times New Roman" panose="02020603050405020304" pitchFamily="18" charset="0"/>
              </a:rPr>
              <a:t>，则</a:t>
            </a:r>
            <a:r>
              <a:rPr lang="en-US" altLang="zh-CN" sz="1200" b="0" dirty="0" err="1">
                <a:latin typeface="Times New Roman" panose="02020603050405020304" pitchFamily="18" charset="0"/>
              </a:rPr>
              <a:t>zRx</a:t>
            </a:r>
            <a:r>
              <a:rPr lang="zh-CN" altLang="en-US" sz="1200" b="0" dirty="0">
                <a:latin typeface="Times New Roman" panose="02020603050405020304" pitchFamily="18" charset="0"/>
              </a:rPr>
              <a:t>，又已知</a:t>
            </a:r>
            <a:r>
              <a:rPr lang="en-US" altLang="zh-CN" b="0" dirty="0" err="1">
                <a:latin typeface="Arial" panose="020B0604020202020204" pitchFamily="34" charset="0"/>
              </a:rPr>
              <a:t>xRy</a:t>
            </a:r>
            <a:r>
              <a:rPr lang="zh-CN" altLang="en-US" b="0" dirty="0">
                <a:latin typeface="Arial" panose="020B0604020202020204" pitchFamily="34" charset="0"/>
              </a:rPr>
              <a:t>，则由等价关系的传递性，必有</a:t>
            </a:r>
            <a:r>
              <a:rPr lang="en-US" altLang="zh-CN" b="0" dirty="0" err="1">
                <a:latin typeface="Arial" panose="020B0604020202020204" pitchFamily="34" charset="0"/>
              </a:rPr>
              <a:t>zRy</a:t>
            </a:r>
            <a:r>
              <a:rPr lang="zh-CN" altLang="en-US" b="0" dirty="0">
                <a:latin typeface="Arial" panose="020B0604020202020204" pitchFamily="34" charset="0"/>
              </a:rPr>
              <a:t>，因此，</a:t>
            </a:r>
            <a:r>
              <a:rPr lang="en-US" altLang="zh-CN" b="0" dirty="0">
                <a:latin typeface="Arial" panose="020B0604020202020204" pitchFamily="34" charset="0"/>
              </a:rPr>
              <a:t>z</a:t>
            </a:r>
            <a:r>
              <a:rPr lang="en-US" altLang="zh-CN" sz="1200" b="0" dirty="0">
                <a:latin typeface="Times New Roman" panose="02020603050405020304" pitchFamily="18" charset="0"/>
              </a:rPr>
              <a:t>∈</a:t>
            </a:r>
            <a:r>
              <a:rPr lang="zh-CN" altLang="en-US" sz="1200" b="0" dirty="0">
                <a:latin typeface="Times New Roman" panose="02020603050405020304" pitchFamily="18" charset="0"/>
              </a:rPr>
              <a:t> </a:t>
            </a:r>
            <a:r>
              <a:rPr lang="en-US" altLang="zh-CN" sz="1200" b="0" dirty="0">
                <a:latin typeface="Times New Roman" panose="02020603050405020304" pitchFamily="18" charset="0"/>
              </a:rPr>
              <a:t>[</a:t>
            </a:r>
            <a:r>
              <a:rPr lang="en-US" altLang="zh-CN" sz="1200" b="0" i="1" dirty="0">
                <a:latin typeface="Times New Roman" panose="02020603050405020304" pitchFamily="18" charset="0"/>
              </a:rPr>
              <a:t>y</a:t>
            </a:r>
            <a:r>
              <a:rPr lang="en-US" altLang="zh-CN" sz="1200" b="0" dirty="0">
                <a:latin typeface="Times New Roman" panose="02020603050405020304" pitchFamily="18" charset="0"/>
              </a:rPr>
              <a:t>]</a:t>
            </a:r>
            <a:r>
              <a:rPr lang="zh-CN" altLang="en-US" sz="1200" b="0" dirty="0">
                <a:latin typeface="Times New Roman" panose="02020603050405020304" pitchFamily="18" charset="0"/>
              </a:rPr>
              <a:t>。反之，亦成立。</a:t>
            </a:r>
            <a:endParaRPr lang="en-US" altLang="zh-CN" b="0" i="0" dirty="0">
              <a:latin typeface="Arial" panose="020B0604020202020204" pitchFamily="34" charset="0"/>
            </a:endParaRPr>
          </a:p>
          <a:p>
            <a:r>
              <a:rPr lang="zh-CN" altLang="en-US" b="0" dirty="0">
                <a:latin typeface="Arial" panose="020B0604020202020204" pitchFamily="34" charset="0"/>
              </a:rPr>
              <a:t>（</a:t>
            </a:r>
            <a:r>
              <a:rPr lang="en-US" altLang="zh-CN" b="0" dirty="0">
                <a:latin typeface="Arial" panose="020B0604020202020204" pitchFamily="34" charset="0"/>
              </a:rPr>
              <a:t>3</a:t>
            </a:r>
            <a:r>
              <a:rPr lang="zh-CN" altLang="en-US" b="0" dirty="0">
                <a:latin typeface="Arial" panose="020B0604020202020204" pitchFamily="34" charset="0"/>
              </a:rPr>
              <a:t>）假设</a:t>
            </a:r>
            <a:r>
              <a:rPr lang="en-US" altLang="zh-CN" sz="1200" b="0" dirty="0">
                <a:latin typeface="Times New Roman" panose="02020603050405020304" pitchFamily="18" charset="0"/>
              </a:rPr>
              <a:t>[</a:t>
            </a:r>
            <a:r>
              <a:rPr lang="en-US" altLang="zh-CN" sz="1200" b="0" i="1" dirty="0">
                <a:latin typeface="Times New Roman" panose="02020603050405020304" pitchFamily="18" charset="0"/>
              </a:rPr>
              <a:t>x</a:t>
            </a:r>
            <a:r>
              <a:rPr lang="en-US" altLang="zh-CN" sz="1200" b="0" dirty="0">
                <a:latin typeface="Times New Roman" panose="02020603050405020304" pitchFamily="18" charset="0"/>
              </a:rPr>
              <a:t>]</a:t>
            </a:r>
            <a:r>
              <a:rPr lang="zh-CN" altLang="en-US" sz="1200" b="0" dirty="0">
                <a:latin typeface="Times New Roman" panose="02020603050405020304" pitchFamily="18" charset="0"/>
              </a:rPr>
              <a:t>与</a:t>
            </a:r>
            <a:r>
              <a:rPr lang="en-US" altLang="zh-CN" sz="1200" b="0" dirty="0">
                <a:latin typeface="Times New Roman" panose="02020603050405020304" pitchFamily="18" charset="0"/>
              </a:rPr>
              <a:t>[</a:t>
            </a:r>
            <a:r>
              <a:rPr lang="en-US" altLang="zh-CN" sz="1200" b="0" i="1" dirty="0">
                <a:latin typeface="Times New Roman" panose="02020603050405020304" pitchFamily="18" charset="0"/>
              </a:rPr>
              <a:t>y</a:t>
            </a:r>
            <a:r>
              <a:rPr lang="en-US" altLang="zh-CN" sz="1200" b="0" dirty="0">
                <a:latin typeface="Times New Roman" panose="02020603050405020304" pitchFamily="18" charset="0"/>
              </a:rPr>
              <a:t>]</a:t>
            </a:r>
            <a:r>
              <a:rPr lang="zh-CN" altLang="en-US" sz="1200" b="0" dirty="0">
                <a:latin typeface="Times New Roman" panose="02020603050405020304" pitchFamily="18" charset="0"/>
              </a:rPr>
              <a:t>交于点</a:t>
            </a:r>
            <a:r>
              <a:rPr lang="en-US" altLang="zh-CN" sz="1200" b="0" dirty="0">
                <a:latin typeface="Times New Roman" panose="02020603050405020304" pitchFamily="18" charset="0"/>
              </a:rPr>
              <a:t>z</a:t>
            </a:r>
            <a:r>
              <a:rPr lang="zh-CN" altLang="en-US" sz="1200" b="0" dirty="0">
                <a:latin typeface="Times New Roman" panose="02020603050405020304" pitchFamily="18" charset="0"/>
              </a:rPr>
              <a:t>，则</a:t>
            </a:r>
            <a:r>
              <a:rPr lang="en-US" altLang="zh-CN" sz="1200" b="0" dirty="0">
                <a:latin typeface="Times New Roman" panose="02020603050405020304" pitchFamily="18" charset="0"/>
              </a:rPr>
              <a:t>z∈[</a:t>
            </a:r>
            <a:r>
              <a:rPr lang="en-US" altLang="zh-CN" sz="1200" b="0" i="1" dirty="0">
                <a:latin typeface="Times New Roman" panose="02020603050405020304" pitchFamily="18" charset="0"/>
              </a:rPr>
              <a:t>x</a:t>
            </a:r>
            <a:r>
              <a:rPr lang="en-US" altLang="zh-CN" sz="1200" b="0" dirty="0">
                <a:latin typeface="Times New Roman" panose="02020603050405020304" pitchFamily="18" charset="0"/>
              </a:rPr>
              <a:t>]</a:t>
            </a:r>
            <a:r>
              <a:rPr lang="zh-CN" altLang="en-US" sz="1200" b="0" dirty="0">
                <a:latin typeface="Times New Roman" panose="02020603050405020304" pitchFamily="18" charset="0"/>
              </a:rPr>
              <a:t>且</a:t>
            </a:r>
            <a:r>
              <a:rPr lang="en-US" altLang="zh-CN" sz="1200" b="0" dirty="0">
                <a:latin typeface="Times New Roman" panose="02020603050405020304" pitchFamily="18" charset="0"/>
              </a:rPr>
              <a:t>z∈[</a:t>
            </a:r>
            <a:r>
              <a:rPr lang="en-US" altLang="zh-CN" sz="1200" b="0" i="1" dirty="0">
                <a:latin typeface="Times New Roman" panose="02020603050405020304" pitchFamily="18" charset="0"/>
              </a:rPr>
              <a:t>y</a:t>
            </a:r>
            <a:r>
              <a:rPr lang="en-US" altLang="zh-CN" sz="1200" b="0" dirty="0">
                <a:latin typeface="Times New Roman" panose="02020603050405020304" pitchFamily="18" charset="0"/>
              </a:rPr>
              <a:t>]</a:t>
            </a:r>
            <a:r>
              <a:rPr lang="zh-CN" altLang="en-US" sz="1200" b="0" dirty="0">
                <a:latin typeface="Times New Roman" panose="02020603050405020304" pitchFamily="18" charset="0"/>
              </a:rPr>
              <a:t>，则</a:t>
            </a:r>
            <a:r>
              <a:rPr lang="en-US" altLang="zh-CN" sz="1200" b="0" dirty="0">
                <a:latin typeface="Times New Roman" panose="02020603050405020304" pitchFamily="18" charset="0"/>
              </a:rPr>
              <a:t> </a:t>
            </a:r>
            <a:r>
              <a:rPr lang="zh-CN" altLang="en-US" sz="1200" b="0" dirty="0">
                <a:latin typeface="Times New Roman" panose="02020603050405020304" pitchFamily="18" charset="0"/>
              </a:rPr>
              <a:t>有</a:t>
            </a:r>
            <a:r>
              <a:rPr lang="en-US" altLang="zh-CN" sz="1200" b="0" i="0" dirty="0" err="1">
                <a:latin typeface="Times New Roman" panose="02020603050405020304" pitchFamily="18" charset="0"/>
              </a:rPr>
              <a:t>xRz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 </a:t>
            </a:r>
            <a:r>
              <a:rPr lang="zh-CN" altLang="en-US" sz="1200" b="0" i="0" dirty="0">
                <a:latin typeface="Times New Roman" panose="02020603050405020304" pitchFamily="18" charset="0"/>
              </a:rPr>
              <a:t>和</a:t>
            </a:r>
            <a:r>
              <a:rPr lang="en-US" altLang="zh-CN" sz="1200" b="0" i="0" dirty="0" err="1">
                <a:latin typeface="Times New Roman" panose="02020603050405020304" pitchFamily="18" charset="0"/>
              </a:rPr>
              <a:t>zRy</a:t>
            </a:r>
            <a:r>
              <a:rPr lang="zh-CN" altLang="en-US" sz="1200" b="0" i="0" dirty="0">
                <a:latin typeface="Times New Roman" panose="02020603050405020304" pitchFamily="18" charset="0"/>
              </a:rPr>
              <a:t>。由等价关系的传递性，可推出</a:t>
            </a:r>
            <a:r>
              <a:rPr lang="en-US" altLang="zh-CN" b="0" dirty="0" err="1">
                <a:latin typeface="Arial" panose="020B0604020202020204" pitchFamily="34" charset="0"/>
              </a:rPr>
              <a:t>xRy</a:t>
            </a:r>
            <a:r>
              <a:rPr lang="zh-CN" altLang="en-US" b="0" dirty="0">
                <a:latin typeface="Arial" panose="020B0604020202020204" pitchFamily="34" charset="0"/>
              </a:rPr>
              <a:t>，和条件矛盾</a:t>
            </a:r>
            <a:endParaRPr lang="en-US" altLang="zh-CN" b="0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59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D43394E-A613-48D3-8F8D-5C654EF07C84}" type="slidenum">
              <a:rPr lang="en-US" altLang="zh-CN" sz="1200">
                <a:latin typeface="Arial" panose="020B0604020202020204" pitchFamily="34" charset="0"/>
              </a:rPr>
              <a:pPr/>
              <a:t>85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06167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等价类将一个集合分成好几个部分，类似我们在自然数上求</a:t>
            </a:r>
            <a:r>
              <a:rPr lang="en-US" altLang="zh-CN" dirty="0">
                <a:latin typeface="Arial" panose="020B0604020202020204" pitchFamily="34" charset="0"/>
              </a:rPr>
              <a:t>mod n</a:t>
            </a:r>
            <a:r>
              <a:rPr lang="zh-CN" altLang="en-US" dirty="0">
                <a:latin typeface="Arial" panose="020B0604020202020204" pitchFamily="34" charset="0"/>
              </a:rPr>
              <a:t>的一个运算，将所有自然数分成</a:t>
            </a:r>
            <a:r>
              <a:rPr lang="en-US" altLang="zh-CN" dirty="0">
                <a:latin typeface="Arial" panose="020B0604020202020204" pitchFamily="34" charset="0"/>
              </a:rPr>
              <a:t>n</a:t>
            </a:r>
            <a:r>
              <a:rPr lang="zh-CN" altLang="en-US" dirty="0">
                <a:latin typeface="Arial" panose="020B0604020202020204" pitchFamily="34" charset="0"/>
              </a:rPr>
              <a:t>个部分（余数为</a:t>
            </a:r>
            <a:r>
              <a:rPr lang="en-US" altLang="zh-CN" dirty="0">
                <a:latin typeface="Arial" panose="020B0604020202020204" pitchFamily="34" charset="0"/>
              </a:rPr>
              <a:t>0</a:t>
            </a:r>
            <a:r>
              <a:rPr lang="zh-CN" altLang="en-US" dirty="0">
                <a:latin typeface="Arial" panose="020B0604020202020204" pitchFamily="34" charset="0"/>
              </a:rPr>
              <a:t>的，余数为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的，</a:t>
            </a:r>
            <a:r>
              <a:rPr lang="en-US" altLang="zh-CN" dirty="0">
                <a:latin typeface="Arial" panose="020B0604020202020204" pitchFamily="34" charset="0"/>
              </a:rPr>
              <a:t>…</a:t>
            </a:r>
            <a:r>
              <a:rPr lang="zh-CN" altLang="en-US" dirty="0">
                <a:latin typeface="Arial" panose="020B0604020202020204" pitchFamily="34" charset="0"/>
              </a:rPr>
              <a:t>，余数为</a:t>
            </a:r>
            <a:r>
              <a:rPr lang="en-US" altLang="zh-CN" dirty="0">
                <a:latin typeface="Arial" panose="020B0604020202020204" pitchFamily="34" charset="0"/>
              </a:rPr>
              <a:t>n-1</a:t>
            </a:r>
            <a:r>
              <a:rPr lang="zh-CN" altLang="en-US" dirty="0">
                <a:latin typeface="Arial" panose="020B0604020202020204" pitchFamily="34" charset="0"/>
              </a:rPr>
              <a:t>的），由此我们引入商集的概念。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商集是一个集合，它的每个元素也是一个集合。</a:t>
            </a:r>
          </a:p>
        </p:txBody>
      </p:sp>
      <p:sp>
        <p:nvSpPr>
          <p:cNvPr id="1290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A2E2309-316B-4BC8-929C-F940F2B9FB38}" type="slidenum">
              <a:rPr lang="en-US" altLang="zh-CN" sz="1200">
                <a:latin typeface="Arial" panose="020B0604020202020204" pitchFamily="34" charset="0"/>
              </a:rPr>
              <a:pPr/>
              <a:t>87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10757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837BBCB-D3C0-45CD-AD89-BC4D73DCD1B9}" type="slidenum">
              <a:rPr lang="en-US" altLang="zh-CN" sz="1200">
                <a:latin typeface="Arial" panose="020B0604020202020204" pitchFamily="34" charset="0"/>
              </a:rPr>
              <a:pPr/>
              <a:t>89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(3)</a:t>
            </a:r>
            <a:r>
              <a:rPr lang="zh-CN" altLang="en-US">
                <a:latin typeface="Arial" panose="020B0604020202020204" pitchFamily="34" charset="0"/>
              </a:rPr>
              <a:t>等价类： </a:t>
            </a:r>
            <a:r>
              <a:rPr lang="en-US" altLang="zh-CN">
                <a:latin typeface="Arial" panose="020B0604020202020204" pitchFamily="34" charset="0"/>
              </a:rPr>
              <a:t>[0]=[2]=[4]={0,2,4}, [1]=[3]={1,3} .   (4)  </a:t>
            </a:r>
            <a:r>
              <a:rPr lang="zh-CN" altLang="en-US">
                <a:latin typeface="Arial" panose="020B0604020202020204" pitchFamily="34" charset="0"/>
              </a:rPr>
              <a:t>商集：</a:t>
            </a:r>
            <a:r>
              <a:rPr lang="en-US" altLang="zh-CN">
                <a:latin typeface="Arial" panose="020B0604020202020204" pitchFamily="34" charset="0"/>
              </a:rPr>
              <a:t>A/R</a:t>
            </a:r>
            <a:r>
              <a:rPr lang="zh-CN" altLang="en-US">
                <a:latin typeface="Arial" panose="020B0604020202020204" pitchFamily="34" charset="0"/>
              </a:rPr>
              <a:t>＝</a:t>
            </a:r>
            <a:r>
              <a:rPr lang="en-US" altLang="zh-CN">
                <a:latin typeface="Arial" panose="020B0604020202020204" pitchFamily="34" charset="0"/>
              </a:rPr>
              <a:t>{{0,2,4},{1,3}}</a:t>
            </a:r>
          </a:p>
        </p:txBody>
      </p:sp>
    </p:spTree>
    <p:extLst>
      <p:ext uri="{BB962C8B-B14F-4D97-AF65-F5344CB8AC3E}">
        <p14:creationId xmlns:p14="http://schemas.microsoft.com/office/powerpoint/2010/main" val="12186516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51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商集是由等价关系引出的一种现象，将集合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分成了好几个不相交的子集。那么反过来，我们能不能先将一个集合分成几个不相交的子集，然后再找出它们满足的关系呢？因此，我们定义了一个新的概念：划分。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 err="1">
                <a:latin typeface="Arial" panose="020B0604020202020204" pitchFamily="34" charset="0"/>
              </a:rPr>
              <a:t>x,y</a:t>
            </a:r>
            <a:r>
              <a:rPr lang="zh-CN" altLang="en-US" dirty="0">
                <a:latin typeface="Arial" panose="020B0604020202020204" pitchFamily="34" charset="0"/>
              </a:rPr>
              <a:t>都是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的子集，第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个条件表明：</a:t>
            </a:r>
            <a:r>
              <a:rPr lang="en-US" altLang="zh-CN" b="0" dirty="0">
                <a:solidFill>
                  <a:schemeClr val="tx2"/>
                </a:solidFill>
                <a:latin typeface="Times New Roman" panose="02020603050405020304" pitchFamily="18" charset="0"/>
              </a:rPr>
              <a:t>π</a:t>
            </a:r>
            <a:r>
              <a:rPr lang="zh-CN" altLang="en-US" b="0" dirty="0">
                <a:solidFill>
                  <a:schemeClr val="tx2"/>
                </a:solidFill>
                <a:latin typeface="Times New Roman" panose="02020603050405020304" pitchFamily="18" charset="0"/>
              </a:rPr>
              <a:t>中任意两个元素（都是集合）没有交集</a:t>
            </a:r>
            <a:endParaRPr lang="zh-CN" altLang="en-US" b="0" dirty="0">
              <a:latin typeface="Arial" panose="020B0604020202020204" pitchFamily="34" charset="0"/>
            </a:endParaRPr>
          </a:p>
        </p:txBody>
      </p:sp>
      <p:sp>
        <p:nvSpPr>
          <p:cNvPr id="1351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93FD131-ED40-4D1D-8D07-B0980CE093B2}" type="slidenum">
              <a:rPr lang="en-US" altLang="zh-CN" sz="1200">
                <a:latin typeface="Arial" panose="020B0604020202020204" pitchFamily="34" charset="0"/>
              </a:rPr>
              <a:pPr/>
              <a:t>91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94052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721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集合</a:t>
            </a:r>
            <a:r>
              <a:rPr lang="en-US" altLang="zh-CN">
                <a:latin typeface="Arial" panose="020B0604020202020204" pitchFamily="34" charset="0"/>
              </a:rPr>
              <a:t>A</a:t>
            </a:r>
            <a:r>
              <a:rPr lang="zh-CN" altLang="en-US">
                <a:latin typeface="Arial" panose="020B0604020202020204" pitchFamily="34" charset="0"/>
              </a:rPr>
              <a:t>上的一个划分需要</a:t>
            </a:r>
            <a:r>
              <a:rPr lang="en-US" altLang="zh-CN">
                <a:latin typeface="Arial" panose="020B0604020202020204" pitchFamily="34" charset="0"/>
              </a:rPr>
              <a:t>3</a:t>
            </a:r>
            <a:r>
              <a:rPr lang="zh-CN" altLang="en-US">
                <a:latin typeface="Arial" panose="020B0604020202020204" pitchFamily="34" charset="0"/>
              </a:rPr>
              <a:t>个条件：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</a:rPr>
              <a:t>、没有空集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2</a:t>
            </a:r>
            <a:r>
              <a:rPr lang="zh-CN" altLang="en-US">
                <a:latin typeface="Arial" panose="020B0604020202020204" pitchFamily="34" charset="0"/>
              </a:rPr>
              <a:t>、任意两个集合没有交集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3</a:t>
            </a:r>
            <a:r>
              <a:rPr lang="zh-CN" altLang="en-US">
                <a:latin typeface="Arial" panose="020B0604020202020204" pitchFamily="34" charset="0"/>
              </a:rPr>
              <a:t>、所有集合的并集等于</a:t>
            </a:r>
            <a:r>
              <a:rPr lang="en-US" altLang="zh-CN">
                <a:latin typeface="Arial" panose="020B0604020202020204" pitchFamily="34" charset="0"/>
              </a:rPr>
              <a:t>A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372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7DADEC2-EA83-4B67-BDD9-59973BE4AFD1}" type="slidenum">
              <a:rPr lang="en-US" altLang="zh-CN" sz="1200">
                <a:latin typeface="Arial" panose="020B0604020202020204" pitchFamily="34" charset="0"/>
              </a:rPr>
              <a:pPr/>
              <a:t>92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19269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926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集合上的等价关系将集合的元素分成若干子集，互相有关系的在同一块里，不同分块的元素互无关系。所有等价类的集合显然构成集合的一个划分。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只需证</a:t>
            </a:r>
            <a:r>
              <a:rPr lang="en-US" altLang="zh-CN" dirty="0">
                <a:latin typeface="Arial" panose="020B0604020202020204" pitchFamily="34" charset="0"/>
              </a:rPr>
              <a:t>A/R</a:t>
            </a:r>
            <a:r>
              <a:rPr lang="zh-CN" altLang="en-US" dirty="0">
                <a:latin typeface="Arial" panose="020B0604020202020204" pitchFamily="34" charset="0"/>
              </a:rPr>
              <a:t>是一个划分（满足划分的</a:t>
            </a:r>
            <a:r>
              <a:rPr lang="en-US" altLang="zh-CN" dirty="0">
                <a:latin typeface="Arial" panose="020B0604020202020204" pitchFamily="34" charset="0"/>
              </a:rPr>
              <a:t>3</a:t>
            </a:r>
            <a:r>
              <a:rPr lang="zh-CN" altLang="en-US" dirty="0">
                <a:latin typeface="Arial" panose="020B0604020202020204" pitchFamily="34" charset="0"/>
              </a:rPr>
              <a:t>个条件），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根据划分构造一个关系，然后证明它是等价关系。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说明等价关系和划分一一对应</a:t>
            </a: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92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769DCC3-B2E9-4861-9537-E8BC3E55EE11}" type="slidenum">
              <a:rPr lang="en-US" altLang="zh-CN" sz="1200">
                <a:latin typeface="Arial" panose="020B0604020202020204" pitchFamily="34" charset="0"/>
              </a:rPr>
              <a:pPr/>
              <a:t>93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89777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131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注意等价关系是</a:t>
            </a:r>
            <a:r>
              <a:rPr lang="zh-CN" altLang="en-US" b="1" dirty="0">
                <a:latin typeface="Arial" panose="020B0604020202020204" pitchFamily="34" charset="0"/>
              </a:rPr>
              <a:t>自反的、对称的和传递的</a:t>
            </a:r>
            <a:r>
              <a:rPr lang="zh-CN" altLang="en-US" dirty="0">
                <a:latin typeface="Arial" panose="020B0604020202020204" pitchFamily="34" charset="0"/>
              </a:rPr>
              <a:t>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当集合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的元素个数有限时，写不出关系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时，可以</a:t>
            </a:r>
            <a:r>
              <a:rPr lang="zh-CN" altLang="en-US" b="1" dirty="0">
                <a:latin typeface="Arial" panose="020B0604020202020204" pitchFamily="34" charset="0"/>
              </a:rPr>
              <a:t>直接用例举法</a:t>
            </a:r>
            <a:r>
              <a:rPr lang="zh-CN" altLang="en-US" dirty="0">
                <a:latin typeface="Arial" panose="020B0604020202020204" pitchFamily="34" charset="0"/>
              </a:rPr>
              <a:t>写出集合中所有的元素就可以了。</a:t>
            </a:r>
          </a:p>
        </p:txBody>
      </p:sp>
      <p:sp>
        <p:nvSpPr>
          <p:cNvPr id="1413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02AA8BD-7B31-4206-A226-51BFBAF7B90E}" type="slidenum">
              <a:rPr lang="en-US" altLang="zh-CN" sz="1200">
                <a:latin typeface="Arial" panose="020B0604020202020204" pitchFamily="34" charset="0"/>
              </a:rPr>
              <a:pPr/>
              <a:t>94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25657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0" dirty="0">
                <a:latin typeface="Arial" panose="020B0604020202020204" pitchFamily="34" charset="0"/>
              </a:rPr>
              <a:t>第一步：先写出</a:t>
            </a:r>
            <a:r>
              <a:rPr lang="en-US" altLang="zh-CN" b="0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b="0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0" dirty="0">
                <a:solidFill>
                  <a:schemeClr val="bg2"/>
                </a:solidFill>
                <a:latin typeface="Times New Roman" panose="02020603050405020304" pitchFamily="18" charset="0"/>
              </a:rPr>
              <a:t>的所有元素</a:t>
            </a:r>
            <a:endParaRPr lang="en-US" altLang="zh-CN" b="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r>
              <a:rPr lang="zh-CN" altLang="en-US" b="0" dirty="0">
                <a:solidFill>
                  <a:schemeClr val="bg2"/>
                </a:solidFill>
                <a:latin typeface="Times New Roman" panose="02020603050405020304" pitchFamily="18" charset="0"/>
              </a:rPr>
              <a:t>第二步：写出</a:t>
            </a:r>
            <a:r>
              <a:rPr lang="en-US" altLang="zh-CN" b="0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</a:p>
          <a:p>
            <a:r>
              <a:rPr lang="zh-CN" altLang="en-US" b="0" dirty="0">
                <a:solidFill>
                  <a:schemeClr val="bg2"/>
                </a:solidFill>
                <a:latin typeface="Times New Roman" panose="02020603050405020304" pitchFamily="18" charset="0"/>
              </a:rPr>
              <a:t>第三步：求划分</a:t>
            </a:r>
            <a:endParaRPr lang="zh-CN" altLang="en-US" b="0" dirty="0">
              <a:latin typeface="Arial" panose="020B0604020202020204" pitchFamily="34" charset="0"/>
            </a:endParaRPr>
          </a:p>
        </p:txBody>
      </p:sp>
      <p:sp>
        <p:nvSpPr>
          <p:cNvPr id="1433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B572E15-C65D-4797-BF2E-6C109E745E49}" type="slidenum">
              <a:rPr lang="en-US" altLang="zh-CN" sz="1200">
                <a:latin typeface="Arial" panose="020B0604020202020204" pitchFamily="34" charset="0"/>
              </a:rPr>
              <a:pPr/>
              <a:t>95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69760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541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454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179651D-A2FB-4F41-BD1B-21233E1BB13C}" type="slidenum">
              <a:rPr lang="en-US" altLang="zh-CN" sz="1200">
                <a:latin typeface="Arial" panose="020B0604020202020204" pitchFamily="34" charset="0"/>
              </a:rPr>
              <a:pPr/>
              <a:t>96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71658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745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偏序也是实际应用最常见的关系之一，如实数集上的</a:t>
            </a:r>
            <a:r>
              <a:rPr lang="en-US" altLang="zh-CN" dirty="0">
                <a:latin typeface="Arial" panose="020B0604020202020204" pitchFamily="34" charset="0"/>
              </a:rPr>
              <a:t>&gt;= </a:t>
            </a:r>
            <a:r>
              <a:rPr lang="zh-CN" altLang="en-US" dirty="0">
                <a:latin typeface="Arial" panose="020B0604020202020204" pitchFamily="34" charset="0"/>
              </a:rPr>
              <a:t>和</a:t>
            </a:r>
            <a:r>
              <a:rPr lang="en-US" altLang="zh-CN" dirty="0">
                <a:latin typeface="Arial" panose="020B0604020202020204" pitchFamily="34" charset="0"/>
              </a:rPr>
              <a:t>&lt;=</a:t>
            </a:r>
            <a:r>
              <a:rPr lang="zh-CN" altLang="en-US" dirty="0">
                <a:latin typeface="Arial" panose="020B0604020202020204" pitchFamily="34" charset="0"/>
              </a:rPr>
              <a:t>，整除关系；集合之间的包含关系，命题公式之间的推理关系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zh-CN" altLang="en-US" dirty="0">
                <a:latin typeface="Arial" panose="020B0604020202020204" pitchFamily="34" charset="0"/>
              </a:rPr>
              <a:t>蕴含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lang="zh-CN" altLang="en-US" dirty="0">
                <a:latin typeface="Arial" panose="020B0604020202020204" pitchFamily="34" charset="0"/>
              </a:rPr>
              <a:t>，等等。我们抽象出来他们的共性就得到偏序关系的概念了。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自反：每个顶点都有环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反对称：两个顶点间若有边，则一定是单向边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传递：若两个顶点之间可到达，则一定有一条直接的边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偏序关系具有严格的单向性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7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E21109F-19AC-499D-BE1A-482B551BD6D2}" type="slidenum">
              <a:rPr lang="en-US" altLang="zh-CN" sz="1200">
                <a:latin typeface="Arial" panose="020B0604020202020204" pitchFamily="34" charset="0"/>
              </a:rPr>
              <a:pPr/>
              <a:t>97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86651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EE80A03-1375-4C32-BD1A-1D00062A5907}" type="slidenum">
              <a:rPr kumimoji="1" lang="en-US" altLang="zh-CN" sz="1200"/>
              <a:pPr/>
              <a:t>98</a:t>
            </a:fld>
            <a:endParaRPr kumimoji="1" lang="en-US" altLang="zh-CN" sz="1200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b="0" dirty="0">
                <a:latin typeface="Arial" panose="020B0604020202020204" pitchFamily="34" charset="0"/>
              </a:rPr>
              <a:t>判断一个关系是否为偏序关系，可以有三种方式：一个是写出关系</a:t>
            </a:r>
            <a:r>
              <a:rPr lang="en-US" altLang="zh-CN" b="0" dirty="0">
                <a:latin typeface="Arial" panose="020B0604020202020204" pitchFamily="34" charset="0"/>
              </a:rPr>
              <a:t>R</a:t>
            </a:r>
            <a:r>
              <a:rPr lang="zh-CN" altLang="en-US" b="0" dirty="0">
                <a:latin typeface="Arial" panose="020B0604020202020204" pitchFamily="34" charset="0"/>
              </a:rPr>
              <a:t>，一个是关系矩阵，一个是关系图。</a:t>
            </a:r>
            <a:endParaRPr lang="en-US" altLang="zh-CN" b="0" dirty="0">
              <a:latin typeface="Arial" panose="020B0604020202020204" pitchFamily="34" charset="0"/>
            </a:endParaRPr>
          </a:p>
          <a:p>
            <a:pPr eaLnBrk="1" hangingPunct="1"/>
            <a:endParaRPr lang="en-US" altLang="zh-CN" b="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1" dirty="0">
                <a:latin typeface="Times New Roman" panose="02020603050405020304" pitchFamily="18" charset="0"/>
              </a:rPr>
              <a:t>R</a:t>
            </a:r>
            <a:r>
              <a:rPr lang="zh-CN" altLang="en-US" b="0" dirty="0">
                <a:latin typeface="Times New Roman" panose="02020603050405020304" pitchFamily="18" charset="0"/>
              </a:rPr>
              <a:t>在</a:t>
            </a:r>
            <a:r>
              <a:rPr lang="en-US" altLang="zh-CN" b="0" i="1" dirty="0">
                <a:latin typeface="Times New Roman" panose="02020603050405020304" pitchFamily="18" charset="0"/>
              </a:rPr>
              <a:t>A</a:t>
            </a:r>
            <a:r>
              <a:rPr lang="zh-CN" altLang="en-US" b="0" dirty="0">
                <a:latin typeface="Times New Roman" panose="02020603050405020304" pitchFamily="18" charset="0"/>
              </a:rPr>
              <a:t>上</a:t>
            </a:r>
            <a:r>
              <a:rPr lang="zh-CN" altLang="en-US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自反</a:t>
            </a:r>
            <a:r>
              <a:rPr lang="zh-CN" altLang="en-US" b="0" dirty="0">
                <a:latin typeface="Times New Roman" panose="02020603050405020304" pitchFamily="18" charset="0"/>
              </a:rPr>
              <a:t>当且仅当   </a:t>
            </a:r>
            <a:r>
              <a:rPr lang="en-US" altLang="zh-CN" b="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I</a:t>
            </a:r>
            <a:r>
              <a:rPr lang="en-US" altLang="zh-CN" b="0" i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 </a:t>
            </a:r>
            <a:r>
              <a:rPr lang="en-US" altLang="zh-CN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="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zh-CN" altLang="en-US" b="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；     </a:t>
            </a:r>
            <a:r>
              <a:rPr lang="zh-CN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主对角线元素全是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1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；     </a:t>
            </a:r>
            <a:r>
              <a:rPr lang="zh-CN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每个顶点都有环</a:t>
            </a:r>
            <a:endParaRPr lang="zh-CN" altLang="zh-CN" sz="1200" b="0" i="0" u="none" strike="noStrike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pPr rtl="0" eaLnBrk="0" fontAlgn="base" latinLnBrk="0" hangingPunct="0"/>
            <a:r>
              <a:rPr lang="en-US" altLang="zh-CN" b="0" i="1" dirty="0">
                <a:latin typeface="Times New Roman" panose="02020603050405020304" pitchFamily="18" charset="0"/>
              </a:rPr>
              <a:t>R</a:t>
            </a:r>
            <a:r>
              <a:rPr lang="zh-CN" altLang="en-US" b="0" dirty="0">
                <a:latin typeface="Times New Roman" panose="02020603050405020304" pitchFamily="18" charset="0"/>
              </a:rPr>
              <a:t>在</a:t>
            </a:r>
            <a:r>
              <a:rPr lang="en-US" altLang="zh-CN" b="0" i="1" dirty="0">
                <a:latin typeface="Times New Roman" panose="02020603050405020304" pitchFamily="18" charset="0"/>
              </a:rPr>
              <a:t>A</a:t>
            </a:r>
            <a:r>
              <a:rPr lang="zh-CN" altLang="en-US" b="0" dirty="0">
                <a:latin typeface="Times New Roman" panose="02020603050405020304" pitchFamily="18" charset="0"/>
              </a:rPr>
              <a:t>上</a:t>
            </a:r>
            <a:r>
              <a:rPr lang="zh-CN" altLang="en-US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反对称</a:t>
            </a:r>
            <a:r>
              <a:rPr lang="zh-CN" altLang="en-US" b="0" dirty="0">
                <a:latin typeface="Times New Roman" panose="02020603050405020304" pitchFamily="18" charset="0"/>
              </a:rPr>
              <a:t>当且仅当   </a:t>
            </a:r>
            <a:r>
              <a:rPr lang="en-US" altLang="zh-CN" b="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∩</a:t>
            </a:r>
            <a:r>
              <a:rPr lang="en-US" altLang="zh-CN" b="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b="0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0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="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I</a:t>
            </a:r>
            <a:r>
              <a:rPr lang="en-US" altLang="zh-CN" b="0" i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zh-CN" altLang="en-US" b="0" i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；     </a:t>
            </a:r>
            <a:r>
              <a:rPr lang="zh-CN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若</a:t>
            </a:r>
            <a:r>
              <a:rPr lang="en-US" altLang="zh-CN" sz="1200" b="0" i="1" u="none" strike="noStrike" kern="1200" baseline="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r</a:t>
            </a:r>
            <a:r>
              <a:rPr lang="en-US" altLang="zh-CN" sz="1200" b="0" i="1" u="none" strike="noStrike" kern="1200" baseline="-3000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ij</a:t>
            </a:r>
            <a:r>
              <a:rPr lang="zh-CN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＝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1, </a:t>
            </a:r>
            <a:r>
              <a:rPr lang="zh-CN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且</a:t>
            </a:r>
            <a:r>
              <a:rPr lang="en-US" altLang="zh-CN" sz="1200" b="0" i="1" u="none" strike="noStrike" kern="1200" baseline="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i</a:t>
            </a:r>
            <a:r>
              <a:rPr lang="en-US" altLang="zh-CN" sz="1200" b="0" i="0" u="none" strike="noStrike" kern="1200" baseline="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≠</a:t>
            </a:r>
            <a:r>
              <a:rPr lang="en-US" altLang="zh-CN" sz="1200" b="0" i="1" u="none" strike="noStrike" kern="1200" baseline="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j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, </a:t>
            </a:r>
            <a:r>
              <a:rPr lang="zh-CN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则</a:t>
            </a:r>
            <a:r>
              <a:rPr lang="en-US" altLang="zh-CN" sz="1200" b="0" i="1" u="none" strike="noStrike" kern="1200" baseline="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r</a:t>
            </a:r>
            <a:r>
              <a:rPr lang="en-US" altLang="zh-CN" sz="1200" b="0" i="1" u="none" strike="noStrike" kern="1200" baseline="-3000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ji</a:t>
            </a:r>
            <a:r>
              <a:rPr lang="zh-CN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＝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0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；     </a:t>
            </a:r>
            <a:r>
              <a:rPr lang="zh-CN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如果两点之间有边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, </a:t>
            </a:r>
            <a:r>
              <a:rPr lang="zh-CN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是一条有向边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(</a:t>
            </a:r>
            <a:r>
              <a:rPr lang="zh-CN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无双向边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)</a:t>
            </a:r>
            <a:endParaRPr lang="zh-CN" altLang="zh-CN" sz="1200" b="0" i="0" u="none" strike="noStrike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1" dirty="0">
                <a:latin typeface="Times New Roman" panose="02020603050405020304" pitchFamily="18" charset="0"/>
              </a:rPr>
              <a:t>R</a:t>
            </a:r>
            <a:r>
              <a:rPr lang="zh-CN" altLang="en-US" b="0" dirty="0">
                <a:latin typeface="Times New Roman" panose="02020603050405020304" pitchFamily="18" charset="0"/>
              </a:rPr>
              <a:t>在</a:t>
            </a:r>
            <a:r>
              <a:rPr lang="en-US" altLang="zh-CN" b="0" i="1" dirty="0">
                <a:latin typeface="Times New Roman" panose="02020603050405020304" pitchFamily="18" charset="0"/>
              </a:rPr>
              <a:t>A</a:t>
            </a:r>
            <a:r>
              <a:rPr lang="zh-CN" altLang="en-US" b="0" dirty="0">
                <a:latin typeface="Times New Roman" panose="02020603050405020304" pitchFamily="18" charset="0"/>
              </a:rPr>
              <a:t>上</a:t>
            </a:r>
            <a:r>
              <a:rPr lang="zh-CN" altLang="en-US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传递</a:t>
            </a:r>
            <a:r>
              <a:rPr lang="zh-CN" altLang="en-US" b="0" dirty="0">
                <a:latin typeface="Times New Roman" panose="02020603050405020304" pitchFamily="18" charset="0"/>
              </a:rPr>
              <a:t>当且仅当   </a:t>
            </a:r>
            <a:r>
              <a:rPr lang="en-US" altLang="zh-CN" b="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b="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="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zh-CN" altLang="en-US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；     </a:t>
            </a:r>
            <a:r>
              <a:rPr lang="zh-CN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对</a:t>
            </a:r>
            <a:r>
              <a:rPr lang="en-US" altLang="zh-CN" sz="1200" b="0" i="1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M</a:t>
            </a:r>
            <a:r>
              <a:rPr lang="en-US" altLang="zh-CN" sz="1200" b="0" i="0" u="none" strike="noStrike" kern="1200" baseline="300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2</a:t>
            </a:r>
            <a:r>
              <a:rPr lang="zh-CN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中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1</a:t>
            </a:r>
            <a:r>
              <a:rPr lang="zh-CN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所在位置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,</a:t>
            </a:r>
            <a:r>
              <a:rPr lang="en-US" altLang="zh-CN" sz="1200" b="0" i="1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M</a:t>
            </a:r>
            <a:r>
              <a:rPr lang="zh-CN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中相应位置都是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1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；     </a:t>
            </a:r>
            <a:r>
              <a:rPr lang="zh-CN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如果顶点 </a:t>
            </a:r>
            <a:r>
              <a:rPr lang="en-US" altLang="zh-CN" sz="1200" b="0" i="1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x</a:t>
            </a:r>
            <a:r>
              <a:rPr lang="en-US" altLang="zh-CN" sz="1200" b="0" i="1" u="none" strike="noStrike" kern="1200" baseline="-300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i </a:t>
            </a:r>
            <a:r>
              <a:rPr lang="zh-CN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到</a:t>
            </a:r>
            <a:r>
              <a:rPr lang="en-US" altLang="zh-CN" sz="1200" b="0" i="1" u="none" strike="noStrike" kern="1200" baseline="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x</a:t>
            </a:r>
            <a:r>
              <a:rPr lang="en-US" altLang="zh-CN" sz="1200" b="0" i="1" u="none" strike="noStrike" kern="1200" baseline="-2500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j</a:t>
            </a:r>
            <a:r>
              <a:rPr lang="zh-CN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有边，</a:t>
            </a:r>
            <a:r>
              <a:rPr lang="en-US" altLang="zh-CN" sz="1200" b="0" i="0" u="none" strike="noStrike" kern="1200" baseline="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x</a:t>
            </a:r>
            <a:r>
              <a:rPr lang="en-US" altLang="zh-CN" sz="1200" b="0" i="1" u="none" strike="noStrike" kern="1200" baseline="-2500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j</a:t>
            </a:r>
            <a:r>
              <a:rPr lang="zh-CN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到</a:t>
            </a:r>
            <a:r>
              <a:rPr lang="en-US" altLang="zh-CN" sz="1200" b="0" i="1" u="none" strike="noStrike" kern="1200" baseline="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x</a:t>
            </a:r>
            <a:r>
              <a:rPr lang="en-US" altLang="zh-CN" sz="1200" b="0" i="1" u="none" strike="noStrike" kern="1200" baseline="-3000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k</a:t>
            </a:r>
            <a:r>
              <a:rPr lang="zh-CN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有边</a:t>
            </a:r>
            <a:r>
              <a:rPr lang="zh-CN" altLang="zh-CN" sz="1200" b="0" i="1" u="none" strike="noStrike" kern="1200" baseline="-300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, </a:t>
            </a:r>
            <a:r>
              <a:rPr lang="zh-CN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则从 </a:t>
            </a:r>
            <a:r>
              <a:rPr lang="en-US" altLang="zh-CN" sz="1200" b="0" i="1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x</a:t>
            </a:r>
            <a:r>
              <a:rPr lang="en-US" altLang="zh-CN" sz="1200" b="0" i="1" u="none" strike="noStrike" kern="1200" baseline="-300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i</a:t>
            </a:r>
            <a:r>
              <a:rPr lang="zh-CN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到 </a:t>
            </a:r>
            <a:r>
              <a:rPr lang="en-US" altLang="zh-CN" sz="1200" b="0" i="1" u="none" strike="noStrike" kern="1200" baseline="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x</a:t>
            </a:r>
            <a:r>
              <a:rPr lang="en-US" altLang="zh-CN" sz="1200" b="0" i="1" u="none" strike="noStrike" kern="1200" baseline="-3000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k</a:t>
            </a:r>
            <a:r>
              <a:rPr lang="en-US" altLang="zh-CN" sz="1200" b="0" i="1" u="none" strike="noStrike" kern="1200" baseline="-300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 </a:t>
            </a:r>
            <a:r>
              <a:rPr lang="zh-CN" altLang="zh-CN" sz="1200" b="0" i="0" u="none" strike="noStrike" kern="1200" baseline="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有边 </a:t>
            </a:r>
            <a:endParaRPr lang="zh-CN" altLang="zh-CN" sz="1200" b="0" i="0" u="none" strike="noStrike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pPr eaLnBrk="1" hangingPunct="1"/>
            <a:endParaRPr lang="zh-CN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54976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155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全序关系中，任何</a:t>
            </a:r>
            <a:r>
              <a:rPr lang="en-US" altLang="zh-CN" dirty="0">
                <a:latin typeface="Arial" panose="020B0604020202020204" pitchFamily="34" charset="0"/>
              </a:rPr>
              <a:t>x</a:t>
            </a:r>
            <a:r>
              <a:rPr lang="zh-CN" altLang="en-US" dirty="0">
                <a:latin typeface="Arial" panose="020B0604020202020204" pitchFamily="34" charset="0"/>
              </a:rPr>
              <a:t>和</a:t>
            </a:r>
            <a:r>
              <a:rPr lang="en-US" altLang="zh-CN" dirty="0">
                <a:latin typeface="Arial" panose="020B0604020202020204" pitchFamily="34" charset="0"/>
              </a:rPr>
              <a:t>y</a:t>
            </a:r>
            <a:r>
              <a:rPr lang="zh-CN" altLang="en-US" dirty="0">
                <a:latin typeface="Arial" panose="020B0604020202020204" pitchFamily="34" charset="0"/>
              </a:rPr>
              <a:t>之间均可到达，或者是</a:t>
            </a:r>
            <a:r>
              <a:rPr lang="en-US" altLang="zh-CN" dirty="0">
                <a:latin typeface="Arial" panose="020B0604020202020204" pitchFamily="34" charset="0"/>
              </a:rPr>
              <a:t>x</a:t>
            </a:r>
            <a:r>
              <a:rPr lang="zh-CN" altLang="en-US" dirty="0">
                <a:latin typeface="Arial" panose="020B0604020202020204" pitchFamily="34" charset="0"/>
              </a:rPr>
              <a:t>可到达</a:t>
            </a:r>
            <a:r>
              <a:rPr lang="en-US" altLang="zh-CN" dirty="0">
                <a:latin typeface="Arial" panose="020B0604020202020204" pitchFamily="34" charset="0"/>
              </a:rPr>
              <a:t>y</a:t>
            </a:r>
            <a:r>
              <a:rPr lang="zh-CN" altLang="en-US" dirty="0">
                <a:latin typeface="Arial" panose="020B0604020202020204" pitchFamily="34" charset="0"/>
              </a:rPr>
              <a:t>，或者是</a:t>
            </a:r>
            <a:r>
              <a:rPr lang="en-US" altLang="zh-CN" dirty="0">
                <a:latin typeface="Arial" panose="020B0604020202020204" pitchFamily="34" charset="0"/>
              </a:rPr>
              <a:t>y</a:t>
            </a:r>
            <a:r>
              <a:rPr lang="zh-CN" altLang="en-US" dirty="0">
                <a:latin typeface="Arial" panose="020B0604020202020204" pitchFamily="34" charset="0"/>
              </a:rPr>
              <a:t>可达到</a:t>
            </a:r>
            <a:r>
              <a:rPr lang="en-US" altLang="zh-CN" dirty="0">
                <a:latin typeface="Arial" panose="020B0604020202020204" pitchFamily="34" charset="0"/>
              </a:rPr>
              <a:t>x</a:t>
            </a:r>
            <a:r>
              <a:rPr lang="zh-CN" altLang="en-US" dirty="0">
                <a:latin typeface="Arial" panose="020B0604020202020204" pitchFamily="34" charset="0"/>
              </a:rPr>
              <a:t>。全序关系在哈斯图中表现为一条直线。</a:t>
            </a:r>
          </a:p>
        </p:txBody>
      </p:sp>
      <p:sp>
        <p:nvSpPr>
          <p:cNvPr id="1515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414A866-5C65-4213-B224-03704882AE3E}" type="slidenum">
              <a:rPr lang="en-US" altLang="zh-CN" sz="1200">
                <a:latin typeface="Arial" panose="020B0604020202020204" pitchFamily="34" charset="0"/>
              </a:rPr>
              <a:pPr/>
              <a:t>99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6938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0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盖住：是位置紧密相连的</a:t>
            </a:r>
            <a:r>
              <a:rPr lang="en-US" altLang="zh-CN">
                <a:latin typeface="Arial" panose="020B0604020202020204" pitchFamily="34" charset="0"/>
              </a:rPr>
              <a:t>x</a:t>
            </a:r>
            <a:r>
              <a:rPr lang="zh-CN" altLang="en-US">
                <a:latin typeface="Arial" panose="020B0604020202020204" pitchFamily="34" charset="0"/>
              </a:rPr>
              <a:t>和</a:t>
            </a:r>
            <a:r>
              <a:rPr lang="en-US" altLang="zh-CN">
                <a:latin typeface="Arial" panose="020B0604020202020204" pitchFamily="34" charset="0"/>
              </a:rPr>
              <a:t>y</a:t>
            </a:r>
            <a:r>
              <a:rPr lang="zh-CN" altLang="en-US">
                <a:latin typeface="Arial" panose="020B0604020202020204" pitchFamily="34" charset="0"/>
              </a:rPr>
              <a:t>之间的偏序关系</a:t>
            </a:r>
            <a:endParaRPr lang="en-US" altLang="zh-CN">
              <a:latin typeface="Arial" panose="020B0604020202020204" pitchFamily="34" charset="0"/>
            </a:endParaRPr>
          </a:p>
          <a:p>
            <a:endParaRPr lang="en-US" altLang="zh-CN">
              <a:latin typeface="Arial" panose="020B0604020202020204" pitchFamily="34" charset="0"/>
            </a:endParaRPr>
          </a:p>
          <a:p>
            <a:r>
              <a:rPr lang="zh-CN" altLang="en-US">
                <a:latin typeface="Arial" panose="020B0604020202020204" pitchFamily="34" charset="0"/>
              </a:rPr>
              <a:t>顶点</a:t>
            </a:r>
            <a:r>
              <a:rPr lang="en-US" altLang="zh-CN">
                <a:latin typeface="Arial" panose="020B0604020202020204" pitchFamily="34" charset="0"/>
              </a:rPr>
              <a:t>x</a:t>
            </a:r>
            <a:r>
              <a:rPr lang="zh-CN" altLang="en-US">
                <a:latin typeface="Arial" panose="020B0604020202020204" pitchFamily="34" charset="0"/>
              </a:rPr>
              <a:t>有出去的箭头，就一定会被箭头指向的顶点</a:t>
            </a:r>
            <a:r>
              <a:rPr lang="en-US" altLang="zh-CN">
                <a:latin typeface="Arial" panose="020B0604020202020204" pitchFamily="34" charset="0"/>
              </a:rPr>
              <a:t>y</a:t>
            </a:r>
            <a:r>
              <a:rPr lang="zh-CN" altLang="en-US">
                <a:latin typeface="Arial" panose="020B0604020202020204" pitchFamily="34" charset="0"/>
              </a:rPr>
              <a:t>盖住；如果一个顶点没有出去的箭头，则不会被盖住。</a:t>
            </a:r>
          </a:p>
        </p:txBody>
      </p:sp>
      <p:sp>
        <p:nvSpPr>
          <p:cNvPr id="1536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4589E58-BB6E-4758-89AE-2340B7BF55F5}" type="slidenum">
              <a:rPr lang="en-US" altLang="zh-CN" sz="1200">
                <a:latin typeface="Arial" panose="020B0604020202020204" pitchFamily="34" charset="0"/>
              </a:rPr>
              <a:pPr/>
              <a:t>100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84805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667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为表达偏序集合中元素之间的次序关系，偏序关系图通常采用哈斯图来表达。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特点分析：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对于第</a:t>
            </a:r>
            <a:r>
              <a:rPr lang="en-US" altLang="zh-CN" dirty="0">
                <a:latin typeface="Arial" panose="020B0604020202020204" pitchFamily="34" charset="0"/>
              </a:rPr>
              <a:t>3</a:t>
            </a:r>
            <a:r>
              <a:rPr lang="zh-CN" altLang="en-US" dirty="0">
                <a:latin typeface="Arial" panose="020B0604020202020204" pitchFamily="34" charset="0"/>
              </a:rPr>
              <a:t>点，当我们在哈斯图上增添新元素</a:t>
            </a:r>
            <a:r>
              <a:rPr lang="en-US" altLang="zh-CN" dirty="0">
                <a:latin typeface="Arial" panose="020B0604020202020204" pitchFamily="34" charset="0"/>
              </a:rPr>
              <a:t>z</a:t>
            </a:r>
            <a:r>
              <a:rPr lang="zh-CN" altLang="en-US" dirty="0">
                <a:latin typeface="Arial" panose="020B0604020202020204" pitchFamily="34" charset="0"/>
              </a:rPr>
              <a:t>时，只需要找</a:t>
            </a:r>
            <a:r>
              <a:rPr lang="en-US" altLang="zh-CN" dirty="0">
                <a:latin typeface="Arial" panose="020B0604020202020204" pitchFamily="34" charset="0"/>
              </a:rPr>
              <a:t>y</a:t>
            </a:r>
            <a:r>
              <a:rPr lang="zh-CN" altLang="en-US" dirty="0">
                <a:latin typeface="Arial" panose="020B0604020202020204" pitchFamily="34" charset="0"/>
              </a:rPr>
              <a:t>，而不需要考虑</a:t>
            </a:r>
            <a:r>
              <a:rPr lang="en-US" altLang="zh-CN" dirty="0">
                <a:latin typeface="Arial" panose="020B0604020202020204" pitchFamily="34" charset="0"/>
              </a:rPr>
              <a:t>x</a:t>
            </a:r>
            <a:r>
              <a:rPr lang="zh-CN" altLang="en-US" dirty="0">
                <a:latin typeface="Arial" panose="020B0604020202020204" pitchFamily="34" charset="0"/>
              </a:rPr>
              <a:t>。即只需考虑</a:t>
            </a:r>
            <a:r>
              <a:rPr lang="en-US" altLang="zh-CN" dirty="0">
                <a:latin typeface="Arial" panose="020B0604020202020204" pitchFamily="34" charset="0"/>
              </a:rPr>
              <a:t>z</a:t>
            </a:r>
            <a:r>
              <a:rPr lang="zh-CN" altLang="en-US" dirty="0">
                <a:latin typeface="Arial" panose="020B0604020202020204" pitchFamily="34" charset="0"/>
              </a:rPr>
              <a:t>能放在最上面的位置。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566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5AF5ABB-3AD4-4476-B4CF-0BEE355177CE}" type="slidenum">
              <a:rPr lang="en-US" altLang="zh-CN" sz="1200">
                <a:latin typeface="Arial" panose="020B0604020202020204" pitchFamily="34" charset="0"/>
              </a:rPr>
              <a:pPr/>
              <a:t>102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52237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872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如何从哈斯图还原关系</a:t>
            </a:r>
            <a:r>
              <a:rPr lang="en-US" altLang="zh-CN" dirty="0">
                <a:latin typeface="Arial" panose="020B0604020202020204" pitchFamily="34" charset="0"/>
              </a:rPr>
              <a:t>R?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比如左图中的</a:t>
            </a:r>
            <a:r>
              <a:rPr lang="en-US" altLang="zh-CN" dirty="0">
                <a:latin typeface="Arial" panose="020B0604020202020204" pitchFamily="34" charset="0"/>
              </a:rPr>
              <a:t>1-2-4-8</a:t>
            </a:r>
            <a:r>
              <a:rPr lang="zh-CN" altLang="en-US" dirty="0">
                <a:latin typeface="Arial" panose="020B0604020202020204" pitchFamily="34" charset="0"/>
              </a:rPr>
              <a:t>这条分支，首先偏序关系是自反的，因此有</a:t>
            </a:r>
            <a:r>
              <a:rPr lang="en-US" altLang="zh-CN" dirty="0">
                <a:latin typeface="Arial" panose="020B0604020202020204" pitchFamily="34" charset="0"/>
              </a:rPr>
              <a:t>&lt;1,1&gt;,&lt;2,2&gt;,&lt;4,4&gt;,&lt;8,8&gt;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然后，偏序关系是反对称的，对于</a:t>
            </a:r>
            <a:r>
              <a:rPr lang="en-US" altLang="zh-CN" dirty="0">
                <a:latin typeface="Arial" panose="020B0604020202020204" pitchFamily="34" charset="0"/>
              </a:rPr>
              <a:t>&lt;</a:t>
            </a:r>
            <a:r>
              <a:rPr lang="en-US" altLang="zh-CN" dirty="0" err="1">
                <a:latin typeface="Arial" panose="020B0604020202020204" pitchFamily="34" charset="0"/>
              </a:rPr>
              <a:t>x,y</a:t>
            </a:r>
            <a:r>
              <a:rPr lang="en-US" altLang="zh-CN" dirty="0">
                <a:latin typeface="Arial" panose="020B0604020202020204" pitchFamily="34" charset="0"/>
              </a:rPr>
              <a:t>&gt;</a:t>
            </a:r>
            <a:r>
              <a:rPr lang="zh-CN" altLang="en-US" dirty="0">
                <a:latin typeface="Arial" panose="020B0604020202020204" pitchFamily="34" charset="0"/>
              </a:rPr>
              <a:t>来说，下面的元素是</a:t>
            </a:r>
            <a:r>
              <a:rPr lang="en-US" altLang="zh-CN" dirty="0">
                <a:latin typeface="Arial" panose="020B0604020202020204" pitchFamily="34" charset="0"/>
              </a:rPr>
              <a:t>x</a:t>
            </a:r>
            <a:r>
              <a:rPr lang="zh-CN" altLang="en-US" dirty="0">
                <a:latin typeface="Arial" panose="020B0604020202020204" pitchFamily="34" charset="0"/>
              </a:rPr>
              <a:t>，上面的是</a:t>
            </a:r>
            <a:r>
              <a:rPr lang="en-US" altLang="zh-CN" dirty="0">
                <a:latin typeface="Arial" panose="020B0604020202020204" pitchFamily="34" charset="0"/>
              </a:rPr>
              <a:t>y</a:t>
            </a:r>
            <a:r>
              <a:rPr lang="zh-CN" altLang="en-US" dirty="0">
                <a:latin typeface="Arial" panose="020B0604020202020204" pitchFamily="34" charset="0"/>
              </a:rPr>
              <a:t>；又因为偏序关系满足传递性，因此，写的时候要从一个顶点，写全它上面的所有顶点，因此有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&lt;1,2&gt;,&lt;1,4&gt;,&lt;1,8&gt;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&lt;2,4&gt;,&lt;2,8&gt;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&lt;4,8&gt;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587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4343CBF-DD8F-4F5E-9A2F-8852D0EB8C09}" type="slidenum">
              <a:rPr lang="en-US" altLang="zh-CN" sz="1200">
                <a:latin typeface="Arial" panose="020B0604020202020204" pitchFamily="34" charset="0"/>
              </a:rPr>
              <a:pPr/>
              <a:t>103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59689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07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由哈斯图写关系，一定要将所有可达的顶点对写全（即要注意传递的特点），然后因为哈斯图省略了自环，要记得</a:t>
            </a:r>
            <a:r>
              <a:rPr lang="en-US" altLang="zh-CN" dirty="0">
                <a:latin typeface="Arial" panose="020B0604020202020204" pitchFamily="34" charset="0"/>
              </a:rPr>
              <a:t>∪I</a:t>
            </a:r>
            <a:r>
              <a:rPr lang="en-US" altLang="zh-CN" baseline="-25000" dirty="0">
                <a:latin typeface="Arial" panose="020B0604020202020204" pitchFamily="34" charset="0"/>
              </a:rPr>
              <a:t>A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07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29F7984-B4BA-41D5-AB2B-457E45681B4A}" type="slidenum">
              <a:rPr lang="en-US" altLang="zh-CN" sz="1200">
                <a:latin typeface="Arial" panose="020B0604020202020204" pitchFamily="34" charset="0"/>
              </a:rPr>
              <a:pPr/>
              <a:t>104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53870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C58C790-03C6-4E55-98D9-B94D422DFCE9}" type="slidenum">
              <a:rPr lang="en-US" altLang="zh-CN" sz="1200">
                <a:latin typeface="Arial" panose="020B0604020202020204" pitchFamily="34" charset="0"/>
              </a:rPr>
              <a:pPr/>
              <a:t>105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极小元和极大元都可能有多个，属于局部最小或局部最大； 但最大元和最小元若存在，则必唯一，属于全局最大或全局最小。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最小元与极小元的区别：最小元是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中最小的元素，它与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中其它元素都是可比的；而极小元不一定与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中所有元素可比，只要没有比它更小的元素，它就是极小元。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极大元也有类似特征。</a:t>
            </a:r>
          </a:p>
        </p:txBody>
      </p:sp>
    </p:spTree>
    <p:extLst>
      <p:ext uri="{BB962C8B-B14F-4D97-AF65-F5344CB8AC3E}">
        <p14:creationId xmlns:p14="http://schemas.microsoft.com/office/powerpoint/2010/main" val="196024917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4E4CB72-3D1E-4F57-9153-164B3FADFB40}" type="slidenum">
              <a:rPr kumimoji="1" lang="en-US" altLang="zh-CN" sz="1200"/>
              <a:pPr/>
              <a:t>106</a:t>
            </a:fld>
            <a:endParaRPr kumimoji="1" lang="en-US" altLang="zh-CN" sz="1200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88978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793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latin typeface="Arial" panose="020B0604020202020204" pitchFamily="34" charset="0"/>
              </a:rPr>
              <a:t>注意</a:t>
            </a:r>
            <a:r>
              <a:rPr lang="en-US" altLang="zh-CN" b="1" dirty="0">
                <a:latin typeface="Arial" panose="020B0604020202020204" pitchFamily="34" charset="0"/>
              </a:rPr>
              <a:t>y</a:t>
            </a:r>
            <a:r>
              <a:rPr lang="zh-CN" altLang="en-US" b="1" dirty="0">
                <a:latin typeface="Arial" panose="020B0604020202020204" pitchFamily="34" charset="0"/>
              </a:rPr>
              <a:t>的取值范围，</a:t>
            </a:r>
            <a:r>
              <a:rPr lang="en-US" altLang="zh-CN" b="1" i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="1" dirty="0" err="1">
                <a:solidFill>
                  <a:srgbClr val="0070C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</a:rPr>
              <a:t>并没有要求</a:t>
            </a:r>
            <a:r>
              <a:rPr lang="en-US" altLang="zh-CN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="1" dirty="0" err="1">
                <a:solidFill>
                  <a:srgbClr val="0070C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B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，因此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是可以在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之外的元素，并且通常在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之外。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上界：在哈斯图中，</a:t>
            </a:r>
            <a:r>
              <a:rPr lang="en-US" altLang="zh-CN" dirty="0">
                <a:latin typeface="Arial" panose="020B0604020202020204" pitchFamily="34" charset="0"/>
              </a:rPr>
              <a:t>y</a:t>
            </a:r>
            <a:r>
              <a:rPr lang="zh-CN" altLang="en-US" dirty="0">
                <a:latin typeface="Arial" panose="020B0604020202020204" pitchFamily="34" charset="0"/>
              </a:rPr>
              <a:t>在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中的</a:t>
            </a:r>
            <a:r>
              <a:rPr lang="zh-CN" altLang="en-US" b="1" dirty="0">
                <a:latin typeface="Arial" panose="020B0604020202020204" pitchFamily="34" charset="0"/>
              </a:rPr>
              <a:t>所有元素</a:t>
            </a:r>
            <a:r>
              <a:rPr lang="zh-CN" altLang="en-US" dirty="0">
                <a:latin typeface="Arial" panose="020B0604020202020204" pitchFamily="34" charset="0"/>
              </a:rPr>
              <a:t>之上，并均可到达。上界可能有多个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下界：在哈斯图中，</a:t>
            </a:r>
            <a:r>
              <a:rPr lang="en-US" altLang="zh-CN" dirty="0">
                <a:latin typeface="Arial" panose="020B0604020202020204" pitchFamily="34" charset="0"/>
              </a:rPr>
              <a:t>y</a:t>
            </a:r>
            <a:r>
              <a:rPr lang="zh-CN" altLang="en-US" dirty="0">
                <a:latin typeface="Arial" panose="020B0604020202020204" pitchFamily="34" charset="0"/>
              </a:rPr>
              <a:t>在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中的</a:t>
            </a:r>
            <a:r>
              <a:rPr lang="zh-CN" altLang="en-US" b="1" dirty="0">
                <a:latin typeface="Arial" panose="020B0604020202020204" pitchFamily="34" charset="0"/>
              </a:rPr>
              <a:t>所有元素</a:t>
            </a:r>
            <a:r>
              <a:rPr lang="zh-CN" altLang="en-US" dirty="0">
                <a:latin typeface="Arial" panose="020B0604020202020204" pitchFamily="34" charset="0"/>
              </a:rPr>
              <a:t>之下，并均可到达。下界可能有多个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b="1" i="1" dirty="0">
              <a:solidFill>
                <a:srgbClr val="0070C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最小上界：上界里面最小的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最大下界：下界里面最大的</a:t>
            </a:r>
          </a:p>
        </p:txBody>
      </p:sp>
      <p:sp>
        <p:nvSpPr>
          <p:cNvPr id="167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54FF230-AFBE-444B-9EFE-123A81EE1C00}" type="slidenum">
              <a:rPr lang="en-US" altLang="zh-CN" sz="1200">
                <a:latin typeface="Arial" panose="020B0604020202020204" pitchFamily="34" charset="0"/>
              </a:rPr>
              <a:pPr/>
              <a:t>108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6619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E62086D-599F-4E99-AFF6-E4A57518E583}" type="slidenum">
              <a:rPr kumimoji="1" lang="en-US" altLang="zh-CN" sz="1200"/>
              <a:pPr/>
              <a:t>109</a:t>
            </a:fld>
            <a:endParaRPr kumimoji="1" lang="en-US" altLang="zh-CN" sz="1200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7024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B326FB9-B4BB-448F-8717-7BE05E429C89}" type="slidenum">
              <a:rPr lang="en-US" altLang="zh-CN" sz="1200">
                <a:latin typeface="Arial" panose="020B0604020202020204" pitchFamily="34" charset="0"/>
              </a:rPr>
              <a:pPr/>
              <a:t>110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第四条“反之不对”：集合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的最大下界不一定是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的最小元，因为这个下界可能不在集合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中，如</a:t>
            </a:r>
            <a:r>
              <a:rPr lang="en-US" altLang="zh-CN" dirty="0">
                <a:latin typeface="Arial" panose="020B0604020202020204" pitchFamily="34" charset="0"/>
              </a:rPr>
              <a:t>A={1,2,3,4}</a:t>
            </a:r>
            <a:r>
              <a:rPr lang="zh-CN" altLang="en-US" dirty="0">
                <a:latin typeface="Arial" panose="020B0604020202020204" pitchFamily="34" charset="0"/>
              </a:rPr>
              <a:t>的整除关系中令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＝</a:t>
            </a:r>
            <a:r>
              <a:rPr lang="en-US" altLang="zh-CN" dirty="0">
                <a:latin typeface="Arial" panose="020B0604020202020204" pitchFamily="34" charset="0"/>
              </a:rPr>
              <a:t>{2,3}</a:t>
            </a:r>
            <a:r>
              <a:rPr lang="zh-CN" altLang="en-US" dirty="0">
                <a:latin typeface="Arial" panose="020B0604020202020204" pitchFamily="34" charset="0"/>
              </a:rPr>
              <a:t>，Ｂ的下界是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，但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不是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的最小元。</a:t>
            </a:r>
          </a:p>
        </p:txBody>
      </p:sp>
    </p:spTree>
    <p:extLst>
      <p:ext uri="{BB962C8B-B14F-4D97-AF65-F5344CB8AC3E}">
        <p14:creationId xmlns:p14="http://schemas.microsoft.com/office/powerpoint/2010/main" val="212557317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7F75B05-4FAB-4498-B5E5-CD9330999CDB}" type="slidenum">
              <a:rPr lang="en-US" altLang="zh-CN" sz="1200">
                <a:latin typeface="Arial" panose="020B0604020202020204" pitchFamily="34" charset="0"/>
              </a:rPr>
              <a:pPr/>
              <a:t>113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2462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817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 函数是数学中一个很重要的概念</a:t>
            </a:r>
            <a:r>
              <a:rPr lang="en-US" altLang="zh-CN" dirty="0">
                <a:latin typeface="Arial" panose="020B0604020202020204" pitchFamily="34" charset="0"/>
              </a:rPr>
              <a:t>,</a:t>
            </a:r>
            <a:r>
              <a:rPr lang="zh-CN" altLang="en-US" dirty="0">
                <a:latin typeface="Arial" panose="020B0604020202020204" pitchFamily="34" charset="0"/>
              </a:rPr>
              <a:t> 在集合论中 </a:t>
            </a:r>
            <a:r>
              <a:rPr lang="en-US" altLang="zh-CN" dirty="0">
                <a:latin typeface="Arial" panose="020B0604020202020204" pitchFamily="34" charset="0"/>
              </a:rPr>
              <a:t>,</a:t>
            </a:r>
            <a:r>
              <a:rPr lang="zh-CN" altLang="en-US" dirty="0">
                <a:latin typeface="Arial" panose="020B0604020202020204" pitchFamily="34" charset="0"/>
              </a:rPr>
              <a:t>函数不过是一种关系：一种单值的关系。例如，我们可以把计算机中输入，输出间的关系看成是一种函数。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在此只讨论二元关系。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1 </a:t>
            </a:r>
            <a:r>
              <a:rPr lang="zh-CN" altLang="en-US" dirty="0">
                <a:latin typeface="Arial" panose="020B0604020202020204" pitchFamily="34" charset="0"/>
              </a:rPr>
              <a:t>教学目的</a:t>
            </a:r>
            <a:r>
              <a:rPr lang="en-US" altLang="zh-CN" dirty="0">
                <a:latin typeface="Arial" panose="020B0604020202020204" pitchFamily="34" charset="0"/>
              </a:rPr>
              <a:t>: </a:t>
            </a:r>
            <a:r>
              <a:rPr lang="zh-CN" altLang="en-US" dirty="0">
                <a:latin typeface="Arial" panose="020B0604020202020204" pitchFamily="34" charset="0"/>
              </a:rPr>
              <a:t>是后续内容的基础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zh-CN" altLang="en-US" dirty="0">
                <a:latin typeface="Arial" panose="020B0604020202020204" pitchFamily="34" charset="0"/>
              </a:rPr>
              <a:t>利用函数的概念和理论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zh-CN" altLang="en-US" dirty="0">
                <a:latin typeface="Arial" panose="020B0604020202020204" pitchFamily="34" charset="0"/>
              </a:rPr>
              <a:t>可建立不同集合之间以及不同代数系统之间的对应关系。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2. </a:t>
            </a:r>
            <a:r>
              <a:rPr lang="zh-CN" altLang="en-US" dirty="0">
                <a:latin typeface="Arial" panose="020B0604020202020204" pitchFamily="34" charset="0"/>
              </a:rPr>
              <a:t>教学要求</a:t>
            </a:r>
            <a:r>
              <a:rPr lang="en-US" altLang="zh-CN" dirty="0">
                <a:latin typeface="Arial" panose="020B0604020202020204" pitchFamily="34" charset="0"/>
              </a:rPr>
              <a:t>:  </a:t>
            </a:r>
            <a:r>
              <a:rPr lang="zh-CN" altLang="en-US" dirty="0">
                <a:latin typeface="Arial" panose="020B0604020202020204" pitchFamily="34" charset="0"/>
              </a:rPr>
              <a:t>判断一关系是否为函数</a:t>
            </a:r>
            <a:r>
              <a:rPr lang="en-US" altLang="zh-CN" dirty="0">
                <a:latin typeface="Arial" panose="020B0604020202020204" pitchFamily="34" charset="0"/>
              </a:rPr>
              <a:t>; </a:t>
            </a:r>
            <a:r>
              <a:rPr lang="zh-CN" altLang="en-US" dirty="0">
                <a:latin typeface="Arial" panose="020B0604020202020204" pitchFamily="34" charset="0"/>
              </a:rPr>
              <a:t>判断一函数是否单射、满射和双射；会求给定函数的复合函数和逆函数。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3. </a:t>
            </a:r>
            <a:r>
              <a:rPr lang="zh-CN" altLang="en-US" dirty="0">
                <a:latin typeface="Arial" panose="020B0604020202020204" pitchFamily="34" charset="0"/>
              </a:rPr>
              <a:t>教学重点</a:t>
            </a:r>
            <a:r>
              <a:rPr lang="en-US" altLang="zh-CN" dirty="0">
                <a:latin typeface="Arial" panose="020B0604020202020204" pitchFamily="34" charset="0"/>
              </a:rPr>
              <a:t>: </a:t>
            </a:r>
            <a:r>
              <a:rPr lang="zh-CN" altLang="en-US" dirty="0">
                <a:latin typeface="Arial" panose="020B0604020202020204" pitchFamily="34" charset="0"/>
              </a:rPr>
              <a:t>函数的概念；函数的性质和复合函数。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81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0428B98-A2E8-4B3C-8DEE-55DCFAB30B62}" type="slidenum">
              <a:rPr lang="en-US" altLang="zh-CN" sz="1200">
                <a:latin typeface="Arial" panose="020B0604020202020204" pitchFamily="34" charset="0"/>
              </a:rPr>
              <a:pPr/>
              <a:t>114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69314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022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由于函数是一种特殊的关系，故关系的一般性概念及结果均适用于函数。</a:t>
            </a:r>
            <a:endParaRPr lang="en-US" altLang="zh-CN" dirty="0">
              <a:solidFill>
                <a:srgbClr val="0000FF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0000FF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i="0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i="0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每个</a:t>
            </a:r>
            <a:r>
              <a:rPr lang="en-US" altLang="zh-CN" i="0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x</a:t>
            </a:r>
            <a:r>
              <a:rPr lang="zh-CN" altLang="en-US" i="0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只能对应唯一的</a:t>
            </a:r>
            <a:r>
              <a:rPr lang="en-US" altLang="zh-CN" i="0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y</a:t>
            </a:r>
            <a:r>
              <a:rPr lang="zh-CN" altLang="en-US" i="0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，即如果</a:t>
            </a:r>
            <a:r>
              <a:rPr lang="en-US" altLang="zh-CN" i="0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f(x)=y </a:t>
            </a:r>
            <a:r>
              <a:rPr lang="zh-CN" altLang="en-US" i="0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且 </a:t>
            </a:r>
            <a:r>
              <a:rPr lang="en-US" altLang="zh-CN" i="0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f(x)=z,</a:t>
            </a:r>
            <a:r>
              <a:rPr lang="zh-CN" altLang="en-US" i="0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则 </a:t>
            </a:r>
            <a:r>
              <a:rPr lang="en-US" altLang="zh-CN" i="0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y=z </a:t>
            </a:r>
            <a:r>
              <a:rPr lang="zh-CN" altLang="en-US" i="0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。</a:t>
            </a:r>
            <a:endParaRPr lang="en-US" altLang="zh-CN" i="0" dirty="0">
              <a:solidFill>
                <a:srgbClr val="0000FF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不同的</a:t>
            </a:r>
            <a:r>
              <a:rPr lang="en-US" altLang="zh-CN" i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x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可对应相同的</a:t>
            </a:r>
            <a:r>
              <a:rPr lang="en-US" altLang="zh-CN" i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y</a:t>
            </a:r>
            <a:r>
              <a:rPr lang="zh-CN" altLang="en-US" i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。</a:t>
            </a:r>
            <a:endParaRPr lang="en-US" altLang="zh-CN" i="1" dirty="0">
              <a:solidFill>
                <a:srgbClr val="0000FF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endParaRPr lang="en-US" altLang="zh-CN" i="1" dirty="0">
              <a:solidFill>
                <a:srgbClr val="0000FF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函数的定义域为整个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X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而非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X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的真子集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每个</a:t>
            </a:r>
            <a:r>
              <a:rPr lang="en-US" altLang="zh-CN" i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x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均有象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。</a:t>
            </a:r>
            <a:endParaRPr lang="en-US" altLang="zh-CN" dirty="0">
              <a:solidFill>
                <a:srgbClr val="0000FF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i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f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(X)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Y, 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即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Y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的元素不一定有源象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 。</a:t>
            </a:r>
            <a:endParaRPr lang="en-US" altLang="zh-CN" dirty="0">
              <a:solidFill>
                <a:srgbClr val="0000FF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endParaRPr lang="en-US" altLang="zh-CN" sz="1400" dirty="0">
              <a:solidFill>
                <a:srgbClr val="0000FF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函数有两种写法，一种是集合，一种是映射。例如</a:t>
            </a:r>
            <a:r>
              <a:rPr lang="en-US" altLang="zh-CN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1400" b="0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={&lt;x</a:t>
            </a:r>
            <a:r>
              <a:rPr lang="en-US" altLang="zh-CN" sz="1400" b="0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,y</a:t>
            </a:r>
            <a:r>
              <a:rPr lang="en-US" altLang="zh-CN" sz="1400" b="0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&gt;,&lt;x</a:t>
            </a:r>
            <a:r>
              <a:rPr lang="en-US" altLang="zh-CN" sz="1400" b="0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,y</a:t>
            </a:r>
            <a:r>
              <a:rPr lang="en-US" altLang="zh-CN" sz="1400" b="0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&gt;,&lt;x</a:t>
            </a:r>
            <a:r>
              <a:rPr lang="en-US" altLang="zh-CN" sz="1400" b="0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,y</a:t>
            </a:r>
            <a:r>
              <a:rPr lang="en-US" altLang="zh-CN" sz="1400" b="0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&gt;} </a:t>
            </a:r>
            <a:r>
              <a:rPr lang="zh-CN" altLang="en-US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，也可写成</a:t>
            </a:r>
            <a:r>
              <a:rPr lang="en-US" altLang="zh-CN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1400" b="0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1400" b="0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=y</a:t>
            </a:r>
            <a:r>
              <a:rPr lang="en-US" altLang="zh-CN" sz="1400" b="0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1400" b="0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1400" b="0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=y</a:t>
            </a:r>
            <a:r>
              <a:rPr lang="en-US" altLang="zh-CN" sz="1400" b="0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1400" b="0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1400" b="0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1400" b="0" i="0" dirty="0">
                <a:solidFill>
                  <a:schemeClr val="bg2"/>
                </a:solidFill>
                <a:latin typeface="Times New Roman" panose="02020603050405020304" pitchFamily="18" charset="0"/>
              </a:rPr>
              <a:t>=y</a:t>
            </a:r>
            <a:r>
              <a:rPr lang="en-US" altLang="zh-CN" sz="1400" b="0" i="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endParaRPr lang="en-US" altLang="zh-CN" sz="1400" b="0" i="0" dirty="0">
              <a:solidFill>
                <a:srgbClr val="0000FF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endParaRPr lang="en-US" altLang="zh-CN" sz="1400" dirty="0">
              <a:solidFill>
                <a:srgbClr val="0000FF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endParaRPr lang="en-US" altLang="zh-CN" i="1" dirty="0">
              <a:solidFill>
                <a:srgbClr val="0000F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802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65E7A46-CBAD-4685-99B3-13B4DB17A81F}" type="slidenum">
              <a:rPr lang="en-US" altLang="zh-CN" sz="1200">
                <a:latin typeface="Arial" panose="020B0604020202020204" pitchFamily="34" charset="0"/>
              </a:rPr>
              <a:pPr/>
              <a:t>115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769766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227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函数本身也是集合，因此函数相等是集合相等的概念。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函数相等两个条件：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、定义域相等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、对</a:t>
            </a:r>
            <a:r>
              <a:rPr lang="en-US" altLang="zh-CN" dirty="0">
                <a:latin typeface="Arial" panose="020B0604020202020204" pitchFamily="34" charset="0"/>
              </a:rPr>
              <a:t>x</a:t>
            </a:r>
            <a:r>
              <a:rPr lang="zh-CN" altLang="en-US" dirty="0">
                <a:latin typeface="Arial" panose="020B0604020202020204" pitchFamily="34" charset="0"/>
              </a:rPr>
              <a:t>来说，函数值相等</a:t>
            </a:r>
          </a:p>
        </p:txBody>
      </p:sp>
      <p:sp>
        <p:nvSpPr>
          <p:cNvPr id="1822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0A451B3-2BF3-48FE-A939-73411DDE4A5F}" type="slidenum">
              <a:rPr lang="en-US" altLang="zh-CN" sz="1200">
                <a:latin typeface="Arial" panose="020B0604020202020204" pitchFamily="34" charset="0"/>
              </a:rPr>
              <a:pPr/>
              <a:t>116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324195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2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现在我们来看看如何用函数的概念来建立</a:t>
            </a:r>
            <a:r>
              <a:rPr lang="zh-CN" altLang="en-US" dirty="0">
                <a:latin typeface="Arial" panose="020B0604020202020204" pitchFamily="34" charset="0"/>
              </a:rPr>
              <a:t>不同集合之间的对应关系</a:t>
            </a:r>
            <a:endParaRPr lang="en-US" altLang="zh-CN" dirty="0">
              <a:solidFill>
                <a:srgbClr val="0000FF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0000FF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函数的定义域为整个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X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而非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X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的真子集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每个</a:t>
            </a:r>
            <a:r>
              <a:rPr lang="en-US" altLang="zh-CN" i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x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均有象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。</a:t>
            </a:r>
            <a:endParaRPr lang="en-US" altLang="zh-CN" dirty="0">
              <a:solidFill>
                <a:srgbClr val="0000FF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i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f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(X)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Y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，即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Y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的元素不一定都有源象。</a:t>
            </a:r>
            <a:endParaRPr lang="en-US" altLang="zh-CN" sz="1400" dirty="0">
              <a:solidFill>
                <a:srgbClr val="0000FF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43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2EEAD7A-1861-45A0-BDD7-17CCB6AFCEE8}" type="slidenum">
              <a:rPr lang="en-US" altLang="zh-CN" sz="1200">
                <a:latin typeface="Arial" panose="020B0604020202020204" pitchFamily="34" charset="0"/>
              </a:rPr>
              <a:pPr/>
              <a:t>117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32112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要验证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为</a:t>
            </a:r>
            <a:r>
              <a:rPr lang="zh-CN" altLang="en-US" sz="1200" b="0" i="0" dirty="0">
                <a:solidFill>
                  <a:srgbClr val="C00000"/>
                </a:solidFill>
                <a:latin typeface="Times New Roman" panose="02020603050405020304" pitchFamily="18" charset="0"/>
              </a:rPr>
              <a:t>从</a:t>
            </a:r>
            <a:r>
              <a:rPr lang="en-US" altLang="zh-CN" sz="1200" b="0" i="0" dirty="0">
                <a:solidFill>
                  <a:srgbClr val="C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1200" b="0" i="0" dirty="0">
                <a:solidFill>
                  <a:srgbClr val="C00000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sz="1200" b="0" i="0" dirty="0">
                <a:solidFill>
                  <a:srgbClr val="C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1200" b="0" i="0" dirty="0">
                <a:solidFill>
                  <a:srgbClr val="C00000"/>
                </a:solidFill>
                <a:latin typeface="Times New Roman" panose="02020603050405020304" pitchFamily="18" charset="0"/>
              </a:rPr>
              <a:t>的函数，需验证两点：</a:t>
            </a:r>
            <a:r>
              <a:rPr lang="en-US" altLang="zh-CN" sz="1200" b="0" i="0" dirty="0">
                <a:solidFill>
                  <a:srgbClr val="C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200" b="0" i="0" dirty="0">
                <a:solidFill>
                  <a:srgbClr val="C000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1200" b="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dom</a:t>
            </a:r>
            <a:r>
              <a:rPr lang="en-US" altLang="zh-CN" sz="1200" b="0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 </a:t>
            </a:r>
            <a:r>
              <a:rPr lang="en-US" altLang="zh-CN" sz="1200" b="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 </a:t>
            </a:r>
            <a:r>
              <a:rPr lang="en-US" altLang="zh-CN" sz="1200" b="0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zh-CN" altLang="en-US" sz="1200" b="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，</a:t>
            </a:r>
            <a:r>
              <a:rPr lang="en-US" altLang="zh-CN" sz="1200" b="0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ran</a:t>
            </a:r>
            <a:r>
              <a:rPr lang="en-US" altLang="zh-CN" sz="1200" b="0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</a:t>
            </a:r>
            <a:r>
              <a:rPr lang="en-US" altLang="zh-CN" sz="1200" b="0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1200" b="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1200" b="0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B</a:t>
            </a:r>
            <a:r>
              <a:rPr lang="zh-CN" altLang="en-US" sz="1200" b="0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；</a:t>
            </a:r>
            <a:r>
              <a:rPr lang="en-US" altLang="zh-CN" sz="1200" b="0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zh-CN" altLang="en-US" sz="1200" b="0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、</a:t>
            </a:r>
            <a:r>
              <a:rPr lang="zh-CN" altLang="en-US" sz="1200" b="0" dirty="0">
                <a:latin typeface="Times New Roman" panose="02020603050405020304" pitchFamily="18" charset="0"/>
              </a:rPr>
              <a:t>若 </a:t>
            </a:r>
            <a:r>
              <a:rPr lang="zh-CN" altLang="en-US" sz="1200" b="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1200" b="0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1200" b="0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∈dom</a:t>
            </a:r>
            <a:r>
              <a:rPr lang="en-US" altLang="zh-CN" sz="1200" b="0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</a:t>
            </a:r>
            <a:r>
              <a:rPr lang="en-US" altLang="zh-CN" sz="1200" b="0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zh-CN" altLang="en-US" sz="1200" b="0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，</a:t>
            </a:r>
            <a:r>
              <a:rPr lang="zh-CN" altLang="en-US" sz="1200" b="0" dirty="0">
                <a:latin typeface="Times New Roman" panose="02020603050405020304" pitchFamily="18" charset="0"/>
              </a:rPr>
              <a:t>都存在</a:t>
            </a:r>
            <a:r>
              <a:rPr lang="zh-CN" altLang="en-US" sz="1200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唯一的</a:t>
            </a:r>
            <a:r>
              <a:rPr lang="en-US" altLang="zh-CN" sz="1200" b="0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1200" b="0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∈ran</a:t>
            </a:r>
            <a:r>
              <a:rPr lang="en-US" altLang="zh-CN" sz="1200" b="0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</a:t>
            </a:r>
            <a:r>
              <a:rPr lang="en-US" altLang="zh-CN" sz="1200" b="0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zh-CN" altLang="en-US" sz="1200" b="0" dirty="0">
                <a:latin typeface="Times New Roman" panose="02020603050405020304" pitchFamily="18" charset="0"/>
              </a:rPr>
              <a:t>使 </a:t>
            </a:r>
            <a:r>
              <a:rPr lang="en-US" altLang="zh-CN" sz="1200" b="0" i="1" dirty="0" err="1">
                <a:latin typeface="Times New Roman" panose="02020603050405020304" pitchFamily="18" charset="0"/>
              </a:rPr>
              <a:t>xFy</a:t>
            </a:r>
            <a:r>
              <a:rPr lang="en-US" altLang="zh-CN" sz="1200" b="0" i="1" dirty="0">
                <a:latin typeface="Times New Roman" panose="02020603050405020304" pitchFamily="18" charset="0"/>
              </a:rPr>
              <a:t> </a:t>
            </a:r>
            <a:r>
              <a:rPr lang="zh-CN" altLang="en-US" sz="1200" b="0" dirty="0">
                <a:latin typeface="Times New Roman" panose="02020603050405020304" pitchFamily="18" charset="0"/>
              </a:rPr>
              <a:t>成立。</a:t>
            </a:r>
            <a:endParaRPr lang="en-US" altLang="zh-CN" sz="1200" b="0" i="0" dirty="0">
              <a:latin typeface="Times New Roman" panose="02020603050405020304" pitchFamily="18" charset="0"/>
            </a:endParaRPr>
          </a:p>
          <a:p>
            <a:r>
              <a:rPr lang="en-US" altLang="zh-CN" sz="1200" b="0" i="0" dirty="0">
                <a:latin typeface="Times New Roman" panose="02020603050405020304" pitchFamily="18" charset="0"/>
              </a:rPr>
              <a:t>1</a:t>
            </a:r>
            <a:r>
              <a:rPr lang="zh-CN" altLang="en-US" sz="1200" b="0" i="0" dirty="0">
                <a:latin typeface="Times New Roman" panose="02020603050405020304" pitchFamily="18" charset="0"/>
              </a:rPr>
              <a:t>、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A=</a:t>
            </a:r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， </a:t>
            </a:r>
            <a:r>
              <a:rPr lang="zh-CN" altLang="en-US" sz="1200" b="0" i="0" dirty="0">
                <a:latin typeface="Times New Roman" panose="02020603050405020304" pitchFamily="18" charset="0"/>
              </a:rPr>
              <a:t>则 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B</a:t>
            </a:r>
            <a:r>
              <a:rPr lang="en-US" altLang="zh-CN" sz="1200" b="0" i="0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=B</a:t>
            </a:r>
            <a:r>
              <a:rPr lang="en-US" altLang="zh-CN" sz="1200" b="0" i="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={</a:t>
            </a:r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}</a:t>
            </a:r>
            <a:r>
              <a:rPr lang="zh-CN" altLang="en-US" sz="1200" b="0" i="0" dirty="0">
                <a:latin typeface="Times New Roman" panose="02020603050405020304" pitchFamily="18" charset="0"/>
              </a:rPr>
              <a:t>。说明有一个函数满足条件，这个函数为空集。</a:t>
            </a:r>
            <a:endParaRPr lang="en-US" altLang="zh-CN" sz="1200" b="0" i="0" dirty="0">
              <a:latin typeface="Times New Roman" panose="02020603050405020304" pitchFamily="18" charset="0"/>
            </a:endParaRPr>
          </a:p>
          <a:p>
            <a:r>
              <a:rPr lang="en-US" altLang="zh-CN" sz="1200" b="0" i="0" dirty="0">
                <a:latin typeface="Times New Roman" panose="02020603050405020304" pitchFamily="18" charset="0"/>
              </a:rPr>
              <a:t>     </a:t>
            </a:r>
            <a:r>
              <a:rPr lang="zh-CN" altLang="en-US" sz="1200" b="0" i="0" dirty="0">
                <a:latin typeface="Times New Roman" panose="02020603050405020304" pitchFamily="18" charset="0"/>
              </a:rPr>
              <a:t>对于第二个条件，蕴含运算前件为假，公式为真。</a:t>
            </a:r>
            <a:endParaRPr lang="en-US" altLang="zh-CN" sz="1200" b="0" i="0" dirty="0">
              <a:latin typeface="Times New Roman" panose="02020603050405020304" pitchFamily="18" charset="0"/>
            </a:endParaRPr>
          </a:p>
          <a:p>
            <a:endParaRPr lang="en-US" altLang="zh-CN" sz="1200" b="0" i="0" dirty="0">
              <a:latin typeface="Times New Roman" panose="02020603050405020304" pitchFamily="18" charset="0"/>
            </a:endParaRPr>
          </a:p>
          <a:p>
            <a:r>
              <a:rPr lang="en-US" altLang="zh-CN" sz="1200" b="0" i="0" dirty="0">
                <a:latin typeface="Times New Roman" panose="02020603050405020304" pitchFamily="18" charset="0"/>
              </a:rPr>
              <a:t>2</a:t>
            </a:r>
            <a:r>
              <a:rPr lang="zh-CN" altLang="en-US" sz="1200" b="0" i="0" dirty="0">
                <a:latin typeface="Times New Roman" panose="02020603050405020304" pitchFamily="18" charset="0"/>
              </a:rPr>
              <a:t>、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A≠</a:t>
            </a:r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1200" b="0" i="0" dirty="0">
                <a:latin typeface="Times New Roman" panose="02020603050405020304" pitchFamily="18" charset="0"/>
              </a:rPr>
              <a:t>且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B=</a:t>
            </a:r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1200" b="0" i="0" dirty="0">
                <a:latin typeface="Times New Roman" panose="02020603050405020304" pitchFamily="18" charset="0"/>
              </a:rPr>
              <a:t>则 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B</a:t>
            </a:r>
            <a:r>
              <a:rPr lang="en-US" altLang="zh-CN" sz="1200" b="0" i="0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=</a:t>
            </a:r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1200" b="0" i="0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= </a:t>
            </a:r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。说明没有函数满足条件。</a:t>
            </a:r>
            <a:endParaRPr lang="en-US" altLang="zh-CN" sz="1200" b="0" i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dirty="0">
                <a:latin typeface="Times New Roman" panose="02020603050405020304" pitchFamily="18" charset="0"/>
              </a:rPr>
              <a:t>     对于第二个条件，蕴含运算前件为真，后件为假，公式为假。</a:t>
            </a:r>
            <a:endParaRPr lang="en-US" altLang="zh-CN" sz="1200" b="0" i="0" dirty="0">
              <a:latin typeface="Times New Roman" panose="02020603050405020304" pitchFamily="18" charset="0"/>
            </a:endParaRPr>
          </a:p>
          <a:p>
            <a:endParaRPr lang="zh-CN" altLang="en-US" b="0" i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0C8DC3-4AD2-4BCD-A6A0-23D815859075}" type="slidenum">
              <a:rPr lang="en-US" altLang="zh-CN" smtClean="0"/>
              <a:pPr>
                <a:defRPr/>
              </a:pPr>
              <a:t>118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6750440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73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|A|=3</a:t>
            </a:r>
            <a:r>
              <a:rPr lang="zh-CN" altLang="en-US">
                <a:latin typeface="Arial" panose="020B0604020202020204" pitchFamily="34" charset="0"/>
              </a:rPr>
              <a:t>，</a:t>
            </a:r>
            <a:r>
              <a:rPr lang="en-US" altLang="zh-CN">
                <a:latin typeface="Arial" panose="020B0604020202020204" pitchFamily="34" charset="0"/>
              </a:rPr>
              <a:t>|B|=2</a:t>
            </a:r>
            <a:r>
              <a:rPr lang="zh-CN" altLang="en-US">
                <a:latin typeface="Arial" panose="020B0604020202020204" pitchFamily="34" charset="0"/>
              </a:rPr>
              <a:t>，</a:t>
            </a:r>
            <a:r>
              <a:rPr lang="en-US" altLang="zh-CN">
                <a:latin typeface="Arial" panose="020B0604020202020204" pitchFamily="34" charset="0"/>
              </a:rPr>
              <a:t>|B</a:t>
            </a:r>
            <a:r>
              <a:rPr lang="en-US" altLang="zh-CN" baseline="30000">
                <a:latin typeface="Arial" panose="020B0604020202020204" pitchFamily="34" charset="0"/>
              </a:rPr>
              <a:t>A</a:t>
            </a:r>
            <a:r>
              <a:rPr lang="en-US" altLang="zh-CN">
                <a:latin typeface="Arial" panose="020B0604020202020204" pitchFamily="34" charset="0"/>
              </a:rPr>
              <a:t>|=2</a:t>
            </a:r>
            <a:r>
              <a:rPr lang="en-US" altLang="zh-CN" baseline="30000">
                <a:latin typeface="Arial" panose="020B0604020202020204" pitchFamily="34" charset="0"/>
              </a:rPr>
              <a:t>3</a:t>
            </a:r>
            <a:r>
              <a:rPr lang="en-US" altLang="zh-CN">
                <a:latin typeface="Arial" panose="020B0604020202020204" pitchFamily="34" charset="0"/>
              </a:rPr>
              <a:t>=8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873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C8B4EFC-A0C6-4E77-B4B0-F9B664AA8607}" type="slidenum">
              <a:rPr lang="en-US" altLang="zh-CN" sz="1200">
                <a:latin typeface="Arial" panose="020B0604020202020204" pitchFamily="34" charset="0"/>
              </a:rPr>
              <a:pPr/>
              <a:t>119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71198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944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函数值是单个元素，函数的像是一个集合（给定</a:t>
            </a:r>
            <a:r>
              <a:rPr lang="en-US" altLang="zh-CN" dirty="0">
                <a:latin typeface="Arial" panose="020B0604020202020204" pitchFamily="34" charset="0"/>
              </a:rPr>
              <a:t>A1</a:t>
            </a:r>
            <a:r>
              <a:rPr lang="zh-CN" altLang="en-US" dirty="0">
                <a:latin typeface="Arial" panose="020B0604020202020204" pitchFamily="34" charset="0"/>
              </a:rPr>
              <a:t>，求</a:t>
            </a:r>
            <a:r>
              <a:rPr lang="en-US" altLang="zh-CN" dirty="0">
                <a:latin typeface="Arial" panose="020B0604020202020204" pitchFamily="34" charset="0"/>
              </a:rPr>
              <a:t>f(A1)</a:t>
            </a:r>
            <a:r>
              <a:rPr lang="zh-CN" altLang="en-US" dirty="0">
                <a:latin typeface="Arial" panose="020B0604020202020204" pitchFamily="34" charset="0"/>
              </a:rPr>
              <a:t>的集合）</a:t>
            </a:r>
          </a:p>
        </p:txBody>
      </p:sp>
      <p:sp>
        <p:nvSpPr>
          <p:cNvPr id="1894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BB59904-DB93-4B5D-BC6A-CA72E2F7F888}" type="slidenum">
              <a:rPr lang="en-US" altLang="zh-CN" sz="1200">
                <a:latin typeface="Arial" panose="020B0604020202020204" pitchFamily="34" charset="0"/>
              </a:rPr>
              <a:pPr/>
              <a:t>120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444325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149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下面我们来学函数的性质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满射：即值域中的每个值都对应上了</a:t>
            </a:r>
            <a:r>
              <a:rPr lang="en-US" altLang="zh-CN" dirty="0">
                <a:latin typeface="Arial" panose="020B0604020202020204" pitchFamily="34" charset="0"/>
              </a:rPr>
              <a:t>x</a:t>
            </a:r>
            <a:r>
              <a:rPr lang="zh-CN" altLang="en-US" dirty="0">
                <a:latin typeface="Arial" panose="020B0604020202020204" pitchFamily="34" charset="0"/>
              </a:rPr>
              <a:t>，则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| Y |=| </a:t>
            </a:r>
            <a:r>
              <a:rPr lang="en-US" altLang="zh-CN" i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f 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(X) | 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 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| X |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单射：一个</a:t>
            </a:r>
            <a:r>
              <a:rPr lang="en-US" altLang="zh-CN" dirty="0">
                <a:latin typeface="Arial" panose="020B0604020202020204" pitchFamily="34" charset="0"/>
              </a:rPr>
              <a:t>x</a:t>
            </a:r>
            <a:r>
              <a:rPr lang="zh-CN" altLang="en-US" dirty="0">
                <a:latin typeface="Arial" panose="020B0604020202020204" pitchFamily="34" charset="0"/>
              </a:rPr>
              <a:t>对应一个</a:t>
            </a:r>
            <a:r>
              <a:rPr lang="en-US" altLang="zh-CN" dirty="0">
                <a:latin typeface="Arial" panose="020B0604020202020204" pitchFamily="34" charset="0"/>
              </a:rPr>
              <a:t>y, 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则  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| 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X |= | </a:t>
            </a:r>
            <a:r>
              <a:rPr lang="en-US" altLang="zh-CN" i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f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(X) | 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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 | Y |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双射：一个</a:t>
            </a:r>
            <a:r>
              <a:rPr lang="en-US" altLang="zh-CN" dirty="0">
                <a:latin typeface="Arial" panose="020B0604020202020204" pitchFamily="34" charset="0"/>
              </a:rPr>
              <a:t>x</a:t>
            </a:r>
            <a:r>
              <a:rPr lang="zh-CN" altLang="en-US" dirty="0">
                <a:latin typeface="Arial" panose="020B0604020202020204" pitchFamily="34" charset="0"/>
              </a:rPr>
              <a:t>对应一个</a:t>
            </a:r>
            <a:r>
              <a:rPr lang="en-US" altLang="zh-CN" dirty="0">
                <a:latin typeface="Arial" panose="020B0604020202020204" pitchFamily="34" charset="0"/>
              </a:rPr>
              <a:t>y</a:t>
            </a:r>
            <a:r>
              <a:rPr lang="zh-CN" altLang="en-US" dirty="0">
                <a:latin typeface="Arial" panose="020B0604020202020204" pitchFamily="34" charset="0"/>
              </a:rPr>
              <a:t>，并且每个</a:t>
            </a:r>
            <a:r>
              <a:rPr lang="en-US" altLang="zh-CN" dirty="0">
                <a:latin typeface="Arial" panose="020B0604020202020204" pitchFamily="34" charset="0"/>
              </a:rPr>
              <a:t>y</a:t>
            </a:r>
            <a:r>
              <a:rPr lang="zh-CN" altLang="en-US" dirty="0">
                <a:latin typeface="Arial" panose="020B0604020202020204" pitchFamily="34" charset="0"/>
              </a:rPr>
              <a:t>都对应一个</a:t>
            </a:r>
            <a:r>
              <a:rPr lang="en-US" altLang="zh-CN" dirty="0">
                <a:latin typeface="Arial" panose="020B0604020202020204" pitchFamily="34" charset="0"/>
              </a:rPr>
              <a:t>x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则  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| 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X |= | </a:t>
            </a:r>
            <a:r>
              <a:rPr lang="en-US" altLang="zh-CN" i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f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(X) | 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= 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| Y |</a:t>
            </a:r>
          </a:p>
          <a:p>
            <a:endParaRPr lang="en-US" altLang="zh-CN" dirty="0">
              <a:solidFill>
                <a:srgbClr val="0000FF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200" dirty="0">
                <a:latin typeface="宋体" panose="02010600030101010101" pitchFamily="2" charset="-122"/>
              </a:rPr>
              <a:t>证明要点：</a:t>
            </a:r>
            <a:endParaRPr lang="en-US" altLang="zh-CN" sz="1200" dirty="0">
              <a:latin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200" dirty="0">
                <a:latin typeface="宋体" panose="02010600030101010101" pitchFamily="2" charset="-122"/>
              </a:rPr>
              <a:t> </a:t>
            </a:r>
            <a:r>
              <a:rPr lang="en-US" altLang="zh-CN" sz="1200" dirty="0"/>
              <a:t>(1) </a:t>
            </a:r>
            <a:r>
              <a:rPr lang="en-US" altLang="zh-CN" sz="1200" i="1" dirty="0"/>
              <a:t>f</a:t>
            </a:r>
            <a:r>
              <a:rPr lang="zh-CN" altLang="en-US" sz="1200" dirty="0">
                <a:latin typeface="宋体" panose="02010600030101010101" pitchFamily="2" charset="-122"/>
                <a:sym typeface="Symbol" panose="05050102010706020507" pitchFamily="18" charset="2"/>
              </a:rPr>
              <a:t>是单射</a:t>
            </a:r>
            <a:r>
              <a:rPr lang="en-US" altLang="zh-CN" sz="1200" dirty="0">
                <a:latin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1200" dirty="0">
                <a:latin typeface="宋体" panose="02010600030101010101" pitchFamily="2" charset="-122"/>
                <a:sym typeface="Symbol" panose="05050102010706020507" pitchFamily="18" charset="2"/>
              </a:rPr>
              <a:t>内射</a:t>
            </a:r>
            <a:r>
              <a:rPr lang="en-US" altLang="zh-CN" sz="1200" dirty="0">
                <a:latin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1200" dirty="0">
                <a:latin typeface="宋体" panose="02010600030101010101" pitchFamily="2" charset="-122"/>
              </a:rPr>
              <a:t>函数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200" dirty="0">
                <a:latin typeface="宋体" panose="02010600030101010101" pitchFamily="2" charset="-122"/>
              </a:rPr>
              <a:t>       </a:t>
            </a:r>
            <a:r>
              <a:rPr lang="zh-CN" altLang="en-US" sz="1200" dirty="0">
                <a:sym typeface="Symbol" panose="05050102010706020507" pitchFamily="18" charset="2"/>
              </a:rPr>
              <a:t></a:t>
            </a:r>
            <a:r>
              <a:rPr lang="en-US" altLang="zh-CN" sz="1200" dirty="0">
                <a:sym typeface="Symbol" panose="05050102010706020507" pitchFamily="18" charset="2"/>
              </a:rPr>
              <a:t>(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1</a:t>
            </a:r>
            <a:r>
              <a:rPr lang="en-US" altLang="zh-CN" sz="1200" dirty="0">
                <a:sym typeface="Symbol" panose="05050102010706020507" pitchFamily="18" charset="2"/>
              </a:rPr>
              <a:t>X)(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2</a:t>
            </a:r>
            <a:r>
              <a:rPr lang="en-US" altLang="zh-CN" sz="1200" dirty="0">
                <a:sym typeface="Symbol" panose="05050102010706020507" pitchFamily="18" charset="2"/>
              </a:rPr>
              <a:t>X)(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1</a:t>
            </a:r>
            <a:r>
              <a:rPr lang="en-US" altLang="zh-CN" sz="1200" dirty="0">
                <a:sym typeface="Symbol" panose="05050102010706020507" pitchFamily="18" charset="2"/>
              </a:rPr>
              <a:t> 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2 </a:t>
            </a:r>
            <a:r>
              <a:rPr lang="en-US" altLang="zh-CN" sz="1200" dirty="0">
                <a:sym typeface="Symbol" panose="05050102010706020507" pitchFamily="18" charset="2"/>
              </a:rPr>
              <a:t></a:t>
            </a:r>
            <a:r>
              <a:rPr lang="en-US" altLang="zh-CN" sz="1200" baseline="-25000" dirty="0"/>
              <a:t> </a:t>
            </a:r>
            <a:r>
              <a:rPr lang="en-US" altLang="zh-CN" sz="1200" i="1" dirty="0"/>
              <a:t>f</a:t>
            </a:r>
            <a:r>
              <a:rPr lang="en-US" altLang="zh-CN" sz="1200" dirty="0"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1</a:t>
            </a:r>
            <a:r>
              <a:rPr lang="en-US" altLang="zh-CN" sz="1200" dirty="0">
                <a:sym typeface="Symbol" panose="05050102010706020507" pitchFamily="18" charset="2"/>
              </a:rPr>
              <a:t>)  </a:t>
            </a:r>
            <a:r>
              <a:rPr lang="en-US" altLang="zh-CN" sz="1200" i="1" dirty="0"/>
              <a:t>f</a:t>
            </a:r>
            <a:r>
              <a:rPr lang="en-US" altLang="zh-CN" sz="1200" dirty="0"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2 </a:t>
            </a:r>
            <a:r>
              <a:rPr lang="en-US" altLang="zh-CN" sz="1200" dirty="0">
                <a:sym typeface="Symbol" panose="05050102010706020507" pitchFamily="18" charset="2"/>
              </a:rPr>
              <a:t>) </a:t>
            </a:r>
            <a:r>
              <a:rPr lang="en-US" altLang="zh-CN" sz="1200" dirty="0"/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200" dirty="0">
                <a:sym typeface="Symbol" panose="05050102010706020507" pitchFamily="18" charset="2"/>
              </a:rPr>
              <a:t>       (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1</a:t>
            </a:r>
            <a:r>
              <a:rPr lang="en-US" altLang="zh-CN" sz="1200" dirty="0">
                <a:sym typeface="Symbol" panose="05050102010706020507" pitchFamily="18" charset="2"/>
              </a:rPr>
              <a:t>X)(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2</a:t>
            </a:r>
            <a:r>
              <a:rPr lang="en-US" altLang="zh-CN" sz="1200" dirty="0">
                <a:sym typeface="Symbol" panose="05050102010706020507" pitchFamily="18" charset="2"/>
              </a:rPr>
              <a:t>X)(</a:t>
            </a:r>
            <a:r>
              <a:rPr lang="en-US" altLang="zh-CN" sz="1200" i="1" dirty="0"/>
              <a:t>f</a:t>
            </a:r>
            <a:r>
              <a:rPr lang="en-US" altLang="zh-CN" sz="1200" dirty="0"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1</a:t>
            </a:r>
            <a:r>
              <a:rPr lang="en-US" altLang="zh-CN" sz="1200" dirty="0">
                <a:sym typeface="Symbol" panose="05050102010706020507" pitchFamily="18" charset="2"/>
              </a:rPr>
              <a:t>) =</a:t>
            </a:r>
            <a:r>
              <a:rPr lang="en-US" altLang="zh-CN" sz="1200" i="1" dirty="0"/>
              <a:t>f</a:t>
            </a:r>
            <a:r>
              <a:rPr lang="en-US" altLang="zh-CN" sz="1200" dirty="0"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2 </a:t>
            </a:r>
            <a:r>
              <a:rPr lang="en-US" altLang="zh-CN" sz="1200" dirty="0">
                <a:sym typeface="Symbol" panose="05050102010706020507" pitchFamily="18" charset="2"/>
              </a:rPr>
              <a:t>)  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1</a:t>
            </a:r>
            <a:r>
              <a:rPr lang="en-US" altLang="zh-CN" sz="1200" dirty="0">
                <a:sym typeface="Symbol" panose="05050102010706020507" pitchFamily="18" charset="2"/>
              </a:rPr>
              <a:t> =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2 </a:t>
            </a:r>
            <a:r>
              <a:rPr lang="en-US" altLang="zh-CN" sz="1200" dirty="0"/>
              <a:t>)</a:t>
            </a:r>
            <a:r>
              <a:rPr lang="zh-CN" altLang="en-US" sz="1200" dirty="0"/>
              <a:t>；</a:t>
            </a:r>
            <a:endParaRPr lang="zh-CN" altLang="en-US" sz="1200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200" dirty="0">
                <a:sym typeface="Symbol" panose="05050102010706020507" pitchFamily="18" charset="2"/>
              </a:rPr>
              <a:t>(2) </a:t>
            </a:r>
            <a:r>
              <a:rPr lang="en-US" altLang="zh-CN" sz="1200" i="1" dirty="0"/>
              <a:t>f</a:t>
            </a:r>
            <a:r>
              <a:rPr lang="zh-CN" altLang="en-US" sz="1200" dirty="0">
                <a:latin typeface="宋体" panose="02010600030101010101" pitchFamily="2" charset="-122"/>
                <a:sym typeface="Symbol" panose="05050102010706020507" pitchFamily="18" charset="2"/>
              </a:rPr>
              <a:t>是满射</a:t>
            </a:r>
            <a:r>
              <a:rPr lang="zh-CN" altLang="en-US" sz="1200" dirty="0">
                <a:latin typeface="宋体" panose="02010600030101010101" pitchFamily="2" charset="-122"/>
              </a:rPr>
              <a:t>函数</a:t>
            </a:r>
            <a:endParaRPr lang="en-US" altLang="zh-CN" sz="1200" dirty="0">
              <a:latin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200" dirty="0">
                <a:latin typeface="宋体" panose="02010600030101010101" pitchFamily="2" charset="-122"/>
                <a:sym typeface="Symbol" panose="05050102010706020507" pitchFamily="18" charset="2"/>
              </a:rPr>
              <a:t>       </a:t>
            </a:r>
            <a:r>
              <a:rPr lang="zh-CN" altLang="en-US" sz="1200" dirty="0">
                <a:sym typeface="Symbol" panose="05050102010706020507" pitchFamily="18" charset="2"/>
              </a:rPr>
              <a:t></a:t>
            </a:r>
            <a:r>
              <a:rPr lang="en-US" altLang="zh-CN" sz="1200" dirty="0">
                <a:sym typeface="Symbol" panose="05050102010706020507" pitchFamily="18" charset="2"/>
              </a:rPr>
              <a:t>(</a:t>
            </a:r>
            <a:r>
              <a:rPr lang="en-US" altLang="zh-CN" sz="1200" i="1" dirty="0" err="1"/>
              <a:t>y</a:t>
            </a:r>
            <a:r>
              <a:rPr lang="en-US" altLang="zh-CN" sz="1200" dirty="0" err="1">
                <a:sym typeface="Symbol" panose="05050102010706020507" pitchFamily="18" charset="2"/>
              </a:rPr>
              <a:t>Y</a:t>
            </a:r>
            <a:r>
              <a:rPr lang="en-US" altLang="zh-CN" sz="1200" dirty="0">
                <a:sym typeface="Symbol" panose="05050102010706020507" pitchFamily="18" charset="2"/>
              </a:rPr>
              <a:t>)(</a:t>
            </a:r>
            <a:r>
              <a:rPr lang="en-US" altLang="zh-CN" sz="1200" i="1" dirty="0" err="1"/>
              <a:t>x</a:t>
            </a:r>
            <a:r>
              <a:rPr lang="en-US" altLang="zh-CN" sz="1200" dirty="0" err="1">
                <a:sym typeface="Symbol" panose="05050102010706020507" pitchFamily="18" charset="2"/>
              </a:rPr>
              <a:t>X</a:t>
            </a:r>
            <a:r>
              <a:rPr lang="en-US" altLang="zh-CN" sz="1200" dirty="0">
                <a:sym typeface="Symbol" panose="05050102010706020507" pitchFamily="18" charset="2"/>
              </a:rPr>
              <a:t>)(</a:t>
            </a:r>
            <a:r>
              <a:rPr lang="en-US" altLang="zh-CN" sz="1200" baseline="-25000" dirty="0"/>
              <a:t> </a:t>
            </a:r>
            <a:r>
              <a:rPr lang="en-US" altLang="zh-CN" sz="1200" i="1" dirty="0"/>
              <a:t>f</a:t>
            </a:r>
            <a:r>
              <a:rPr lang="en-US" altLang="zh-CN" sz="1200" dirty="0"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x</a:t>
            </a:r>
            <a:r>
              <a:rPr lang="en-US" altLang="zh-CN" sz="1200" dirty="0">
                <a:sym typeface="Symbol" panose="05050102010706020507" pitchFamily="18" charset="2"/>
              </a:rPr>
              <a:t>)= </a:t>
            </a:r>
            <a:r>
              <a:rPr lang="en-US" altLang="zh-CN" sz="1200" i="1" dirty="0"/>
              <a:t>y</a:t>
            </a:r>
            <a:r>
              <a:rPr lang="en-US" altLang="zh-CN" sz="1200" dirty="0">
                <a:sym typeface="Symbol" panose="05050102010706020507" pitchFamily="18" charset="2"/>
              </a:rPr>
              <a:t> </a:t>
            </a:r>
            <a:r>
              <a:rPr lang="en-US" altLang="zh-CN" sz="1200" dirty="0"/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200" dirty="0">
                <a:sym typeface="Symbol" panose="05050102010706020507" pitchFamily="18" charset="2"/>
              </a:rPr>
              <a:t>        R</a:t>
            </a:r>
            <a:r>
              <a:rPr lang="en-US" altLang="zh-CN" sz="1200" dirty="0">
                <a:ea typeface="Arial Unicode MS" pitchFamily="34" charset="-122"/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f</a:t>
            </a:r>
            <a:r>
              <a:rPr lang="en-US" altLang="zh-CN" sz="1200" dirty="0">
                <a:ea typeface="Arial Unicode MS" pitchFamily="34" charset="-122"/>
                <a:sym typeface="Symbol" panose="05050102010706020507" pitchFamily="18" charset="2"/>
              </a:rPr>
              <a:t>)= </a:t>
            </a:r>
            <a:r>
              <a:rPr lang="en-US" altLang="zh-CN" sz="1200" dirty="0">
                <a:sym typeface="Symbol" panose="05050102010706020507" pitchFamily="18" charset="2"/>
              </a:rPr>
              <a:t>Y</a:t>
            </a:r>
          </a:p>
        </p:txBody>
      </p:sp>
      <p:sp>
        <p:nvSpPr>
          <p:cNvPr id="1914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DBDDF17-2FEE-4A22-A064-1956CF7AC3F5}" type="slidenum">
              <a:rPr lang="en-US" altLang="zh-CN" sz="1200">
                <a:latin typeface="Arial" panose="020B0604020202020204" pitchFamily="34" charset="0"/>
              </a:rPr>
              <a:pPr/>
              <a:t>121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45776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5919DC4-09AC-44EF-BFD2-2EFAE4FDA14B}" type="slidenum">
              <a:rPr lang="en-US" altLang="zh-CN" sz="1200">
                <a:latin typeface="Arial" panose="020B0604020202020204" pitchFamily="34" charset="0"/>
              </a:rPr>
              <a:pPr/>
              <a:t>122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b="0" dirty="0">
                <a:solidFill>
                  <a:schemeClr val="bg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</a:t>
            </a:r>
            <a:r>
              <a:rPr lang="en-US" altLang="zh-CN" b="0" i="1" dirty="0">
                <a:solidFill>
                  <a:schemeClr val="bg2"/>
                </a:solidFill>
                <a:latin typeface="Arial" panose="020B0604020202020204" pitchFamily="34" charset="0"/>
              </a:rPr>
              <a:t>x</a:t>
            </a:r>
            <a:r>
              <a:rPr lang="en-US" altLang="zh-CN" b="0" dirty="0">
                <a:solidFill>
                  <a:schemeClr val="bg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 </a:t>
            </a:r>
            <a:r>
              <a:rPr lang="zh-CN" altLang="en-US" b="0" dirty="0">
                <a:solidFill>
                  <a:schemeClr val="bg2"/>
                </a:solidFill>
                <a:latin typeface="Arial" panose="020B0604020202020204" pitchFamily="34" charset="0"/>
              </a:rPr>
              <a:t>表示小于等于</a:t>
            </a:r>
            <a:r>
              <a:rPr lang="en-US" altLang="zh-CN" b="0" dirty="0">
                <a:solidFill>
                  <a:schemeClr val="bg2"/>
                </a:solidFill>
                <a:latin typeface="Arial" panose="020B0604020202020204" pitchFamily="34" charset="0"/>
              </a:rPr>
              <a:t>x</a:t>
            </a:r>
            <a:r>
              <a:rPr lang="zh-CN" altLang="en-US" b="0" dirty="0">
                <a:solidFill>
                  <a:schemeClr val="bg2"/>
                </a:solidFill>
                <a:latin typeface="Arial" panose="020B0604020202020204" pitchFamily="34" charset="0"/>
              </a:rPr>
              <a:t>的最大的整数。</a:t>
            </a:r>
            <a:endParaRPr lang="en-US" altLang="zh-CN" b="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eaLnBrk="1" hangingPunct="1"/>
            <a:endParaRPr lang="en-US" altLang="zh-CN" b="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b="0" dirty="0">
                <a:solidFill>
                  <a:schemeClr val="bg2"/>
                </a:solidFill>
                <a:latin typeface="Arial" panose="020B0604020202020204" pitchFamily="34" charset="0"/>
              </a:rPr>
              <a:t>函数的性质与函数有关，并且和集合</a:t>
            </a:r>
            <a:r>
              <a:rPr lang="en-US" altLang="zh-CN" b="0" dirty="0">
                <a:solidFill>
                  <a:schemeClr val="bg2"/>
                </a:solidFill>
                <a:latin typeface="Arial" panose="020B0604020202020204" pitchFamily="34" charset="0"/>
              </a:rPr>
              <a:t>A</a:t>
            </a:r>
            <a:r>
              <a:rPr lang="zh-CN" altLang="en-US" b="0" dirty="0">
                <a:solidFill>
                  <a:schemeClr val="bg2"/>
                </a:solidFill>
                <a:latin typeface="Arial" panose="020B0604020202020204" pitchFamily="34" charset="0"/>
              </a:rPr>
              <a:t>、</a:t>
            </a:r>
            <a:r>
              <a:rPr lang="en-US" altLang="zh-CN" b="0" dirty="0">
                <a:solidFill>
                  <a:schemeClr val="bg2"/>
                </a:solidFill>
                <a:latin typeface="Arial" panose="020B0604020202020204" pitchFamily="34" charset="0"/>
              </a:rPr>
              <a:t>B</a:t>
            </a:r>
            <a:r>
              <a:rPr lang="zh-CN" altLang="en-US" b="0" dirty="0">
                <a:solidFill>
                  <a:schemeClr val="bg2"/>
                </a:solidFill>
                <a:latin typeface="Arial" panose="020B0604020202020204" pitchFamily="34" charset="0"/>
              </a:rPr>
              <a:t>也有关，两者都要考虑。（函数可以从曲线上直观判断）</a:t>
            </a:r>
          </a:p>
        </p:txBody>
      </p:sp>
    </p:spTree>
    <p:extLst>
      <p:ext uri="{BB962C8B-B14F-4D97-AF65-F5344CB8AC3E}">
        <p14:creationId xmlns:p14="http://schemas.microsoft.com/office/powerpoint/2010/main" val="2974411148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661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我们对双射函数最感兴趣。但实际上，真正的双射函数不多，不过我们可以通过人为构造将普通函数变成双射函数：首先，定义域计数</a:t>
            </a:r>
            <a:r>
              <a:rPr lang="en-US" altLang="zh-CN" dirty="0">
                <a:latin typeface="Arial" panose="020B0604020202020204" pitchFamily="34" charset="0"/>
              </a:rPr>
              <a:t>=</a:t>
            </a:r>
            <a:r>
              <a:rPr lang="zh-CN" altLang="en-US" dirty="0">
                <a:latin typeface="Arial" panose="020B0604020202020204" pitchFamily="34" charset="0"/>
              </a:rPr>
              <a:t>值域计数，然后指定其一一对应关系。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第一种做法（集合元素有限）：直接指定其一一对应关系</a:t>
            </a: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66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2EDB036-6E27-49B6-881B-6127C9C15BB4}" type="slidenum">
              <a:rPr lang="en-US" altLang="zh-CN" sz="1200">
                <a:latin typeface="Arial" panose="020B0604020202020204" pitchFamily="34" charset="0"/>
              </a:rPr>
              <a:pPr/>
              <a:t>124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56291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865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第二种做法：作图法</a:t>
            </a:r>
            <a:endParaRPr lang="en-US" altLang="zh-CN">
              <a:latin typeface="Arial" panose="020B0604020202020204" pitchFamily="34" charset="0"/>
            </a:endParaRPr>
          </a:p>
          <a:p>
            <a:endParaRPr lang="en-US" altLang="zh-CN">
              <a:latin typeface="Arial" panose="020B0604020202020204" pitchFamily="34" charset="0"/>
            </a:endParaRPr>
          </a:p>
          <a:p>
            <a:r>
              <a:rPr lang="zh-CN" altLang="en-US">
                <a:latin typeface="Arial" panose="020B0604020202020204" pitchFamily="34" charset="0"/>
              </a:rPr>
              <a:t>从图形上看</a:t>
            </a:r>
            <a:r>
              <a:rPr lang="en-US" altLang="zh-CN">
                <a:latin typeface="Arial" panose="020B0604020202020204" pitchFamily="34" charset="0"/>
              </a:rPr>
              <a:t>: </a:t>
            </a:r>
            <a:r>
              <a:rPr lang="zh-CN" altLang="en-US">
                <a:latin typeface="Arial" panose="020B0604020202020204" pitchFamily="34" charset="0"/>
              </a:rPr>
              <a:t>要单调递增或递减的（直线最简单直观，两点一条直线），定义域</a:t>
            </a:r>
            <a:r>
              <a:rPr lang="en-US" altLang="zh-CN">
                <a:latin typeface="Arial" panose="020B0604020202020204" pitchFamily="34" charset="0"/>
              </a:rPr>
              <a:t>=A</a:t>
            </a:r>
            <a:r>
              <a:rPr lang="zh-CN" altLang="en-US">
                <a:latin typeface="Arial" panose="020B0604020202020204" pitchFamily="34" charset="0"/>
              </a:rPr>
              <a:t>，值域</a:t>
            </a:r>
            <a:r>
              <a:rPr lang="en-US" altLang="zh-CN">
                <a:latin typeface="Arial" panose="020B0604020202020204" pitchFamily="34" charset="0"/>
              </a:rPr>
              <a:t>=B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986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5719F58-A19F-4FF4-98BF-4D08F50ACF0F}" type="slidenum">
              <a:rPr lang="en-US" altLang="zh-CN" sz="1200">
                <a:latin typeface="Arial" panose="020B0604020202020204" pitchFamily="34" charset="0"/>
              </a:rPr>
              <a:pPr/>
              <a:t>125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051367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4CD9B38-CA7D-4C3D-AC9D-E89C1045C4C3}" type="slidenum">
              <a:rPr lang="en-US" altLang="zh-CN" sz="1200">
                <a:latin typeface="Arial" panose="020B0604020202020204" pitchFamily="34" charset="0"/>
              </a:rPr>
              <a:pPr/>
              <a:t>126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200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第三种：无穷集合对应无穷集合，先指出映射元素，然后再写函数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/>
            <a:endParaRPr lang="en-US" altLang="zh-CN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例</a:t>
            </a:r>
            <a:r>
              <a:rPr lang="en-US" altLang="zh-CN">
                <a:latin typeface="Arial" panose="020B0604020202020204" pitchFamily="34" charset="0"/>
              </a:rPr>
              <a:t>7</a:t>
            </a:r>
            <a:r>
              <a:rPr lang="zh-CN" altLang="en-US">
                <a:latin typeface="Arial" panose="020B0604020202020204" pitchFamily="34" charset="0"/>
              </a:rPr>
              <a:t>，负数对应奇数，正数对应偶数即可。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/>
            <a:endParaRPr lang="en-US" altLang="zh-CN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平常思路，求无穷集合</a:t>
            </a:r>
            <a:r>
              <a:rPr lang="en-US" altLang="zh-CN">
                <a:latin typeface="Arial" panose="020B0604020202020204" pitchFamily="34" charset="0"/>
              </a:rPr>
              <a:t>A</a:t>
            </a:r>
            <a:r>
              <a:rPr lang="zh-CN" altLang="en-US">
                <a:latin typeface="Arial" panose="020B0604020202020204" pitchFamily="34" charset="0"/>
              </a:rPr>
              <a:t>到</a:t>
            </a:r>
            <a:r>
              <a:rPr lang="en-US" altLang="zh-CN">
                <a:latin typeface="Arial" panose="020B0604020202020204" pitchFamily="34" charset="0"/>
              </a:rPr>
              <a:t>B</a:t>
            </a:r>
            <a:r>
              <a:rPr lang="zh-CN" altLang="en-US">
                <a:latin typeface="Arial" panose="020B0604020202020204" pitchFamily="34" charset="0"/>
              </a:rPr>
              <a:t>的双射函数，首先看</a:t>
            </a:r>
            <a:r>
              <a:rPr lang="en-US" altLang="zh-CN">
                <a:latin typeface="Arial" panose="020B0604020202020204" pitchFamily="34" charset="0"/>
              </a:rPr>
              <a:t>A</a:t>
            </a:r>
            <a:r>
              <a:rPr lang="zh-CN" altLang="en-US">
                <a:latin typeface="Arial" panose="020B0604020202020204" pitchFamily="34" charset="0"/>
              </a:rPr>
              <a:t>是否能分类，比如正数、负数；然后看</a:t>
            </a:r>
            <a:r>
              <a:rPr lang="en-US" altLang="zh-CN">
                <a:latin typeface="Arial" panose="020B0604020202020204" pitchFamily="34" charset="0"/>
              </a:rPr>
              <a:t>B</a:t>
            </a:r>
            <a:r>
              <a:rPr lang="zh-CN" altLang="en-US">
                <a:latin typeface="Arial" panose="020B0604020202020204" pitchFamily="34" charset="0"/>
              </a:rPr>
              <a:t>是否能分类，比如奇数、偶数；最后建立一一对应关系。</a:t>
            </a:r>
          </a:p>
        </p:txBody>
      </p:sp>
    </p:spTree>
    <p:extLst>
      <p:ext uri="{BB962C8B-B14F-4D97-AF65-F5344CB8AC3E}">
        <p14:creationId xmlns:p14="http://schemas.microsoft.com/office/powerpoint/2010/main" val="724305316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275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除了双射函数，还有一些特殊的函数，我们来看下。</a:t>
            </a:r>
          </a:p>
        </p:txBody>
      </p:sp>
      <p:sp>
        <p:nvSpPr>
          <p:cNvPr id="202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C0FCF4F-680D-4699-B865-3C3BB74BBA8D}" type="slidenum">
              <a:rPr lang="en-US" altLang="zh-CN" sz="1200">
                <a:latin typeface="Arial" panose="020B0604020202020204" pitchFamily="34" charset="0"/>
              </a:rPr>
              <a:pPr/>
              <a:t>127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058355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0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特征函数是标识一个元素是否在一个子集中，若属于该子集，则值为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，若不属于，则值为</a:t>
            </a:r>
            <a:r>
              <a:rPr lang="en-US" altLang="zh-CN" dirty="0">
                <a:latin typeface="Arial" panose="020B0604020202020204" pitchFamily="34" charset="0"/>
              </a:rPr>
              <a:t>0</a:t>
            </a:r>
            <a:r>
              <a:rPr lang="zh-CN" altLang="en-US" dirty="0">
                <a:latin typeface="Arial" panose="020B0604020202020204" pitchFamily="34" charset="0"/>
              </a:rPr>
              <a:t>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特征函数可以定义很多集合的基本概念，比如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sz="1200" dirty="0">
                <a:sym typeface="Symbol" panose="05050102010706020507" pitchFamily="18" charset="2"/>
              </a:rPr>
              <a:t> </a:t>
            </a:r>
            <a:r>
              <a:rPr lang="en-US" altLang="zh-CN" sz="1200" baseline="-25000" dirty="0">
                <a:sym typeface="Symbol" panose="05050102010706020507" pitchFamily="18" charset="2"/>
              </a:rPr>
              <a:t>A </a:t>
            </a:r>
            <a:r>
              <a:rPr lang="en-US" altLang="zh-CN" sz="1200" b="1" dirty="0"/>
              <a:t>:</a:t>
            </a:r>
            <a:r>
              <a:rPr lang="en-US" altLang="zh-CN" sz="1200" dirty="0"/>
              <a:t>X</a:t>
            </a:r>
            <a:r>
              <a:rPr lang="en-US" altLang="zh-CN" sz="1200" dirty="0">
                <a:sym typeface="Symbol" panose="05050102010706020507" pitchFamily="18" charset="2"/>
              </a:rPr>
              <a:t>{0,1} 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200" dirty="0">
                <a:sym typeface="Symbol" panose="05050102010706020507" pitchFamily="18" charset="2"/>
              </a:rPr>
              <a:t>AB(</a:t>
            </a:r>
            <a:r>
              <a:rPr lang="en-US" altLang="zh-CN" sz="1200" i="1" dirty="0" err="1"/>
              <a:t>x</a:t>
            </a:r>
            <a:r>
              <a:rPr lang="en-US" altLang="zh-CN" sz="1200" dirty="0" err="1">
                <a:sym typeface="Symbol" panose="05050102010706020507" pitchFamily="18" charset="2"/>
              </a:rPr>
              <a:t>X</a:t>
            </a:r>
            <a:r>
              <a:rPr lang="en-US" altLang="zh-CN" sz="1200" dirty="0">
                <a:sym typeface="Symbol" panose="05050102010706020507" pitchFamily="18" charset="2"/>
              </a:rPr>
              <a:t>)(</a:t>
            </a:r>
            <a:r>
              <a:rPr lang="en-US" altLang="zh-CN" sz="1200" baseline="-25000" dirty="0">
                <a:sym typeface="Symbol" panose="05050102010706020507" pitchFamily="18" charset="2"/>
              </a:rPr>
              <a:t>A</a:t>
            </a:r>
            <a:r>
              <a:rPr lang="en-US" altLang="zh-CN" sz="1200" dirty="0"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x</a:t>
            </a:r>
            <a:r>
              <a:rPr lang="en-US" altLang="zh-CN" sz="1200" dirty="0"/>
              <a:t>) </a:t>
            </a:r>
            <a:r>
              <a:rPr lang="en-US" altLang="zh-CN" sz="1200" dirty="0">
                <a:sym typeface="Symbol" panose="05050102010706020507" pitchFamily="18" charset="2"/>
              </a:rPr>
              <a:t></a:t>
            </a:r>
            <a:r>
              <a:rPr lang="en-US" altLang="zh-CN" sz="1200" baseline="-25000" dirty="0">
                <a:sym typeface="Symbol" panose="05050102010706020507" pitchFamily="18" charset="2"/>
              </a:rPr>
              <a:t>B</a:t>
            </a:r>
            <a:r>
              <a:rPr lang="en-US" altLang="zh-CN" sz="1200" dirty="0"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x</a:t>
            </a:r>
            <a:r>
              <a:rPr lang="en-US" altLang="zh-CN" sz="1200" dirty="0"/>
              <a:t>)</a:t>
            </a:r>
            <a:r>
              <a:rPr lang="en-US" altLang="zh-CN" sz="1200" dirty="0">
                <a:sym typeface="Symbol" panose="05050102010706020507" pitchFamily="18" charset="2"/>
              </a:rPr>
              <a:t>)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200" dirty="0">
                <a:sym typeface="Symbol" panose="05050102010706020507" pitchFamily="18" charset="2"/>
              </a:rPr>
              <a:t>A=B(</a:t>
            </a:r>
            <a:r>
              <a:rPr lang="en-US" altLang="zh-CN" sz="1200" i="1" dirty="0" err="1"/>
              <a:t>x</a:t>
            </a:r>
            <a:r>
              <a:rPr lang="en-US" altLang="zh-CN" sz="1200" dirty="0" err="1">
                <a:sym typeface="Symbol" panose="05050102010706020507" pitchFamily="18" charset="2"/>
              </a:rPr>
              <a:t>X</a:t>
            </a:r>
            <a:r>
              <a:rPr lang="en-US" altLang="zh-CN" sz="1200" dirty="0">
                <a:sym typeface="Symbol" panose="05050102010706020507" pitchFamily="18" charset="2"/>
              </a:rPr>
              <a:t>)(</a:t>
            </a:r>
            <a:r>
              <a:rPr lang="en-US" altLang="zh-CN" sz="1200" baseline="-25000" dirty="0">
                <a:sym typeface="Symbol" panose="05050102010706020507" pitchFamily="18" charset="2"/>
              </a:rPr>
              <a:t>A</a:t>
            </a:r>
            <a:r>
              <a:rPr lang="en-US" altLang="zh-CN" sz="1200" dirty="0"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x</a:t>
            </a:r>
            <a:r>
              <a:rPr lang="en-US" altLang="zh-CN" sz="1200" dirty="0"/>
              <a:t>) </a:t>
            </a:r>
            <a:r>
              <a:rPr lang="en-US" altLang="zh-CN" sz="1200" dirty="0">
                <a:sym typeface="Symbol" panose="05050102010706020507" pitchFamily="18" charset="2"/>
              </a:rPr>
              <a:t>=</a:t>
            </a:r>
            <a:r>
              <a:rPr lang="en-US" altLang="zh-CN" sz="1200" baseline="-25000" dirty="0">
                <a:sym typeface="Symbol" panose="05050102010706020507" pitchFamily="18" charset="2"/>
              </a:rPr>
              <a:t>B</a:t>
            </a:r>
            <a:r>
              <a:rPr lang="en-US" altLang="zh-CN" sz="1200" dirty="0"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x</a:t>
            </a:r>
            <a:r>
              <a:rPr lang="en-US" altLang="zh-CN" sz="1200" dirty="0"/>
              <a:t>)</a:t>
            </a:r>
            <a:r>
              <a:rPr lang="en-US" altLang="zh-CN" sz="1200" dirty="0">
                <a:sym typeface="Symbol" panose="05050102010706020507" pitchFamily="18" charset="2"/>
              </a:rPr>
              <a:t>) 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200" dirty="0">
                <a:sym typeface="Symbol" panose="05050102010706020507" pitchFamily="18" charset="2"/>
              </a:rPr>
              <a:t>A=(</a:t>
            </a:r>
            <a:r>
              <a:rPr lang="en-US" altLang="zh-CN" sz="1200" i="1" dirty="0" err="1"/>
              <a:t>x</a:t>
            </a:r>
            <a:r>
              <a:rPr lang="en-US" altLang="zh-CN" sz="1200" dirty="0" err="1">
                <a:sym typeface="Symbol" panose="05050102010706020507" pitchFamily="18" charset="2"/>
              </a:rPr>
              <a:t>X</a:t>
            </a:r>
            <a:r>
              <a:rPr lang="en-US" altLang="zh-CN" sz="1200" dirty="0">
                <a:sym typeface="Symbol" panose="05050102010706020507" pitchFamily="18" charset="2"/>
              </a:rPr>
              <a:t>)(</a:t>
            </a:r>
            <a:r>
              <a:rPr lang="en-US" altLang="zh-CN" sz="1200" baseline="-25000" dirty="0">
                <a:sym typeface="Symbol" panose="05050102010706020507" pitchFamily="18" charset="2"/>
              </a:rPr>
              <a:t>A</a:t>
            </a:r>
            <a:r>
              <a:rPr lang="en-US" altLang="zh-CN" sz="1200" dirty="0"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x</a:t>
            </a:r>
            <a:r>
              <a:rPr lang="en-US" altLang="zh-CN" sz="1200" dirty="0"/>
              <a:t>) </a:t>
            </a:r>
            <a:r>
              <a:rPr lang="en-US" altLang="zh-CN" sz="1200" dirty="0">
                <a:sym typeface="Symbol" panose="05050102010706020507" pitchFamily="18" charset="2"/>
              </a:rPr>
              <a:t>=0)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200" dirty="0">
                <a:sym typeface="Symbol" panose="05050102010706020507" pitchFamily="18" charset="2"/>
              </a:rPr>
              <a:t>A=X(</a:t>
            </a:r>
            <a:r>
              <a:rPr lang="en-US" altLang="zh-CN" sz="1200" i="1" dirty="0" err="1"/>
              <a:t>x</a:t>
            </a:r>
            <a:r>
              <a:rPr lang="en-US" altLang="zh-CN" sz="1200" dirty="0" err="1">
                <a:sym typeface="Symbol" panose="05050102010706020507" pitchFamily="18" charset="2"/>
              </a:rPr>
              <a:t>X</a:t>
            </a:r>
            <a:r>
              <a:rPr lang="en-US" altLang="zh-CN" sz="1200" dirty="0">
                <a:sym typeface="Symbol" panose="05050102010706020507" pitchFamily="18" charset="2"/>
              </a:rPr>
              <a:t>)(</a:t>
            </a:r>
            <a:r>
              <a:rPr lang="en-US" altLang="zh-CN" sz="1200" baseline="-25000" dirty="0">
                <a:sym typeface="Symbol" panose="05050102010706020507" pitchFamily="18" charset="2"/>
              </a:rPr>
              <a:t>A</a:t>
            </a:r>
            <a:r>
              <a:rPr lang="en-US" altLang="zh-CN" sz="1200" dirty="0"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x</a:t>
            </a:r>
            <a:r>
              <a:rPr lang="en-US" altLang="zh-CN" sz="1200" dirty="0"/>
              <a:t>) </a:t>
            </a:r>
            <a:r>
              <a:rPr lang="en-US" altLang="zh-CN" sz="1200" dirty="0">
                <a:sym typeface="Symbol" panose="05050102010706020507" pitchFamily="18" charset="2"/>
              </a:rPr>
              <a:t>=1)   </a:t>
            </a:r>
            <a:r>
              <a:rPr lang="zh-CN" altLang="en-US" sz="1200" dirty="0">
                <a:sym typeface="Symbol" panose="05050102010706020507" pitchFamily="18" charset="2"/>
              </a:rPr>
              <a:t>。</a:t>
            </a:r>
          </a:p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048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0EC06BE-0F57-42E6-B5AF-F11A250FE111}" type="slidenum">
              <a:rPr lang="en-US" altLang="zh-CN" sz="1200">
                <a:latin typeface="Arial" panose="020B0604020202020204" pitchFamily="34" charset="0"/>
              </a:rPr>
              <a:pPr/>
              <a:t>128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431739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685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是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上的等价关系，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本来就是将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中的元素按某种性质分类了，将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中的每个元素都映射到一个子集中去。不同的元素可能会映射到同一个子集上。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不同的等价关系，确定一个不同的映射。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例如：</a:t>
            </a:r>
            <a:r>
              <a:rPr lang="en-US" altLang="zh-CN" dirty="0">
                <a:latin typeface="Arial" panose="020B0604020202020204" pitchFamily="34" charset="0"/>
              </a:rPr>
              <a:t>A={1, 2, 3},  R={&lt;1,2&gt;,&lt;2,1&gt;}∪I</a:t>
            </a:r>
            <a:r>
              <a:rPr lang="en-US" altLang="zh-CN" baseline="-25000" dirty="0">
                <a:latin typeface="Arial" panose="020B0604020202020204" pitchFamily="34" charset="0"/>
              </a:rPr>
              <a:t>A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则</a:t>
            </a:r>
            <a:r>
              <a:rPr lang="en-US" altLang="zh-CN" dirty="0">
                <a:latin typeface="Arial" panose="020B0604020202020204" pitchFamily="34" charset="0"/>
              </a:rPr>
              <a:t> g(1) = g(2) = {1,2},  g(3) = {3}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68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6424532-A868-4BA6-900F-7C3BDF28098D}" type="slidenum">
              <a:rPr lang="en-US" altLang="zh-CN" sz="1200">
                <a:latin typeface="Arial" panose="020B0604020202020204" pitchFamily="34" charset="0"/>
              </a:rPr>
              <a:pPr/>
              <a:t>129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38206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要验证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为</a:t>
            </a:r>
            <a:r>
              <a:rPr lang="zh-CN" altLang="en-US" sz="1200" b="0" i="0" dirty="0">
                <a:solidFill>
                  <a:srgbClr val="C00000"/>
                </a:solidFill>
                <a:latin typeface="Times New Roman" panose="02020603050405020304" pitchFamily="18" charset="0"/>
              </a:rPr>
              <a:t>从</a:t>
            </a:r>
            <a:r>
              <a:rPr lang="en-US" altLang="zh-CN" sz="1200" b="0" i="0" dirty="0">
                <a:solidFill>
                  <a:srgbClr val="C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1200" b="0" i="0" dirty="0">
                <a:solidFill>
                  <a:srgbClr val="C00000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sz="1200" b="0" i="0" dirty="0">
                <a:solidFill>
                  <a:srgbClr val="C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1200" b="0" i="0" dirty="0">
                <a:solidFill>
                  <a:srgbClr val="C00000"/>
                </a:solidFill>
                <a:latin typeface="Times New Roman" panose="02020603050405020304" pitchFamily="18" charset="0"/>
              </a:rPr>
              <a:t>的函数，需验证两点：</a:t>
            </a:r>
            <a:r>
              <a:rPr lang="en-US" altLang="zh-CN" sz="1200" b="0" i="0" dirty="0">
                <a:solidFill>
                  <a:srgbClr val="C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200" b="0" i="0" dirty="0">
                <a:solidFill>
                  <a:srgbClr val="C000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1200" b="0" i="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domf = A</a:t>
            </a:r>
            <a:r>
              <a:rPr lang="zh-CN" altLang="en-US" sz="1200" b="0" i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，</a:t>
            </a:r>
            <a:r>
              <a:rPr lang="en-US" altLang="zh-CN" sz="1200" b="0" i="0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ranf</a:t>
            </a:r>
            <a:r>
              <a:rPr lang="en-US" altLang="zh-CN" sz="1200" b="0" i="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1200" b="0" i="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1200" b="0" i="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B</a:t>
            </a:r>
            <a:r>
              <a:rPr lang="zh-CN" altLang="en-US" sz="1200" b="0" i="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；</a:t>
            </a:r>
            <a:r>
              <a:rPr lang="en-US" altLang="zh-CN" sz="1200" b="0" i="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zh-CN" altLang="en-US" sz="1200" b="0" i="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、</a:t>
            </a:r>
            <a:r>
              <a:rPr lang="zh-CN" altLang="en-US" sz="1200" b="0" i="0" dirty="0">
                <a:latin typeface="Times New Roman" panose="02020603050405020304" pitchFamily="18" charset="0"/>
              </a:rPr>
              <a:t>若 </a:t>
            </a:r>
            <a:r>
              <a:rPr lang="zh-CN" altLang="en-US" sz="1200" b="0" i="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1200" b="0" i="0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x∈domF</a:t>
            </a:r>
            <a:r>
              <a:rPr lang="en-US" altLang="zh-CN" sz="1200" b="0" i="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zh-CN" altLang="en-US" sz="1200" b="0" i="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，</a:t>
            </a:r>
            <a:r>
              <a:rPr lang="zh-CN" altLang="en-US" sz="1200" b="0" i="0" dirty="0">
                <a:latin typeface="Times New Roman" panose="02020603050405020304" pitchFamily="18" charset="0"/>
              </a:rPr>
              <a:t>都存在</a:t>
            </a:r>
            <a:r>
              <a:rPr lang="zh-CN" altLang="en-US" sz="1200" b="0" i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唯一的</a:t>
            </a:r>
            <a:r>
              <a:rPr lang="en-US" altLang="zh-CN" sz="1200" b="0" i="0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y∈ranF</a:t>
            </a:r>
            <a:r>
              <a:rPr lang="en-US" altLang="zh-CN" sz="1200" b="0" i="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zh-CN" altLang="en-US" sz="1200" b="0" i="0" dirty="0">
                <a:latin typeface="Times New Roman" panose="02020603050405020304" pitchFamily="18" charset="0"/>
              </a:rPr>
              <a:t>使 </a:t>
            </a:r>
            <a:r>
              <a:rPr lang="en-US" altLang="zh-CN" sz="1200" b="0" i="0" dirty="0" err="1">
                <a:latin typeface="Times New Roman" panose="02020603050405020304" pitchFamily="18" charset="0"/>
              </a:rPr>
              <a:t>xFy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 </a:t>
            </a:r>
            <a:r>
              <a:rPr lang="zh-CN" altLang="en-US" sz="1200" b="0" i="0" dirty="0">
                <a:latin typeface="Times New Roman" panose="02020603050405020304" pitchFamily="18" charset="0"/>
              </a:rPr>
              <a:t>成立。</a:t>
            </a:r>
            <a:endParaRPr lang="en-US" altLang="zh-CN" sz="1200" b="0" i="0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dirty="0">
              <a:latin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200" dirty="0">
                <a:latin typeface="宋体" panose="02010600030101010101" pitchFamily="2" charset="-122"/>
              </a:rPr>
              <a:t>证明要点：</a:t>
            </a:r>
            <a:endParaRPr lang="en-US" altLang="zh-CN" sz="1200" dirty="0">
              <a:latin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200" dirty="0">
                <a:latin typeface="宋体" panose="02010600030101010101" pitchFamily="2" charset="-122"/>
              </a:rPr>
              <a:t> </a:t>
            </a:r>
            <a:r>
              <a:rPr lang="en-US" altLang="zh-CN" sz="1200" dirty="0"/>
              <a:t>(1) </a:t>
            </a:r>
            <a:r>
              <a:rPr lang="en-US" altLang="zh-CN" sz="1200" i="1" dirty="0"/>
              <a:t>f</a:t>
            </a:r>
            <a:r>
              <a:rPr lang="zh-CN" altLang="en-US" sz="1200" dirty="0">
                <a:latin typeface="宋体" panose="02010600030101010101" pitchFamily="2" charset="-122"/>
                <a:sym typeface="Symbol" panose="05050102010706020507" pitchFamily="18" charset="2"/>
              </a:rPr>
              <a:t>是单射</a:t>
            </a:r>
            <a:r>
              <a:rPr lang="en-US" altLang="zh-CN" sz="1200" dirty="0">
                <a:latin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1200" dirty="0">
                <a:latin typeface="宋体" panose="02010600030101010101" pitchFamily="2" charset="-122"/>
                <a:sym typeface="Symbol" panose="05050102010706020507" pitchFamily="18" charset="2"/>
              </a:rPr>
              <a:t>内射</a:t>
            </a:r>
            <a:r>
              <a:rPr lang="en-US" altLang="zh-CN" sz="1200" dirty="0">
                <a:latin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1200" dirty="0">
                <a:latin typeface="宋体" panose="02010600030101010101" pitchFamily="2" charset="-122"/>
              </a:rPr>
              <a:t>函数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200" dirty="0">
                <a:latin typeface="宋体" panose="02010600030101010101" pitchFamily="2" charset="-122"/>
              </a:rPr>
              <a:t>       </a:t>
            </a:r>
            <a:r>
              <a:rPr lang="zh-CN" altLang="en-US" sz="1200" dirty="0">
                <a:sym typeface="Symbol" panose="05050102010706020507" pitchFamily="18" charset="2"/>
              </a:rPr>
              <a:t></a:t>
            </a:r>
            <a:r>
              <a:rPr lang="en-US" altLang="zh-CN" sz="1200" dirty="0">
                <a:sym typeface="Symbol" panose="05050102010706020507" pitchFamily="18" charset="2"/>
              </a:rPr>
              <a:t>(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1</a:t>
            </a:r>
            <a:r>
              <a:rPr lang="en-US" altLang="zh-CN" sz="1200" dirty="0">
                <a:sym typeface="Symbol" panose="05050102010706020507" pitchFamily="18" charset="2"/>
              </a:rPr>
              <a:t>X)(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2</a:t>
            </a:r>
            <a:r>
              <a:rPr lang="en-US" altLang="zh-CN" sz="1200" dirty="0">
                <a:sym typeface="Symbol" panose="05050102010706020507" pitchFamily="18" charset="2"/>
              </a:rPr>
              <a:t>X)(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1</a:t>
            </a:r>
            <a:r>
              <a:rPr lang="en-US" altLang="zh-CN" sz="1200" dirty="0">
                <a:sym typeface="Symbol" panose="05050102010706020507" pitchFamily="18" charset="2"/>
              </a:rPr>
              <a:t> 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2 </a:t>
            </a:r>
            <a:r>
              <a:rPr lang="en-US" altLang="zh-CN" sz="1200" dirty="0">
                <a:sym typeface="Symbol" panose="05050102010706020507" pitchFamily="18" charset="2"/>
              </a:rPr>
              <a:t></a:t>
            </a:r>
            <a:r>
              <a:rPr lang="en-US" altLang="zh-CN" sz="1200" baseline="-25000" dirty="0"/>
              <a:t> </a:t>
            </a:r>
            <a:r>
              <a:rPr lang="en-US" altLang="zh-CN" sz="1200" i="1" dirty="0"/>
              <a:t>f</a:t>
            </a:r>
            <a:r>
              <a:rPr lang="en-US" altLang="zh-CN" sz="1200" dirty="0"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1</a:t>
            </a:r>
            <a:r>
              <a:rPr lang="en-US" altLang="zh-CN" sz="1200" dirty="0">
                <a:sym typeface="Symbol" panose="05050102010706020507" pitchFamily="18" charset="2"/>
              </a:rPr>
              <a:t>)  </a:t>
            </a:r>
            <a:r>
              <a:rPr lang="en-US" altLang="zh-CN" sz="1200" i="1" dirty="0"/>
              <a:t>f</a:t>
            </a:r>
            <a:r>
              <a:rPr lang="en-US" altLang="zh-CN" sz="1200" dirty="0"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2 </a:t>
            </a:r>
            <a:r>
              <a:rPr lang="en-US" altLang="zh-CN" sz="1200" dirty="0">
                <a:sym typeface="Symbol" panose="05050102010706020507" pitchFamily="18" charset="2"/>
              </a:rPr>
              <a:t>) </a:t>
            </a:r>
            <a:r>
              <a:rPr lang="en-US" altLang="zh-CN" sz="1200" dirty="0"/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200" dirty="0">
                <a:sym typeface="Symbol" panose="05050102010706020507" pitchFamily="18" charset="2"/>
              </a:rPr>
              <a:t>       (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1</a:t>
            </a:r>
            <a:r>
              <a:rPr lang="en-US" altLang="zh-CN" sz="1200" dirty="0">
                <a:sym typeface="Symbol" panose="05050102010706020507" pitchFamily="18" charset="2"/>
              </a:rPr>
              <a:t>X)(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2</a:t>
            </a:r>
            <a:r>
              <a:rPr lang="en-US" altLang="zh-CN" sz="1200" dirty="0">
                <a:sym typeface="Symbol" panose="05050102010706020507" pitchFamily="18" charset="2"/>
              </a:rPr>
              <a:t>X)(</a:t>
            </a:r>
            <a:r>
              <a:rPr lang="en-US" altLang="zh-CN" sz="1200" i="1" dirty="0"/>
              <a:t>f</a:t>
            </a:r>
            <a:r>
              <a:rPr lang="en-US" altLang="zh-CN" sz="1200" dirty="0"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1</a:t>
            </a:r>
            <a:r>
              <a:rPr lang="en-US" altLang="zh-CN" sz="1200" dirty="0">
                <a:sym typeface="Symbol" panose="05050102010706020507" pitchFamily="18" charset="2"/>
              </a:rPr>
              <a:t>) =</a:t>
            </a:r>
            <a:r>
              <a:rPr lang="en-US" altLang="zh-CN" sz="1200" i="1" dirty="0"/>
              <a:t>f</a:t>
            </a:r>
            <a:r>
              <a:rPr lang="en-US" altLang="zh-CN" sz="1200" dirty="0"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2 </a:t>
            </a:r>
            <a:r>
              <a:rPr lang="en-US" altLang="zh-CN" sz="1200" dirty="0">
                <a:sym typeface="Symbol" panose="05050102010706020507" pitchFamily="18" charset="2"/>
              </a:rPr>
              <a:t>)  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1</a:t>
            </a:r>
            <a:r>
              <a:rPr lang="en-US" altLang="zh-CN" sz="1200" dirty="0">
                <a:sym typeface="Symbol" panose="05050102010706020507" pitchFamily="18" charset="2"/>
              </a:rPr>
              <a:t> =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2 </a:t>
            </a:r>
            <a:r>
              <a:rPr lang="en-US" altLang="zh-CN" sz="1200" dirty="0"/>
              <a:t>)</a:t>
            </a:r>
            <a:r>
              <a:rPr lang="zh-CN" altLang="en-US" sz="1200" dirty="0"/>
              <a:t>；</a:t>
            </a:r>
            <a:endParaRPr lang="zh-CN" altLang="en-US" sz="1200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200" dirty="0">
                <a:sym typeface="Symbol" panose="05050102010706020507" pitchFamily="18" charset="2"/>
              </a:rPr>
              <a:t>(2) </a:t>
            </a:r>
            <a:r>
              <a:rPr lang="en-US" altLang="zh-CN" sz="1200" i="1" dirty="0"/>
              <a:t>f</a:t>
            </a:r>
            <a:r>
              <a:rPr lang="zh-CN" altLang="en-US" sz="1200" dirty="0">
                <a:latin typeface="宋体" panose="02010600030101010101" pitchFamily="2" charset="-122"/>
                <a:sym typeface="Symbol" panose="05050102010706020507" pitchFamily="18" charset="2"/>
              </a:rPr>
              <a:t>是满射</a:t>
            </a:r>
            <a:r>
              <a:rPr lang="zh-CN" altLang="en-US" sz="1200" dirty="0">
                <a:latin typeface="宋体" panose="02010600030101010101" pitchFamily="2" charset="-122"/>
              </a:rPr>
              <a:t>函数</a:t>
            </a:r>
            <a:endParaRPr lang="en-US" altLang="zh-CN" sz="1200" dirty="0">
              <a:latin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200" dirty="0">
                <a:latin typeface="宋体" panose="02010600030101010101" pitchFamily="2" charset="-122"/>
                <a:sym typeface="Symbol" panose="05050102010706020507" pitchFamily="18" charset="2"/>
              </a:rPr>
              <a:t>       </a:t>
            </a:r>
            <a:r>
              <a:rPr lang="zh-CN" altLang="en-US" sz="1200" dirty="0">
                <a:sym typeface="Symbol" panose="05050102010706020507" pitchFamily="18" charset="2"/>
              </a:rPr>
              <a:t></a:t>
            </a:r>
            <a:r>
              <a:rPr lang="en-US" altLang="zh-CN" sz="1200" dirty="0">
                <a:sym typeface="Symbol" panose="05050102010706020507" pitchFamily="18" charset="2"/>
              </a:rPr>
              <a:t>(</a:t>
            </a:r>
            <a:r>
              <a:rPr lang="en-US" altLang="zh-CN" sz="1200" i="1" dirty="0" err="1"/>
              <a:t>y</a:t>
            </a:r>
            <a:r>
              <a:rPr lang="en-US" altLang="zh-CN" sz="1200" dirty="0" err="1">
                <a:sym typeface="Symbol" panose="05050102010706020507" pitchFamily="18" charset="2"/>
              </a:rPr>
              <a:t>Y</a:t>
            </a:r>
            <a:r>
              <a:rPr lang="en-US" altLang="zh-CN" sz="1200" dirty="0">
                <a:sym typeface="Symbol" panose="05050102010706020507" pitchFamily="18" charset="2"/>
              </a:rPr>
              <a:t>)(</a:t>
            </a:r>
            <a:r>
              <a:rPr lang="en-US" altLang="zh-CN" sz="1200" i="1" dirty="0" err="1"/>
              <a:t>x</a:t>
            </a:r>
            <a:r>
              <a:rPr lang="en-US" altLang="zh-CN" sz="1200" dirty="0" err="1">
                <a:sym typeface="Symbol" panose="05050102010706020507" pitchFamily="18" charset="2"/>
              </a:rPr>
              <a:t>X</a:t>
            </a:r>
            <a:r>
              <a:rPr lang="en-US" altLang="zh-CN" sz="1200" dirty="0">
                <a:sym typeface="Symbol" panose="05050102010706020507" pitchFamily="18" charset="2"/>
              </a:rPr>
              <a:t>)(</a:t>
            </a:r>
            <a:r>
              <a:rPr lang="en-US" altLang="zh-CN" sz="1200" baseline="-25000" dirty="0"/>
              <a:t> </a:t>
            </a:r>
            <a:r>
              <a:rPr lang="en-US" altLang="zh-CN" sz="1200" i="1" dirty="0"/>
              <a:t>f</a:t>
            </a:r>
            <a:r>
              <a:rPr lang="en-US" altLang="zh-CN" sz="1200" dirty="0"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x</a:t>
            </a:r>
            <a:r>
              <a:rPr lang="en-US" altLang="zh-CN" sz="1200" dirty="0">
                <a:sym typeface="Symbol" panose="05050102010706020507" pitchFamily="18" charset="2"/>
              </a:rPr>
              <a:t>)= </a:t>
            </a:r>
            <a:r>
              <a:rPr lang="en-US" altLang="zh-CN" sz="1200" i="1" dirty="0"/>
              <a:t>y</a:t>
            </a:r>
            <a:r>
              <a:rPr lang="en-US" altLang="zh-CN" sz="1200" dirty="0">
                <a:sym typeface="Symbol" panose="05050102010706020507" pitchFamily="18" charset="2"/>
              </a:rPr>
              <a:t> </a:t>
            </a:r>
            <a:r>
              <a:rPr lang="en-US" altLang="zh-CN" sz="1200" dirty="0"/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200" dirty="0">
                <a:sym typeface="Symbol" panose="05050102010706020507" pitchFamily="18" charset="2"/>
              </a:rPr>
              <a:t>        R</a:t>
            </a:r>
            <a:r>
              <a:rPr lang="en-US" altLang="zh-CN" sz="1200" dirty="0">
                <a:ea typeface="Arial Unicode MS" pitchFamily="34" charset="-122"/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f</a:t>
            </a:r>
            <a:r>
              <a:rPr lang="en-US" altLang="zh-CN" sz="1200" dirty="0">
                <a:ea typeface="Arial Unicode MS" pitchFamily="34" charset="-122"/>
                <a:sym typeface="Symbol" panose="05050102010706020507" pitchFamily="18" charset="2"/>
              </a:rPr>
              <a:t>)= </a:t>
            </a:r>
            <a:r>
              <a:rPr lang="en-US" altLang="zh-CN" sz="1200" dirty="0">
                <a:sym typeface="Symbol" panose="05050102010706020507" pitchFamily="18" charset="2"/>
              </a:rPr>
              <a:t>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0C8DC3-4AD2-4BCD-A6A0-23D815859075}" type="slidenum">
              <a:rPr lang="en-US" altLang="zh-CN" smtClean="0"/>
              <a:pPr>
                <a:defRPr/>
              </a:pPr>
              <a:t>131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0945760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19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4</a:t>
            </a:r>
            <a:r>
              <a:rPr lang="zh-CN" altLang="en-US">
                <a:latin typeface="Arial" panose="020B0604020202020204" pitchFamily="34" charset="0"/>
              </a:rPr>
              <a:t>：也可以用流氓做法，直接写</a:t>
            </a:r>
            <a:r>
              <a:rPr lang="en-US" altLang="zh-CN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。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</a:rPr>
              <a:t>={&lt;0,2&gt;,&lt;2,0&gt;, &lt;0,4&gt;,&lt;4,0&gt;, &lt;4,2&gt;,&lt;4,2&gt;, &lt;1,3&gt;,&lt;3,1&gt;}∪</a:t>
            </a:r>
            <a:r>
              <a:rPr lang="en-US" altLang="zh-CN" b="1" i="1">
                <a:latin typeface="Times New Roman" panose="02020603050405020304" pitchFamily="18" charset="0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</a:rPr>
              <a:t>A 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119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F5BBC60-CE60-4023-B595-3E80D3F37799}" type="slidenum">
              <a:rPr lang="en-US" altLang="zh-CN" sz="1200">
                <a:latin typeface="Arial" panose="020B0604020202020204" pitchFamily="34" charset="0"/>
              </a:rPr>
              <a:pPr/>
              <a:t>133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433846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1E451BE-96D0-4CAB-985E-84B673725682}" type="slidenum">
              <a:rPr lang="en-US" altLang="zh-CN" sz="1200">
                <a:latin typeface="Arial" panose="020B0604020202020204" pitchFamily="34" charset="0"/>
              </a:rPr>
              <a:pPr/>
              <a:t>134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214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443406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606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函数是一种特殊的关系，因此，我们可以把关系的复合运算和逆运算推广到函数中来。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关系的逆还是关系，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函数的逆关系（反函数）一定会是函数吗</a:t>
            </a:r>
            <a:r>
              <a:rPr lang="en-US" altLang="zh-CN" dirty="0">
                <a:latin typeface="Arial" panose="020B0604020202020204" pitchFamily="34" charset="0"/>
              </a:rPr>
              <a:t>?</a:t>
            </a: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160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0673AAC-D1F5-4AF3-891A-2190ABF1C569}" type="slidenum">
              <a:rPr lang="en-US" altLang="zh-CN" sz="1200">
                <a:latin typeface="Arial" panose="020B0604020202020204" pitchFamily="34" charset="0"/>
              </a:rPr>
              <a:pPr/>
              <a:t>135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53772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811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0" dirty="0">
                <a:solidFill>
                  <a:srgbClr val="0033CC"/>
                </a:solidFill>
                <a:latin typeface="Times New Roman" panose="02020603050405020304" pitchFamily="18" charset="0"/>
              </a:rPr>
              <a:t>两个函数复合后的定义域可能比</a:t>
            </a:r>
            <a:r>
              <a:rPr lang="en-US" altLang="zh-CN" b="0" dirty="0">
                <a:solidFill>
                  <a:srgbClr val="0033CC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b="0" dirty="0">
                <a:solidFill>
                  <a:srgbClr val="0033CC"/>
                </a:solidFill>
                <a:latin typeface="Times New Roman" panose="02020603050405020304" pitchFamily="18" charset="0"/>
              </a:rPr>
              <a:t>的定义域要小，是由于</a:t>
            </a:r>
            <a:r>
              <a:rPr lang="en-US" altLang="zh-CN" b="0" dirty="0" err="1">
                <a:solidFill>
                  <a:srgbClr val="0033CC"/>
                </a:solidFill>
                <a:latin typeface="Times New Roman" panose="02020603050405020304" pitchFamily="18" charset="0"/>
              </a:rPr>
              <a:t>ranG</a:t>
            </a:r>
            <a:r>
              <a:rPr lang="zh-CN" altLang="en-US" b="0" dirty="0">
                <a:solidFill>
                  <a:srgbClr val="0033CC"/>
                </a:solidFill>
                <a:latin typeface="Times New Roman" panose="02020603050405020304" pitchFamily="18" charset="0"/>
              </a:rPr>
              <a:t>不一定包含在</a:t>
            </a:r>
            <a:r>
              <a:rPr lang="en-US" altLang="zh-CN" b="0" dirty="0" err="1">
                <a:solidFill>
                  <a:srgbClr val="0033CC"/>
                </a:solidFill>
                <a:latin typeface="Times New Roman" panose="02020603050405020304" pitchFamily="18" charset="0"/>
              </a:rPr>
              <a:t>domF</a:t>
            </a:r>
            <a:r>
              <a:rPr lang="zh-CN" altLang="en-US" b="0" dirty="0">
                <a:solidFill>
                  <a:srgbClr val="0033CC"/>
                </a:solidFill>
                <a:latin typeface="Times New Roman" panose="02020603050405020304" pitchFamily="18" charset="0"/>
              </a:rPr>
              <a:t>中，因此只能选择</a:t>
            </a:r>
            <a:r>
              <a:rPr lang="en-US" altLang="zh-CN" b="0" dirty="0">
                <a:solidFill>
                  <a:srgbClr val="0033CC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b="0" dirty="0">
                <a:solidFill>
                  <a:srgbClr val="0033CC"/>
                </a:solidFill>
                <a:latin typeface="Times New Roman" panose="02020603050405020304" pitchFamily="18" charset="0"/>
              </a:rPr>
              <a:t>中的部分</a:t>
            </a:r>
            <a:r>
              <a:rPr lang="en-US" altLang="zh-CN" b="0" dirty="0">
                <a:solidFill>
                  <a:srgbClr val="0033CC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b="0" dirty="0">
                <a:solidFill>
                  <a:srgbClr val="0033CC"/>
                </a:solidFill>
                <a:latin typeface="Times New Roman" panose="02020603050405020304" pitchFamily="18" charset="0"/>
              </a:rPr>
              <a:t>，使得</a:t>
            </a:r>
            <a:r>
              <a:rPr lang="en-US" altLang="zh-CN" b="0" dirty="0">
                <a:solidFill>
                  <a:srgbClr val="0033CC"/>
                </a:solidFill>
                <a:latin typeface="Times New Roman" panose="02020603050405020304" pitchFamily="18" charset="0"/>
              </a:rPr>
              <a:t>G(x)</a:t>
            </a:r>
            <a:r>
              <a:rPr lang="zh-CN" altLang="en-US" b="0" dirty="0">
                <a:solidFill>
                  <a:srgbClr val="0033CC"/>
                </a:solidFill>
                <a:latin typeface="Times New Roman" panose="02020603050405020304" pitchFamily="18" charset="0"/>
              </a:rPr>
              <a:t>包含在</a:t>
            </a:r>
            <a:r>
              <a:rPr lang="en-US" altLang="zh-CN" b="0" dirty="0" err="1">
                <a:solidFill>
                  <a:srgbClr val="0033CC"/>
                </a:solidFill>
                <a:latin typeface="Times New Roman" panose="02020603050405020304" pitchFamily="18" charset="0"/>
              </a:rPr>
              <a:t>domF</a:t>
            </a:r>
            <a:r>
              <a:rPr lang="zh-CN" altLang="en-US" b="0" dirty="0">
                <a:solidFill>
                  <a:srgbClr val="0033CC"/>
                </a:solidFill>
                <a:latin typeface="Times New Roman" panose="02020603050405020304" pitchFamily="18" charset="0"/>
              </a:rPr>
              <a:t>中。</a:t>
            </a:r>
            <a:endParaRPr lang="en-US" altLang="zh-CN" b="0" dirty="0">
              <a:solidFill>
                <a:srgbClr val="0033CC"/>
              </a:solidFill>
              <a:latin typeface="Times New Roman" panose="02020603050405020304" pitchFamily="18" charset="0"/>
            </a:endParaRPr>
          </a:p>
          <a:p>
            <a:r>
              <a:rPr lang="zh-CN" altLang="en-US" b="0" dirty="0">
                <a:solidFill>
                  <a:srgbClr val="0033CC"/>
                </a:solidFill>
                <a:latin typeface="Times New Roman" panose="02020603050405020304" pitchFamily="18" charset="0"/>
              </a:rPr>
              <a:t>如果</a:t>
            </a:r>
            <a:r>
              <a:rPr lang="en-US" altLang="zh-CN" b="0" dirty="0" err="1">
                <a:solidFill>
                  <a:srgbClr val="0033CC"/>
                </a:solidFill>
                <a:latin typeface="Times New Roman" panose="02020603050405020304" pitchFamily="18" charset="0"/>
              </a:rPr>
              <a:t>ranG</a:t>
            </a:r>
            <a:r>
              <a:rPr lang="zh-CN" altLang="en-US" b="0" dirty="0">
                <a:solidFill>
                  <a:srgbClr val="0033CC"/>
                </a:solidFill>
                <a:latin typeface="Times New Roman" panose="02020603050405020304" pitchFamily="18" charset="0"/>
              </a:rPr>
              <a:t>包含在</a:t>
            </a:r>
            <a:r>
              <a:rPr lang="en-US" altLang="zh-CN" b="0" dirty="0" err="1">
                <a:solidFill>
                  <a:srgbClr val="0033CC"/>
                </a:solidFill>
                <a:latin typeface="Times New Roman" panose="02020603050405020304" pitchFamily="18" charset="0"/>
              </a:rPr>
              <a:t>domF</a:t>
            </a:r>
            <a:r>
              <a:rPr lang="zh-CN" altLang="en-US" b="0" dirty="0">
                <a:solidFill>
                  <a:srgbClr val="0033CC"/>
                </a:solidFill>
                <a:latin typeface="Times New Roman" panose="02020603050405020304" pitchFamily="18" charset="0"/>
              </a:rPr>
              <a:t>中，则</a:t>
            </a:r>
            <a:r>
              <a:rPr lang="en-US" altLang="zh-CN" b="0" dirty="0">
                <a:solidFill>
                  <a:srgbClr val="0033CC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b="0" dirty="0">
                <a:solidFill>
                  <a:srgbClr val="0033CC"/>
                </a:solidFill>
                <a:latin typeface="Times New Roman" panose="02020603050405020304" pitchFamily="18" charset="0"/>
              </a:rPr>
              <a:t>的定义域与复合函数的定义域相同。</a:t>
            </a:r>
            <a:endParaRPr lang="en-US" altLang="zh-CN" b="0" dirty="0">
              <a:solidFill>
                <a:srgbClr val="0033CC"/>
              </a:solidFill>
              <a:latin typeface="Times New Roman" panose="02020603050405020304" pitchFamily="18" charset="0"/>
            </a:endParaRPr>
          </a:p>
          <a:p>
            <a:endParaRPr lang="en-US" altLang="zh-CN" b="0" dirty="0">
              <a:solidFill>
                <a:srgbClr val="0033CC"/>
              </a:solidFill>
              <a:latin typeface="Times New Roman" panose="02020603050405020304" pitchFamily="18" charset="0"/>
            </a:endParaRPr>
          </a:p>
          <a:p>
            <a:r>
              <a:rPr lang="zh-CN" altLang="en-US" b="0" dirty="0">
                <a:solidFill>
                  <a:srgbClr val="0033CC"/>
                </a:solidFill>
                <a:latin typeface="Times New Roman" panose="02020603050405020304" pitchFamily="18" charset="0"/>
              </a:rPr>
              <a:t>复合函数也是复合关系，因此关系复合运算所具有的性质，函数的复合运算一样具有。</a:t>
            </a:r>
            <a:endParaRPr lang="zh-CN" altLang="en-US" b="0" dirty="0">
              <a:latin typeface="Arial" panose="020B0604020202020204" pitchFamily="34" charset="0"/>
            </a:endParaRPr>
          </a:p>
        </p:txBody>
      </p:sp>
      <p:sp>
        <p:nvSpPr>
          <p:cNvPr id="2181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0A194E6-969F-458F-AAC1-5DDFF2DF8000}" type="slidenum">
              <a:rPr lang="en-US" altLang="zh-CN" sz="1200">
                <a:latin typeface="Arial" panose="020B0604020202020204" pitchFamily="34" charset="0"/>
              </a:rPr>
              <a:pPr/>
              <a:t>136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276825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01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0" dirty="0">
                <a:latin typeface="Arial" panose="020B0604020202020204" pitchFamily="34" charset="0"/>
              </a:rPr>
              <a:t>证明均从定义出发</a:t>
            </a:r>
            <a:endParaRPr lang="en-US" altLang="zh-CN" b="0" dirty="0">
              <a:latin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200" dirty="0">
                <a:latin typeface="宋体" panose="02010600030101010101" pitchFamily="2" charset="-122"/>
              </a:rPr>
              <a:t>证明要点：</a:t>
            </a:r>
            <a:endParaRPr lang="en-US" altLang="zh-CN" sz="1200" dirty="0">
              <a:latin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en-US" sz="1200" dirty="0">
                <a:latin typeface="宋体" panose="02010600030101010101" pitchFamily="2" charset="-122"/>
              </a:rPr>
              <a:t> </a:t>
            </a:r>
            <a:r>
              <a:rPr lang="en-US" altLang="zh-CN" sz="1200" dirty="0"/>
              <a:t>(1) </a:t>
            </a:r>
            <a:r>
              <a:rPr lang="en-US" altLang="zh-CN" sz="1200" i="1" dirty="0"/>
              <a:t>f</a:t>
            </a:r>
            <a:r>
              <a:rPr lang="zh-CN" altLang="en-US" sz="1200" dirty="0">
                <a:latin typeface="宋体" panose="02010600030101010101" pitchFamily="2" charset="-122"/>
                <a:sym typeface="Symbol" panose="05050102010706020507" pitchFamily="18" charset="2"/>
              </a:rPr>
              <a:t>是单射</a:t>
            </a:r>
            <a:r>
              <a:rPr lang="en-US" altLang="zh-CN" sz="1200" dirty="0">
                <a:latin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1200" dirty="0">
                <a:latin typeface="宋体" panose="02010600030101010101" pitchFamily="2" charset="-122"/>
                <a:sym typeface="Symbol" panose="05050102010706020507" pitchFamily="18" charset="2"/>
              </a:rPr>
              <a:t>内射</a:t>
            </a:r>
            <a:r>
              <a:rPr lang="en-US" altLang="zh-CN" sz="1200" dirty="0">
                <a:latin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1200" dirty="0">
                <a:latin typeface="宋体" panose="02010600030101010101" pitchFamily="2" charset="-122"/>
              </a:rPr>
              <a:t>函数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（从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往后面的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正推）</a:t>
            </a:r>
            <a:endParaRPr lang="zh-CN" altLang="en-US" sz="1200" dirty="0">
              <a:latin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200" dirty="0">
                <a:latin typeface="宋体" panose="02010600030101010101" pitchFamily="2" charset="-122"/>
              </a:rPr>
              <a:t>       </a:t>
            </a:r>
            <a:r>
              <a:rPr lang="zh-CN" altLang="en-US" sz="1200" dirty="0">
                <a:sym typeface="Symbol" panose="05050102010706020507" pitchFamily="18" charset="2"/>
              </a:rPr>
              <a:t></a:t>
            </a:r>
            <a:r>
              <a:rPr lang="en-US" altLang="zh-CN" sz="1200" dirty="0">
                <a:sym typeface="Symbol" panose="05050102010706020507" pitchFamily="18" charset="2"/>
              </a:rPr>
              <a:t>(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1</a:t>
            </a:r>
            <a:r>
              <a:rPr lang="en-US" altLang="zh-CN" sz="1200" dirty="0">
                <a:sym typeface="Symbol" panose="05050102010706020507" pitchFamily="18" charset="2"/>
              </a:rPr>
              <a:t>X)(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2</a:t>
            </a:r>
            <a:r>
              <a:rPr lang="en-US" altLang="zh-CN" sz="1200" dirty="0">
                <a:sym typeface="Symbol" panose="05050102010706020507" pitchFamily="18" charset="2"/>
              </a:rPr>
              <a:t>X)(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1</a:t>
            </a:r>
            <a:r>
              <a:rPr lang="en-US" altLang="zh-CN" sz="1200" dirty="0">
                <a:sym typeface="Symbol" panose="05050102010706020507" pitchFamily="18" charset="2"/>
              </a:rPr>
              <a:t> 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2 </a:t>
            </a:r>
            <a:r>
              <a:rPr lang="en-US" altLang="zh-CN" sz="1200" dirty="0">
                <a:sym typeface="Symbol" panose="05050102010706020507" pitchFamily="18" charset="2"/>
              </a:rPr>
              <a:t></a:t>
            </a:r>
            <a:r>
              <a:rPr lang="en-US" altLang="zh-CN" sz="1200" baseline="-25000" dirty="0"/>
              <a:t> </a:t>
            </a:r>
            <a:r>
              <a:rPr lang="en-US" altLang="zh-CN" sz="1200" i="1" dirty="0"/>
              <a:t>f</a:t>
            </a:r>
            <a:r>
              <a:rPr lang="en-US" altLang="zh-CN" sz="1200" dirty="0"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1</a:t>
            </a:r>
            <a:r>
              <a:rPr lang="en-US" altLang="zh-CN" sz="1200" dirty="0">
                <a:sym typeface="Symbol" panose="05050102010706020507" pitchFamily="18" charset="2"/>
              </a:rPr>
              <a:t>)  </a:t>
            </a:r>
            <a:r>
              <a:rPr lang="en-US" altLang="zh-CN" sz="1200" i="1" dirty="0"/>
              <a:t>f</a:t>
            </a:r>
            <a:r>
              <a:rPr lang="en-US" altLang="zh-CN" sz="1200" dirty="0"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2 </a:t>
            </a:r>
            <a:r>
              <a:rPr lang="en-US" altLang="zh-CN" sz="1200" dirty="0">
                <a:sym typeface="Symbol" panose="05050102010706020507" pitchFamily="18" charset="2"/>
              </a:rPr>
              <a:t>) </a:t>
            </a:r>
            <a:r>
              <a:rPr lang="en-US" altLang="zh-CN" sz="1200" dirty="0"/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200" dirty="0">
                <a:sym typeface="Symbol" panose="05050102010706020507" pitchFamily="18" charset="2"/>
              </a:rPr>
              <a:t>       (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1</a:t>
            </a:r>
            <a:r>
              <a:rPr lang="en-US" altLang="zh-CN" sz="1200" dirty="0">
                <a:sym typeface="Symbol" panose="05050102010706020507" pitchFamily="18" charset="2"/>
              </a:rPr>
              <a:t>X)(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2</a:t>
            </a:r>
            <a:r>
              <a:rPr lang="en-US" altLang="zh-CN" sz="1200" dirty="0">
                <a:sym typeface="Symbol" panose="05050102010706020507" pitchFamily="18" charset="2"/>
              </a:rPr>
              <a:t>X)(</a:t>
            </a:r>
            <a:r>
              <a:rPr lang="en-US" altLang="zh-CN" sz="1200" i="1" dirty="0"/>
              <a:t>f</a:t>
            </a:r>
            <a:r>
              <a:rPr lang="en-US" altLang="zh-CN" sz="1200" dirty="0"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1</a:t>
            </a:r>
            <a:r>
              <a:rPr lang="en-US" altLang="zh-CN" sz="1200" dirty="0">
                <a:sym typeface="Symbol" panose="05050102010706020507" pitchFamily="18" charset="2"/>
              </a:rPr>
              <a:t>) =</a:t>
            </a:r>
            <a:r>
              <a:rPr lang="en-US" altLang="zh-CN" sz="1200" i="1" dirty="0"/>
              <a:t>f</a:t>
            </a:r>
            <a:r>
              <a:rPr lang="en-US" altLang="zh-CN" sz="1200" dirty="0"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2 </a:t>
            </a:r>
            <a:r>
              <a:rPr lang="en-US" altLang="zh-CN" sz="1200" dirty="0">
                <a:sym typeface="Symbol" panose="05050102010706020507" pitchFamily="18" charset="2"/>
              </a:rPr>
              <a:t>)  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1</a:t>
            </a:r>
            <a:r>
              <a:rPr lang="en-US" altLang="zh-CN" sz="1200" dirty="0">
                <a:sym typeface="Symbol" panose="05050102010706020507" pitchFamily="18" charset="2"/>
              </a:rPr>
              <a:t> =</a:t>
            </a:r>
            <a:r>
              <a:rPr lang="en-US" altLang="zh-CN" sz="1200" i="1" dirty="0"/>
              <a:t>x</a:t>
            </a:r>
            <a:r>
              <a:rPr lang="en-US" altLang="zh-CN" sz="1200" baseline="-25000" dirty="0"/>
              <a:t>2 </a:t>
            </a:r>
            <a:r>
              <a:rPr lang="en-US" altLang="zh-CN" sz="1200" dirty="0"/>
              <a:t>)</a:t>
            </a:r>
            <a:r>
              <a:rPr lang="zh-CN" altLang="en-US" sz="1200" dirty="0"/>
              <a:t>；</a:t>
            </a:r>
            <a:endParaRPr lang="zh-CN" altLang="en-US" sz="1200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sz="1200" dirty="0">
                <a:sym typeface="Symbol" panose="05050102010706020507" pitchFamily="18" charset="2"/>
              </a:rPr>
              <a:t>(2) </a:t>
            </a:r>
            <a:r>
              <a:rPr lang="en-US" altLang="zh-CN" sz="1200" i="1" dirty="0"/>
              <a:t>f</a:t>
            </a:r>
            <a:r>
              <a:rPr lang="zh-CN" altLang="en-US" sz="1200" dirty="0">
                <a:latin typeface="宋体" panose="02010600030101010101" pitchFamily="2" charset="-122"/>
                <a:sym typeface="Symbol" panose="05050102010706020507" pitchFamily="18" charset="2"/>
              </a:rPr>
              <a:t>是满射</a:t>
            </a:r>
            <a:r>
              <a:rPr lang="zh-CN" altLang="en-US" sz="1200" dirty="0">
                <a:latin typeface="宋体" panose="02010600030101010101" pitchFamily="2" charset="-122"/>
              </a:rPr>
              <a:t>函数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（从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往前面的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倒推）</a:t>
            </a:r>
            <a:endParaRPr lang="en-US" altLang="zh-CN" sz="1200" dirty="0">
              <a:latin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200" dirty="0">
                <a:latin typeface="宋体" panose="02010600030101010101" pitchFamily="2" charset="-122"/>
                <a:sym typeface="Symbol" panose="05050102010706020507" pitchFamily="18" charset="2"/>
              </a:rPr>
              <a:t>       </a:t>
            </a:r>
            <a:r>
              <a:rPr lang="zh-CN" altLang="en-US" sz="1200" dirty="0">
                <a:sym typeface="Symbol" panose="05050102010706020507" pitchFamily="18" charset="2"/>
              </a:rPr>
              <a:t></a:t>
            </a:r>
            <a:r>
              <a:rPr lang="en-US" altLang="zh-CN" sz="1200" dirty="0">
                <a:sym typeface="Symbol" panose="05050102010706020507" pitchFamily="18" charset="2"/>
              </a:rPr>
              <a:t>(</a:t>
            </a:r>
            <a:r>
              <a:rPr lang="en-US" altLang="zh-CN" sz="1200" i="1" dirty="0" err="1"/>
              <a:t>y</a:t>
            </a:r>
            <a:r>
              <a:rPr lang="en-US" altLang="zh-CN" sz="1200" dirty="0" err="1">
                <a:sym typeface="Symbol" panose="05050102010706020507" pitchFamily="18" charset="2"/>
              </a:rPr>
              <a:t>Y</a:t>
            </a:r>
            <a:r>
              <a:rPr lang="en-US" altLang="zh-CN" sz="1200" dirty="0">
                <a:sym typeface="Symbol" panose="05050102010706020507" pitchFamily="18" charset="2"/>
              </a:rPr>
              <a:t>)(</a:t>
            </a:r>
            <a:r>
              <a:rPr lang="en-US" altLang="zh-CN" sz="1200" i="1" dirty="0" err="1"/>
              <a:t>x</a:t>
            </a:r>
            <a:r>
              <a:rPr lang="en-US" altLang="zh-CN" sz="1200" dirty="0" err="1">
                <a:sym typeface="Symbol" panose="05050102010706020507" pitchFamily="18" charset="2"/>
              </a:rPr>
              <a:t>X</a:t>
            </a:r>
            <a:r>
              <a:rPr lang="en-US" altLang="zh-CN" sz="1200" dirty="0">
                <a:sym typeface="Symbol" panose="05050102010706020507" pitchFamily="18" charset="2"/>
              </a:rPr>
              <a:t>)(</a:t>
            </a:r>
            <a:r>
              <a:rPr lang="en-US" altLang="zh-CN" sz="1200" baseline="-25000" dirty="0"/>
              <a:t> </a:t>
            </a:r>
            <a:r>
              <a:rPr lang="en-US" altLang="zh-CN" sz="1200" i="1" dirty="0"/>
              <a:t>f</a:t>
            </a:r>
            <a:r>
              <a:rPr lang="en-US" altLang="zh-CN" sz="1200" dirty="0"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x</a:t>
            </a:r>
            <a:r>
              <a:rPr lang="en-US" altLang="zh-CN" sz="1200" dirty="0">
                <a:sym typeface="Symbol" panose="05050102010706020507" pitchFamily="18" charset="2"/>
              </a:rPr>
              <a:t>)= </a:t>
            </a:r>
            <a:r>
              <a:rPr lang="en-US" altLang="zh-CN" sz="1200" i="1" dirty="0"/>
              <a:t>y</a:t>
            </a:r>
            <a:r>
              <a:rPr lang="en-US" altLang="zh-CN" sz="1200" dirty="0">
                <a:sym typeface="Symbol" panose="05050102010706020507" pitchFamily="18" charset="2"/>
              </a:rPr>
              <a:t> </a:t>
            </a:r>
            <a:r>
              <a:rPr lang="en-US" altLang="zh-CN" sz="1200" dirty="0"/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200" dirty="0">
                <a:sym typeface="Symbol" panose="05050102010706020507" pitchFamily="18" charset="2"/>
              </a:rPr>
              <a:t>        R</a:t>
            </a:r>
            <a:r>
              <a:rPr lang="en-US" altLang="zh-CN" sz="1200" dirty="0">
                <a:ea typeface="Arial Unicode MS" pitchFamily="34" charset="-122"/>
                <a:sym typeface="Symbol" panose="05050102010706020507" pitchFamily="18" charset="2"/>
              </a:rPr>
              <a:t>(</a:t>
            </a:r>
            <a:r>
              <a:rPr lang="en-US" altLang="zh-CN" sz="1200" i="1" dirty="0"/>
              <a:t>f</a:t>
            </a:r>
            <a:r>
              <a:rPr lang="en-US" altLang="zh-CN" sz="1200" dirty="0">
                <a:ea typeface="Arial Unicode MS" pitchFamily="34" charset="-122"/>
                <a:sym typeface="Symbol" panose="05050102010706020507" pitchFamily="18" charset="2"/>
              </a:rPr>
              <a:t>)= </a:t>
            </a:r>
            <a:r>
              <a:rPr lang="en-US" altLang="zh-CN" sz="1200" dirty="0">
                <a:sym typeface="Symbol" panose="05050102010706020507" pitchFamily="18" charset="2"/>
              </a:rPr>
              <a:t>Y</a:t>
            </a:r>
          </a:p>
          <a:p>
            <a:endParaRPr lang="en-US" altLang="zh-CN" b="0" dirty="0">
              <a:latin typeface="Arial" panose="020B0604020202020204" pitchFamily="34" charset="0"/>
            </a:endParaRPr>
          </a:p>
          <a:p>
            <a:endParaRPr lang="en-US" altLang="zh-CN" b="0" dirty="0">
              <a:latin typeface="Arial" panose="020B0604020202020204" pitchFamily="34" charset="0"/>
            </a:endParaRPr>
          </a:p>
          <a:p>
            <a:endParaRPr lang="en-US" altLang="zh-CN" b="0" dirty="0">
              <a:latin typeface="Arial" panose="020B0604020202020204" pitchFamily="34" charset="0"/>
            </a:endParaRPr>
          </a:p>
          <a:p>
            <a:r>
              <a:rPr lang="zh-CN" altLang="en-US" b="0" dirty="0">
                <a:latin typeface="Arial" panose="020B0604020202020204" pitchFamily="34" charset="0"/>
              </a:rPr>
              <a:t>满射：对于值域中的每个</a:t>
            </a:r>
            <a:r>
              <a:rPr lang="en-US" altLang="zh-CN" b="0" dirty="0">
                <a:latin typeface="Arial" panose="020B0604020202020204" pitchFamily="34" charset="0"/>
              </a:rPr>
              <a:t>y</a:t>
            </a:r>
            <a:r>
              <a:rPr lang="zh-CN" altLang="en-US" b="0" dirty="0">
                <a:latin typeface="Arial" panose="020B0604020202020204" pitchFamily="34" charset="0"/>
              </a:rPr>
              <a:t>，都有对应的</a:t>
            </a:r>
            <a:r>
              <a:rPr lang="en-US" altLang="zh-CN" b="0" dirty="0">
                <a:latin typeface="Arial" panose="020B0604020202020204" pitchFamily="34" charset="0"/>
              </a:rPr>
              <a:t>x</a:t>
            </a:r>
            <a:r>
              <a:rPr lang="zh-CN" altLang="en-US" b="0" dirty="0">
                <a:latin typeface="Arial" panose="020B0604020202020204" pitchFamily="34" charset="0"/>
              </a:rPr>
              <a:t>：</a:t>
            </a:r>
            <a:r>
              <a:rPr lang="en-US" altLang="zh-CN" b="0" dirty="0">
                <a:latin typeface="Arial" panose="020B0604020202020204" pitchFamily="34" charset="0"/>
              </a:rPr>
              <a:t>  </a:t>
            </a:r>
            <a:r>
              <a:rPr lang="en-US" altLang="zh-CN" b="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b="0" dirty="0" err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∈B</a:t>
            </a:r>
            <a:r>
              <a:rPr lang="zh-CN" altLang="en-US" b="0" dirty="0">
                <a:solidFill>
                  <a:schemeClr val="tx2"/>
                </a:solidFill>
                <a:latin typeface="Times New Roman" panose="02020603050405020304" pitchFamily="18" charset="0"/>
              </a:rPr>
              <a:t>，都</a:t>
            </a:r>
            <a:r>
              <a:rPr lang="en-US" altLang="zh-CN" b="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b="0" dirty="0" err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∈A</a:t>
            </a:r>
            <a:r>
              <a:rPr lang="zh-CN" altLang="en-US" b="0" dirty="0">
                <a:solidFill>
                  <a:schemeClr val="tx2"/>
                </a:solidFill>
                <a:latin typeface="Times New Roman" panose="02020603050405020304" pitchFamily="18" charset="0"/>
              </a:rPr>
              <a:t>，使得</a:t>
            </a:r>
            <a:r>
              <a:rPr lang="en-US" altLang="zh-CN" b="0" dirty="0">
                <a:solidFill>
                  <a:schemeClr val="tx2"/>
                </a:solidFill>
                <a:latin typeface="Times New Roman" panose="02020603050405020304" pitchFamily="18" charset="0"/>
              </a:rPr>
              <a:t>f(x)=y</a:t>
            </a:r>
            <a:endParaRPr lang="en-US" altLang="zh-CN" b="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>
                <a:latin typeface="Arial" panose="020B0604020202020204" pitchFamily="34" charset="0"/>
              </a:rPr>
              <a:t>单射：对于每个不同的</a:t>
            </a:r>
            <a:r>
              <a:rPr lang="en-US" altLang="zh-CN" b="0" dirty="0">
                <a:latin typeface="Arial" panose="020B0604020202020204" pitchFamily="34" charset="0"/>
              </a:rPr>
              <a:t>x</a:t>
            </a:r>
            <a:r>
              <a:rPr lang="zh-CN" altLang="en-US" b="0" dirty="0">
                <a:latin typeface="Arial" panose="020B0604020202020204" pitchFamily="34" charset="0"/>
              </a:rPr>
              <a:t>，都对应不同的</a:t>
            </a:r>
            <a:r>
              <a:rPr lang="en-US" altLang="zh-CN" b="0" dirty="0">
                <a:latin typeface="Arial" panose="020B0604020202020204" pitchFamily="34" charset="0"/>
              </a:rPr>
              <a:t>y</a:t>
            </a:r>
            <a:r>
              <a:rPr lang="zh-CN" altLang="en-US" b="0" dirty="0">
                <a:latin typeface="Arial" panose="020B0604020202020204" pitchFamily="34" charset="0"/>
              </a:rPr>
              <a:t>： </a:t>
            </a:r>
            <a:r>
              <a:rPr lang="en-US" altLang="zh-CN" b="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x1,x2</a:t>
            </a:r>
            <a:r>
              <a:rPr lang="en-US" altLang="zh-CN" b="0" dirty="0">
                <a:solidFill>
                  <a:schemeClr val="tx2"/>
                </a:solidFill>
                <a:latin typeface="Times New Roman" panose="02020603050405020304" pitchFamily="18" charset="0"/>
              </a:rPr>
              <a:t>∈A</a:t>
            </a:r>
            <a:r>
              <a:rPr lang="zh-CN" altLang="en-US" b="0" dirty="0">
                <a:solidFill>
                  <a:schemeClr val="tx2"/>
                </a:solidFill>
                <a:latin typeface="Times New Roman" panose="02020603050405020304" pitchFamily="18" charset="0"/>
              </a:rPr>
              <a:t>，若</a:t>
            </a:r>
            <a:r>
              <a:rPr lang="en-US" altLang="zh-CN" b="0" dirty="0">
                <a:solidFill>
                  <a:schemeClr val="tx2"/>
                </a:solidFill>
                <a:latin typeface="Times New Roman" panose="02020603050405020304" pitchFamily="18" charset="0"/>
              </a:rPr>
              <a:t>f(x1)=f(x2)</a:t>
            </a:r>
            <a:r>
              <a:rPr lang="zh-CN" altLang="en-US" b="0" dirty="0">
                <a:solidFill>
                  <a:schemeClr val="tx2"/>
                </a:solidFill>
                <a:latin typeface="Times New Roman" panose="02020603050405020304" pitchFamily="18" charset="0"/>
              </a:rPr>
              <a:t>，则</a:t>
            </a:r>
            <a:r>
              <a:rPr lang="en-US" altLang="zh-CN" b="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x1=x2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01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92B004D-3E26-4C42-A52F-948C3F114EE1}" type="slidenum">
              <a:rPr lang="en-US" altLang="zh-CN" sz="1200">
                <a:latin typeface="Arial" panose="020B0604020202020204" pitchFamily="34" charset="0"/>
              </a:rPr>
              <a:pPr/>
              <a:t>137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0003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Times New Roman" panose="02020603050405020304" pitchFamily="18" charset="0"/>
              </a:rPr>
              <a:t>证明两个函数 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F </a:t>
            </a:r>
            <a:r>
              <a:rPr lang="zh-CN" altLang="en-US" sz="1200" b="1" dirty="0">
                <a:latin typeface="Times New Roman" panose="02020603050405020304" pitchFamily="18" charset="0"/>
              </a:rPr>
              <a:t>和 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1200" b="1" dirty="0">
                <a:latin typeface="Times New Roman" panose="02020603050405020304" pitchFamily="18" charset="0"/>
              </a:rPr>
              <a:t>相等</a:t>
            </a:r>
            <a:r>
              <a:rPr lang="en-US" altLang="zh-CN" sz="1200" b="1" dirty="0">
                <a:latin typeface="Times New Roman" panose="02020603050405020304" pitchFamily="18" charset="0"/>
              </a:rPr>
              <a:t>, </a:t>
            </a:r>
            <a:r>
              <a:rPr lang="zh-CN" altLang="en-US" sz="1200" b="1" dirty="0">
                <a:latin typeface="Times New Roman" panose="02020603050405020304" pitchFamily="18" charset="0"/>
              </a:rPr>
              <a:t>一定满足下面两个条件：</a:t>
            </a:r>
            <a:endParaRPr lang="en-US" altLang="zh-CN" sz="1200" b="1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latin typeface="Times New Roman" panose="02020603050405020304" pitchFamily="18" charset="0"/>
              </a:rPr>
              <a:t>(1) </a:t>
            </a:r>
            <a:r>
              <a:rPr lang="en-US" altLang="zh-CN" sz="1200" b="1" dirty="0" err="1">
                <a:latin typeface="Times New Roman" panose="02020603050405020304" pitchFamily="18" charset="0"/>
              </a:rPr>
              <a:t>dom</a:t>
            </a:r>
            <a:r>
              <a:rPr lang="en-US" altLang="zh-CN" sz="12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1200" b="1" dirty="0">
                <a:latin typeface="Times New Roman" panose="02020603050405020304" pitchFamily="18" charset="0"/>
              </a:rPr>
              <a:t>= </a:t>
            </a:r>
            <a:r>
              <a:rPr lang="en-US" altLang="zh-CN" sz="1200" b="1" dirty="0" err="1">
                <a:latin typeface="Times New Roman" panose="02020603050405020304" pitchFamily="18" charset="0"/>
              </a:rPr>
              <a:t>dom</a:t>
            </a:r>
            <a:r>
              <a:rPr lang="en-US" altLang="zh-CN" sz="12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1200" b="1" dirty="0">
                <a:latin typeface="Times New Roman" panose="02020603050405020304" pitchFamily="18" charset="0"/>
              </a:rPr>
              <a:t> </a:t>
            </a:r>
            <a:br>
              <a:rPr lang="en-US" altLang="zh-CN" sz="1200" b="1" dirty="0">
                <a:latin typeface="Times New Roman" panose="02020603050405020304" pitchFamily="18" charset="0"/>
              </a:rPr>
            </a:br>
            <a:r>
              <a:rPr lang="en-US" altLang="zh-CN" sz="1200" b="1" dirty="0">
                <a:latin typeface="Times New Roman" panose="02020603050405020304" pitchFamily="18" charset="0"/>
              </a:rPr>
              <a:t>(2) </a:t>
            </a:r>
            <a:r>
              <a:rPr lang="en-US" altLang="zh-CN" sz="1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12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1200" b="1" dirty="0" err="1">
                <a:latin typeface="Times New Roman" panose="02020603050405020304" pitchFamily="18" charset="0"/>
              </a:rPr>
              <a:t>∈dom</a:t>
            </a:r>
            <a:r>
              <a:rPr lang="en-US" altLang="zh-CN" sz="12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1200" b="1" dirty="0">
                <a:latin typeface="Times New Roman" panose="02020603050405020304" pitchFamily="18" charset="0"/>
              </a:rPr>
              <a:t>= </a:t>
            </a:r>
            <a:r>
              <a:rPr lang="en-US" altLang="zh-CN" sz="1200" b="1" dirty="0" err="1">
                <a:latin typeface="Times New Roman" panose="02020603050405020304" pitchFamily="18" charset="0"/>
              </a:rPr>
              <a:t>dom</a:t>
            </a:r>
            <a:r>
              <a:rPr lang="en-US" altLang="zh-CN" sz="12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1200" b="1" dirty="0">
                <a:latin typeface="Times New Roman" panose="02020603050405020304" pitchFamily="18" charset="0"/>
              </a:rPr>
              <a:t>都有 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1200" b="1" dirty="0">
                <a:latin typeface="Times New Roman" panose="02020603050405020304" pitchFamily="18" charset="0"/>
              </a:rPr>
              <a:t>(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1200" b="1" dirty="0">
                <a:latin typeface="Times New Roman" panose="02020603050405020304" pitchFamily="18" charset="0"/>
              </a:rPr>
              <a:t>) = 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1200" b="1" dirty="0">
                <a:latin typeface="Times New Roman" panose="02020603050405020304" pitchFamily="18" charset="0"/>
              </a:rPr>
              <a:t>(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1200" b="1" dirty="0">
                <a:latin typeface="Times New Roman" panose="02020603050405020304" pitchFamily="18" charset="0"/>
              </a:rPr>
              <a:t>) </a:t>
            </a:r>
            <a:endParaRPr lang="en-US" altLang="zh-CN" sz="1200" b="1" dirty="0">
              <a:solidFill>
                <a:schemeClr val="bg2"/>
              </a:solidFill>
            </a:endParaRPr>
          </a:p>
          <a:p>
            <a:endParaRPr lang="en-US" altLang="zh-CN" sz="1200" b="0" i="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因为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A→B</a:t>
            </a:r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是函数，所以对于任意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1200" b="0" i="0" dirty="0" err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1200" b="0" i="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∈A</a:t>
            </a:r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，存在</a:t>
            </a:r>
            <a:r>
              <a:rPr lang="en-US" altLang="zh-CN" sz="1200" b="0" i="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b∈B</a:t>
            </a:r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，使得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f(a)=b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dirty="0">
                <a:latin typeface="Times New Roman" panose="02020603050405020304" pitchFamily="18" charset="0"/>
              </a:rPr>
              <a:t>(f</a:t>
            </a:r>
            <a:r>
              <a:rPr lang="en-US" altLang="zh-CN" sz="1200" b="0" i="0" dirty="0">
                <a:sym typeface="Symbol" panose="05050102010706020507" pitchFamily="18" charset="2"/>
              </a:rPr>
              <a:t>∘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I</a:t>
            </a:r>
            <a:r>
              <a:rPr lang="en-US" altLang="zh-CN" sz="1200" b="0" i="0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 )(a)=f(I</a:t>
            </a:r>
            <a:r>
              <a:rPr lang="en-US" altLang="zh-CN" sz="1200" b="0" i="0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 (a))=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f(a)=b</a:t>
            </a:r>
            <a:endParaRPr lang="en-US" altLang="zh-CN" sz="1200" b="0" i="0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dirty="0">
                <a:latin typeface="Times New Roman" panose="02020603050405020304" pitchFamily="18" charset="0"/>
              </a:rPr>
              <a:t>(I</a:t>
            </a:r>
            <a:r>
              <a:rPr lang="en-US" altLang="zh-CN" sz="1200" b="0" i="0" baseline="-25000" dirty="0">
                <a:latin typeface="Times New Roman" panose="02020603050405020304" pitchFamily="18" charset="0"/>
              </a:rPr>
              <a:t>B</a:t>
            </a:r>
            <a:r>
              <a:rPr lang="en-US" altLang="zh-CN" sz="1200" b="0" i="0" dirty="0">
                <a:sym typeface="Symbol" panose="05050102010706020507" pitchFamily="18" charset="2"/>
              </a:rPr>
              <a:t>∘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f )(a)=I</a:t>
            </a:r>
            <a:r>
              <a:rPr lang="en-US" altLang="zh-CN" sz="1200" b="0" i="0" baseline="-25000" dirty="0">
                <a:latin typeface="Times New Roman" panose="02020603050405020304" pitchFamily="18" charset="0"/>
              </a:rPr>
              <a:t>B</a:t>
            </a:r>
            <a:r>
              <a:rPr lang="en-US" altLang="zh-CN" sz="1200" b="0" i="0" dirty="0">
                <a:sym typeface="Symbol" panose="05050102010706020507" pitchFamily="18" charset="2"/>
              </a:rPr>
              <a:t>(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f (a))=I</a:t>
            </a:r>
            <a:r>
              <a:rPr lang="en-US" altLang="zh-CN" sz="1200" b="0" i="0" baseline="-25000" dirty="0">
                <a:latin typeface="Times New Roman" panose="02020603050405020304" pitchFamily="18" charset="0"/>
              </a:rPr>
              <a:t>B</a:t>
            </a:r>
            <a:r>
              <a:rPr lang="en-US" altLang="zh-CN" sz="1200" b="0" i="0" dirty="0">
                <a:sym typeface="Symbol" panose="05050102010706020507" pitchFamily="18" charset="2"/>
              </a:rPr>
              <a:t>(</a:t>
            </a:r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)=b</a:t>
            </a:r>
            <a:endParaRPr lang="zh-CN" altLang="en-US" b="0" i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b="0" i="0" dirty="0"/>
          </a:p>
          <a:p>
            <a:endParaRPr lang="zh-CN" altLang="en-US" b="0" i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0C8DC3-4AD2-4BCD-A6A0-23D815859075}" type="slidenum">
              <a:rPr lang="en-US" altLang="zh-CN" smtClean="0"/>
              <a:pPr>
                <a:defRPr/>
              </a:pPr>
              <a:t>138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09370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323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函数如果是一对多，则逆不是函数；</a:t>
            </a:r>
            <a:endParaRPr lang="en-US" altLang="zh-CN" b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函数如果是一对一，则逆是值域（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ranf 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的子集，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ranf B</a:t>
            </a: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。满射时才相等）到定义域的双射函数。</a:t>
            </a:r>
            <a:endParaRPr lang="en-US" altLang="zh-CN" b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>
                <a:latin typeface="Times New Roman" panose="02020603050405020304" pitchFamily="18" charset="0"/>
                <a:sym typeface="Symbol" panose="05050102010706020507" pitchFamily="18" charset="2"/>
              </a:rPr>
              <a:t>第二个例题的定义域仅为自然数中的偶数。</a:t>
            </a:r>
            <a:endParaRPr lang="en-US" altLang="zh-CN" b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232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C1CAEB0-B33D-4ADC-A80D-C9E9B47450F4}" type="slidenum">
              <a:rPr lang="en-US" altLang="zh-CN" sz="1200">
                <a:latin typeface="Arial" panose="020B0604020202020204" pitchFamily="34" charset="0"/>
              </a:rPr>
              <a:pPr/>
              <a:t>139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384047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28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要证明一个关系是双射函数，首先要证明它是一个函数，然后再证明它具有单射或满射的性质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证明一个关系是函数，需要证明两个方面：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、该函数的定义域是整个集合；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、证明对于定义域中的每个</a:t>
            </a:r>
            <a:r>
              <a:rPr lang="en-US" altLang="zh-CN" dirty="0">
                <a:latin typeface="Arial" panose="020B0604020202020204" pitchFamily="34" charset="0"/>
              </a:rPr>
              <a:t>x</a:t>
            </a:r>
            <a:r>
              <a:rPr lang="zh-CN" altLang="en-US" dirty="0">
                <a:latin typeface="Arial" panose="020B0604020202020204" pitchFamily="34" charset="0"/>
              </a:rPr>
              <a:t>，都有唯一的</a:t>
            </a:r>
            <a:r>
              <a:rPr lang="en-US" altLang="zh-CN" dirty="0">
                <a:latin typeface="Arial" panose="020B0604020202020204" pitchFamily="34" charset="0"/>
              </a:rPr>
              <a:t>y</a:t>
            </a:r>
            <a:r>
              <a:rPr lang="zh-CN" altLang="en-US" dirty="0">
                <a:latin typeface="Arial" panose="020B0604020202020204" pitchFamily="34" charset="0"/>
              </a:rPr>
              <a:t>和它对应。反证法就是假设一个</a:t>
            </a:r>
            <a:r>
              <a:rPr lang="en-US" altLang="zh-CN" dirty="0">
                <a:latin typeface="Arial" panose="020B0604020202020204" pitchFamily="34" charset="0"/>
              </a:rPr>
              <a:t>x</a:t>
            </a:r>
            <a:r>
              <a:rPr lang="zh-CN" altLang="en-US" dirty="0">
                <a:latin typeface="Arial" panose="020B0604020202020204" pitchFamily="34" charset="0"/>
              </a:rPr>
              <a:t>和两个不同的</a:t>
            </a:r>
            <a:r>
              <a:rPr lang="en-US" altLang="zh-CN" dirty="0">
                <a:latin typeface="Arial" panose="020B0604020202020204" pitchFamily="34" charset="0"/>
              </a:rPr>
              <a:t>y</a:t>
            </a:r>
            <a:r>
              <a:rPr lang="zh-CN" altLang="en-US" dirty="0">
                <a:latin typeface="Arial" panose="020B0604020202020204" pitchFamily="34" charset="0"/>
              </a:rPr>
              <a:t>对应，然后证明这两个</a:t>
            </a:r>
            <a:r>
              <a:rPr lang="en-US" altLang="zh-CN" dirty="0">
                <a:latin typeface="Arial" panose="020B0604020202020204" pitchFamily="34" charset="0"/>
              </a:rPr>
              <a:t>y</a:t>
            </a:r>
            <a:r>
              <a:rPr lang="zh-CN" altLang="en-US" dirty="0">
                <a:latin typeface="Arial" panose="020B0604020202020204" pitchFamily="34" charset="0"/>
              </a:rPr>
              <a:t>相等。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252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5AAB99F-F027-4A38-8D57-8840EF4B7C34}" type="slidenum">
              <a:rPr lang="en-US" altLang="zh-CN" sz="1200">
                <a:latin typeface="Arial" panose="020B0604020202020204" pitchFamily="34" charset="0"/>
              </a:rPr>
              <a:pPr/>
              <a:t>140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40557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733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满射：假设</a:t>
            </a:r>
            <a:r>
              <a:rPr lang="en-US" altLang="zh-CN" dirty="0">
                <a:latin typeface="Arial" panose="020B0604020202020204" pitchFamily="34" charset="0"/>
              </a:rPr>
              <a:t>f</a:t>
            </a:r>
            <a:r>
              <a:rPr lang="zh-CN" altLang="en-US" dirty="0">
                <a:latin typeface="Arial" panose="020B0604020202020204" pitchFamily="34" charset="0"/>
              </a:rPr>
              <a:t>是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到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上的</a:t>
            </a:r>
            <a:r>
              <a:rPr lang="zh-CN" altLang="en-US" b="1" dirty="0">
                <a:latin typeface="Arial" panose="020B0604020202020204" pitchFamily="34" charset="0"/>
              </a:rPr>
              <a:t>函数</a:t>
            </a:r>
            <a:r>
              <a:rPr lang="zh-CN" altLang="en-US" dirty="0">
                <a:latin typeface="Arial" panose="020B0604020202020204" pitchFamily="34" charset="0"/>
              </a:rPr>
              <a:t>，每个</a:t>
            </a:r>
            <a:r>
              <a:rPr lang="en-US" altLang="zh-CN" dirty="0">
                <a:latin typeface="Arial" panose="020B0604020202020204" pitchFamily="34" charset="0"/>
              </a:rPr>
              <a:t>y</a:t>
            </a:r>
            <a:r>
              <a:rPr lang="zh-CN" altLang="en-US" dirty="0">
                <a:latin typeface="Arial" panose="020B0604020202020204" pitchFamily="34" charset="0"/>
              </a:rPr>
              <a:t>都有一个</a:t>
            </a:r>
            <a:r>
              <a:rPr lang="en-US" altLang="zh-CN" dirty="0">
                <a:latin typeface="Arial" panose="020B0604020202020204" pitchFamily="34" charset="0"/>
              </a:rPr>
              <a:t>x</a:t>
            </a:r>
            <a:r>
              <a:rPr lang="zh-CN" altLang="en-US" dirty="0">
                <a:latin typeface="Arial" panose="020B0604020202020204" pitchFamily="34" charset="0"/>
              </a:rPr>
              <a:t>和它对应，即值域是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，而不是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的子集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单射：假设</a:t>
            </a:r>
            <a:r>
              <a:rPr lang="en-US" altLang="zh-CN" dirty="0">
                <a:latin typeface="Arial" panose="020B0604020202020204" pitchFamily="34" charset="0"/>
              </a:rPr>
              <a:t>f(x1)=f(x2)</a:t>
            </a:r>
            <a:r>
              <a:rPr lang="zh-CN" altLang="en-US" dirty="0">
                <a:latin typeface="Arial" panose="020B0604020202020204" pitchFamily="34" charset="0"/>
              </a:rPr>
              <a:t>，则</a:t>
            </a:r>
            <a:r>
              <a:rPr lang="en-US" altLang="zh-CN" dirty="0">
                <a:latin typeface="Arial" panose="020B0604020202020204" pitchFamily="34" charset="0"/>
              </a:rPr>
              <a:t>x1=x2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73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10DCE8B-5BA9-4A76-8B13-AF2217691848}" type="slidenum">
              <a:rPr lang="en-US" altLang="zh-CN" sz="1200">
                <a:latin typeface="Arial" panose="020B0604020202020204" pitchFamily="34" charset="0"/>
              </a:rPr>
              <a:pPr/>
              <a:t>141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460962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937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Times New Roman" panose="02020603050405020304" pitchFamily="18" charset="0"/>
              </a:rPr>
              <a:t>证明两个函数 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F </a:t>
            </a:r>
            <a:r>
              <a:rPr lang="zh-CN" altLang="en-US" sz="1200" b="1" dirty="0">
                <a:latin typeface="Times New Roman" panose="02020603050405020304" pitchFamily="18" charset="0"/>
              </a:rPr>
              <a:t>和 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1200" b="1" dirty="0">
                <a:latin typeface="Times New Roman" panose="02020603050405020304" pitchFamily="18" charset="0"/>
              </a:rPr>
              <a:t>相等</a:t>
            </a:r>
            <a:r>
              <a:rPr lang="en-US" altLang="zh-CN" sz="1200" b="1" dirty="0">
                <a:latin typeface="Times New Roman" panose="02020603050405020304" pitchFamily="18" charset="0"/>
              </a:rPr>
              <a:t>, 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1200" b="1" dirty="0">
                <a:latin typeface="Times New Roman" panose="02020603050405020304" pitchFamily="18" charset="0"/>
              </a:rPr>
              <a:t>= 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G </a:t>
            </a:r>
            <a:r>
              <a:rPr lang="en-US" altLang="zh-CN" sz="1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1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1200" b="1" dirty="0">
                <a:latin typeface="Times New Roman" panose="02020603050405020304" pitchFamily="18" charset="0"/>
              </a:rPr>
              <a:t>∧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1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1200" b="1" dirty="0">
                <a:latin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因为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A→B</a:t>
            </a:r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是函数，所以对于任意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x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∈A</a:t>
            </a:r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，存在</a:t>
            </a:r>
            <a:r>
              <a:rPr lang="en-US" altLang="zh-CN" sz="1200" b="0" i="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y∈B</a:t>
            </a:r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，使得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f(x)=y</a:t>
            </a:r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，又因为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是双射函数，因此有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12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2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1200" b="1" baseline="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1200" b="1" i="1" baseline="0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)=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dirty="0">
                <a:latin typeface="Times New Roman" panose="02020603050405020304" pitchFamily="18" charset="0"/>
              </a:rPr>
              <a:t>(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12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2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1200" b="1" dirty="0">
                <a:sym typeface="Symbol" panose="05050102010706020507" pitchFamily="18" charset="2"/>
              </a:rPr>
              <a:t>∘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)(x)=</a:t>
            </a:r>
            <a:r>
              <a:rPr lang="zh-CN" altLang="en-US" sz="1200" b="1" dirty="0">
                <a:latin typeface="Times New Roman" panose="02020603050405020304" pitchFamily="18" charset="0"/>
              </a:rPr>
              <a:t> 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12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2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1200" b="1" baseline="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(x))=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12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2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1200" b="1" baseline="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1200" b="1" i="1" baseline="0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)=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，即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1200" b="0" i="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x,x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&gt;∈</a:t>
            </a:r>
            <a:r>
              <a:rPr lang="en-US" altLang="zh-CN" sz="1200" b="1" dirty="0">
                <a:latin typeface="Times New Roman" panose="02020603050405020304" pitchFamily="18" charset="0"/>
              </a:rPr>
              <a:t> 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1200" b="1" i="1" baseline="-25000" dirty="0">
                <a:latin typeface="Times New Roman" panose="02020603050405020304" pitchFamily="18" charset="0"/>
              </a:rPr>
              <a:t>A</a:t>
            </a:r>
            <a:endParaRPr lang="en-US" altLang="zh-CN" sz="1200" b="0" i="0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>
                <a:solidFill>
                  <a:schemeClr val="tx2"/>
                </a:solidFill>
                <a:latin typeface="Times New Roman" panose="02020603050405020304" pitchFamily="18" charset="0"/>
              </a:rPr>
              <a:t>因为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A→B</a:t>
            </a:r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是双射函数，所以对于任意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1200" b="0" i="0" dirty="0" err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1200" b="0" i="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∈B</a:t>
            </a:r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，存在</a:t>
            </a:r>
            <a:r>
              <a:rPr lang="en-US" altLang="zh-CN" sz="1200" b="0" i="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x∈A</a:t>
            </a:r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，使得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12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2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1200" b="1" baseline="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1200" b="1" i="1" baseline="0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)=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x </a:t>
            </a:r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，又因为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是双射函数，因此有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f(x)=y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dirty="0">
                <a:latin typeface="Times New Roman" panose="02020603050405020304" pitchFamily="18" charset="0"/>
              </a:rPr>
              <a:t>(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1200" b="1" dirty="0">
                <a:sym typeface="Symbol" panose="05050102010706020507" pitchFamily="18" charset="2"/>
              </a:rPr>
              <a:t>∘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12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200" b="1" baseline="30000" dirty="0">
                <a:latin typeface="Times New Roman" panose="02020603050405020304" pitchFamily="18" charset="0"/>
              </a:rPr>
              <a:t>1 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)(y)=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1200" b="1" dirty="0">
                <a:sym typeface="Symbol" panose="05050102010706020507" pitchFamily="18" charset="2"/>
              </a:rPr>
              <a:t>(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12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200" b="1" baseline="30000" dirty="0">
                <a:latin typeface="Times New Roman" panose="02020603050405020304" pitchFamily="18" charset="0"/>
              </a:rPr>
              <a:t>1 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(y))=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1200" b="0" i="0" dirty="0">
                <a:sym typeface="Symbol" panose="05050102010706020507" pitchFamily="18" charset="2"/>
              </a:rPr>
              <a:t>(</a:t>
            </a:r>
            <a:r>
              <a:rPr lang="en-US" altLang="zh-CN" sz="1200" b="0" i="0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1200" b="0" i="0" dirty="0">
                <a:latin typeface="Times New Roman" panose="02020603050405020304" pitchFamily="18" charset="0"/>
              </a:rPr>
              <a:t>)=y</a:t>
            </a:r>
            <a:r>
              <a:rPr lang="zh-CN" altLang="en-US" sz="1200" b="0" i="0" dirty="0">
                <a:latin typeface="Times New Roman" panose="02020603050405020304" pitchFamily="18" charset="0"/>
              </a:rPr>
              <a:t>，即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1200" b="0" i="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y,y</a:t>
            </a:r>
            <a:r>
              <a:rPr lang="en-US" altLang="zh-CN" sz="1200" b="0" i="0" dirty="0">
                <a:solidFill>
                  <a:schemeClr val="tx2"/>
                </a:solidFill>
                <a:latin typeface="Times New Roman" panose="02020603050405020304" pitchFamily="18" charset="0"/>
              </a:rPr>
              <a:t>&gt;∈</a:t>
            </a:r>
            <a:r>
              <a:rPr lang="en-US" altLang="zh-CN" sz="1200" b="1" dirty="0">
                <a:latin typeface="Times New Roman" panose="02020603050405020304" pitchFamily="18" charset="0"/>
              </a:rPr>
              <a:t> 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1200" b="1" i="1" baseline="-25000" dirty="0">
                <a:latin typeface="Times New Roman" panose="02020603050405020304" pitchFamily="18" charset="0"/>
              </a:rPr>
              <a:t>B</a:t>
            </a:r>
            <a:endParaRPr lang="en-US" altLang="zh-CN" sz="1200" b="0" i="0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设 </a:t>
            </a:r>
            <a:r>
              <a:rPr lang="en-US" altLang="zh-CN" dirty="0">
                <a:latin typeface="Arial" panose="020B0604020202020204" pitchFamily="34" charset="0"/>
              </a:rPr>
              <a:t>f</a:t>
            </a:r>
            <a:r>
              <a:rPr lang="zh-CN" altLang="en-US" dirty="0">
                <a:latin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</a:rPr>
              <a:t>A→B</a:t>
            </a:r>
            <a:r>
              <a:rPr lang="zh-CN" altLang="en-US" dirty="0">
                <a:latin typeface="Arial" panose="020B0604020202020204" pitchFamily="34" charset="0"/>
              </a:rPr>
              <a:t>是双射的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则</a:t>
            </a:r>
            <a:r>
              <a:rPr lang="en-US" altLang="zh-CN" b="1" i="1" dirty="0">
                <a:latin typeface="Times New Roman" panose="02020603050405020304" pitchFamily="18" charset="0"/>
              </a:rPr>
              <a:t>f 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Arial" panose="020B0604020202020204" pitchFamily="34" charset="0"/>
                <a:sym typeface="Symbol" panose="05050102010706020507" pitchFamily="18" charset="2"/>
              </a:rPr>
              <a:t>∘</a:t>
            </a:r>
            <a:r>
              <a:rPr lang="en-US" altLang="zh-CN" b="1" i="1" dirty="0">
                <a:latin typeface="Times New Roman" panose="02020603050405020304" pitchFamily="18" charset="0"/>
              </a:rPr>
              <a:t>f </a:t>
            </a:r>
            <a:r>
              <a:rPr lang="en-US" altLang="zh-CN" b="1" dirty="0">
                <a:latin typeface="Times New Roman" panose="02020603050405020304" pitchFamily="18" charset="0"/>
              </a:rPr>
              <a:t>= </a:t>
            </a:r>
            <a:r>
              <a:rPr lang="en-US" altLang="zh-CN" b="1" i="1" dirty="0">
                <a:latin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A</a:t>
            </a:r>
            <a:endParaRPr lang="en-US" altLang="zh-CN" b="1" i="1" dirty="0">
              <a:latin typeface="Times New Roman" panose="02020603050405020304" pitchFamily="18" charset="0"/>
            </a:endParaRPr>
          </a:p>
          <a:p>
            <a:r>
              <a:rPr lang="en-US" altLang="zh-CN" b="1" i="1" dirty="0">
                <a:latin typeface="Times New Roman" panose="02020603050405020304" pitchFamily="18" charset="0"/>
              </a:rPr>
              <a:t>          f          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1</a:t>
            </a:r>
            <a:endParaRPr lang="en-US" altLang="zh-CN" b="1" i="1" dirty="0">
              <a:latin typeface="Times New Roman" panose="02020603050405020304" pitchFamily="18" charset="0"/>
            </a:endParaRPr>
          </a:p>
          <a:p>
            <a:r>
              <a:rPr lang="en-US" altLang="zh-CN" b="1" i="1" dirty="0">
                <a:latin typeface="Times New Roman" panose="02020603050405020304" pitchFamily="18" charset="0"/>
              </a:rPr>
              <a:t>A(x)----B(y)-----A(x)</a:t>
            </a:r>
          </a:p>
          <a:p>
            <a:endParaRPr lang="en-US" altLang="zh-CN" b="1" i="1" dirty="0">
              <a:latin typeface="Times New Roman" panose="02020603050405020304" pitchFamily="18" charset="0"/>
            </a:endParaRPr>
          </a:p>
          <a:p>
            <a:endParaRPr lang="en-US" altLang="zh-CN" b="1" i="1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b="1" dirty="0" err="1">
                <a:latin typeface="Arial" panose="020B0604020202020204" pitchFamily="34" charset="0"/>
                <a:sym typeface="Symbol" panose="05050102010706020507" pitchFamily="18" charset="2"/>
              </a:rPr>
              <a:t>∘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1 </a:t>
            </a:r>
            <a:r>
              <a:rPr lang="en-US" altLang="zh-CN" b="1" dirty="0">
                <a:latin typeface="Times New Roman" panose="02020603050405020304" pitchFamily="18" charset="0"/>
              </a:rPr>
              <a:t>= </a:t>
            </a:r>
            <a:r>
              <a:rPr lang="en-US" altLang="zh-CN" b="1" i="1" dirty="0">
                <a:latin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</a:p>
          <a:p>
            <a:r>
              <a:rPr lang="en-US" altLang="zh-CN" b="1" i="1" dirty="0">
                <a:latin typeface="Times New Roman" panose="02020603050405020304" pitchFamily="18" charset="0"/>
              </a:rPr>
              <a:t>          f 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b="1" i="1" dirty="0">
                <a:latin typeface="Times New Roman" panose="02020603050405020304" pitchFamily="18" charset="0"/>
              </a:rPr>
              <a:t>           f           </a:t>
            </a:r>
          </a:p>
          <a:p>
            <a:r>
              <a:rPr lang="en-US" altLang="zh-CN" b="1" i="1" dirty="0">
                <a:latin typeface="Times New Roman" panose="02020603050405020304" pitchFamily="18" charset="0"/>
              </a:rPr>
              <a:t>B(y)-----A(x) ----B(y)</a:t>
            </a:r>
            <a:endParaRPr lang="zh-CN" altLang="en-US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93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FF84969-6ED1-4C31-BB74-EE638E6DA29C}" type="slidenum">
              <a:rPr lang="en-US" altLang="zh-CN" sz="1200">
                <a:latin typeface="Arial" panose="020B0604020202020204" pitchFamily="34" charset="0"/>
              </a:rPr>
              <a:pPr/>
              <a:t>142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7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5E80C8-504D-46D8-8777-E500E558BE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6813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CF44C9-95CD-4446-AB07-15C096C1C9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3688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7FAEEE-313F-476F-B48F-D74AB76757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6868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00213"/>
            <a:ext cx="4038600" cy="4167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00213"/>
            <a:ext cx="4038600" cy="4167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B6437A-B0C7-4191-9621-8C5BEE9CF8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1776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B0B854-023D-4627-90EB-4CD56090F6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035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37452C-5412-4A26-805B-F886AE2030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2926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296687-9BD9-44D4-97EA-D915B19B8C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18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7AA76F-DBED-4AE9-B64C-561875CA8F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4867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4D2475-E9A5-4E47-BEFD-9FC1DAA673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289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1CE67-68DA-49E3-9920-C92C6A6835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485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6063" y="-73025"/>
            <a:ext cx="2090737" cy="59404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-73025"/>
            <a:ext cx="6119813" cy="59404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CFF551-B8A8-4243-B4B7-099806C64A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980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2FE279-8B20-4CF8-B30C-47961F47E7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1230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FA21F-CC0B-421A-BE3E-2C652C26BF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2461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F60EA6-4E3F-42EF-999D-24F9AA73B9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2988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8534C-19DD-44C7-9CAD-69C71CF57E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1898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BEFF5D-6E3C-4C50-9187-38D0A45102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98889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141E35-8110-4D65-912C-972A3331349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70243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5CDEFA-01B5-4D55-B347-8D458D2E09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23961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9DD769-E6A4-4189-BBD9-3F372E737F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6695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C42379-C14F-471B-99E6-E6AB419E4E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9193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E9A7E-72D2-4F57-98A3-DCBC49F94E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03055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91313" y="1600200"/>
            <a:ext cx="2078037" cy="45259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6081713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91440C-D5D4-46C7-B796-0977D1C1F5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4729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288BE3-9046-4EAF-9250-0E7987BF43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46036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91A403-FD44-4494-A6FA-E55214573D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93061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9972CD-14E9-4A2D-B2A1-8618C84877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94834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82D94B-97AB-422F-BC02-18F8A51697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86736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C872BF-E8D4-4ECA-9534-1B27E65A76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25757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854267-F9FD-4C0F-908A-B0B02E0D52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52637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07BB63-5EDA-4F1F-A047-FB456F0722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5407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74D3D0-A89C-4AAC-91B7-7AB861DB3C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94225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9B0C8-C85D-40A2-A059-097AACC505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89177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9CE1EE-287D-485A-AD72-BA5390146A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11316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6063" y="0"/>
            <a:ext cx="2090737" cy="5867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0"/>
            <a:ext cx="6119813" cy="5867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5107F7-4565-4174-81F5-D49842874B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22460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23850" y="0"/>
            <a:ext cx="8002588" cy="11001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14E15E-BCAD-4BA4-9C99-066A324306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11221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0"/>
            <a:ext cx="8002588" cy="11001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15AB48-291B-48F5-9FF2-3EC624C5C8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8400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61F44BD6-5E48-42CC-B6F6-F4540CD4C9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-73025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00213"/>
            <a:ext cx="8229600" cy="416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35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1"/>
            </a:gs>
            <a:gs pos="50000">
              <a:srgbClr val="EE8E00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2420938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A4F49936-FD0E-4B78-A47D-093DF4C4D7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840D43AA-CCE6-4463-9182-E68786899E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076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0"/>
            <a:ext cx="8002588" cy="110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7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54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8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5.wmf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2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34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2.wmf"/><Relationship Id="rId5" Type="http://schemas.openxmlformats.org/officeDocument/2006/relationships/image" Target="../media/image19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1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4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6.emf"/><Relationship Id="rId4" Type="http://schemas.openxmlformats.org/officeDocument/2006/relationships/oleObject" Target="../embeddings/oleObject20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29.wmf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2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4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9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9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4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42.wmf"/><Relationship Id="rId3" Type="http://schemas.openxmlformats.org/officeDocument/2006/relationships/oleObject" Target="../embeddings/oleObject25.bin"/><Relationship Id="rId21" Type="http://schemas.openxmlformats.org/officeDocument/2006/relationships/oleObject" Target="../embeddings/oleObject34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9.wmf"/><Relationship Id="rId17" Type="http://schemas.openxmlformats.org/officeDocument/2006/relationships/oleObject" Target="../embeddings/oleObject32.bin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41.wmf"/><Relationship Id="rId20" Type="http://schemas.openxmlformats.org/officeDocument/2006/relationships/image" Target="../media/image43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23" Type="http://schemas.openxmlformats.org/officeDocument/2006/relationships/oleObject" Target="../embeddings/oleObject35.bin"/><Relationship Id="rId10" Type="http://schemas.openxmlformats.org/officeDocument/2006/relationships/image" Target="../media/image38.wmf"/><Relationship Id="rId19" Type="http://schemas.openxmlformats.org/officeDocument/2006/relationships/oleObject" Target="../embeddings/oleObject33.bin"/><Relationship Id="rId4" Type="http://schemas.openxmlformats.org/officeDocument/2006/relationships/image" Target="../media/image35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40.wmf"/><Relationship Id="rId22" Type="http://schemas.openxmlformats.org/officeDocument/2006/relationships/image" Target="../media/image44.wmf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41.bin"/><Relationship Id="rId18" Type="http://schemas.openxmlformats.org/officeDocument/2006/relationships/image" Target="../media/image40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7.wmf"/><Relationship Id="rId17" Type="http://schemas.openxmlformats.org/officeDocument/2006/relationships/oleObject" Target="../embeddings/oleObject43.bin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49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5" Type="http://schemas.openxmlformats.org/officeDocument/2006/relationships/oleObject" Target="../embeddings/oleObject42.bin"/><Relationship Id="rId10" Type="http://schemas.openxmlformats.org/officeDocument/2006/relationships/image" Target="../media/image46.wmf"/><Relationship Id="rId19" Type="http://schemas.openxmlformats.org/officeDocument/2006/relationships/oleObject" Target="../embeddings/oleObject44.bin"/><Relationship Id="rId4" Type="http://schemas.openxmlformats.org/officeDocument/2006/relationships/image" Target="../media/image41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48.w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50.wmf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oleObject" Target="../embeddings/oleObject51.bin"/><Relationship Id="rId18" Type="http://schemas.openxmlformats.org/officeDocument/2006/relationships/image" Target="../media/image55.wmf"/><Relationship Id="rId26" Type="http://schemas.openxmlformats.org/officeDocument/2006/relationships/oleObject" Target="../embeddings/oleObject62.bin"/><Relationship Id="rId3" Type="http://schemas.openxmlformats.org/officeDocument/2006/relationships/oleObject" Target="../embeddings/oleObject46.bin"/><Relationship Id="rId21" Type="http://schemas.openxmlformats.org/officeDocument/2006/relationships/image" Target="../media/image56.wmf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54.wmf"/><Relationship Id="rId17" Type="http://schemas.openxmlformats.org/officeDocument/2006/relationships/oleObject" Target="../embeddings/oleObject55.bin"/><Relationship Id="rId25" Type="http://schemas.openxmlformats.org/officeDocument/2006/relationships/oleObject" Target="../embeddings/oleObject61.bin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54.bin"/><Relationship Id="rId20" Type="http://schemas.openxmlformats.org/officeDocument/2006/relationships/oleObject" Target="../embeddings/oleObject57.bin"/><Relationship Id="rId29" Type="http://schemas.openxmlformats.org/officeDocument/2006/relationships/oleObject" Target="../embeddings/oleObject65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1.wmf"/><Relationship Id="rId11" Type="http://schemas.openxmlformats.org/officeDocument/2006/relationships/oleObject" Target="../embeddings/oleObject50.bin"/><Relationship Id="rId24" Type="http://schemas.openxmlformats.org/officeDocument/2006/relationships/oleObject" Target="../embeddings/oleObject60.bin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3.bin"/><Relationship Id="rId23" Type="http://schemas.openxmlformats.org/officeDocument/2006/relationships/oleObject" Target="../embeddings/oleObject59.bin"/><Relationship Id="rId28" Type="http://schemas.openxmlformats.org/officeDocument/2006/relationships/oleObject" Target="../embeddings/oleObject64.bin"/><Relationship Id="rId10" Type="http://schemas.openxmlformats.org/officeDocument/2006/relationships/image" Target="../media/image53.wmf"/><Relationship Id="rId19" Type="http://schemas.openxmlformats.org/officeDocument/2006/relationships/oleObject" Target="../embeddings/oleObject56.bin"/><Relationship Id="rId31" Type="http://schemas.openxmlformats.org/officeDocument/2006/relationships/oleObject" Target="../embeddings/oleObject67.bin"/><Relationship Id="rId4" Type="http://schemas.openxmlformats.org/officeDocument/2006/relationships/image" Target="../media/image40.wmf"/><Relationship Id="rId9" Type="http://schemas.openxmlformats.org/officeDocument/2006/relationships/oleObject" Target="../embeddings/oleObject49.bin"/><Relationship Id="rId14" Type="http://schemas.openxmlformats.org/officeDocument/2006/relationships/oleObject" Target="../embeddings/oleObject52.bin"/><Relationship Id="rId22" Type="http://schemas.openxmlformats.org/officeDocument/2006/relationships/oleObject" Target="../embeddings/oleObject58.bin"/><Relationship Id="rId27" Type="http://schemas.openxmlformats.org/officeDocument/2006/relationships/oleObject" Target="../embeddings/oleObject63.bin"/><Relationship Id="rId30" Type="http://schemas.openxmlformats.org/officeDocument/2006/relationships/oleObject" Target="../embeddings/oleObject66.bin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57.wmf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4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9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4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4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4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9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9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4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61.wmf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9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4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4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4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9.xml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62.emf"/><Relationship Id="rId4" Type="http://schemas.openxmlformats.org/officeDocument/2006/relationships/oleObject" Target="../embeddings/oleObject70.bin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4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4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4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4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64.emf"/><Relationship Id="rId4" Type="http://schemas.openxmlformats.org/officeDocument/2006/relationships/oleObject" Target="../embeddings/oleObject71.bin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4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6.xml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65.wmf"/><Relationship Id="rId4" Type="http://schemas.openxmlformats.org/officeDocument/2006/relationships/oleObject" Target="../embeddings/oleObject72.bin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4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9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9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9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4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4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4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4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4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4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4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4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67.emf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68.emf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69.wmf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image" Target="../media/image75.wmf"/><Relationship Id="rId18" Type="http://schemas.openxmlformats.org/officeDocument/2006/relationships/oleObject" Target="../embeddings/oleObject85.bin"/><Relationship Id="rId3" Type="http://schemas.openxmlformats.org/officeDocument/2006/relationships/oleObject" Target="../embeddings/oleObject77.bin"/><Relationship Id="rId21" Type="http://schemas.openxmlformats.org/officeDocument/2006/relationships/image" Target="../media/image79.wmf"/><Relationship Id="rId7" Type="http://schemas.openxmlformats.org/officeDocument/2006/relationships/oleObject" Target="../embeddings/oleObject79.bin"/><Relationship Id="rId12" Type="http://schemas.openxmlformats.org/officeDocument/2006/relationships/oleObject" Target="../embeddings/oleObject82.bin"/><Relationship Id="rId17" Type="http://schemas.openxmlformats.org/officeDocument/2006/relationships/image" Target="../media/image77.wmf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84.bin"/><Relationship Id="rId20" Type="http://schemas.openxmlformats.org/officeDocument/2006/relationships/oleObject" Target="../embeddings/oleObject86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72.wmf"/><Relationship Id="rId11" Type="http://schemas.openxmlformats.org/officeDocument/2006/relationships/image" Target="../media/image74.wmf"/><Relationship Id="rId5" Type="http://schemas.openxmlformats.org/officeDocument/2006/relationships/oleObject" Target="../embeddings/oleObject78.bin"/><Relationship Id="rId15" Type="http://schemas.openxmlformats.org/officeDocument/2006/relationships/image" Target="../media/image76.wmf"/><Relationship Id="rId10" Type="http://schemas.openxmlformats.org/officeDocument/2006/relationships/oleObject" Target="../embeddings/oleObject81.bin"/><Relationship Id="rId19" Type="http://schemas.openxmlformats.org/officeDocument/2006/relationships/image" Target="../media/image78.wmf"/><Relationship Id="rId4" Type="http://schemas.openxmlformats.org/officeDocument/2006/relationships/image" Target="../media/image71.wmf"/><Relationship Id="rId9" Type="http://schemas.openxmlformats.org/officeDocument/2006/relationships/oleObject" Target="../embeddings/oleObject80.bin"/><Relationship Id="rId14" Type="http://schemas.openxmlformats.org/officeDocument/2006/relationships/oleObject" Target="../embeddings/oleObject83.bin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84.wmf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8.bin"/><Relationship Id="rId10" Type="http://schemas.openxmlformats.org/officeDocument/2006/relationships/image" Target="../media/image83.w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90.bin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oleObject" Target="../embeddings/oleObject97.bin"/><Relationship Id="rId18" Type="http://schemas.openxmlformats.org/officeDocument/2006/relationships/oleObject" Target="../embeddings/oleObject100.bin"/><Relationship Id="rId3" Type="http://schemas.openxmlformats.org/officeDocument/2006/relationships/oleObject" Target="../embeddings/oleObject92.bin"/><Relationship Id="rId21" Type="http://schemas.openxmlformats.org/officeDocument/2006/relationships/oleObject" Target="../embeddings/oleObject10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89.wmf"/><Relationship Id="rId17" Type="http://schemas.openxmlformats.org/officeDocument/2006/relationships/image" Target="../media/image91.wmf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99.bin"/><Relationship Id="rId20" Type="http://schemas.openxmlformats.org/officeDocument/2006/relationships/oleObject" Target="../embeddings/oleObject101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96.bin"/><Relationship Id="rId24" Type="http://schemas.openxmlformats.org/officeDocument/2006/relationships/image" Target="../media/image93.wmf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98.bin"/><Relationship Id="rId23" Type="http://schemas.openxmlformats.org/officeDocument/2006/relationships/oleObject" Target="../embeddings/oleObject103.bin"/><Relationship Id="rId10" Type="http://schemas.openxmlformats.org/officeDocument/2006/relationships/image" Target="../media/image88.wmf"/><Relationship Id="rId19" Type="http://schemas.openxmlformats.org/officeDocument/2006/relationships/image" Target="../media/image92.wmf"/><Relationship Id="rId4" Type="http://schemas.openxmlformats.org/officeDocument/2006/relationships/image" Target="../media/image85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90.wmf"/><Relationship Id="rId22" Type="http://schemas.openxmlformats.org/officeDocument/2006/relationships/image" Target="../media/image51.wmf"/></Relationships>
</file>

<file path=ppt/slides/_rels/slide1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oleObject" Target="../embeddings/oleObject109.bin"/><Relationship Id="rId18" Type="http://schemas.openxmlformats.org/officeDocument/2006/relationships/image" Target="../media/image93.wmf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92.wmf"/><Relationship Id="rId17" Type="http://schemas.openxmlformats.org/officeDocument/2006/relationships/oleObject" Target="../embeddings/oleObject111.bin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51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108.bin"/><Relationship Id="rId5" Type="http://schemas.openxmlformats.org/officeDocument/2006/relationships/oleObject" Target="../embeddings/oleObject105.bin"/><Relationship Id="rId15" Type="http://schemas.openxmlformats.org/officeDocument/2006/relationships/oleObject" Target="../embeddings/oleObject110.bin"/><Relationship Id="rId10" Type="http://schemas.openxmlformats.org/officeDocument/2006/relationships/image" Target="../media/image91.wmf"/><Relationship Id="rId4" Type="http://schemas.openxmlformats.org/officeDocument/2006/relationships/image" Target="../media/image94.wmf"/><Relationship Id="rId9" Type="http://schemas.openxmlformats.org/officeDocument/2006/relationships/oleObject" Target="../embeddings/oleObject107.bin"/><Relationship Id="rId14" Type="http://schemas.openxmlformats.org/officeDocument/2006/relationships/image" Target="../media/image88.wmf"/></Relationships>
</file>

<file path=ppt/slides/_rels/slide1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12" Type="http://schemas.openxmlformats.org/officeDocument/2006/relationships/image" Target="../media/image99.wmf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116.bin"/><Relationship Id="rId5" Type="http://schemas.openxmlformats.org/officeDocument/2006/relationships/oleObject" Target="../embeddings/oleObject113.bin"/><Relationship Id="rId10" Type="http://schemas.openxmlformats.org/officeDocument/2006/relationships/image" Target="../media/image98.w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115.bin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7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118.bin"/><Relationship Id="rId4" Type="http://schemas.openxmlformats.org/officeDocument/2006/relationships/image" Target="../media/image100.wmf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oleObject" Target="../embeddings/oleObject124.bin"/><Relationship Id="rId18" Type="http://schemas.openxmlformats.org/officeDocument/2006/relationships/oleObject" Target="../embeddings/oleObject127.bin"/><Relationship Id="rId26" Type="http://schemas.openxmlformats.org/officeDocument/2006/relationships/image" Target="../media/image111.wmf"/><Relationship Id="rId3" Type="http://schemas.openxmlformats.org/officeDocument/2006/relationships/oleObject" Target="../embeddings/oleObject119.bin"/><Relationship Id="rId21" Type="http://schemas.openxmlformats.org/officeDocument/2006/relationships/image" Target="../media/image109.wmf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105.wmf"/><Relationship Id="rId17" Type="http://schemas.openxmlformats.org/officeDocument/2006/relationships/image" Target="../media/image107.wmf"/><Relationship Id="rId25" Type="http://schemas.openxmlformats.org/officeDocument/2006/relationships/oleObject" Target="../embeddings/oleObject131.bin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126.bin"/><Relationship Id="rId20" Type="http://schemas.openxmlformats.org/officeDocument/2006/relationships/oleObject" Target="../embeddings/oleObject128.bin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123.bin"/><Relationship Id="rId24" Type="http://schemas.openxmlformats.org/officeDocument/2006/relationships/oleObject" Target="../embeddings/oleObject130.bin"/><Relationship Id="rId5" Type="http://schemas.openxmlformats.org/officeDocument/2006/relationships/oleObject" Target="../embeddings/oleObject120.bin"/><Relationship Id="rId15" Type="http://schemas.openxmlformats.org/officeDocument/2006/relationships/image" Target="../media/image106.wmf"/><Relationship Id="rId23" Type="http://schemas.openxmlformats.org/officeDocument/2006/relationships/image" Target="../media/image110.wmf"/><Relationship Id="rId10" Type="http://schemas.openxmlformats.org/officeDocument/2006/relationships/image" Target="../media/image77.wmf"/><Relationship Id="rId19" Type="http://schemas.openxmlformats.org/officeDocument/2006/relationships/image" Target="../media/image108.wmf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122.bin"/><Relationship Id="rId14" Type="http://schemas.openxmlformats.org/officeDocument/2006/relationships/oleObject" Target="../embeddings/oleObject125.bin"/><Relationship Id="rId22" Type="http://schemas.openxmlformats.org/officeDocument/2006/relationships/oleObject" Target="../embeddings/oleObject129.bin"/></Relationships>
</file>

<file path=ppt/slides/_rels/slide1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13" Type="http://schemas.openxmlformats.org/officeDocument/2006/relationships/image" Target="../media/image114.wmf"/><Relationship Id="rId18" Type="http://schemas.openxmlformats.org/officeDocument/2006/relationships/oleObject" Target="../embeddings/oleObject140.bin"/><Relationship Id="rId3" Type="http://schemas.openxmlformats.org/officeDocument/2006/relationships/oleObject" Target="../embeddings/oleObject132.bin"/><Relationship Id="rId7" Type="http://schemas.openxmlformats.org/officeDocument/2006/relationships/oleObject" Target="../embeddings/oleObject134.bin"/><Relationship Id="rId12" Type="http://schemas.openxmlformats.org/officeDocument/2006/relationships/oleObject" Target="../embeddings/oleObject137.bin"/><Relationship Id="rId17" Type="http://schemas.openxmlformats.org/officeDocument/2006/relationships/image" Target="../media/image115.wmf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139.bin"/><Relationship Id="rId1" Type="http://schemas.openxmlformats.org/officeDocument/2006/relationships/vmlDrawing" Target="../drawings/vmlDrawing30.vml"/><Relationship Id="rId6" Type="http://schemas.openxmlformats.org/officeDocument/2006/relationships/image" Target="../media/image73.wmf"/><Relationship Id="rId11" Type="http://schemas.openxmlformats.org/officeDocument/2006/relationships/image" Target="../media/image113.wmf"/><Relationship Id="rId5" Type="http://schemas.openxmlformats.org/officeDocument/2006/relationships/oleObject" Target="../embeddings/oleObject133.bin"/><Relationship Id="rId15" Type="http://schemas.openxmlformats.org/officeDocument/2006/relationships/image" Target="../media/image77.wmf"/><Relationship Id="rId10" Type="http://schemas.openxmlformats.org/officeDocument/2006/relationships/oleObject" Target="../embeddings/oleObject136.bin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135.bin"/><Relationship Id="rId14" Type="http://schemas.openxmlformats.org/officeDocument/2006/relationships/oleObject" Target="../embeddings/oleObject13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071F55A-D0F8-4B0B-92FD-48D5DFB28763}" type="slidenum">
              <a:rPr lang="en-US" altLang="zh-CN" sz="1200">
                <a:latin typeface="Arial Black" panose="020B0A04020102020204" pitchFamily="34" charset="0"/>
              </a:rPr>
              <a:pPr/>
              <a:t>1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第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章 二元关系与函数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560" y="1786844"/>
            <a:ext cx="8229600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altLang="zh-CN" b="1" dirty="0"/>
              <a:t>4.1 </a:t>
            </a:r>
            <a:r>
              <a:rPr lang="zh-CN" altLang="en-US" b="1" dirty="0"/>
              <a:t>集合的笛卡儿积与二元关系</a:t>
            </a:r>
          </a:p>
          <a:p>
            <a:pPr>
              <a:lnSpc>
                <a:spcPct val="90000"/>
              </a:lnSpc>
            </a:pPr>
            <a:r>
              <a:rPr lang="en-US" altLang="zh-CN" b="1" dirty="0"/>
              <a:t>4.2 </a:t>
            </a:r>
            <a:r>
              <a:rPr lang="zh-CN" altLang="en-US" b="1" dirty="0"/>
              <a:t>关系的运算</a:t>
            </a:r>
          </a:p>
          <a:p>
            <a:pPr>
              <a:lnSpc>
                <a:spcPct val="90000"/>
              </a:lnSpc>
            </a:pPr>
            <a:r>
              <a:rPr lang="en-US" altLang="zh-CN" b="1" dirty="0"/>
              <a:t>4.3 </a:t>
            </a:r>
            <a:r>
              <a:rPr lang="zh-CN" altLang="en-US" b="1" dirty="0"/>
              <a:t>关系的性质</a:t>
            </a:r>
          </a:p>
          <a:p>
            <a:pPr>
              <a:lnSpc>
                <a:spcPct val="90000"/>
              </a:lnSpc>
            </a:pPr>
            <a:r>
              <a:rPr lang="en-US" altLang="zh-CN" b="1" dirty="0"/>
              <a:t>4.4 </a:t>
            </a:r>
            <a:r>
              <a:rPr lang="zh-CN" altLang="en-US" b="1" dirty="0"/>
              <a:t>关系的闭包</a:t>
            </a:r>
          </a:p>
          <a:p>
            <a:pPr>
              <a:lnSpc>
                <a:spcPct val="90000"/>
              </a:lnSpc>
            </a:pPr>
            <a:r>
              <a:rPr lang="en-US" altLang="zh-CN" b="1" dirty="0"/>
              <a:t>4.5 </a:t>
            </a:r>
            <a:r>
              <a:rPr lang="zh-CN" altLang="en-US" b="1" dirty="0"/>
              <a:t>等价关系和偏序关系</a:t>
            </a:r>
          </a:p>
          <a:p>
            <a:pPr>
              <a:lnSpc>
                <a:spcPct val="90000"/>
              </a:lnSpc>
            </a:pPr>
            <a:r>
              <a:rPr lang="en-US" altLang="zh-CN" b="1" dirty="0"/>
              <a:t>4.6 </a:t>
            </a:r>
            <a:r>
              <a:rPr lang="zh-CN" altLang="en-US" b="1" dirty="0"/>
              <a:t>函数的定义和性质</a:t>
            </a:r>
          </a:p>
          <a:p>
            <a:pPr>
              <a:lnSpc>
                <a:spcPct val="90000"/>
              </a:lnSpc>
            </a:pPr>
            <a:r>
              <a:rPr lang="en-US" altLang="zh-CN" b="1" dirty="0"/>
              <a:t>4.7 </a:t>
            </a:r>
            <a:r>
              <a:rPr lang="zh-CN" altLang="en-US" b="1" dirty="0"/>
              <a:t>函数的复合和反函数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665742-CA07-45F9-AAD5-AF2251E0B6FF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116632"/>
            <a:ext cx="8002588" cy="1100138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4.1  </a:t>
            </a:r>
            <a:r>
              <a:rPr lang="zh-CN" altLang="en-US" b="1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集合的笛卡儿积和二元关系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7788" y="1484784"/>
            <a:ext cx="8229600" cy="38862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sz="3400" dirty="0">
                <a:solidFill>
                  <a:srgbClr val="333300"/>
                </a:solidFill>
              </a:rPr>
              <a:t> </a:t>
            </a:r>
            <a:r>
              <a:rPr lang="zh-CN" altLang="en-US" sz="3400" b="1" dirty="0">
                <a:solidFill>
                  <a:srgbClr val="333300"/>
                </a:solidFill>
              </a:rPr>
              <a:t>有序对</a:t>
            </a:r>
            <a:endParaRPr lang="zh-CN" altLang="en-US" b="1" dirty="0">
              <a:solidFill>
                <a:srgbClr val="333300"/>
              </a:solidFill>
            </a:endParaRPr>
          </a:p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333300"/>
                </a:solidFill>
              </a:rPr>
              <a:t> 笛卡儿积及其性质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333300"/>
                </a:solidFill>
              </a:rPr>
              <a:t> 二元关系的定义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333300"/>
                </a:solidFill>
              </a:rPr>
              <a:t> 二元关系的表示</a:t>
            </a:r>
          </a:p>
          <a:p>
            <a:pPr lvl="1"/>
            <a:endParaRPr lang="zh-CN" altLang="en-US" sz="3200" b="1" dirty="0"/>
          </a:p>
          <a:p>
            <a:pPr lvl="1"/>
            <a:endParaRPr lang="en-US" altLang="zh-CN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434609" y="6303244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7CD5BF-20B9-46FB-843B-C2C5FE6A693C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title"/>
          </p:nvPr>
        </p:nvSpPr>
        <p:spPr>
          <a:xfrm>
            <a:off x="359246" y="204850"/>
            <a:ext cx="7777162" cy="9366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有序对</a:t>
            </a:r>
          </a:p>
        </p:txBody>
      </p:sp>
      <p:sp>
        <p:nvSpPr>
          <p:cNvPr id="19456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21159" y="1467719"/>
            <a:ext cx="8208963" cy="2808213"/>
          </a:xfrm>
        </p:spPr>
        <p:txBody>
          <a:bodyPr/>
          <a:lstStyle/>
          <a:p>
            <a:pPr marL="711200" indent="-71120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定义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</a:rPr>
              <a:t>由两个元素 </a:t>
            </a:r>
            <a:r>
              <a:rPr lang="en-US" altLang="zh-CN" sz="2800" b="1" i="1" dirty="0">
                <a:latin typeface="Times New Roman" pitchFamily="18" charset="0"/>
              </a:rPr>
              <a:t>x </a:t>
            </a:r>
            <a:r>
              <a:rPr lang="zh-CN" altLang="en-US" sz="2800" b="1" dirty="0">
                <a:latin typeface="Times New Roman" pitchFamily="18" charset="0"/>
              </a:rPr>
              <a:t>和 </a:t>
            </a:r>
            <a:r>
              <a:rPr lang="en-US" altLang="zh-CN" sz="2800" b="1" i="1" dirty="0">
                <a:latin typeface="Times New Roman" pitchFamily="18" charset="0"/>
              </a:rPr>
              <a:t>y</a:t>
            </a:r>
            <a:r>
              <a:rPr lang="zh-CN" altLang="en-US" sz="2800" b="1" dirty="0">
                <a:latin typeface="Times New Roman" pitchFamily="18" charset="0"/>
              </a:rPr>
              <a:t>，按照一定的顺序组成的</a:t>
            </a:r>
          </a:p>
          <a:p>
            <a:pPr marL="711200" indent="-71120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latin typeface="Times New Roman" pitchFamily="18" charset="0"/>
              </a:rPr>
              <a:t>          二元组称为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有序对</a:t>
            </a:r>
            <a:r>
              <a:rPr lang="zh-CN" altLang="en-US" sz="2800" b="1" dirty="0">
                <a:latin typeface="Times New Roman" pitchFamily="18" charset="0"/>
              </a:rPr>
              <a:t>，记作</a:t>
            </a:r>
            <a:r>
              <a:rPr lang="en-US" altLang="zh-CN" sz="2800" b="1" dirty="0">
                <a:latin typeface="Times New Roman" pitchFamily="18" charset="0"/>
              </a:rPr>
              <a:t>&lt;</a:t>
            </a:r>
            <a:r>
              <a:rPr lang="en-US" altLang="zh-CN" sz="2800" b="1" i="1" dirty="0" err="1">
                <a:latin typeface="Times New Roman" pitchFamily="18" charset="0"/>
              </a:rPr>
              <a:t>x</a:t>
            </a:r>
            <a:r>
              <a:rPr lang="en-US" altLang="zh-CN" sz="2800" b="1" dirty="0" err="1">
                <a:latin typeface="Times New Roman" pitchFamily="18" charset="0"/>
              </a:rPr>
              <a:t>,</a:t>
            </a:r>
            <a:r>
              <a:rPr lang="en-US" altLang="zh-CN" sz="2800" b="1" i="1" dirty="0" err="1">
                <a:latin typeface="Times New Roman" pitchFamily="18" charset="0"/>
              </a:rPr>
              <a:t>y</a:t>
            </a:r>
            <a:r>
              <a:rPr lang="en-US" altLang="zh-CN" sz="2800" b="1" dirty="0">
                <a:latin typeface="Times New Roman" pitchFamily="18" charset="0"/>
              </a:rPr>
              <a:t>&gt;</a:t>
            </a:r>
            <a:r>
              <a:rPr lang="zh-CN" altLang="en-US" sz="2800" b="1" dirty="0">
                <a:latin typeface="Times New Roman" pitchFamily="18" charset="0"/>
              </a:rPr>
              <a:t>。</a:t>
            </a:r>
            <a:endParaRPr lang="en-US" altLang="zh-CN" sz="2800" b="1" dirty="0">
              <a:latin typeface="Times New Roman" pitchFamily="18" charset="0"/>
            </a:endParaRPr>
          </a:p>
          <a:p>
            <a:pPr marL="711200" indent="-71120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latin typeface="Times New Roman" pitchFamily="18" charset="0"/>
              </a:rPr>
              <a:t>实例：平面直角坐标系中点的坐标</a:t>
            </a:r>
            <a:r>
              <a:rPr lang="en-US" altLang="zh-CN" sz="2800" b="1" dirty="0">
                <a:latin typeface="Times New Roman" pitchFamily="18" charset="0"/>
              </a:rPr>
              <a:t>&lt; 3,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dirty="0">
                <a:latin typeface="Times New Roman" pitchFamily="18" charset="0"/>
              </a:rPr>
              <a:t>4 &gt;</a:t>
            </a:r>
            <a:r>
              <a:rPr lang="zh-CN" altLang="en-US" sz="2800" b="1" dirty="0">
                <a:latin typeface="Times New Roman" pitchFamily="18" charset="0"/>
              </a:rPr>
              <a:t>。</a:t>
            </a:r>
            <a:endParaRPr lang="en-US" altLang="zh-CN" sz="2800" b="1" dirty="0">
              <a:latin typeface="Times New Roman" pitchFamily="18" charset="0"/>
            </a:endParaRPr>
          </a:p>
          <a:p>
            <a:pPr marL="711200" indent="-71120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b="1" i="1" dirty="0">
              <a:latin typeface="Times New Roman" pitchFamily="18" charset="0"/>
            </a:endParaRPr>
          </a:p>
        </p:txBody>
      </p:sp>
      <p:sp>
        <p:nvSpPr>
          <p:cNvPr id="9222" name="Text Box 5"/>
          <p:cNvSpPr txBox="1">
            <a:spLocks noChangeArrowheads="1"/>
          </p:cNvSpPr>
          <p:nvPr/>
        </p:nvSpPr>
        <p:spPr bwMode="auto">
          <a:xfrm>
            <a:off x="427509" y="5508802"/>
            <a:ext cx="7292975" cy="122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  &lt;2,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+5&gt; = &lt;3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4,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，求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x, y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解   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b="1" dirty="0"/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4 = 2,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+5 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2,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 3</a:t>
            </a:r>
            <a:r>
              <a:rPr lang="en-US" altLang="zh-CN" sz="1800" b="1" dirty="0">
                <a:solidFill>
                  <a:schemeClr val="bg2"/>
                </a:solidFill>
                <a:sym typeface="Symbol" panose="05050102010706020507" pitchFamily="18" charset="2"/>
              </a:rPr>
              <a:t> </a:t>
            </a:r>
            <a:r>
              <a:rPr lang="en-US" altLang="zh-CN" sz="1800" b="1" dirty="0">
                <a:solidFill>
                  <a:schemeClr val="bg2"/>
                </a:solidFill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>
              <a:solidFill>
                <a:schemeClr val="bg2"/>
              </a:solidFill>
            </a:endParaRPr>
          </a:p>
        </p:txBody>
      </p:sp>
      <p:sp>
        <p:nvSpPr>
          <p:cNvPr id="7" name="AutoShape 16"/>
          <p:cNvSpPr>
            <a:spLocks noChangeArrowheads="1"/>
          </p:cNvSpPr>
          <p:nvPr/>
        </p:nvSpPr>
        <p:spPr bwMode="auto">
          <a:xfrm>
            <a:off x="5101109" y="800969"/>
            <a:ext cx="1143000" cy="466725"/>
          </a:xfrm>
          <a:prstGeom prst="wedgeRectCallout">
            <a:avLst>
              <a:gd name="adj1" fmla="val -9630"/>
              <a:gd name="adj2" fmla="val 230519"/>
            </a:avLst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第一元</a:t>
            </a:r>
            <a:endParaRPr kumimoji="1" lang="zh-CN" altLang="en-US" sz="2400" dirty="0">
              <a:solidFill>
                <a:srgbClr val="8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8" name="AutoShape 18"/>
          <p:cNvSpPr>
            <a:spLocks noChangeArrowheads="1"/>
          </p:cNvSpPr>
          <p:nvPr/>
        </p:nvSpPr>
        <p:spPr bwMode="auto">
          <a:xfrm>
            <a:off x="6577484" y="756519"/>
            <a:ext cx="1143000" cy="466725"/>
          </a:xfrm>
          <a:prstGeom prst="wedgeRectCallout">
            <a:avLst>
              <a:gd name="adj1" fmla="val -107315"/>
              <a:gd name="adj2" fmla="val 243477"/>
            </a:avLst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第二元</a:t>
            </a:r>
            <a:endParaRPr kumimoji="1" lang="zh-CN" altLang="en-US" sz="2400" dirty="0">
              <a:solidFill>
                <a:srgbClr val="8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501081" y="4597136"/>
            <a:ext cx="4372015" cy="609398"/>
          </a:xfrm>
          <a:prstGeom prst="rect">
            <a:avLst/>
          </a:prstGeom>
          <a:solidFill>
            <a:srgbClr val="D9FFFF"/>
          </a:solidFill>
          <a:ln w="28575">
            <a:solidFill>
              <a:srgbClr val="003399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itchFamily="18" charset="0"/>
              </a:rPr>
              <a:t>&lt;</a:t>
            </a:r>
            <a:r>
              <a:rPr lang="en-US" altLang="zh-CN" sz="2800" b="1" i="1" dirty="0" err="1">
                <a:latin typeface="Times New Roman" pitchFamily="18" charset="0"/>
              </a:rPr>
              <a:t>x,y</a:t>
            </a:r>
            <a:r>
              <a:rPr lang="en-US" altLang="zh-CN" sz="2800" b="1" dirty="0">
                <a:latin typeface="Times New Roman" pitchFamily="18" charset="0"/>
              </a:rPr>
              <a:t>&gt;=&lt;</a:t>
            </a:r>
            <a:r>
              <a:rPr lang="en-US" altLang="zh-CN" sz="2800" b="1" i="1" dirty="0" err="1">
                <a:latin typeface="Times New Roman" pitchFamily="18" charset="0"/>
              </a:rPr>
              <a:t>u,v</a:t>
            </a:r>
            <a:r>
              <a:rPr lang="en-US" altLang="zh-CN" sz="2800" b="1" dirty="0">
                <a:latin typeface="Times New Roman" pitchFamily="18" charset="0"/>
              </a:rPr>
              <a:t>&gt; 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 </a:t>
            </a:r>
            <a:r>
              <a:rPr lang="en-US" altLang="zh-CN" sz="2800" b="1" i="1" dirty="0">
                <a:latin typeface="Times New Roman" pitchFamily="18" charset="0"/>
              </a:rPr>
              <a:t>x=u 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 </a:t>
            </a:r>
            <a:r>
              <a:rPr lang="en-US" altLang="zh-CN" sz="2800" b="1" i="1" dirty="0">
                <a:latin typeface="Times New Roman" pitchFamily="18" charset="0"/>
              </a:rPr>
              <a:t>y=v</a:t>
            </a:r>
            <a:endParaRPr lang="zh-CN" altLang="en-US" sz="2800" dirty="0"/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 bwMode="auto">
          <a:xfrm>
            <a:off x="359246" y="3112545"/>
            <a:ext cx="8208963" cy="2365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711200" indent="-71120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有序对性质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800" b="1" kern="0" dirty="0">
                <a:latin typeface="Times New Roman" pitchFamily="18" charset="0"/>
              </a:rPr>
              <a:t> 有序性  </a:t>
            </a:r>
            <a:r>
              <a:rPr lang="en-US" altLang="zh-CN" sz="2800" b="1" kern="0" dirty="0">
                <a:latin typeface="Times New Roman" pitchFamily="18" charset="0"/>
              </a:rPr>
              <a:t>&lt;</a:t>
            </a:r>
            <a:r>
              <a:rPr lang="en-US" altLang="zh-CN" sz="2800" b="1" i="1" kern="0" dirty="0" err="1">
                <a:latin typeface="Times New Roman" pitchFamily="18" charset="0"/>
              </a:rPr>
              <a:t>x</a:t>
            </a:r>
            <a:r>
              <a:rPr lang="en-US" altLang="zh-CN" sz="2800" b="1" kern="0" dirty="0" err="1">
                <a:latin typeface="Times New Roman" pitchFamily="18" charset="0"/>
              </a:rPr>
              <a:t>,</a:t>
            </a:r>
            <a:r>
              <a:rPr lang="en-US" altLang="zh-CN" sz="2800" b="1" i="1" kern="0" dirty="0" err="1">
                <a:latin typeface="Times New Roman" pitchFamily="18" charset="0"/>
              </a:rPr>
              <a:t>y</a:t>
            </a:r>
            <a:r>
              <a:rPr lang="en-US" altLang="zh-CN" sz="2800" b="1" kern="0" dirty="0">
                <a:latin typeface="Times New Roman" pitchFamily="18" charset="0"/>
              </a:rPr>
              <a:t>&gt;</a:t>
            </a:r>
            <a:r>
              <a:rPr lang="en-US" altLang="zh-CN" sz="2800" b="1" kern="0" dirty="0">
                <a:latin typeface="Times New Roman" pitchFamily="18" charset="0"/>
                <a:sym typeface="Symbol" pitchFamily="18" charset="2"/>
              </a:rPr>
              <a:t></a:t>
            </a:r>
            <a:r>
              <a:rPr lang="en-US" altLang="zh-CN" sz="2800" b="1" kern="0" dirty="0">
                <a:latin typeface="Times New Roman" pitchFamily="18" charset="0"/>
              </a:rPr>
              <a:t>&lt;</a:t>
            </a:r>
            <a:r>
              <a:rPr lang="en-US" altLang="zh-CN" sz="2800" b="1" i="1" kern="0" dirty="0" err="1">
                <a:latin typeface="Times New Roman" pitchFamily="18" charset="0"/>
              </a:rPr>
              <a:t>y,x</a:t>
            </a:r>
            <a:r>
              <a:rPr lang="en-US" altLang="zh-CN" sz="2800" b="1" kern="0" dirty="0">
                <a:latin typeface="Times New Roman" pitchFamily="18" charset="0"/>
              </a:rPr>
              <a:t>&gt; </a:t>
            </a:r>
            <a:r>
              <a:rPr lang="zh-CN" altLang="en-US" sz="2800" b="1" kern="0" dirty="0">
                <a:latin typeface="Times New Roman" pitchFamily="18" charset="0"/>
              </a:rPr>
              <a:t>（当</a:t>
            </a:r>
            <a:r>
              <a:rPr lang="en-US" altLang="zh-CN" sz="2800" b="1" i="1" kern="0" dirty="0">
                <a:latin typeface="Times New Roman" pitchFamily="18" charset="0"/>
              </a:rPr>
              <a:t>x</a:t>
            </a:r>
            <a:r>
              <a:rPr lang="en-US" altLang="zh-CN" sz="2800" b="1" i="1" kern="0" dirty="0">
                <a:latin typeface="Times New Roman" pitchFamily="18" charset="0"/>
                <a:sym typeface="Symbol" pitchFamily="18" charset="2"/>
              </a:rPr>
              <a:t> </a:t>
            </a:r>
            <a:r>
              <a:rPr lang="en-US" altLang="zh-CN" sz="2800" b="1" i="1" kern="0" dirty="0">
                <a:latin typeface="Times New Roman" pitchFamily="18" charset="0"/>
              </a:rPr>
              <a:t>y</a:t>
            </a:r>
            <a:r>
              <a:rPr lang="zh-CN" altLang="en-US" sz="2800" b="1" kern="0" dirty="0">
                <a:latin typeface="Times New Roman" pitchFamily="18" charset="0"/>
              </a:rPr>
              <a:t>时）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800" b="1" kern="0" dirty="0">
                <a:latin typeface="Times New Roman" pitchFamily="18" charset="0"/>
              </a:rPr>
              <a:t> </a:t>
            </a:r>
            <a:r>
              <a:rPr lang="en-US" altLang="zh-CN" sz="2800" b="1" kern="0" dirty="0">
                <a:latin typeface="Times New Roman" pitchFamily="18" charset="0"/>
              </a:rPr>
              <a:t>&lt;</a:t>
            </a:r>
            <a:r>
              <a:rPr lang="en-US" altLang="zh-CN" sz="2800" b="1" i="1" kern="0" dirty="0" err="1">
                <a:latin typeface="Times New Roman" pitchFamily="18" charset="0"/>
              </a:rPr>
              <a:t>x,y</a:t>
            </a:r>
            <a:r>
              <a:rPr lang="en-US" altLang="zh-CN" sz="2800" b="1" kern="0" dirty="0">
                <a:latin typeface="Times New Roman" pitchFamily="18" charset="0"/>
              </a:rPr>
              <a:t>&gt; </a:t>
            </a:r>
            <a:r>
              <a:rPr lang="zh-CN" altLang="en-US" sz="2800" b="1" kern="0" dirty="0">
                <a:latin typeface="Times New Roman" pitchFamily="18" charset="0"/>
              </a:rPr>
              <a:t>与 </a:t>
            </a:r>
            <a:r>
              <a:rPr lang="en-US" altLang="zh-CN" sz="2800" b="1" kern="0" dirty="0">
                <a:latin typeface="Times New Roman" pitchFamily="18" charset="0"/>
              </a:rPr>
              <a:t>&lt;</a:t>
            </a:r>
            <a:r>
              <a:rPr lang="en-US" altLang="zh-CN" sz="2800" b="1" i="1" kern="0" dirty="0" err="1">
                <a:latin typeface="Times New Roman" pitchFamily="18" charset="0"/>
              </a:rPr>
              <a:t>u,v</a:t>
            </a:r>
            <a:r>
              <a:rPr lang="en-US" altLang="zh-CN" sz="2800" b="1" kern="0" dirty="0">
                <a:latin typeface="Times New Roman" pitchFamily="18" charset="0"/>
              </a:rPr>
              <a:t>&gt; </a:t>
            </a:r>
            <a:r>
              <a:rPr lang="zh-CN" altLang="en-US" sz="2800" b="1" kern="0" dirty="0">
                <a:latin typeface="Times New Roman" pitchFamily="18" charset="0"/>
              </a:rPr>
              <a:t>相等的充分必要条件是：</a:t>
            </a:r>
          </a:p>
          <a:p>
            <a:pPr marL="711200" indent="-71120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kern="0" dirty="0">
                <a:latin typeface="Times New Roman" pitchFamily="18" charset="0"/>
              </a:rPr>
              <a:t>                 </a:t>
            </a:r>
            <a:endParaRPr lang="en-US" altLang="zh-CN" b="1" i="1" kern="0" dirty="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/>
      <p:bldP spid="7" grpId="0" animBg="1" autoUpdateAnimBg="0"/>
      <p:bldP spid="8" grpId="0" animBg="1" autoUpdateAnimBg="0"/>
      <p:bldP spid="9" grpId="0" animBg="1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7D1070-1943-47E7-8064-8A48A39AD958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8877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04800" y="207169"/>
            <a:ext cx="8002588" cy="1100138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有序 </a:t>
            </a:r>
            <a:r>
              <a:rPr lang="en-US" altLang="zh-CN" b="1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n 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元组</a:t>
            </a:r>
          </a:p>
        </p:txBody>
      </p:sp>
      <p:sp>
        <p:nvSpPr>
          <p:cNvPr id="28877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39552" y="3493417"/>
            <a:ext cx="8382000" cy="1091208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实例 ：</a:t>
            </a:r>
            <a:r>
              <a:rPr lang="zh-CN" altLang="en-US" sz="2800" b="1" dirty="0">
                <a:latin typeface="Times New Roman" pitchFamily="18" charset="0"/>
              </a:rPr>
              <a:t>空间直角坐标系中的坐标</a:t>
            </a:r>
            <a:r>
              <a:rPr lang="zh-CN" altLang="en-US" sz="2800" b="1" i="1" dirty="0">
                <a:latin typeface="Times New Roman" pitchFamily="18" charset="0"/>
              </a:rPr>
              <a:t> </a:t>
            </a:r>
            <a:r>
              <a:rPr lang="en-US" altLang="zh-CN" sz="2800" b="1" dirty="0">
                <a:latin typeface="Times New Roman" pitchFamily="18" charset="0"/>
              </a:rPr>
              <a:t>&lt;3</a:t>
            </a:r>
            <a:r>
              <a:rPr lang="zh-CN" altLang="en-US" sz="2800" b="1" dirty="0">
                <a:latin typeface="Times New Roman" pitchFamily="18" charset="0"/>
              </a:rPr>
              <a:t>，</a:t>
            </a:r>
            <a:r>
              <a:rPr lang="en-US" altLang="zh-CN" sz="2800" b="1" dirty="0">
                <a:latin typeface="Times New Roman" pitchFamily="18" charset="0"/>
              </a:rPr>
              <a:t>5</a:t>
            </a:r>
            <a:r>
              <a:rPr lang="zh-CN" altLang="en-US" sz="2800" b="1" dirty="0">
                <a:latin typeface="Times New Roman" pitchFamily="18" charset="0"/>
              </a:rPr>
              <a:t>，</a:t>
            </a:r>
            <a:r>
              <a:rPr lang="en-US" altLang="zh-CN" sz="2800" b="1" dirty="0">
                <a:latin typeface="Times New Roman" pitchFamily="18" charset="0"/>
              </a:rPr>
              <a:t>-6&gt;</a:t>
            </a:r>
            <a:r>
              <a:rPr lang="zh-CN" altLang="en-US" sz="2800" b="1" dirty="0">
                <a:latin typeface="Times New Roman" pitchFamily="18" charset="0"/>
              </a:rPr>
              <a:t>；</a:t>
            </a:r>
            <a:r>
              <a:rPr lang="en-US" altLang="zh-CN" sz="2800" b="1" dirty="0">
                <a:latin typeface="Times New Roman" pitchFamily="18" charset="0"/>
              </a:rPr>
              <a:t> </a:t>
            </a:r>
            <a:endParaRPr lang="en-US" altLang="zh-CN" sz="2800" b="1" i="1" dirty="0">
              <a:latin typeface="Times New Roman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i="1" dirty="0">
                <a:latin typeface="Times New Roman" pitchFamily="18" charset="0"/>
              </a:rPr>
              <a:t>              n </a:t>
            </a:r>
            <a:r>
              <a:rPr lang="zh-CN" altLang="en-US" sz="2800" b="1" dirty="0">
                <a:latin typeface="Times New Roman" pitchFamily="18" charset="0"/>
              </a:rPr>
              <a:t>维向量是有序</a:t>
            </a:r>
            <a:r>
              <a:rPr lang="zh-CN" altLang="en-US" sz="2800" b="1" i="1" dirty="0">
                <a:latin typeface="Times New Roman" pitchFamily="18" charset="0"/>
              </a:rPr>
              <a:t> </a:t>
            </a:r>
            <a:r>
              <a:rPr lang="en-US" altLang="zh-CN" sz="2800" b="1" i="1" dirty="0">
                <a:latin typeface="Times New Roman" pitchFamily="18" charset="0"/>
              </a:rPr>
              <a:t>n</a:t>
            </a:r>
            <a:r>
              <a:rPr lang="zh-CN" altLang="en-US" sz="2800" b="1" dirty="0">
                <a:latin typeface="Times New Roman" pitchFamily="18" charset="0"/>
              </a:rPr>
              <a:t>元组。</a:t>
            </a:r>
            <a:endParaRPr lang="en-US" altLang="zh-CN" sz="2800" b="1" dirty="0">
              <a:latin typeface="Times New Roman" pitchFamily="18" charset="0"/>
            </a:endParaRPr>
          </a:p>
        </p:txBody>
      </p:sp>
      <p:sp>
        <p:nvSpPr>
          <p:cNvPr id="5" name="Rectangle 1027"/>
          <p:cNvSpPr txBox="1">
            <a:spLocks noChangeArrowheads="1"/>
          </p:cNvSpPr>
          <p:nvPr/>
        </p:nvSpPr>
        <p:spPr bwMode="auto">
          <a:xfrm>
            <a:off x="395536" y="1401316"/>
            <a:ext cx="8382000" cy="178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定义</a:t>
            </a:r>
            <a:r>
              <a:rPr lang="zh-CN" altLang="en-US" sz="2800" b="1" kern="0" dirty="0">
                <a:latin typeface="Times New Roman" pitchFamily="18" charset="0"/>
              </a:rPr>
              <a:t>  一个</a:t>
            </a:r>
            <a:r>
              <a:rPr lang="zh-CN" altLang="en-US" sz="2800" b="1" kern="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有序 </a:t>
            </a:r>
            <a:r>
              <a:rPr lang="en-US" altLang="zh-CN" sz="2800" b="1" i="1" kern="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n </a:t>
            </a:r>
            <a:r>
              <a:rPr lang="en-US" altLang="zh-CN" sz="2800" b="1" kern="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</a:t>
            </a:r>
            <a:r>
              <a:rPr lang="en-US" altLang="zh-CN" sz="2800" b="1" i="1" kern="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n</a:t>
            </a:r>
            <a:r>
              <a:rPr lang="en-US" altLang="zh-CN" sz="2800" b="1" kern="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3</a:t>
            </a:r>
            <a:r>
              <a:rPr lang="en-US" altLang="zh-CN" sz="2800" b="1" kern="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) </a:t>
            </a:r>
            <a:r>
              <a:rPr lang="zh-CN" altLang="en-US" sz="2800" b="1" kern="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元组 </a:t>
            </a:r>
            <a:r>
              <a:rPr lang="en-US" altLang="zh-CN" sz="2800" b="1" kern="0" dirty="0">
                <a:latin typeface="Times New Roman" pitchFamily="18" charset="0"/>
              </a:rPr>
              <a:t>&lt;</a:t>
            </a:r>
            <a:r>
              <a:rPr lang="en-US" altLang="zh-CN" sz="2800" b="1" i="1" kern="0" dirty="0">
                <a:latin typeface="Times New Roman" pitchFamily="18" charset="0"/>
              </a:rPr>
              <a:t>x</a:t>
            </a:r>
            <a:r>
              <a:rPr lang="en-US" altLang="zh-CN" sz="2800" b="1" kern="0" baseline="-25000" dirty="0">
                <a:latin typeface="Times New Roman" pitchFamily="18" charset="0"/>
              </a:rPr>
              <a:t>1</a:t>
            </a:r>
            <a:r>
              <a:rPr lang="en-US" altLang="zh-CN" sz="2800" b="1" kern="0" dirty="0">
                <a:latin typeface="Times New Roman" pitchFamily="18" charset="0"/>
              </a:rPr>
              <a:t>, </a:t>
            </a:r>
            <a:r>
              <a:rPr lang="en-US" altLang="zh-CN" sz="2800" b="1" i="1" kern="0" dirty="0">
                <a:latin typeface="Times New Roman" pitchFamily="18" charset="0"/>
              </a:rPr>
              <a:t>x</a:t>
            </a:r>
            <a:r>
              <a:rPr lang="en-US" altLang="zh-CN" sz="2800" b="1" kern="0" baseline="-25000" dirty="0">
                <a:latin typeface="Times New Roman" pitchFamily="18" charset="0"/>
              </a:rPr>
              <a:t>2</a:t>
            </a:r>
            <a:r>
              <a:rPr lang="en-US" altLang="zh-CN" sz="2800" b="1" kern="0" dirty="0">
                <a:latin typeface="Times New Roman" pitchFamily="18" charset="0"/>
              </a:rPr>
              <a:t>, …, </a:t>
            </a:r>
            <a:r>
              <a:rPr lang="en-US" altLang="zh-CN" sz="2800" b="1" i="1" kern="0" dirty="0" err="1">
                <a:latin typeface="Times New Roman" pitchFamily="18" charset="0"/>
              </a:rPr>
              <a:t>x</a:t>
            </a:r>
            <a:r>
              <a:rPr lang="en-US" altLang="zh-CN" sz="2800" b="1" i="1" kern="0" baseline="-25000" dirty="0" err="1">
                <a:latin typeface="Times New Roman" pitchFamily="18" charset="0"/>
              </a:rPr>
              <a:t>n</a:t>
            </a:r>
            <a:r>
              <a:rPr lang="en-US" altLang="zh-CN" sz="2800" b="1" kern="0" dirty="0">
                <a:latin typeface="Times New Roman" pitchFamily="18" charset="0"/>
              </a:rPr>
              <a:t>&gt; </a:t>
            </a:r>
            <a:r>
              <a:rPr lang="zh-CN" altLang="en-US" sz="2800" b="1" kern="0" dirty="0">
                <a:latin typeface="Times New Roman" pitchFamily="18" charset="0"/>
              </a:rPr>
              <a:t>是一个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kern="0" dirty="0">
                <a:latin typeface="Times New Roman" pitchFamily="18" charset="0"/>
              </a:rPr>
              <a:t>有序对，其中第一个元素是一个有序 </a:t>
            </a:r>
            <a:r>
              <a:rPr lang="en-US" altLang="zh-CN" sz="2800" b="1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n</a:t>
            </a:r>
            <a:r>
              <a:rPr lang="en-US" altLang="zh-CN" sz="28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-1</a:t>
            </a:r>
            <a:r>
              <a:rPr lang="zh-CN" altLang="en-US" sz="28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元组</a:t>
            </a:r>
            <a:r>
              <a:rPr lang="zh-CN" altLang="en-US" sz="2800" b="1" kern="0" dirty="0">
                <a:latin typeface="Times New Roman" pitchFamily="18" charset="0"/>
              </a:rPr>
              <a:t>，即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kern="0" dirty="0">
                <a:latin typeface="Times New Roman" pitchFamily="18" charset="0"/>
              </a:rPr>
              <a:t>             </a:t>
            </a:r>
            <a:r>
              <a:rPr lang="en-US" altLang="zh-CN" sz="2800" b="1" kern="0" dirty="0">
                <a:latin typeface="Times New Roman" pitchFamily="18" charset="0"/>
              </a:rPr>
              <a:t>&lt;</a:t>
            </a:r>
            <a:r>
              <a:rPr lang="en-US" altLang="zh-CN" sz="2800" b="1" i="1" kern="0" dirty="0">
                <a:latin typeface="Times New Roman" pitchFamily="18" charset="0"/>
              </a:rPr>
              <a:t>x</a:t>
            </a:r>
            <a:r>
              <a:rPr lang="en-US" altLang="zh-CN" sz="2800" b="1" kern="0" baseline="-25000" dirty="0">
                <a:latin typeface="Times New Roman" pitchFamily="18" charset="0"/>
              </a:rPr>
              <a:t>1</a:t>
            </a:r>
            <a:r>
              <a:rPr lang="en-US" altLang="zh-CN" sz="2800" b="1" kern="0" dirty="0">
                <a:latin typeface="Times New Roman" pitchFamily="18" charset="0"/>
              </a:rPr>
              <a:t>, </a:t>
            </a:r>
            <a:r>
              <a:rPr lang="en-US" altLang="zh-CN" sz="2800" b="1" i="1" kern="0" dirty="0">
                <a:latin typeface="Times New Roman" pitchFamily="18" charset="0"/>
              </a:rPr>
              <a:t>x</a:t>
            </a:r>
            <a:r>
              <a:rPr lang="en-US" altLang="zh-CN" sz="2800" b="1" kern="0" baseline="-25000" dirty="0">
                <a:latin typeface="Times New Roman" pitchFamily="18" charset="0"/>
              </a:rPr>
              <a:t>2</a:t>
            </a:r>
            <a:r>
              <a:rPr lang="en-US" altLang="zh-CN" sz="2800" b="1" kern="0" dirty="0">
                <a:latin typeface="Times New Roman" pitchFamily="18" charset="0"/>
              </a:rPr>
              <a:t>, …, </a:t>
            </a:r>
            <a:r>
              <a:rPr lang="en-US" altLang="zh-CN" sz="2800" b="1" i="1" kern="0" dirty="0" err="1">
                <a:latin typeface="Times New Roman" pitchFamily="18" charset="0"/>
              </a:rPr>
              <a:t>x</a:t>
            </a:r>
            <a:r>
              <a:rPr lang="en-US" altLang="zh-CN" sz="2800" b="1" i="1" kern="0" baseline="-25000" dirty="0" err="1">
                <a:latin typeface="Times New Roman" pitchFamily="18" charset="0"/>
              </a:rPr>
              <a:t>n</a:t>
            </a:r>
            <a:r>
              <a:rPr lang="en-US" altLang="zh-CN" sz="2800" b="1" kern="0" dirty="0">
                <a:latin typeface="Times New Roman" pitchFamily="18" charset="0"/>
              </a:rPr>
              <a:t>&gt; = &lt; &lt;</a:t>
            </a:r>
            <a:r>
              <a:rPr lang="en-US" altLang="zh-CN" sz="2800" b="1" i="1" kern="0" dirty="0">
                <a:latin typeface="Times New Roman" pitchFamily="18" charset="0"/>
              </a:rPr>
              <a:t>x</a:t>
            </a:r>
            <a:r>
              <a:rPr lang="en-US" altLang="zh-CN" sz="2800" b="1" kern="0" baseline="-25000" dirty="0">
                <a:latin typeface="Times New Roman" pitchFamily="18" charset="0"/>
              </a:rPr>
              <a:t>1</a:t>
            </a:r>
            <a:r>
              <a:rPr lang="en-US" altLang="zh-CN" sz="2800" b="1" kern="0" dirty="0">
                <a:latin typeface="Times New Roman" pitchFamily="18" charset="0"/>
              </a:rPr>
              <a:t>, </a:t>
            </a:r>
            <a:r>
              <a:rPr lang="en-US" altLang="zh-CN" sz="2800" b="1" i="1" kern="0" dirty="0">
                <a:latin typeface="Times New Roman" pitchFamily="18" charset="0"/>
              </a:rPr>
              <a:t>x</a:t>
            </a:r>
            <a:r>
              <a:rPr lang="en-US" altLang="zh-CN" sz="2800" b="1" kern="0" baseline="-25000" dirty="0">
                <a:latin typeface="Times New Roman" pitchFamily="18" charset="0"/>
              </a:rPr>
              <a:t>2</a:t>
            </a:r>
            <a:r>
              <a:rPr lang="en-US" altLang="zh-CN" sz="2800" b="1" kern="0" dirty="0">
                <a:latin typeface="Times New Roman" pitchFamily="18" charset="0"/>
              </a:rPr>
              <a:t>, …, </a:t>
            </a:r>
            <a:r>
              <a:rPr lang="en-US" altLang="zh-CN" sz="2800" b="1" i="1" kern="0" dirty="0">
                <a:latin typeface="Times New Roman" pitchFamily="18" charset="0"/>
              </a:rPr>
              <a:t>x</a:t>
            </a:r>
            <a:r>
              <a:rPr lang="en-US" altLang="zh-CN" sz="2800" b="1" i="1" kern="0" baseline="-25000" dirty="0">
                <a:latin typeface="Times New Roman" pitchFamily="18" charset="0"/>
              </a:rPr>
              <a:t>n</a:t>
            </a:r>
            <a:r>
              <a:rPr lang="en-US" altLang="zh-CN" sz="2800" b="1" kern="0" baseline="-25000" dirty="0">
                <a:latin typeface="Times New Roman" pitchFamily="18" charset="0"/>
              </a:rPr>
              <a:t>-1</a:t>
            </a:r>
            <a:r>
              <a:rPr lang="en-US" altLang="zh-CN" sz="2800" b="1" kern="0" dirty="0">
                <a:latin typeface="Times New Roman" pitchFamily="18" charset="0"/>
              </a:rPr>
              <a:t>&gt;, </a:t>
            </a:r>
            <a:r>
              <a:rPr lang="en-US" altLang="zh-CN" sz="2800" b="1" i="1" kern="0" dirty="0" err="1">
                <a:latin typeface="Times New Roman" pitchFamily="18" charset="0"/>
              </a:rPr>
              <a:t>x</a:t>
            </a:r>
            <a:r>
              <a:rPr lang="en-US" altLang="zh-CN" sz="2800" b="1" i="1" kern="0" baseline="-25000" dirty="0" err="1">
                <a:latin typeface="Times New Roman" pitchFamily="18" charset="0"/>
              </a:rPr>
              <a:t>n</a:t>
            </a:r>
            <a:r>
              <a:rPr lang="en-US" altLang="zh-CN" sz="2800" b="1" kern="0" dirty="0">
                <a:latin typeface="Times New Roman" pitchFamily="18" charset="0"/>
              </a:rPr>
              <a:t>&gt;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Times New Roman" pitchFamily="18" charset="0"/>
              </a:rPr>
              <a:t> </a:t>
            </a:r>
            <a:endParaRPr lang="en-US" altLang="zh-CN" sz="2800" b="1" kern="0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6" name="Rectangle 1027"/>
          <p:cNvSpPr txBox="1">
            <a:spLocks noChangeArrowheads="1"/>
          </p:cNvSpPr>
          <p:nvPr/>
        </p:nvSpPr>
        <p:spPr bwMode="auto">
          <a:xfrm>
            <a:off x="539552" y="4890864"/>
            <a:ext cx="8382000" cy="698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kern="0" dirty="0">
                <a:solidFill>
                  <a:schemeClr val="bg2"/>
                </a:solidFill>
                <a:latin typeface="Times New Roman" pitchFamily="18" charset="0"/>
              </a:rPr>
              <a:t>当 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itchFamily="18" charset="0"/>
              </a:rPr>
              <a:t>n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itchFamily="18" charset="0"/>
              </a:rPr>
              <a:t>=1</a:t>
            </a:r>
            <a:r>
              <a:rPr lang="zh-CN" altLang="en-US" sz="2800" b="1" kern="0" dirty="0">
                <a:solidFill>
                  <a:schemeClr val="bg2"/>
                </a:solidFill>
                <a:latin typeface="Times New Roman" pitchFamily="18" charset="0"/>
              </a:rPr>
              <a:t>时，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itchFamily="18" charset="0"/>
              </a:rPr>
              <a:t> &lt;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itchFamily="18" charset="0"/>
              </a:rPr>
              <a:t>x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itchFamily="18" charset="0"/>
              </a:rPr>
              <a:t>&gt; </a:t>
            </a:r>
            <a:r>
              <a:rPr lang="zh-CN" altLang="en-US" sz="2800" b="1" kern="0" dirty="0">
                <a:solidFill>
                  <a:schemeClr val="bg2"/>
                </a:solidFill>
                <a:latin typeface="Times New Roman" pitchFamily="18" charset="0"/>
              </a:rPr>
              <a:t>形式上可以看成有序 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itchFamily="18" charset="0"/>
              </a:rPr>
              <a:t>1 </a:t>
            </a:r>
            <a:r>
              <a:rPr lang="zh-CN" altLang="en-US" sz="2800" b="1" kern="0" dirty="0">
                <a:solidFill>
                  <a:schemeClr val="bg2"/>
                </a:solidFill>
                <a:latin typeface="Times New Roman" pitchFamily="18" charset="0"/>
              </a:rPr>
              <a:t>元组。</a:t>
            </a:r>
            <a:endParaRPr lang="en-US" altLang="zh-CN" sz="2800" b="1" kern="0" dirty="0">
              <a:solidFill>
                <a:schemeClr val="bg2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1" grpId="0" build="p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1592F1D-8D9B-4145-AD94-7B91A91C88F5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14514"/>
            <a:ext cx="8208962" cy="1081087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笛卡儿积</a:t>
            </a:r>
          </a:p>
        </p:txBody>
      </p:sp>
      <p:sp>
        <p:nvSpPr>
          <p:cNvPr id="195587" name="Text Box 3"/>
          <p:cNvSpPr txBox="1">
            <a:spLocks noChangeArrowheads="1"/>
          </p:cNvSpPr>
          <p:nvPr/>
        </p:nvSpPr>
        <p:spPr bwMode="auto">
          <a:xfrm>
            <a:off x="395536" y="1211424"/>
            <a:ext cx="8113712" cy="2234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定义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zh-CN" altLang="en-US" b="1" dirty="0"/>
              <a:t>设</a:t>
            </a:r>
            <a:r>
              <a:rPr lang="en-US" altLang="zh-CN" b="1" i="1" dirty="0"/>
              <a:t>A</a:t>
            </a:r>
            <a:r>
              <a:rPr lang="en-US" altLang="zh-CN" b="1" dirty="0"/>
              <a:t>, </a:t>
            </a:r>
            <a:r>
              <a:rPr lang="en-US" altLang="zh-CN" b="1" i="1" dirty="0"/>
              <a:t>B</a:t>
            </a:r>
            <a:r>
              <a:rPr lang="zh-CN" altLang="en-US" b="1" dirty="0"/>
              <a:t>为集合，用</a:t>
            </a:r>
            <a:r>
              <a:rPr lang="en-US" altLang="zh-CN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中元素为第一个元素</a:t>
            </a:r>
            <a:r>
              <a:rPr lang="zh-CN" altLang="en-US" b="1" dirty="0"/>
              <a:t>，</a:t>
            </a:r>
            <a:r>
              <a:rPr lang="en-US" altLang="zh-CN" b="1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中元素为第二个元素</a:t>
            </a:r>
            <a:r>
              <a:rPr lang="zh-CN" altLang="en-US" b="1" dirty="0"/>
              <a:t>，构成有序对。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所有</a:t>
            </a:r>
            <a:r>
              <a:rPr lang="zh-CN" altLang="en-US" b="1" dirty="0"/>
              <a:t>这样的有序对组成的集合叫做</a:t>
            </a:r>
            <a:r>
              <a:rPr lang="zh-CN" altLang="en-US" b="1" i="1" dirty="0"/>
              <a:t> </a:t>
            </a:r>
            <a:r>
              <a:rPr lang="en-US" altLang="zh-CN" b="1" i="1" dirty="0"/>
              <a:t>A</a:t>
            </a:r>
            <a:r>
              <a:rPr lang="zh-CN" altLang="en-US" b="1" dirty="0"/>
              <a:t>与</a:t>
            </a:r>
            <a:r>
              <a:rPr lang="en-US" altLang="zh-CN" b="1" i="1" dirty="0"/>
              <a:t>B 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笛卡儿积</a:t>
            </a:r>
            <a:r>
              <a:rPr lang="zh-CN" altLang="en-US" b="1" dirty="0"/>
              <a:t>，</a:t>
            </a:r>
          </a:p>
          <a:p>
            <a:pPr marL="342900" indent="-342900" eaLnBrk="1" hangingPunct="1"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FF3300"/>
                </a:solidFill>
              </a:rPr>
              <a:t>    </a:t>
            </a:r>
            <a:r>
              <a:rPr lang="zh-CN" altLang="en-US" b="1" dirty="0"/>
              <a:t>记作</a:t>
            </a:r>
            <a:r>
              <a:rPr lang="en-US" altLang="zh-CN" b="1" i="1" dirty="0"/>
              <a:t>A</a:t>
            </a:r>
            <a:r>
              <a:rPr lang="en-US" altLang="zh-CN" b="1" dirty="0">
                <a:sym typeface="Symbol" pitchFamily="18" charset="2"/>
              </a:rPr>
              <a:t></a:t>
            </a:r>
            <a:r>
              <a:rPr lang="en-US" altLang="zh-CN" b="1" i="1" dirty="0"/>
              <a:t>B</a:t>
            </a:r>
            <a:r>
              <a:rPr lang="zh-CN" altLang="en-US" b="1" dirty="0"/>
              <a:t>， 即 </a:t>
            </a:r>
            <a:r>
              <a:rPr lang="en-US" altLang="zh-CN" b="1" i="1" dirty="0"/>
              <a:t>A</a:t>
            </a:r>
            <a:r>
              <a:rPr lang="en-US" altLang="zh-CN" b="1" dirty="0">
                <a:sym typeface="Symbol" pitchFamily="18" charset="2"/>
              </a:rPr>
              <a:t></a:t>
            </a:r>
            <a:r>
              <a:rPr lang="en-US" altLang="zh-CN" b="1" i="1" dirty="0"/>
              <a:t>B </a:t>
            </a:r>
            <a:r>
              <a:rPr lang="en-US" altLang="zh-CN" b="1" dirty="0"/>
              <a:t>={ &lt;</a:t>
            </a:r>
            <a:r>
              <a:rPr lang="en-US" altLang="zh-CN" b="1" i="1" dirty="0" err="1"/>
              <a:t>x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y</a:t>
            </a:r>
            <a:r>
              <a:rPr lang="en-US" altLang="zh-CN" b="1" dirty="0"/>
              <a:t>&gt; | </a:t>
            </a:r>
            <a:r>
              <a:rPr lang="en-US" altLang="zh-CN" b="1" i="1" dirty="0" err="1"/>
              <a:t>x</a:t>
            </a:r>
            <a:r>
              <a:rPr lang="en-US" altLang="zh-CN" b="1" dirty="0" err="1">
                <a:sym typeface="Symbol" pitchFamily="18" charset="2"/>
              </a:rPr>
              <a:t></a:t>
            </a:r>
            <a:r>
              <a:rPr lang="en-US" altLang="zh-CN" b="1" i="1" dirty="0" err="1"/>
              <a:t>A</a:t>
            </a:r>
            <a:r>
              <a:rPr lang="en-US" altLang="zh-CN" b="1" i="1" dirty="0"/>
              <a:t> </a:t>
            </a:r>
            <a:r>
              <a:rPr lang="en-US" altLang="zh-CN" b="1" dirty="0">
                <a:sym typeface="Symbol" pitchFamily="18" charset="2"/>
              </a:rPr>
              <a:t> </a:t>
            </a:r>
            <a:r>
              <a:rPr lang="en-US" altLang="zh-CN" b="1" i="1" dirty="0" err="1"/>
              <a:t>y</a:t>
            </a:r>
            <a:r>
              <a:rPr lang="en-US" altLang="zh-CN" b="1" dirty="0" err="1">
                <a:sym typeface="Symbol" pitchFamily="18" charset="2"/>
              </a:rPr>
              <a:t></a:t>
            </a:r>
            <a:r>
              <a:rPr lang="en-US" altLang="zh-CN" b="1" i="1" dirty="0" err="1"/>
              <a:t>B</a:t>
            </a:r>
            <a:r>
              <a:rPr lang="en-US" altLang="zh-CN" b="1" i="1" dirty="0"/>
              <a:t> </a:t>
            </a:r>
            <a:r>
              <a:rPr lang="en-US" altLang="zh-CN" b="1" dirty="0"/>
              <a:t>}</a:t>
            </a:r>
            <a:r>
              <a:rPr lang="zh-CN" altLang="en-US" b="1" dirty="0"/>
              <a:t>。</a:t>
            </a:r>
            <a:endParaRPr lang="en-US" altLang="zh-CN" b="1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11002" y="3318914"/>
            <a:ext cx="8113712" cy="2763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40000"/>
              </a:lnSpc>
              <a:spcBef>
                <a:spcPct val="40000"/>
              </a:spcBef>
              <a:defRPr/>
            </a:pPr>
            <a:r>
              <a:rPr lang="zh-CN" altLang="en-US" b="1" dirty="0">
                <a:solidFill>
                  <a:schemeClr val="bg2"/>
                </a:solidFill>
              </a:rPr>
              <a:t>例</a:t>
            </a:r>
            <a:r>
              <a:rPr lang="en-US" altLang="zh-CN" b="1" dirty="0">
                <a:solidFill>
                  <a:schemeClr val="bg2"/>
                </a:solidFill>
              </a:rPr>
              <a:t>2  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en-US" altLang="zh-CN" b="1" dirty="0">
                <a:solidFill>
                  <a:schemeClr val="bg2"/>
                </a:solidFill>
              </a:rPr>
              <a:t>={1,2,3}, </a:t>
            </a:r>
            <a:r>
              <a:rPr lang="en-US" altLang="zh-CN" b="1" i="1" dirty="0">
                <a:solidFill>
                  <a:schemeClr val="bg2"/>
                </a:solidFill>
              </a:rPr>
              <a:t>B</a:t>
            </a:r>
            <a:r>
              <a:rPr lang="en-US" altLang="zh-CN" b="1" dirty="0">
                <a:solidFill>
                  <a:schemeClr val="bg2"/>
                </a:solidFill>
              </a:rPr>
              <a:t>={</a:t>
            </a:r>
            <a:r>
              <a:rPr lang="en-US" altLang="zh-CN" b="1" i="1" dirty="0" err="1">
                <a:solidFill>
                  <a:schemeClr val="bg2"/>
                </a:solidFill>
              </a:rPr>
              <a:t>a</a:t>
            </a:r>
            <a:r>
              <a:rPr lang="en-US" altLang="zh-CN" b="1" dirty="0" err="1">
                <a:solidFill>
                  <a:schemeClr val="bg2"/>
                </a:solidFill>
              </a:rPr>
              <a:t>,</a:t>
            </a:r>
            <a:r>
              <a:rPr lang="en-US" altLang="zh-CN" b="1" i="1" dirty="0" err="1">
                <a:solidFill>
                  <a:schemeClr val="bg2"/>
                </a:solidFill>
              </a:rPr>
              <a:t>b</a:t>
            </a:r>
            <a:r>
              <a:rPr lang="en-US" altLang="zh-CN" b="1" dirty="0" err="1">
                <a:solidFill>
                  <a:schemeClr val="bg2"/>
                </a:solidFill>
              </a:rPr>
              <a:t>,</a:t>
            </a:r>
            <a:r>
              <a:rPr lang="en-US" altLang="zh-CN" b="1" i="1" dirty="0" err="1">
                <a:solidFill>
                  <a:schemeClr val="bg2"/>
                </a:solidFill>
              </a:rPr>
              <a:t>c</a:t>
            </a:r>
            <a:r>
              <a:rPr lang="en-US" altLang="zh-CN" b="1" dirty="0">
                <a:solidFill>
                  <a:schemeClr val="bg2"/>
                </a:solidFill>
              </a:rPr>
              <a:t>}</a:t>
            </a:r>
            <a:r>
              <a:rPr lang="zh-CN" altLang="en-US" b="1" dirty="0">
                <a:solidFill>
                  <a:schemeClr val="bg2"/>
                </a:solidFill>
              </a:rPr>
              <a:t>，求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en-US" altLang="zh-CN" b="1" dirty="0">
                <a:solidFill>
                  <a:schemeClr val="bg2"/>
                </a:solidFill>
                <a:sym typeface="Symbol" pitchFamily="18" charset="2"/>
              </a:rPr>
              <a:t></a:t>
            </a:r>
            <a:r>
              <a:rPr lang="en-US" altLang="zh-CN" b="1" i="1" dirty="0">
                <a:solidFill>
                  <a:schemeClr val="bg2"/>
                </a:solidFill>
              </a:rPr>
              <a:t>B</a:t>
            </a:r>
            <a:r>
              <a:rPr lang="zh-CN" altLang="en-US" b="1" dirty="0">
                <a:solidFill>
                  <a:schemeClr val="bg2"/>
                </a:solidFill>
              </a:rPr>
              <a:t>和</a:t>
            </a:r>
            <a:r>
              <a:rPr lang="en-US" altLang="zh-CN" b="1" i="1" dirty="0">
                <a:solidFill>
                  <a:schemeClr val="bg2"/>
                </a:solidFill>
              </a:rPr>
              <a:t>B</a:t>
            </a:r>
            <a:r>
              <a:rPr lang="en-US" altLang="zh-CN" b="1" dirty="0">
                <a:solidFill>
                  <a:schemeClr val="bg2"/>
                </a:solidFill>
                <a:sym typeface="Symbol" pitchFamily="18" charset="2"/>
              </a:rPr>
              <a:t>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en-US" altLang="zh-CN" b="1" i="1" dirty="0">
                <a:solidFill>
                  <a:srgbClr val="0070C0"/>
                </a:solidFill>
              </a:rPr>
              <a:t> </a:t>
            </a:r>
            <a:endParaRPr lang="en-US" altLang="zh-CN" b="1" dirty="0">
              <a:solidFill>
                <a:schemeClr val="bg2"/>
              </a:solidFill>
            </a:endParaRPr>
          </a:p>
          <a:p>
            <a:pPr marL="342900" indent="-342900" eaLnBrk="1" hangingPunct="1"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70C0"/>
                </a:solidFill>
              </a:rPr>
              <a:t> 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en-US" altLang="zh-CN" b="1" dirty="0">
                <a:solidFill>
                  <a:schemeClr val="bg2"/>
                </a:solidFill>
                <a:sym typeface="Symbol" pitchFamily="18" charset="2"/>
              </a:rPr>
              <a:t></a:t>
            </a:r>
            <a:r>
              <a:rPr lang="en-US" altLang="zh-CN" b="1" i="1" dirty="0">
                <a:solidFill>
                  <a:schemeClr val="bg2"/>
                </a:solidFill>
              </a:rPr>
              <a:t>B</a:t>
            </a:r>
            <a:r>
              <a:rPr lang="en-US" altLang="zh-CN" b="1" i="1" dirty="0">
                <a:solidFill>
                  <a:srgbClr val="0070C0"/>
                </a:solidFill>
              </a:rPr>
              <a:t> </a:t>
            </a:r>
            <a:r>
              <a:rPr lang="en-US" altLang="zh-CN" b="1" dirty="0">
                <a:solidFill>
                  <a:srgbClr val="009900"/>
                </a:solidFill>
              </a:rPr>
              <a:t>={&lt;1,</a:t>
            </a:r>
            <a:r>
              <a:rPr lang="en-US" altLang="zh-CN" b="1" i="1" dirty="0">
                <a:solidFill>
                  <a:srgbClr val="009900"/>
                </a:solidFill>
              </a:rPr>
              <a:t>a</a:t>
            </a:r>
            <a:r>
              <a:rPr lang="en-US" altLang="zh-CN" b="1" dirty="0">
                <a:solidFill>
                  <a:srgbClr val="009900"/>
                </a:solidFill>
              </a:rPr>
              <a:t>&gt;,&lt;1,</a:t>
            </a:r>
            <a:r>
              <a:rPr lang="en-US" altLang="zh-CN" b="1" i="1" dirty="0">
                <a:solidFill>
                  <a:srgbClr val="009900"/>
                </a:solidFill>
              </a:rPr>
              <a:t>b</a:t>
            </a:r>
            <a:r>
              <a:rPr lang="en-US" altLang="zh-CN" b="1" dirty="0">
                <a:solidFill>
                  <a:srgbClr val="009900"/>
                </a:solidFill>
              </a:rPr>
              <a:t>&gt;,&lt;1,</a:t>
            </a:r>
            <a:r>
              <a:rPr lang="en-US" altLang="zh-CN" b="1" i="1" dirty="0">
                <a:solidFill>
                  <a:srgbClr val="009900"/>
                </a:solidFill>
              </a:rPr>
              <a:t>c</a:t>
            </a:r>
            <a:r>
              <a:rPr lang="en-US" altLang="zh-CN" b="1" dirty="0">
                <a:solidFill>
                  <a:srgbClr val="009900"/>
                </a:solidFill>
              </a:rPr>
              <a:t>&gt;,&lt;2,</a:t>
            </a:r>
            <a:r>
              <a:rPr lang="en-US" altLang="zh-CN" b="1" i="1" dirty="0">
                <a:solidFill>
                  <a:srgbClr val="009900"/>
                </a:solidFill>
              </a:rPr>
              <a:t>a</a:t>
            </a:r>
            <a:r>
              <a:rPr lang="en-US" altLang="zh-CN" b="1" dirty="0">
                <a:solidFill>
                  <a:srgbClr val="009900"/>
                </a:solidFill>
              </a:rPr>
              <a:t>&gt;,&lt;2,</a:t>
            </a:r>
            <a:r>
              <a:rPr lang="en-US" altLang="zh-CN" b="1" i="1" dirty="0">
                <a:solidFill>
                  <a:srgbClr val="009900"/>
                </a:solidFill>
              </a:rPr>
              <a:t>b</a:t>
            </a:r>
            <a:r>
              <a:rPr lang="en-US" altLang="zh-CN" b="1" dirty="0">
                <a:solidFill>
                  <a:srgbClr val="009900"/>
                </a:solidFill>
              </a:rPr>
              <a:t>&gt;,&lt;2,</a:t>
            </a:r>
            <a:r>
              <a:rPr lang="en-US" altLang="zh-CN" b="1" i="1" dirty="0">
                <a:solidFill>
                  <a:srgbClr val="009900"/>
                </a:solidFill>
              </a:rPr>
              <a:t>c</a:t>
            </a:r>
            <a:r>
              <a:rPr lang="en-US" altLang="zh-CN" b="1" dirty="0">
                <a:solidFill>
                  <a:srgbClr val="009900"/>
                </a:solidFill>
              </a:rPr>
              <a:t>&gt;, </a:t>
            </a:r>
          </a:p>
          <a:p>
            <a:pPr marL="342900" indent="-342900" eaLnBrk="1" hangingPunct="1"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9900"/>
                </a:solidFill>
              </a:rPr>
              <a:t>              &lt;3,</a:t>
            </a:r>
            <a:r>
              <a:rPr lang="en-US" altLang="zh-CN" b="1" i="1" dirty="0">
                <a:solidFill>
                  <a:srgbClr val="009900"/>
                </a:solidFill>
              </a:rPr>
              <a:t>a</a:t>
            </a:r>
            <a:r>
              <a:rPr lang="en-US" altLang="zh-CN" b="1" dirty="0">
                <a:solidFill>
                  <a:srgbClr val="009900"/>
                </a:solidFill>
              </a:rPr>
              <a:t>&gt;,&lt;3,</a:t>
            </a:r>
            <a:r>
              <a:rPr lang="en-US" altLang="zh-CN" b="1" i="1" dirty="0">
                <a:solidFill>
                  <a:srgbClr val="009900"/>
                </a:solidFill>
              </a:rPr>
              <a:t>b</a:t>
            </a:r>
            <a:r>
              <a:rPr lang="en-US" altLang="zh-CN" b="1" dirty="0">
                <a:solidFill>
                  <a:srgbClr val="009900"/>
                </a:solidFill>
              </a:rPr>
              <a:t>&gt;,&lt;3,</a:t>
            </a:r>
            <a:r>
              <a:rPr lang="en-US" altLang="zh-CN" b="1" i="1" dirty="0">
                <a:solidFill>
                  <a:srgbClr val="009900"/>
                </a:solidFill>
              </a:rPr>
              <a:t>c</a:t>
            </a:r>
            <a:r>
              <a:rPr lang="en-US" altLang="zh-CN" b="1" dirty="0">
                <a:solidFill>
                  <a:srgbClr val="009900"/>
                </a:solidFill>
              </a:rPr>
              <a:t>&gt;} </a:t>
            </a:r>
          </a:p>
          <a:p>
            <a:pPr marL="342900" indent="-342900" eaLnBrk="1" hangingPunct="1"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70C0"/>
                </a:solidFill>
              </a:rPr>
              <a:t> </a:t>
            </a:r>
            <a:r>
              <a:rPr lang="en-US" altLang="zh-CN" b="1" i="1" dirty="0">
                <a:solidFill>
                  <a:schemeClr val="bg2"/>
                </a:solidFill>
              </a:rPr>
              <a:t>B</a:t>
            </a:r>
            <a:r>
              <a:rPr lang="en-US" altLang="zh-CN" b="1" dirty="0">
                <a:solidFill>
                  <a:schemeClr val="bg2"/>
                </a:solidFill>
                <a:sym typeface="Symbol" pitchFamily="18" charset="2"/>
              </a:rPr>
              <a:t>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en-US" altLang="zh-CN" b="1" i="1" dirty="0">
                <a:solidFill>
                  <a:srgbClr val="0070C0"/>
                </a:solidFill>
              </a:rPr>
              <a:t> </a:t>
            </a:r>
            <a:r>
              <a:rPr lang="en-US" altLang="zh-CN" b="1" dirty="0">
                <a:solidFill>
                  <a:srgbClr val="009900"/>
                </a:solidFill>
              </a:rPr>
              <a:t>={&lt;</a:t>
            </a:r>
            <a:r>
              <a:rPr lang="en-US" altLang="zh-CN" b="1" i="1" dirty="0">
                <a:solidFill>
                  <a:srgbClr val="009900"/>
                </a:solidFill>
              </a:rPr>
              <a:t>a</a:t>
            </a:r>
            <a:r>
              <a:rPr lang="en-US" altLang="zh-CN" b="1" dirty="0">
                <a:solidFill>
                  <a:srgbClr val="009900"/>
                </a:solidFill>
              </a:rPr>
              <a:t>,1&gt;,&lt;</a:t>
            </a:r>
            <a:r>
              <a:rPr lang="en-US" altLang="zh-CN" b="1" i="1" dirty="0">
                <a:solidFill>
                  <a:srgbClr val="009900"/>
                </a:solidFill>
              </a:rPr>
              <a:t>b</a:t>
            </a:r>
            <a:r>
              <a:rPr lang="en-US" altLang="zh-CN" b="1" dirty="0">
                <a:solidFill>
                  <a:srgbClr val="009900"/>
                </a:solidFill>
              </a:rPr>
              <a:t>,1&gt;,&lt;</a:t>
            </a:r>
            <a:r>
              <a:rPr lang="en-US" altLang="zh-CN" b="1" i="1" dirty="0">
                <a:solidFill>
                  <a:srgbClr val="009900"/>
                </a:solidFill>
              </a:rPr>
              <a:t>c</a:t>
            </a:r>
            <a:r>
              <a:rPr lang="en-US" altLang="zh-CN" b="1" dirty="0">
                <a:solidFill>
                  <a:srgbClr val="009900"/>
                </a:solidFill>
              </a:rPr>
              <a:t>,1&gt;,&lt;</a:t>
            </a:r>
            <a:r>
              <a:rPr lang="en-US" altLang="zh-CN" b="1" i="1" dirty="0">
                <a:solidFill>
                  <a:srgbClr val="009900"/>
                </a:solidFill>
              </a:rPr>
              <a:t>a</a:t>
            </a:r>
            <a:r>
              <a:rPr lang="en-US" altLang="zh-CN" b="1" dirty="0">
                <a:solidFill>
                  <a:srgbClr val="009900"/>
                </a:solidFill>
              </a:rPr>
              <a:t>,2&gt;,&lt;</a:t>
            </a:r>
            <a:r>
              <a:rPr lang="en-US" altLang="zh-CN" b="1" i="1" dirty="0">
                <a:solidFill>
                  <a:srgbClr val="009900"/>
                </a:solidFill>
              </a:rPr>
              <a:t>b</a:t>
            </a:r>
            <a:r>
              <a:rPr lang="en-US" altLang="zh-CN" b="1" dirty="0">
                <a:solidFill>
                  <a:srgbClr val="009900"/>
                </a:solidFill>
              </a:rPr>
              <a:t>,2&gt;,&lt;</a:t>
            </a:r>
            <a:r>
              <a:rPr lang="en-US" altLang="zh-CN" b="1" i="1" dirty="0">
                <a:solidFill>
                  <a:srgbClr val="009900"/>
                </a:solidFill>
              </a:rPr>
              <a:t>c</a:t>
            </a:r>
            <a:r>
              <a:rPr lang="en-US" altLang="zh-CN" b="1" dirty="0">
                <a:solidFill>
                  <a:srgbClr val="009900"/>
                </a:solidFill>
              </a:rPr>
              <a:t>,2&gt;,</a:t>
            </a:r>
          </a:p>
          <a:p>
            <a:pPr marL="342900" indent="-342900" eaLnBrk="1" hangingPunct="1"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9900"/>
                </a:solidFill>
              </a:rPr>
              <a:t>             &lt;</a:t>
            </a:r>
            <a:r>
              <a:rPr lang="en-US" altLang="zh-CN" b="1" i="1" dirty="0">
                <a:solidFill>
                  <a:srgbClr val="009900"/>
                </a:solidFill>
              </a:rPr>
              <a:t>a</a:t>
            </a:r>
            <a:r>
              <a:rPr lang="en-US" altLang="zh-CN" b="1" dirty="0">
                <a:solidFill>
                  <a:srgbClr val="009900"/>
                </a:solidFill>
              </a:rPr>
              <a:t>,3&gt;, &lt;</a:t>
            </a:r>
            <a:r>
              <a:rPr lang="en-US" altLang="zh-CN" b="1" i="1" dirty="0">
                <a:solidFill>
                  <a:srgbClr val="009900"/>
                </a:solidFill>
              </a:rPr>
              <a:t>b</a:t>
            </a:r>
            <a:r>
              <a:rPr lang="en-US" altLang="zh-CN" b="1" dirty="0">
                <a:solidFill>
                  <a:srgbClr val="009900"/>
                </a:solidFill>
              </a:rPr>
              <a:t>,3&gt;,&lt;</a:t>
            </a:r>
            <a:r>
              <a:rPr lang="en-US" altLang="zh-CN" b="1" i="1" dirty="0">
                <a:solidFill>
                  <a:srgbClr val="009900"/>
                </a:solidFill>
              </a:rPr>
              <a:t>c</a:t>
            </a:r>
            <a:r>
              <a:rPr lang="en-US" altLang="zh-CN" b="1" dirty="0">
                <a:solidFill>
                  <a:srgbClr val="009900"/>
                </a:solidFill>
              </a:rPr>
              <a:t>,3&gt;} 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11002" y="5936135"/>
            <a:ext cx="3484934" cy="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40000"/>
              </a:lnSpc>
              <a:spcBef>
                <a:spcPct val="40000"/>
              </a:spcBef>
              <a:defRPr/>
            </a:pPr>
            <a:r>
              <a:rPr lang="zh-CN" altLang="en-US" b="1" dirty="0">
                <a:solidFill>
                  <a:schemeClr val="bg2"/>
                </a:solidFill>
              </a:rPr>
              <a:t>例</a:t>
            </a:r>
            <a:r>
              <a:rPr lang="en-US" altLang="zh-CN" b="1" dirty="0">
                <a:solidFill>
                  <a:schemeClr val="bg2"/>
                </a:solidFill>
              </a:rPr>
              <a:t>3 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en-US" altLang="zh-CN" b="1" dirty="0">
                <a:solidFill>
                  <a:schemeClr val="bg2"/>
                </a:solidFill>
              </a:rPr>
              <a:t>={</a:t>
            </a:r>
            <a:r>
              <a:rPr lang="en-US" altLang="zh-CN" b="1" dirty="0">
                <a:solidFill>
                  <a:schemeClr val="bg2"/>
                </a:solidFill>
                <a:sym typeface="Symbol" pitchFamily="18" charset="2"/>
              </a:rPr>
              <a:t></a:t>
            </a:r>
            <a:r>
              <a:rPr lang="en-US" altLang="zh-CN" b="1" dirty="0">
                <a:solidFill>
                  <a:schemeClr val="bg2"/>
                </a:solidFill>
              </a:rPr>
              <a:t>},    </a:t>
            </a:r>
            <a:r>
              <a:rPr lang="en-US" altLang="zh-CN" b="1" i="1" dirty="0">
                <a:solidFill>
                  <a:schemeClr val="bg2"/>
                </a:solidFill>
              </a:rPr>
              <a:t>P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en-US" altLang="zh-CN" b="1" dirty="0">
                <a:solidFill>
                  <a:schemeClr val="bg2"/>
                </a:solidFill>
              </a:rPr>
              <a:t>)</a:t>
            </a:r>
            <a:r>
              <a:rPr lang="en-US" altLang="zh-CN" b="1" dirty="0">
                <a:solidFill>
                  <a:schemeClr val="bg2"/>
                </a:solidFill>
                <a:sym typeface="Symbol" pitchFamily="18" charset="2"/>
              </a:rPr>
              <a:t>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779912" y="5936135"/>
            <a:ext cx="3456384" cy="627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40000"/>
              </a:lnSpc>
              <a:spcBef>
                <a:spcPct val="40000"/>
              </a:spcBef>
              <a:defRPr/>
            </a:pPr>
            <a:r>
              <a:rPr lang="en-US" altLang="zh-CN" b="1" dirty="0">
                <a:solidFill>
                  <a:srgbClr val="009900"/>
                </a:solidFill>
              </a:rPr>
              <a:t>={&lt;</a:t>
            </a:r>
            <a:r>
              <a:rPr lang="en-US" altLang="zh-CN" b="1" dirty="0">
                <a:solidFill>
                  <a:srgbClr val="009900"/>
                </a:solidFill>
                <a:sym typeface="Symbol" pitchFamily="18" charset="2"/>
              </a:rPr>
              <a:t></a:t>
            </a:r>
            <a:r>
              <a:rPr lang="en-US" altLang="zh-CN" b="1" dirty="0">
                <a:solidFill>
                  <a:srgbClr val="009900"/>
                </a:solidFill>
              </a:rPr>
              <a:t>,</a:t>
            </a:r>
            <a:r>
              <a:rPr lang="en-US" altLang="zh-CN" b="1" dirty="0">
                <a:solidFill>
                  <a:srgbClr val="009900"/>
                </a:solidFill>
                <a:sym typeface="Symbol" pitchFamily="18" charset="2"/>
              </a:rPr>
              <a:t></a:t>
            </a:r>
            <a:r>
              <a:rPr lang="en-US" altLang="zh-CN" b="1" dirty="0">
                <a:solidFill>
                  <a:srgbClr val="009900"/>
                </a:solidFill>
              </a:rPr>
              <a:t>&gt;, &lt;{</a:t>
            </a:r>
            <a:r>
              <a:rPr lang="en-US" altLang="zh-CN" b="1" dirty="0">
                <a:solidFill>
                  <a:srgbClr val="009900"/>
                </a:solidFill>
                <a:sym typeface="Symbol" pitchFamily="18" charset="2"/>
              </a:rPr>
              <a:t></a:t>
            </a:r>
            <a:r>
              <a:rPr lang="en-US" altLang="zh-CN" b="1" dirty="0">
                <a:solidFill>
                  <a:srgbClr val="009900"/>
                </a:solidFill>
              </a:rPr>
              <a:t>},</a:t>
            </a:r>
            <a:r>
              <a:rPr lang="en-US" altLang="zh-CN" b="1" dirty="0">
                <a:solidFill>
                  <a:srgbClr val="009900"/>
                </a:solidFill>
                <a:sym typeface="Symbol" pitchFamily="18" charset="2"/>
              </a:rPr>
              <a:t></a:t>
            </a:r>
            <a:r>
              <a:rPr lang="en-US" altLang="zh-CN" b="1" dirty="0">
                <a:solidFill>
                  <a:srgbClr val="009900"/>
                </a:solidFill>
              </a:rPr>
              <a:t>&gt;}    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245D60-E48F-44BB-B9B5-A95A0B424E0D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>
          <a:xfrm>
            <a:off x="200224" y="131477"/>
            <a:ext cx="8229600" cy="1081088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笛卡儿积的性质</a:t>
            </a:r>
          </a:p>
        </p:txBody>
      </p:sp>
      <p:sp>
        <p:nvSpPr>
          <p:cNvPr id="196611" name="Text Box 3"/>
          <p:cNvSpPr txBox="1">
            <a:spLocks noChangeArrowheads="1"/>
          </p:cNvSpPr>
          <p:nvPr/>
        </p:nvSpPr>
        <p:spPr bwMode="auto">
          <a:xfrm>
            <a:off x="179512" y="1350722"/>
            <a:ext cx="9217272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不适合交换律</a:t>
            </a:r>
            <a:r>
              <a:rPr lang="zh-CN" altLang="en-US" sz="2800" b="1" dirty="0">
                <a:latin typeface="Times New Roman" panose="02020603050405020304" pitchFamily="18" charset="0"/>
              </a:rPr>
              <a:t>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  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,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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</a:p>
          <a:p>
            <a:pPr marL="457200" indent="-45720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不适合结合律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)   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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,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ym typeface="Symbol" panose="05050102010706020507" pitchFamily="18" charset="2"/>
              </a:rPr>
              <a:t>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</a:p>
          <a:p>
            <a:pPr marL="457200" indent="-45720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对于并或交运算满足分配律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)=(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)    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=(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)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)=(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)     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=(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) </a:t>
            </a:r>
          </a:p>
          <a:p>
            <a:pPr marL="457200" indent="-45720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zh-CN" altLang="en-US" sz="2800" b="1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zh-CN" altLang="en-US" sz="2800" b="1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中有一个为空集，则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zh-CN" altLang="en-US" sz="2800" b="1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就是空集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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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</a:p>
          <a:p>
            <a:pPr marL="457200" indent="-45720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|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|=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|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|=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|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|=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6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6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6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96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96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6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6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DAB2FA-981A-4AD5-A50D-1EC224AAC092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>
          <a:xfrm>
            <a:off x="358775" y="188640"/>
            <a:ext cx="7261225" cy="9239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性质的证明</a:t>
            </a:r>
          </a:p>
        </p:txBody>
      </p:sp>
      <p:sp>
        <p:nvSpPr>
          <p:cNvPr id="197635" name="Text Box 3"/>
          <p:cNvSpPr txBox="1">
            <a:spLocks noChangeArrowheads="1"/>
          </p:cNvSpPr>
          <p:nvPr/>
        </p:nvSpPr>
        <p:spPr bwMode="auto">
          <a:xfrm>
            <a:off x="539552" y="1427597"/>
            <a:ext cx="7273925" cy="4649787"/>
          </a:xfrm>
          <a:prstGeom prst="rect">
            <a:avLst/>
          </a:prstGeom>
          <a:solidFill>
            <a:srgbClr val="D9FFFF"/>
          </a:solidFill>
          <a:ln w="28575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证明    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)=(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证：任取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×(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∪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)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∧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∪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∧ 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∨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</a:t>
            </a:r>
            <a:r>
              <a:rPr lang="en-US" altLang="zh-CN" sz="2800" b="1" dirty="0">
                <a:latin typeface="Times New Roman" panose="02020603050405020304" pitchFamily="18" charset="0"/>
              </a:rPr>
              <a:t> 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∧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) ∨ 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∧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)   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</a:t>
            </a:r>
            <a:r>
              <a:rPr lang="en-US" altLang="zh-CN" sz="2800" b="1" dirty="0">
                <a:latin typeface="Times New Roman" panose="02020603050405020304" pitchFamily="18" charset="0"/>
              </a:rPr>
              <a:t> 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×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 </a:t>
            </a:r>
            <a:r>
              <a:rPr lang="en-US" altLang="zh-CN" sz="2800" b="1" dirty="0">
                <a:latin typeface="Times New Roman" panose="02020603050405020304" pitchFamily="18" charset="0"/>
              </a:rPr>
              <a:t>∨ 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×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b="1" dirty="0">
                <a:latin typeface="Times New Roman" panose="02020603050405020304" pitchFamily="18" charset="0"/>
              </a:rPr>
              <a:t> 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&gt;∈(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×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)∪(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×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所以有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×(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∪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) = 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×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)∪(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×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D9559A-9BCF-43F2-8096-9610B8771A50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250582"/>
            <a:ext cx="8229600" cy="1019175"/>
          </a:xfrm>
        </p:spPr>
        <p:txBody>
          <a:bodyPr/>
          <a:lstStyle/>
          <a:p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例题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CN" altLang="en-US" b="1" dirty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98659" name="Text Box 3"/>
          <p:cNvSpPr txBox="1">
            <a:spLocks noChangeArrowheads="1"/>
          </p:cNvSpPr>
          <p:nvPr/>
        </p:nvSpPr>
        <p:spPr bwMode="auto">
          <a:xfrm>
            <a:off x="561083" y="2767589"/>
            <a:ext cx="7920037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解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任取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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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</a:t>
            </a:r>
          </a:p>
        </p:txBody>
      </p:sp>
      <p:sp>
        <p:nvSpPr>
          <p:cNvPr id="18437" name="Text Box 4"/>
          <p:cNvSpPr txBox="1">
            <a:spLocks noChangeArrowheads="1"/>
          </p:cNvSpPr>
          <p:nvPr/>
        </p:nvSpPr>
        <p:spPr bwMode="auto">
          <a:xfrm>
            <a:off x="251520" y="1366539"/>
            <a:ext cx="80010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3  (1)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证明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D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(2)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是否推出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solidFill>
                  <a:schemeClr val="bg2"/>
                </a:solidFill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D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?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为什么？</a:t>
            </a:r>
            <a:endParaRPr lang="zh-CN" altLang="en-US" sz="28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8661" name="Text Box 5"/>
          <p:cNvSpPr txBox="1">
            <a:spLocks noChangeArrowheads="1"/>
          </p:cNvSpPr>
          <p:nvPr/>
        </p:nvSpPr>
        <p:spPr bwMode="auto">
          <a:xfrm>
            <a:off x="971600" y="4625702"/>
            <a:ext cx="801211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不一定。反例如下：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={1}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={2},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则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D </a:t>
            </a:r>
            <a:r>
              <a:rPr lang="zh-CN" altLang="en-US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但是 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9" grpId="0"/>
      <p:bldP spid="19866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4BF482-75B0-42E6-948C-35315D23781D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9459" name="Text Box 2"/>
          <p:cNvSpPr txBox="1">
            <a:spLocks noChangeArrowheads="1"/>
          </p:cNvSpPr>
          <p:nvPr/>
        </p:nvSpPr>
        <p:spPr bwMode="auto">
          <a:xfrm>
            <a:off x="251520" y="1323752"/>
            <a:ext cx="80010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4  (1)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证明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D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(2)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是否推出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solidFill>
                  <a:schemeClr val="bg2"/>
                </a:solidFill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D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1843" name="Text Box 3"/>
          <p:cNvSpPr txBox="1">
            <a:spLocks noChangeArrowheads="1"/>
          </p:cNvSpPr>
          <p:nvPr/>
        </p:nvSpPr>
        <p:spPr bwMode="auto">
          <a:xfrm>
            <a:off x="467544" y="2625725"/>
            <a:ext cx="7920037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解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任取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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</a:t>
            </a:r>
          </a:p>
        </p:txBody>
      </p:sp>
      <p:sp>
        <p:nvSpPr>
          <p:cNvPr id="291844" name="Text Box 4"/>
          <p:cNvSpPr txBox="1">
            <a:spLocks noChangeArrowheads="1"/>
          </p:cNvSpPr>
          <p:nvPr/>
        </p:nvSpPr>
        <p:spPr bwMode="auto">
          <a:xfrm>
            <a:off x="539552" y="4440461"/>
            <a:ext cx="8012113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(2)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不一定。反例如下：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={1}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={2},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</a:rPr>
              <a:t>         </a:t>
            </a:r>
            <a:r>
              <a:rPr lang="zh-CN" altLang="en-US" sz="2800" b="1" dirty="0">
                <a:solidFill>
                  <a:schemeClr val="bg2"/>
                </a:solidFill>
              </a:rPr>
              <a:t>则 </a:t>
            </a:r>
            <a:r>
              <a:rPr lang="en-US" altLang="zh-CN" sz="2800" b="1" dirty="0">
                <a:solidFill>
                  <a:schemeClr val="bg2"/>
                </a:solidFill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sym typeface="Symbol" panose="05050102010706020507" pitchFamily="18" charset="2"/>
              </a:rPr>
              <a:t></a:t>
            </a:r>
            <a:r>
              <a:rPr lang="en-US" altLang="zh-CN" sz="2800" b="1" dirty="0">
                <a:solidFill>
                  <a:schemeClr val="bg2"/>
                </a:solidFill>
              </a:rPr>
              <a:t>C </a:t>
            </a:r>
            <a:r>
              <a:rPr lang="en-US" altLang="zh-CN" sz="2800" b="1" dirty="0">
                <a:sym typeface="Symbol" panose="05050102010706020507" pitchFamily="18" charset="2"/>
              </a:rPr>
              <a:t></a:t>
            </a:r>
            <a:r>
              <a:rPr lang="en-US" altLang="zh-CN" sz="1800" dirty="0"/>
              <a:t> </a:t>
            </a:r>
            <a:r>
              <a:rPr lang="en-US" altLang="zh-CN" sz="2800" b="1" dirty="0">
                <a:solidFill>
                  <a:schemeClr val="bg2"/>
                </a:solidFill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sym typeface="Symbol" panose="05050102010706020507" pitchFamily="18" charset="2"/>
              </a:rPr>
              <a:t></a:t>
            </a:r>
            <a:r>
              <a:rPr lang="en-US" altLang="zh-CN" sz="2800" b="1" dirty="0">
                <a:solidFill>
                  <a:schemeClr val="bg2"/>
                </a:solidFill>
              </a:rPr>
              <a:t>D</a:t>
            </a:r>
            <a:r>
              <a:rPr lang="zh-CN" altLang="en-US" sz="2800" b="1" dirty="0">
                <a:solidFill>
                  <a:schemeClr val="bg2"/>
                </a:solidFill>
              </a:rPr>
              <a:t>， 但是 </a:t>
            </a:r>
            <a:r>
              <a:rPr lang="en-US" altLang="zh-CN" sz="2800" b="1" dirty="0">
                <a:solidFill>
                  <a:schemeClr val="bg2"/>
                </a:solidFill>
              </a:rPr>
              <a:t>A </a:t>
            </a:r>
            <a:r>
              <a:rPr lang="en-US" altLang="zh-CN" sz="2800" b="1" dirty="0"/>
              <a:t>⊈</a:t>
            </a:r>
            <a:r>
              <a:rPr lang="en-US" altLang="zh-CN" sz="2800" b="1" dirty="0">
                <a:solidFill>
                  <a:schemeClr val="bg2"/>
                </a:solidFill>
              </a:rPr>
              <a:t> B</a:t>
            </a:r>
            <a:r>
              <a:rPr lang="zh-CN" altLang="en-US" sz="2800" b="1" dirty="0">
                <a:solidFill>
                  <a:schemeClr val="bg2"/>
                </a:solidFill>
              </a:rPr>
              <a:t>。</a:t>
            </a:r>
            <a:endParaRPr lang="en-US" altLang="zh-CN" sz="2800" b="1" dirty="0">
              <a:solidFill>
                <a:schemeClr val="bg2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51520" y="323925"/>
            <a:ext cx="8229600" cy="10191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b="1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例题（续）</a:t>
            </a:r>
            <a:r>
              <a:rPr lang="zh-CN" altLang="en-US" b="1" kern="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1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1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3" grpId="0" autoUpdateAnimBg="0"/>
      <p:bldP spid="29184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DCFD01-FFBF-4447-BC29-0A28F57BBDBA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92866" name="Text Box 2"/>
          <p:cNvSpPr txBox="1">
            <a:spLocks noChangeArrowheads="1"/>
          </p:cNvSpPr>
          <p:nvPr/>
        </p:nvSpPr>
        <p:spPr bwMode="auto">
          <a:xfrm>
            <a:off x="153852" y="407061"/>
            <a:ext cx="8640960" cy="598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05000"/>
              </a:lnSpc>
              <a:spcBef>
                <a:spcPct val="20000"/>
              </a:spcBef>
              <a:defRPr/>
            </a:pPr>
            <a:r>
              <a:rPr lang="zh-CN" altLang="en-US" sz="3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二元关系</a:t>
            </a:r>
            <a:r>
              <a:rPr lang="zh-CN" altLang="en-US" sz="3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：</a:t>
            </a:r>
            <a:r>
              <a:rPr lang="zh-CN" altLang="en-US" sz="3400" b="1" dirty="0">
                <a:solidFill>
                  <a:srgbClr val="33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集合中两个元素之间的某种关系</a:t>
            </a: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61864" y="1412776"/>
            <a:ext cx="8424936" cy="301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en-US" altLang="zh-CN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altLang="zh-CN" b="1" dirty="0"/>
              <a:t>  </a:t>
            </a:r>
            <a:r>
              <a:rPr lang="zh-CN" altLang="en-US" b="1" dirty="0"/>
              <a:t>有</a:t>
            </a:r>
            <a:r>
              <a:rPr lang="en-US" altLang="zh-CN" b="1" dirty="0"/>
              <a:t>A</a:t>
            </a:r>
            <a:r>
              <a:rPr lang="zh-CN" altLang="en-US" b="1" dirty="0"/>
              <a:t>、</a:t>
            </a:r>
            <a:r>
              <a:rPr lang="en-US" altLang="zh-CN" b="1" dirty="0"/>
              <a:t>B</a:t>
            </a:r>
            <a:r>
              <a:rPr lang="zh-CN" altLang="en-US" b="1" dirty="0"/>
              <a:t>、</a:t>
            </a:r>
            <a:r>
              <a:rPr lang="en-US" altLang="zh-CN" b="1" dirty="0"/>
              <a:t>C 3</a:t>
            </a:r>
            <a:r>
              <a:rPr lang="zh-CN" altLang="en-US" b="1" dirty="0"/>
              <a:t>个人和四项工作</a:t>
            </a:r>
            <a:r>
              <a:rPr lang="en-US" altLang="zh-CN" b="1" dirty="0"/>
              <a:t>G</a:t>
            </a:r>
            <a:r>
              <a:rPr lang="en-US" altLang="zh-CN" b="1" baseline="-25000" dirty="0"/>
              <a:t>1</a:t>
            </a:r>
            <a:r>
              <a:rPr lang="zh-CN" altLang="en-US" b="1" dirty="0"/>
              <a:t>、 </a:t>
            </a:r>
            <a:r>
              <a:rPr lang="en-US" altLang="zh-CN" b="1" dirty="0"/>
              <a:t>G</a:t>
            </a:r>
            <a:r>
              <a:rPr lang="en-US" altLang="zh-CN" b="1" baseline="-25000" dirty="0"/>
              <a:t>2</a:t>
            </a:r>
            <a:r>
              <a:rPr lang="zh-CN" altLang="en-US" b="1" dirty="0"/>
              <a:t>、 </a:t>
            </a:r>
            <a:r>
              <a:rPr lang="en-US" altLang="zh-CN" b="1" dirty="0"/>
              <a:t>G</a:t>
            </a:r>
            <a:r>
              <a:rPr lang="en-US" altLang="zh-CN" b="1" baseline="-25000" dirty="0"/>
              <a:t>3</a:t>
            </a:r>
            <a:r>
              <a:rPr lang="zh-CN" altLang="en-US" b="1" dirty="0"/>
              <a:t>、 </a:t>
            </a:r>
            <a:r>
              <a:rPr lang="en-US" altLang="zh-CN" b="1" dirty="0"/>
              <a:t>G</a:t>
            </a:r>
            <a:r>
              <a:rPr lang="en-US" altLang="zh-CN" b="1" baseline="-25000" dirty="0"/>
              <a:t>4</a:t>
            </a:r>
            <a:r>
              <a:rPr lang="zh-CN" altLang="en-US" b="1" dirty="0"/>
              <a:t>，已知</a:t>
            </a:r>
            <a:r>
              <a:rPr lang="en-US" altLang="zh-CN" b="1" dirty="0"/>
              <a:t>A</a:t>
            </a:r>
            <a:r>
              <a:rPr lang="zh-CN" altLang="en-US" b="1" dirty="0"/>
              <a:t>可以从事工作</a:t>
            </a:r>
            <a:r>
              <a:rPr lang="en-US" altLang="zh-CN" b="1" dirty="0"/>
              <a:t>G</a:t>
            </a:r>
            <a:r>
              <a:rPr lang="en-US" altLang="zh-CN" b="1" baseline="-25000" dirty="0"/>
              <a:t>1</a:t>
            </a:r>
            <a:r>
              <a:rPr lang="zh-CN" altLang="en-US" b="1" dirty="0"/>
              <a:t>和</a:t>
            </a:r>
            <a:r>
              <a:rPr lang="en-US" altLang="zh-CN" b="1" dirty="0"/>
              <a:t>G</a:t>
            </a:r>
            <a:r>
              <a:rPr lang="en-US" altLang="zh-CN" b="1" baseline="-25000" dirty="0"/>
              <a:t>4</a:t>
            </a:r>
            <a:r>
              <a:rPr lang="zh-CN" altLang="en-US" b="1" dirty="0"/>
              <a:t>，</a:t>
            </a:r>
            <a:r>
              <a:rPr lang="en-US" altLang="zh-CN" b="1" dirty="0"/>
              <a:t>B</a:t>
            </a:r>
            <a:r>
              <a:rPr lang="zh-CN" altLang="en-US" b="1" dirty="0"/>
              <a:t>可以从事工作</a:t>
            </a:r>
            <a:r>
              <a:rPr lang="en-US" altLang="zh-CN" b="1" dirty="0"/>
              <a:t>G</a:t>
            </a:r>
            <a:r>
              <a:rPr lang="en-US" altLang="zh-CN" b="1" baseline="-25000" dirty="0"/>
              <a:t>3</a:t>
            </a:r>
            <a:r>
              <a:rPr lang="zh-CN" altLang="en-US" b="1" dirty="0"/>
              <a:t>，</a:t>
            </a:r>
            <a:r>
              <a:rPr lang="en-US" altLang="zh-CN" b="1" dirty="0"/>
              <a:t>C</a:t>
            </a:r>
            <a:r>
              <a:rPr lang="zh-CN" altLang="en-US" b="1" dirty="0"/>
              <a:t>可以从事工作</a:t>
            </a:r>
            <a:r>
              <a:rPr lang="en-US" altLang="zh-CN" b="1" dirty="0"/>
              <a:t>G</a:t>
            </a:r>
            <a:r>
              <a:rPr lang="en-US" altLang="zh-CN" b="1" baseline="-25000" dirty="0"/>
              <a:t>1</a:t>
            </a:r>
            <a:r>
              <a:rPr lang="zh-CN" altLang="en-US" b="1" dirty="0"/>
              <a:t>和</a:t>
            </a:r>
            <a:r>
              <a:rPr lang="en-US" altLang="zh-CN" b="1" dirty="0"/>
              <a:t>G</a:t>
            </a:r>
            <a:r>
              <a:rPr lang="en-US" altLang="zh-CN" b="1" baseline="-25000" dirty="0"/>
              <a:t>2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>
              <a:lnSpc>
                <a:spcPct val="120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</a:t>
            </a:r>
            <a:r>
              <a:rPr lang="zh-CN" altLang="en-US" b="1" dirty="0"/>
              <a:t>那么，人和工作之间的对应关系可以记作：</a:t>
            </a:r>
          </a:p>
          <a:p>
            <a:pPr>
              <a:lnSpc>
                <a:spcPct val="120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   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＝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{&lt;A,G</a:t>
            </a:r>
            <a:r>
              <a:rPr lang="en-US" altLang="zh-CN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&gt;, &lt;A,G</a:t>
            </a:r>
            <a:r>
              <a:rPr lang="en-US" altLang="zh-CN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&gt;, &lt;B,G</a:t>
            </a:r>
            <a:r>
              <a:rPr lang="en-US" altLang="zh-CN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&gt;, &lt;C,G</a:t>
            </a:r>
            <a:r>
              <a:rPr lang="en-US" altLang="zh-CN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&gt;, &lt;C,G</a:t>
            </a:r>
            <a:r>
              <a:rPr lang="en-US" altLang="zh-CN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 }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61864" y="4509120"/>
            <a:ext cx="8424936" cy="112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        它表示了集合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{A,B,C}</a:t>
            </a:r>
            <a:r>
              <a:rPr lang="zh-CN" altLang="en-US" b="1" dirty="0"/>
              <a:t>到工作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{G</a:t>
            </a:r>
            <a:r>
              <a:rPr lang="en-US" altLang="zh-CN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,G</a:t>
            </a:r>
            <a:r>
              <a:rPr lang="en-US" altLang="zh-CN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,G</a:t>
            </a:r>
            <a:r>
              <a:rPr lang="en-US" altLang="zh-CN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,G</a:t>
            </a:r>
            <a:r>
              <a:rPr lang="en-US" altLang="zh-CN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r>
              <a:rPr lang="zh-CN" altLang="en-US" b="1" dirty="0"/>
              <a:t>之间的关系。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8516043" y="6138442"/>
            <a:ext cx="468350" cy="4929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81DE9D-AEEA-474A-A38C-745CAD4DE56D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27594" y="59509"/>
            <a:ext cx="7775575" cy="11525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二元关系的定义</a:t>
            </a:r>
          </a:p>
        </p:txBody>
      </p:sp>
      <p:sp>
        <p:nvSpPr>
          <p:cNvPr id="199683" name="Text Box 3"/>
          <p:cNvSpPr txBox="1">
            <a:spLocks noChangeArrowheads="1"/>
          </p:cNvSpPr>
          <p:nvPr/>
        </p:nvSpPr>
        <p:spPr bwMode="auto">
          <a:xfrm>
            <a:off x="380107" y="1339397"/>
            <a:ext cx="8135936" cy="2751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定义</a:t>
            </a:r>
            <a:r>
              <a:rPr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 sz="3200" b="1" dirty="0">
                <a:solidFill>
                  <a:srgbClr val="FF3300"/>
                </a:solidFill>
              </a:rPr>
              <a:t> </a:t>
            </a:r>
            <a:r>
              <a:rPr lang="zh-CN" altLang="en-US" b="1" dirty="0"/>
              <a:t>如果一个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集合</a:t>
            </a:r>
            <a:r>
              <a:rPr lang="zh-CN" altLang="en-US" b="1" dirty="0"/>
              <a:t>满足以下条件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之一</a:t>
            </a:r>
            <a:r>
              <a:rPr lang="zh-CN" altLang="en-US" b="1" dirty="0"/>
              <a:t>：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）集合非空</a:t>
            </a:r>
            <a:r>
              <a:rPr lang="en-US" altLang="zh-CN" b="1" dirty="0"/>
              <a:t>, </a:t>
            </a:r>
            <a:r>
              <a:rPr lang="zh-CN" altLang="en-US" b="1" dirty="0"/>
              <a:t>且它的元素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都</a:t>
            </a:r>
            <a:r>
              <a:rPr lang="zh-CN" altLang="en-US" b="1" dirty="0"/>
              <a:t>是有序对；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）集合是空集；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b="1" dirty="0"/>
              <a:t>则称该集合为一个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二元关系</a:t>
            </a:r>
            <a:r>
              <a:rPr lang="en-US" altLang="zh-CN" b="1" dirty="0"/>
              <a:t>, </a:t>
            </a:r>
            <a:r>
              <a:rPr lang="zh-CN" altLang="en-US" b="1" dirty="0"/>
              <a:t>简称为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关系</a:t>
            </a:r>
            <a:r>
              <a:rPr lang="zh-CN" altLang="en-US" b="1" dirty="0"/>
              <a:t>，记作</a:t>
            </a:r>
            <a:r>
              <a:rPr lang="en-US" altLang="zh-CN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zh-CN" altLang="en-US" b="1" dirty="0"/>
              <a:t>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b="1" dirty="0"/>
              <a:t>如</a:t>
            </a:r>
            <a:r>
              <a:rPr lang="en-US" altLang="zh-CN" b="1" dirty="0"/>
              <a:t>&lt;</a:t>
            </a:r>
            <a:r>
              <a:rPr lang="en-US" altLang="zh-CN" b="1" i="1" dirty="0" err="1"/>
              <a:t>x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y</a:t>
            </a:r>
            <a:r>
              <a:rPr lang="en-US" altLang="zh-CN" b="1" dirty="0"/>
              <a:t>&gt;∈</a:t>
            </a:r>
            <a:r>
              <a:rPr lang="en-US" altLang="zh-CN" b="1" i="1" dirty="0"/>
              <a:t>R</a:t>
            </a:r>
            <a:r>
              <a:rPr lang="en-US" altLang="zh-CN" b="1" dirty="0"/>
              <a:t>, </a:t>
            </a:r>
            <a:r>
              <a:rPr lang="zh-CN" altLang="en-US" b="1" dirty="0"/>
              <a:t>可记作 </a:t>
            </a:r>
            <a:r>
              <a:rPr lang="en-US" altLang="zh-CN" b="1" i="1" dirty="0"/>
              <a:t>xRy</a:t>
            </a:r>
            <a:r>
              <a:rPr lang="zh-CN" altLang="en-US" b="1" dirty="0"/>
              <a:t>；如果</a:t>
            </a:r>
            <a:r>
              <a:rPr lang="en-US" altLang="zh-CN" b="1" dirty="0"/>
              <a:t>&lt;</a:t>
            </a:r>
            <a:r>
              <a:rPr lang="en-US" altLang="zh-CN" b="1" i="1" dirty="0" err="1"/>
              <a:t>x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y</a:t>
            </a:r>
            <a:r>
              <a:rPr lang="en-US" altLang="zh-CN" b="1" dirty="0"/>
              <a:t>&gt;</a:t>
            </a:r>
            <a:r>
              <a:rPr lang="en-US" altLang="zh-CN" b="1" dirty="0">
                <a:sym typeface="Symbol" pitchFamily="18" charset="2"/>
              </a:rPr>
              <a:t></a:t>
            </a:r>
            <a:r>
              <a:rPr lang="en-US" altLang="zh-CN" b="1" i="1" dirty="0"/>
              <a:t>R</a:t>
            </a:r>
            <a:r>
              <a:rPr lang="en-US" altLang="zh-CN" b="1" dirty="0"/>
              <a:t>, </a:t>
            </a:r>
            <a:r>
              <a:rPr lang="zh-CN" altLang="en-US" b="1" dirty="0"/>
              <a:t>则记作</a:t>
            </a:r>
            <a:r>
              <a:rPr lang="en-US" altLang="zh-CN" b="1" i="1" dirty="0"/>
              <a:t>x   y</a:t>
            </a:r>
            <a:endParaRPr lang="en-US" altLang="zh-CN" b="1" dirty="0"/>
          </a:p>
        </p:txBody>
      </p:sp>
      <p:pic>
        <p:nvPicPr>
          <p:cNvPr id="2355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00" y="3547798"/>
            <a:ext cx="29845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426896" y="4231695"/>
            <a:ext cx="8135936" cy="1643527"/>
            <a:chOff x="426896" y="4231695"/>
            <a:chExt cx="8135936" cy="1643527"/>
          </a:xfrm>
        </p:grpSpPr>
        <p:pic>
          <p:nvPicPr>
            <p:cNvPr id="23559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88224" y="5281554"/>
              <a:ext cx="350837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3"/>
            <p:cNvSpPr txBox="1">
              <a:spLocks noChangeArrowheads="1"/>
            </p:cNvSpPr>
            <p:nvPr/>
          </p:nvSpPr>
          <p:spPr bwMode="auto">
            <a:xfrm>
              <a:off x="426896" y="4231695"/>
              <a:ext cx="8135936" cy="16435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lnSpc>
                  <a:spcPct val="120000"/>
                </a:lnSpc>
                <a:defRPr/>
              </a:pPr>
              <a:r>
                <a:rPr lang="zh-CN" altLang="en-US" b="1" dirty="0">
                  <a:solidFill>
                    <a:schemeClr val="bg2"/>
                  </a:solidFill>
                </a:rPr>
                <a:t>实例：</a:t>
              </a:r>
              <a:r>
                <a:rPr lang="en-US" altLang="zh-CN" b="1" i="1" dirty="0">
                  <a:solidFill>
                    <a:schemeClr val="bg2"/>
                  </a:solidFill>
                </a:rPr>
                <a:t>R</a:t>
              </a:r>
              <a:r>
                <a:rPr lang="en-US" altLang="zh-CN" b="1" dirty="0">
                  <a:solidFill>
                    <a:schemeClr val="bg2"/>
                  </a:solidFill>
                </a:rPr>
                <a:t>={&lt;1,2&gt;, &lt;</a:t>
              </a:r>
              <a:r>
                <a:rPr lang="en-US" altLang="zh-CN" b="1" i="1" dirty="0" err="1">
                  <a:solidFill>
                    <a:schemeClr val="bg2"/>
                  </a:solidFill>
                </a:rPr>
                <a:t>a</a:t>
              </a:r>
              <a:r>
                <a:rPr lang="en-US" altLang="zh-CN" b="1" dirty="0" err="1">
                  <a:solidFill>
                    <a:schemeClr val="bg2"/>
                  </a:solidFill>
                </a:rPr>
                <a:t>,</a:t>
              </a:r>
              <a:r>
                <a:rPr lang="en-US" altLang="zh-CN" b="1" i="1" dirty="0" err="1">
                  <a:solidFill>
                    <a:schemeClr val="bg2"/>
                  </a:solidFill>
                </a:rPr>
                <a:t>b</a:t>
              </a:r>
              <a:r>
                <a:rPr lang="en-US" altLang="zh-CN" b="1" dirty="0">
                  <a:solidFill>
                    <a:schemeClr val="bg2"/>
                  </a:solidFill>
                </a:rPr>
                <a:t>&gt;},   </a:t>
              </a:r>
              <a:r>
                <a:rPr lang="en-US" altLang="zh-CN" b="1" i="1" dirty="0">
                  <a:solidFill>
                    <a:schemeClr val="bg2"/>
                  </a:solidFill>
                </a:rPr>
                <a:t>S</a:t>
              </a:r>
              <a:r>
                <a:rPr lang="en-US" altLang="zh-CN" b="1" dirty="0">
                  <a:solidFill>
                    <a:schemeClr val="bg2"/>
                  </a:solidFill>
                </a:rPr>
                <a:t>={&lt;1,2&gt;, </a:t>
              </a:r>
              <a:r>
                <a:rPr lang="en-US" altLang="zh-CN" b="1" i="1" dirty="0">
                  <a:solidFill>
                    <a:schemeClr val="bg2"/>
                  </a:solidFill>
                </a:rPr>
                <a:t>a</a:t>
              </a:r>
              <a:r>
                <a:rPr lang="en-US" altLang="zh-CN" b="1" dirty="0">
                  <a:solidFill>
                    <a:schemeClr val="bg2"/>
                  </a:solidFill>
                </a:rPr>
                <a:t>, </a:t>
              </a:r>
              <a:r>
                <a:rPr lang="en-US" altLang="zh-CN" b="1" i="1" dirty="0">
                  <a:solidFill>
                    <a:schemeClr val="bg2"/>
                  </a:solidFill>
                </a:rPr>
                <a:t>b</a:t>
              </a:r>
              <a:r>
                <a:rPr lang="en-US" altLang="zh-CN" b="1" dirty="0">
                  <a:solidFill>
                    <a:schemeClr val="bg2"/>
                  </a:solidFill>
                </a:rPr>
                <a:t>}</a:t>
              </a:r>
              <a:r>
                <a:rPr lang="zh-CN" altLang="en-US" b="1" dirty="0">
                  <a:solidFill>
                    <a:schemeClr val="bg2"/>
                  </a:solidFill>
                </a:rPr>
                <a:t>。</a:t>
              </a:r>
              <a:endParaRPr lang="en-US" altLang="zh-CN" b="1" i="1" dirty="0">
                <a:solidFill>
                  <a:schemeClr val="bg2"/>
                </a:solidFill>
              </a:endParaRPr>
            </a:p>
            <a:p>
              <a:pPr eaLnBrk="1" hangingPunct="1">
                <a:lnSpc>
                  <a:spcPct val="120000"/>
                </a:lnSpc>
                <a:defRPr/>
              </a:pPr>
              <a:r>
                <a:rPr lang="en-US" altLang="zh-CN" b="1" i="1" dirty="0">
                  <a:solidFill>
                    <a:schemeClr val="bg2"/>
                  </a:solidFill>
                </a:rPr>
                <a:t>R</a:t>
              </a:r>
              <a:r>
                <a:rPr lang="zh-CN" altLang="en-US" b="1" dirty="0">
                  <a:solidFill>
                    <a:schemeClr val="bg2"/>
                  </a:solidFill>
                </a:rPr>
                <a:t>是二元关系</a:t>
              </a:r>
              <a:r>
                <a:rPr lang="en-US" altLang="zh-CN" b="1" dirty="0">
                  <a:solidFill>
                    <a:schemeClr val="bg2"/>
                  </a:solidFill>
                </a:rPr>
                <a:t> </a:t>
              </a:r>
              <a:r>
                <a:rPr lang="zh-CN" altLang="en-US" b="1" dirty="0">
                  <a:solidFill>
                    <a:schemeClr val="bg2"/>
                  </a:solidFill>
                </a:rPr>
                <a:t>。当</a:t>
              </a:r>
              <a:r>
                <a:rPr lang="en-US" altLang="zh-CN" b="1" i="1" dirty="0">
                  <a:solidFill>
                    <a:schemeClr val="bg2"/>
                  </a:solidFill>
                </a:rPr>
                <a:t>a</a:t>
              </a:r>
              <a:r>
                <a:rPr lang="en-US" altLang="zh-CN" b="1" dirty="0">
                  <a:solidFill>
                    <a:schemeClr val="bg2"/>
                  </a:solidFill>
                </a:rPr>
                <a:t>, </a:t>
              </a:r>
              <a:r>
                <a:rPr lang="en-US" altLang="zh-CN" b="1" i="1" dirty="0">
                  <a:solidFill>
                    <a:schemeClr val="bg2"/>
                  </a:solidFill>
                </a:rPr>
                <a:t>b</a:t>
              </a:r>
              <a:r>
                <a:rPr lang="zh-CN" altLang="en-US" b="1" dirty="0">
                  <a:solidFill>
                    <a:srgbClr val="FF0000"/>
                  </a:solidFill>
                </a:rPr>
                <a:t>不是</a:t>
              </a:r>
              <a:r>
                <a:rPr lang="zh-CN" altLang="en-US" b="1" dirty="0">
                  <a:solidFill>
                    <a:schemeClr val="bg2"/>
                  </a:solidFill>
                </a:rPr>
                <a:t>有序对时，</a:t>
              </a:r>
              <a:r>
                <a:rPr lang="en-US" altLang="zh-CN" b="1" i="1" dirty="0">
                  <a:solidFill>
                    <a:schemeClr val="bg2"/>
                  </a:solidFill>
                </a:rPr>
                <a:t>S</a:t>
              </a:r>
              <a:r>
                <a:rPr lang="zh-CN" altLang="en-US" b="1" dirty="0">
                  <a:solidFill>
                    <a:schemeClr val="bg2"/>
                  </a:solidFill>
                </a:rPr>
                <a:t>不是二元关系根据上面的记法，可以写 </a:t>
              </a:r>
              <a:r>
                <a:rPr lang="en-US" altLang="zh-CN" b="1" dirty="0">
                  <a:solidFill>
                    <a:schemeClr val="bg2"/>
                  </a:solidFill>
                </a:rPr>
                <a:t>1</a:t>
              </a:r>
              <a:r>
                <a:rPr lang="en-US" altLang="zh-CN" b="1" i="1" dirty="0">
                  <a:solidFill>
                    <a:schemeClr val="bg2"/>
                  </a:solidFill>
                </a:rPr>
                <a:t>R</a:t>
              </a:r>
              <a:r>
                <a:rPr lang="en-US" altLang="zh-CN" b="1" dirty="0">
                  <a:solidFill>
                    <a:schemeClr val="bg2"/>
                  </a:solidFill>
                </a:rPr>
                <a:t>2, </a:t>
              </a:r>
              <a:r>
                <a:rPr lang="en-US" altLang="zh-CN" b="1" i="1" dirty="0" err="1">
                  <a:solidFill>
                    <a:schemeClr val="bg2"/>
                  </a:solidFill>
                </a:rPr>
                <a:t>aRb</a:t>
              </a:r>
              <a:r>
                <a:rPr lang="en-US" altLang="zh-CN" b="1" dirty="0">
                  <a:solidFill>
                    <a:schemeClr val="bg2"/>
                  </a:solidFill>
                </a:rPr>
                <a:t>, </a:t>
              </a:r>
              <a:r>
                <a:rPr lang="en-US" altLang="zh-CN" b="1" i="1" dirty="0">
                  <a:solidFill>
                    <a:schemeClr val="bg2"/>
                  </a:solidFill>
                </a:rPr>
                <a:t>a    c </a:t>
              </a:r>
              <a:r>
                <a:rPr lang="zh-CN" altLang="en-US" b="1" dirty="0">
                  <a:solidFill>
                    <a:schemeClr val="bg2"/>
                  </a:solidFill>
                </a:rPr>
                <a:t>等。</a:t>
              </a:r>
              <a:endParaRPr lang="en-US" altLang="zh-CN" b="1" dirty="0">
                <a:solidFill>
                  <a:schemeClr val="bg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7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D1442F0-018D-42B7-89C8-6EEBC5254654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title" sz="quarter"/>
          </p:nvPr>
        </p:nvSpPr>
        <p:spPr>
          <a:xfrm>
            <a:off x="315052" y="113506"/>
            <a:ext cx="8002588" cy="1100138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从</a:t>
            </a:r>
            <a:r>
              <a:rPr lang="en-US" altLang="zh-CN" b="1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到</a:t>
            </a:r>
            <a:r>
              <a:rPr lang="en-US" altLang="zh-CN" b="1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的关系与</a:t>
            </a:r>
            <a:r>
              <a:rPr lang="en-US" altLang="zh-CN" b="1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上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的关系</a:t>
            </a:r>
          </a:p>
        </p:txBody>
      </p:sp>
      <p:sp>
        <p:nvSpPr>
          <p:cNvPr id="200706" name="Text Box 2"/>
          <p:cNvSpPr txBox="1">
            <a:spLocks noChangeArrowheads="1"/>
          </p:cNvSpPr>
          <p:nvPr/>
        </p:nvSpPr>
        <p:spPr bwMode="auto">
          <a:xfrm>
            <a:off x="333374" y="1426600"/>
            <a:ext cx="8353425" cy="1514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defRPr/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定义</a:t>
            </a:r>
            <a:r>
              <a:rPr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 b="1" dirty="0"/>
              <a:t>设</a:t>
            </a:r>
            <a:r>
              <a:rPr lang="en-US" altLang="zh-CN" b="1" dirty="0"/>
              <a:t>A</a:t>
            </a:r>
            <a:r>
              <a:rPr lang="zh-CN" altLang="en-US" b="1" dirty="0"/>
              <a:t>，</a:t>
            </a:r>
            <a:r>
              <a:rPr lang="en-US" altLang="zh-CN" b="1" dirty="0"/>
              <a:t>B</a:t>
            </a:r>
            <a:r>
              <a:rPr lang="zh-CN" altLang="en-US" b="1" dirty="0"/>
              <a:t>为集合</a:t>
            </a:r>
            <a:r>
              <a:rPr lang="en-US" altLang="zh-CN" b="1" dirty="0"/>
              <a:t>,  A×B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任何子集</a:t>
            </a:r>
            <a:r>
              <a:rPr lang="zh-CN" altLang="en-US" b="1" dirty="0"/>
              <a:t>所定义的二元关系叫做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从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到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的二元关系</a:t>
            </a:r>
            <a:r>
              <a:rPr lang="en-US" altLang="zh-CN" b="1" dirty="0"/>
              <a:t>, </a:t>
            </a:r>
            <a:r>
              <a:rPr lang="zh-CN" altLang="en-US" b="1" dirty="0"/>
              <a:t>当</a:t>
            </a:r>
            <a:r>
              <a:rPr lang="en-US" altLang="zh-CN" b="1" dirty="0"/>
              <a:t>A=B</a:t>
            </a:r>
            <a:r>
              <a:rPr lang="zh-CN" altLang="en-US" b="1" dirty="0"/>
              <a:t>时则叫做 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上</a:t>
            </a:r>
          </a:p>
          <a:p>
            <a:pPr eaLnBrk="1" hangingPunct="1">
              <a:lnSpc>
                <a:spcPct val="105000"/>
              </a:lnSpc>
              <a:defRPr/>
            </a:pP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的二元关系</a:t>
            </a:r>
            <a:r>
              <a:rPr lang="zh-CN" altLang="en-US" b="1" dirty="0"/>
              <a:t>。</a:t>
            </a:r>
            <a:endParaRPr lang="en-US" altLang="zh-CN" b="1" dirty="0"/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362427" y="3001843"/>
            <a:ext cx="8353425" cy="1449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defRPr/>
            </a:pPr>
            <a:r>
              <a:rPr lang="zh-CN" altLang="en-US" b="1" dirty="0">
                <a:solidFill>
                  <a:schemeClr val="bg2"/>
                </a:solidFill>
              </a:rPr>
              <a:t>例</a:t>
            </a:r>
            <a:r>
              <a:rPr lang="en-US" altLang="zh-CN" b="1" dirty="0">
                <a:solidFill>
                  <a:schemeClr val="bg2"/>
                </a:solidFill>
              </a:rPr>
              <a:t>4  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en-US" altLang="zh-CN" b="1" dirty="0">
                <a:solidFill>
                  <a:schemeClr val="bg2"/>
                </a:solidFill>
              </a:rPr>
              <a:t>={0,1}, </a:t>
            </a:r>
            <a:r>
              <a:rPr lang="en-US" altLang="zh-CN" b="1" i="1" dirty="0">
                <a:solidFill>
                  <a:schemeClr val="bg2"/>
                </a:solidFill>
              </a:rPr>
              <a:t>B</a:t>
            </a:r>
            <a:r>
              <a:rPr lang="en-US" altLang="zh-CN" b="1" dirty="0">
                <a:solidFill>
                  <a:schemeClr val="bg2"/>
                </a:solidFill>
              </a:rPr>
              <a:t>={1,2,3},  </a:t>
            </a:r>
            <a:r>
              <a:rPr lang="en-US" altLang="zh-CN" b="1" i="1" dirty="0">
                <a:solidFill>
                  <a:schemeClr val="bg2"/>
                </a:solidFill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</a:rPr>
              <a:t>1</a:t>
            </a:r>
            <a:r>
              <a:rPr lang="en-US" altLang="zh-CN" b="1" dirty="0">
                <a:solidFill>
                  <a:schemeClr val="bg2"/>
                </a:solidFill>
              </a:rPr>
              <a:t>={&lt;0,2&gt;},  </a:t>
            </a:r>
            <a:r>
              <a:rPr lang="en-US" altLang="zh-CN" b="1" i="1" dirty="0">
                <a:solidFill>
                  <a:schemeClr val="bg2"/>
                </a:solidFill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</a:rPr>
              <a:t>2</a:t>
            </a:r>
            <a:r>
              <a:rPr lang="en-US" altLang="zh-CN" b="1" dirty="0">
                <a:solidFill>
                  <a:schemeClr val="bg2"/>
                </a:solidFill>
              </a:rPr>
              <a:t>=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en-US" altLang="zh-CN" b="1" dirty="0">
                <a:solidFill>
                  <a:schemeClr val="bg2"/>
                </a:solidFill>
              </a:rPr>
              <a:t>×</a:t>
            </a:r>
            <a:r>
              <a:rPr lang="en-US" altLang="zh-CN" b="1" i="1" dirty="0">
                <a:solidFill>
                  <a:schemeClr val="bg2"/>
                </a:solidFill>
              </a:rPr>
              <a:t>B</a:t>
            </a:r>
            <a:r>
              <a:rPr lang="en-US" altLang="zh-CN" b="1" dirty="0">
                <a:solidFill>
                  <a:schemeClr val="bg2"/>
                </a:solidFill>
              </a:rPr>
              <a:t>,  </a:t>
            </a:r>
            <a:r>
              <a:rPr lang="en-US" altLang="zh-CN" b="1" i="1" dirty="0">
                <a:solidFill>
                  <a:schemeClr val="bg2"/>
                </a:solidFill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</a:rPr>
              <a:t>3</a:t>
            </a:r>
            <a:r>
              <a:rPr lang="en-US" altLang="zh-CN" b="1" dirty="0">
                <a:solidFill>
                  <a:schemeClr val="bg2"/>
                </a:solidFill>
              </a:rPr>
              <a:t>=</a:t>
            </a:r>
            <a:r>
              <a:rPr lang="en-US" altLang="zh-CN" b="1" dirty="0">
                <a:solidFill>
                  <a:schemeClr val="bg2"/>
                </a:solidFill>
                <a:sym typeface="Symbol" pitchFamily="18" charset="2"/>
              </a:rPr>
              <a:t></a:t>
            </a:r>
            <a:r>
              <a:rPr lang="en-US" altLang="zh-CN" b="1" dirty="0">
                <a:solidFill>
                  <a:schemeClr val="bg2"/>
                </a:solidFill>
              </a:rPr>
              <a:t>,  </a:t>
            </a:r>
            <a:r>
              <a:rPr lang="en-US" altLang="zh-CN" b="1" i="1" dirty="0">
                <a:solidFill>
                  <a:schemeClr val="bg2"/>
                </a:solidFill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</a:rPr>
              <a:t>4</a:t>
            </a:r>
            <a:r>
              <a:rPr lang="en-US" altLang="zh-CN" b="1" dirty="0">
                <a:solidFill>
                  <a:schemeClr val="bg2"/>
                </a:solidFill>
              </a:rPr>
              <a:t>={&lt;0,1&gt;}</a:t>
            </a:r>
            <a:r>
              <a:rPr lang="zh-CN" altLang="en-US" b="1" dirty="0">
                <a:solidFill>
                  <a:schemeClr val="bg2"/>
                </a:solidFill>
              </a:rPr>
              <a:t>。那么 </a:t>
            </a:r>
            <a:r>
              <a:rPr lang="en-US" altLang="zh-CN" b="1" i="1" dirty="0">
                <a:solidFill>
                  <a:schemeClr val="bg2"/>
                </a:solidFill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</a:rPr>
              <a:t>1</a:t>
            </a:r>
            <a:r>
              <a:rPr lang="en-US" altLang="zh-CN" b="1" dirty="0">
                <a:solidFill>
                  <a:schemeClr val="bg2"/>
                </a:solidFill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</a:rPr>
              <a:t>2</a:t>
            </a:r>
            <a:r>
              <a:rPr lang="en-US" altLang="zh-CN" b="1" dirty="0">
                <a:solidFill>
                  <a:schemeClr val="bg2"/>
                </a:solidFill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</a:rPr>
              <a:t>3</a:t>
            </a:r>
            <a:r>
              <a:rPr lang="en-US" altLang="zh-CN" b="1" dirty="0">
                <a:solidFill>
                  <a:schemeClr val="bg2"/>
                </a:solidFill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</a:rPr>
              <a:t>4</a:t>
            </a:r>
            <a:r>
              <a:rPr lang="zh-CN" altLang="en-US" b="1" dirty="0">
                <a:solidFill>
                  <a:schemeClr val="bg2"/>
                </a:solidFill>
              </a:rPr>
              <a:t>是从 </a:t>
            </a:r>
            <a:r>
              <a:rPr lang="en-US" altLang="zh-CN" b="1" i="1" dirty="0">
                <a:solidFill>
                  <a:schemeClr val="bg2"/>
                </a:solidFill>
              </a:rPr>
              <a:t>A </a:t>
            </a:r>
            <a:r>
              <a:rPr lang="zh-CN" altLang="en-US" b="1" dirty="0">
                <a:solidFill>
                  <a:schemeClr val="bg2"/>
                </a:solidFill>
              </a:rPr>
              <a:t>到 </a:t>
            </a:r>
            <a:r>
              <a:rPr lang="en-US" altLang="zh-CN" b="1" i="1" dirty="0">
                <a:solidFill>
                  <a:schemeClr val="bg2"/>
                </a:solidFill>
              </a:rPr>
              <a:t>B </a:t>
            </a:r>
          </a:p>
          <a:p>
            <a:pPr eaLnBrk="1" hangingPunct="1">
              <a:lnSpc>
                <a:spcPct val="105000"/>
              </a:lnSpc>
              <a:defRPr/>
            </a:pPr>
            <a:r>
              <a:rPr lang="zh-CN" altLang="en-US" b="1" dirty="0">
                <a:solidFill>
                  <a:schemeClr val="bg2"/>
                </a:solidFill>
              </a:rPr>
              <a:t>的二元关系，</a:t>
            </a:r>
            <a:r>
              <a:rPr lang="en-US" altLang="zh-CN" b="1" dirty="0">
                <a:solidFill>
                  <a:schemeClr val="bg2"/>
                </a:solidFill>
              </a:rPr>
              <a:t> </a:t>
            </a:r>
            <a:r>
              <a:rPr lang="en-US" altLang="zh-CN" b="1" i="1" dirty="0">
                <a:solidFill>
                  <a:schemeClr val="bg2"/>
                </a:solidFill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</a:rPr>
              <a:t>3</a:t>
            </a:r>
            <a:r>
              <a:rPr lang="zh-CN" altLang="en-US" b="1" dirty="0">
                <a:solidFill>
                  <a:schemeClr val="bg2"/>
                </a:solidFill>
              </a:rPr>
              <a:t>和</a:t>
            </a:r>
            <a:r>
              <a:rPr lang="en-US" altLang="zh-CN" b="1" i="1" dirty="0">
                <a:solidFill>
                  <a:schemeClr val="bg2"/>
                </a:solidFill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</a:rPr>
              <a:t>4</a:t>
            </a:r>
            <a:r>
              <a:rPr lang="zh-CN" altLang="en-US" b="1" dirty="0">
                <a:solidFill>
                  <a:schemeClr val="bg2"/>
                </a:solidFill>
              </a:rPr>
              <a:t>同时也是 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zh-CN" altLang="en-US" b="1" dirty="0">
                <a:solidFill>
                  <a:schemeClr val="bg2"/>
                </a:solidFill>
              </a:rPr>
              <a:t>上的二元关系。</a:t>
            </a:r>
            <a:endParaRPr lang="en-US" altLang="zh-CN" b="1" dirty="0">
              <a:solidFill>
                <a:schemeClr val="bg2"/>
              </a:solidFill>
            </a:endParaRPr>
          </a:p>
        </p:txBody>
      </p:sp>
      <p:graphicFrame>
        <p:nvGraphicFramePr>
          <p:cNvPr id="200708" name="Object 4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169304311"/>
              </p:ext>
            </p:extLst>
          </p:nvPr>
        </p:nvGraphicFramePr>
        <p:xfrm>
          <a:off x="5796136" y="4902347"/>
          <a:ext cx="64770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91" name="公式" r:id="rId4" imgW="228501" imgH="203112" progId="Equation.3">
                  <p:embed/>
                </p:oleObj>
              </mc:Choice>
              <mc:Fallback>
                <p:oleObj name="公式" r:id="rId4" imgW="228501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4902347"/>
                        <a:ext cx="64770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09" name="Object 5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229527547"/>
              </p:ext>
            </p:extLst>
          </p:nvPr>
        </p:nvGraphicFramePr>
        <p:xfrm>
          <a:off x="827584" y="5367484"/>
          <a:ext cx="576262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92" name="公式" r:id="rId6" imgW="228501" imgH="203112" progId="Equation.3">
                  <p:embed/>
                </p:oleObj>
              </mc:Choice>
              <mc:Fallback>
                <p:oleObj name="公式" r:id="rId6" imgW="228501" imgH="203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5367484"/>
                        <a:ext cx="576262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362427" y="4474618"/>
            <a:ext cx="8353425" cy="190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计数：</a:t>
            </a:r>
          </a:p>
          <a:p>
            <a:pPr eaLnBrk="1" hangingPunct="1">
              <a:lnSpc>
                <a:spcPct val="105000"/>
              </a:lnSpc>
              <a:defRPr/>
            </a:pPr>
            <a:r>
              <a:rPr lang="en-US" altLang="zh-CN" b="1" dirty="0"/>
              <a:t>|</a:t>
            </a:r>
            <a:r>
              <a:rPr lang="en-US" altLang="zh-CN" b="1" i="1" dirty="0"/>
              <a:t>A</a:t>
            </a:r>
            <a:r>
              <a:rPr lang="en-US" altLang="zh-CN" b="1" dirty="0"/>
              <a:t>|=</a:t>
            </a:r>
            <a:r>
              <a:rPr lang="en-US" altLang="zh-CN" b="1" i="1" dirty="0"/>
              <a:t>n</a:t>
            </a:r>
            <a:r>
              <a:rPr lang="zh-CN" altLang="en-US" b="1" dirty="0"/>
              <a:t>，</a:t>
            </a:r>
            <a:r>
              <a:rPr lang="en-US" altLang="zh-CN" b="1" dirty="0"/>
              <a:t> |</a:t>
            </a:r>
            <a:r>
              <a:rPr lang="en-US" altLang="zh-CN" b="1" i="1" dirty="0"/>
              <a:t>A</a:t>
            </a:r>
            <a:r>
              <a:rPr lang="en-US" altLang="zh-CN" b="1" dirty="0"/>
              <a:t>×</a:t>
            </a:r>
            <a:r>
              <a:rPr lang="en-US" altLang="zh-CN" b="1" i="1" dirty="0"/>
              <a:t>A</a:t>
            </a:r>
            <a:r>
              <a:rPr lang="en-US" altLang="zh-CN" b="1" dirty="0"/>
              <a:t>|=</a:t>
            </a:r>
            <a:r>
              <a:rPr lang="en-US" altLang="zh-CN" b="1" i="1" dirty="0"/>
              <a:t>n</a:t>
            </a:r>
            <a:r>
              <a:rPr lang="en-US" altLang="zh-CN" b="1" baseline="30000" dirty="0"/>
              <a:t>2</a:t>
            </a:r>
            <a:r>
              <a:rPr lang="zh-CN" altLang="en-US" b="1" dirty="0"/>
              <a:t>，</a:t>
            </a:r>
            <a:r>
              <a:rPr lang="en-US" altLang="zh-CN" b="1" dirty="0"/>
              <a:t> </a:t>
            </a:r>
            <a:r>
              <a:rPr lang="en-US" altLang="zh-CN" b="1" i="1" dirty="0"/>
              <a:t>A</a:t>
            </a:r>
            <a:r>
              <a:rPr lang="en-US" altLang="zh-CN" b="1" dirty="0"/>
              <a:t>×</a:t>
            </a:r>
            <a:r>
              <a:rPr lang="en-US" altLang="zh-CN" b="1" i="1" dirty="0"/>
              <a:t>A</a:t>
            </a:r>
            <a:r>
              <a:rPr lang="zh-CN" altLang="en-US" b="1" dirty="0"/>
              <a:t>的子集有     个。所以 </a:t>
            </a:r>
            <a:r>
              <a:rPr lang="en-US" altLang="zh-CN" b="1" i="1" dirty="0"/>
              <a:t>A</a:t>
            </a:r>
            <a:r>
              <a:rPr lang="zh-CN" altLang="en-US" b="1" dirty="0"/>
              <a:t>上有     个不同的二元关系。</a:t>
            </a:r>
            <a:endParaRPr lang="en-US" altLang="zh-CN" b="1" dirty="0"/>
          </a:p>
          <a:p>
            <a:pPr eaLnBrk="1" hangingPunct="1">
              <a:lnSpc>
                <a:spcPct val="105000"/>
              </a:lnSpc>
              <a:defRPr/>
            </a:pPr>
            <a:r>
              <a:rPr lang="zh-CN" altLang="en-US" b="1" dirty="0">
                <a:solidFill>
                  <a:schemeClr val="bg2"/>
                </a:solidFill>
              </a:rPr>
              <a:t>例： </a:t>
            </a:r>
            <a:r>
              <a:rPr lang="en-US" altLang="zh-CN" b="1" dirty="0">
                <a:solidFill>
                  <a:schemeClr val="bg2"/>
                </a:solidFill>
              </a:rPr>
              <a:t>|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en-US" altLang="zh-CN" b="1" dirty="0">
                <a:solidFill>
                  <a:schemeClr val="bg2"/>
                </a:solidFill>
              </a:rPr>
              <a:t>|=3</a:t>
            </a:r>
            <a:r>
              <a:rPr lang="zh-CN" altLang="en-US" b="1" dirty="0">
                <a:solidFill>
                  <a:schemeClr val="bg2"/>
                </a:solidFill>
              </a:rPr>
              <a:t>，则 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zh-CN" altLang="en-US" b="1" dirty="0">
                <a:solidFill>
                  <a:schemeClr val="bg2"/>
                </a:solidFill>
              </a:rPr>
              <a:t>上有</a:t>
            </a:r>
            <a:r>
              <a:rPr lang="en-US" altLang="zh-CN" b="1" dirty="0">
                <a:solidFill>
                  <a:schemeClr val="bg2"/>
                </a:solidFill>
              </a:rPr>
              <a:t>=512</a:t>
            </a:r>
            <a:r>
              <a:rPr lang="zh-CN" altLang="en-US" b="1" dirty="0">
                <a:solidFill>
                  <a:schemeClr val="bg2"/>
                </a:solidFill>
              </a:rPr>
              <a:t>个不同的二元关系。</a:t>
            </a:r>
            <a:endParaRPr lang="en-US" altLang="zh-CN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5D2A28-80B7-434F-B9D4-01D2DBF105DB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784" y="183283"/>
            <a:ext cx="8229600" cy="1081088"/>
          </a:xfrm>
        </p:spPr>
        <p:txBody>
          <a:bodyPr/>
          <a:lstStyle/>
          <a:p>
            <a:pPr>
              <a:defRPr/>
            </a:pPr>
            <a:r>
              <a:rPr lang="en-US" altLang="zh-CN" b="1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上重要关系的实例</a:t>
            </a:r>
          </a:p>
        </p:txBody>
      </p:sp>
      <p:sp>
        <p:nvSpPr>
          <p:cNvPr id="201731" name="Text Box 3"/>
          <p:cNvSpPr txBox="1">
            <a:spLocks noChangeArrowheads="1"/>
          </p:cNvSpPr>
          <p:nvPr/>
        </p:nvSpPr>
        <p:spPr bwMode="auto">
          <a:xfrm>
            <a:off x="395784" y="1327977"/>
            <a:ext cx="8137525" cy="319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为任意集合，</a:t>
            </a:r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Clr>
                <a:srgbClr val="0033CC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空关系</a:t>
            </a:r>
            <a:r>
              <a:rPr lang="zh-CN" altLang="en-US" sz="2800" b="1" dirty="0"/>
              <a:t>：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上的关系，称为</a:t>
            </a:r>
            <a:r>
              <a:rPr lang="zh-CN" altLang="en-US" sz="2800" b="1" dirty="0">
                <a:solidFill>
                  <a:schemeClr val="accent4"/>
                </a:solidFill>
                <a:latin typeface="Times New Roman" panose="02020603050405020304" pitchFamily="18" charset="0"/>
              </a:rPr>
              <a:t>空关系。</a:t>
            </a:r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全域关系</a:t>
            </a:r>
            <a:r>
              <a:rPr lang="zh-CN" altLang="en-US" sz="2800" b="1" dirty="0"/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称为全域关系，定义如下：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SzPct val="70000"/>
              <a:buNone/>
            </a:pP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              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={&lt;</a:t>
            </a:r>
            <a:r>
              <a:rPr lang="en-US" altLang="zh-CN" sz="2800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&gt;|</a:t>
            </a:r>
            <a:r>
              <a:rPr lang="en-US" altLang="zh-CN" sz="2800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x∈A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∧ </a:t>
            </a:r>
            <a:r>
              <a:rPr lang="en-US" altLang="zh-CN" sz="2800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y∈A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}=A×A 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rgbClr val="3366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恒等关系</a:t>
            </a:r>
            <a:r>
              <a:rPr lang="zh-CN" altLang="en-US" sz="2800" b="1" dirty="0"/>
              <a:t>：</a:t>
            </a:r>
            <a:r>
              <a:rPr lang="zh-CN" altLang="en-US" sz="2800" b="1" dirty="0">
                <a:solidFill>
                  <a:srgbClr val="FF3300"/>
                </a:solidFill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/>
              <a:t> </a:t>
            </a:r>
            <a:r>
              <a:rPr lang="zh-CN" altLang="en-US" sz="2800" b="1" dirty="0"/>
              <a:t>称为恒等关系，定义如下：</a:t>
            </a: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800" dirty="0"/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             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={&lt;</a:t>
            </a:r>
            <a:r>
              <a:rPr lang="en-US" altLang="zh-CN" sz="2800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x,x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&gt;|</a:t>
            </a:r>
            <a:r>
              <a:rPr lang="en-US" altLang="zh-CN" sz="2800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x∈A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}</a:t>
            </a:r>
            <a:endParaRPr lang="zh-CN" altLang="en-US" sz="2800" b="1" dirty="0">
              <a:solidFill>
                <a:srgbClr val="3366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94221" y="4684666"/>
            <a:ext cx="8137525" cy="1643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例如：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={1,2}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，则</a:t>
            </a:r>
            <a:b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 &lt;1,1&gt;, &lt;1,2&gt;, &lt;2,1&gt;, &lt;2,2&gt; }</a:t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 &lt;1,1&gt;, &lt;2,2&gt;}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7D2D347-4233-45CA-8543-4E43EB4957C4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7350" y="22226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en-US" altLang="zh-CN" b="1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上重要关系的实例（续）</a:t>
            </a:r>
          </a:p>
        </p:txBody>
      </p:sp>
      <p:sp>
        <p:nvSpPr>
          <p:cNvPr id="202755" name="Text Box 3"/>
          <p:cNvSpPr txBox="1">
            <a:spLocks noChangeArrowheads="1"/>
          </p:cNvSpPr>
          <p:nvPr/>
        </p:nvSpPr>
        <p:spPr bwMode="auto">
          <a:xfrm>
            <a:off x="387350" y="1416052"/>
            <a:ext cx="8363272" cy="289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小于等于关系 </a:t>
            </a:r>
            <a:r>
              <a:rPr lang="en-US" altLang="zh-CN" b="1" dirty="0"/>
              <a:t>L</a:t>
            </a:r>
            <a:r>
              <a:rPr lang="en-US" altLang="zh-CN" b="1" baseline="-25000" dirty="0"/>
              <a:t>A</a:t>
            </a:r>
            <a:r>
              <a:rPr lang="en-US" altLang="zh-CN" b="1" dirty="0"/>
              <a:t>,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整除关系</a:t>
            </a:r>
            <a:r>
              <a:rPr lang="en-US" altLang="zh-CN" b="1" dirty="0"/>
              <a:t>D</a:t>
            </a:r>
            <a:r>
              <a:rPr lang="en-US" altLang="zh-CN" b="1" baseline="-25000" dirty="0"/>
              <a:t>A</a:t>
            </a:r>
            <a:r>
              <a:rPr lang="en-US" altLang="zh-CN" b="1" dirty="0"/>
              <a:t>,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包含关系</a:t>
            </a:r>
            <a:r>
              <a:rPr lang="en-US" altLang="zh-CN" b="1" dirty="0"/>
              <a:t>R</a:t>
            </a:r>
            <a:r>
              <a:rPr lang="en-US" altLang="zh-CN" b="1" baseline="-25000" dirty="0">
                <a:sym typeface="Symbol" pitchFamily="18" charset="2"/>
              </a:rPr>
              <a:t>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定义如下：</a:t>
            </a:r>
          </a:p>
          <a:p>
            <a:pPr marL="457200" indent="-457200" eaLnBrk="1" hangingPunct="1">
              <a:lnSpc>
                <a:spcPct val="130000"/>
              </a:lnSpc>
              <a:buClr>
                <a:srgbClr val="0070C0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  <a:r>
              <a:rPr lang="en-US" altLang="zh-CN" b="1" i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={&lt;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zh-CN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&gt;| 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zh-CN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r>
              <a:rPr lang="en-US" altLang="zh-CN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∈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altLang="zh-CN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∧ 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zh-CN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≤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r>
              <a:rPr lang="en-US" altLang="zh-CN" b="1" dirty="0"/>
              <a:t>,  </a:t>
            </a:r>
            <a:r>
              <a:rPr lang="en-US" altLang="zh-CN" b="1" i="1" dirty="0">
                <a:solidFill>
                  <a:srgbClr val="009900"/>
                </a:solidFill>
              </a:rPr>
              <a:t>A</a:t>
            </a:r>
            <a:r>
              <a:rPr lang="en-US" altLang="zh-CN" b="1" dirty="0">
                <a:solidFill>
                  <a:srgbClr val="009900"/>
                </a:solidFill>
                <a:sym typeface="Symbol" pitchFamily="18" charset="2"/>
              </a:rPr>
              <a:t></a:t>
            </a:r>
            <a:r>
              <a:rPr lang="en-US" altLang="zh-CN" b="1" i="1" dirty="0">
                <a:solidFill>
                  <a:srgbClr val="009900"/>
                </a:solidFill>
              </a:rPr>
              <a:t>R</a:t>
            </a:r>
            <a:r>
              <a:rPr lang="zh-CN" altLang="en-US" b="1" dirty="0">
                <a:solidFill>
                  <a:srgbClr val="009900"/>
                </a:solidFill>
              </a:rPr>
              <a:t>，</a:t>
            </a:r>
            <a:r>
              <a:rPr lang="en-US" altLang="zh-CN" b="1" i="1" dirty="0">
                <a:solidFill>
                  <a:srgbClr val="009900"/>
                </a:solidFill>
              </a:rPr>
              <a:t>R</a:t>
            </a:r>
            <a:r>
              <a:rPr lang="zh-CN" altLang="en-US" b="1" dirty="0">
                <a:solidFill>
                  <a:srgbClr val="009900"/>
                </a:solidFill>
              </a:rPr>
              <a:t>为实数集合 </a:t>
            </a:r>
          </a:p>
          <a:p>
            <a:pPr marL="457200" indent="-457200" eaLnBrk="1" hangingPunct="1">
              <a:lnSpc>
                <a:spcPct val="130000"/>
              </a:lnSpc>
              <a:buClr>
                <a:srgbClr val="0070C0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US" altLang="zh-CN" b="1" i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={&lt;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zh-CN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&gt;| 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zh-CN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r>
              <a:rPr lang="en-US" altLang="zh-CN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∈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altLang="zh-CN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∧ </a:t>
            </a:r>
            <a:r>
              <a:rPr lang="en-US" altLang="zh-CN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整除</a:t>
            </a:r>
            <a:r>
              <a:rPr lang="en-US" altLang="zh-CN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r>
              <a:rPr lang="en-US" altLang="zh-CN" b="1" dirty="0"/>
              <a:t>,</a:t>
            </a:r>
            <a:r>
              <a:rPr lang="zh-CN" altLang="en-US" b="1" dirty="0"/>
              <a:t>（</a:t>
            </a:r>
            <a:r>
              <a:rPr lang="en-US" altLang="zh-C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被</a:t>
            </a:r>
            <a:r>
              <a:rPr lang="en-US" altLang="zh-C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整除</a:t>
            </a:r>
            <a:r>
              <a:rPr lang="zh-CN" altLang="en-US" b="1" dirty="0"/>
              <a:t>）  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b="1" i="1" dirty="0"/>
              <a:t>            </a:t>
            </a:r>
            <a:r>
              <a:rPr lang="en-US" altLang="zh-CN" b="1" i="1" dirty="0">
                <a:solidFill>
                  <a:srgbClr val="009900"/>
                </a:solidFill>
              </a:rPr>
              <a:t>A</a:t>
            </a:r>
            <a:r>
              <a:rPr lang="en-US" altLang="zh-CN" b="1" dirty="0">
                <a:solidFill>
                  <a:srgbClr val="009900"/>
                </a:solidFill>
                <a:sym typeface="Symbol" pitchFamily="18" charset="2"/>
              </a:rPr>
              <a:t></a:t>
            </a:r>
            <a:r>
              <a:rPr lang="en-US" altLang="zh-CN" b="1" i="1" dirty="0">
                <a:solidFill>
                  <a:srgbClr val="009900"/>
                </a:solidFill>
              </a:rPr>
              <a:t>Z</a:t>
            </a:r>
            <a:r>
              <a:rPr lang="en-US" altLang="zh-CN" b="1" dirty="0">
                <a:solidFill>
                  <a:srgbClr val="009900"/>
                </a:solidFill>
              </a:rPr>
              <a:t>*, </a:t>
            </a:r>
            <a:r>
              <a:rPr lang="en-US" altLang="zh-CN" b="1" i="1" dirty="0">
                <a:solidFill>
                  <a:srgbClr val="009900"/>
                </a:solidFill>
              </a:rPr>
              <a:t>Z</a:t>
            </a:r>
            <a:r>
              <a:rPr lang="en-US" altLang="zh-CN" b="1" dirty="0">
                <a:solidFill>
                  <a:srgbClr val="009900"/>
                </a:solidFill>
              </a:rPr>
              <a:t>*</a:t>
            </a:r>
            <a:r>
              <a:rPr lang="zh-CN" altLang="en-US" b="1" dirty="0">
                <a:solidFill>
                  <a:srgbClr val="009900"/>
                </a:solidFill>
              </a:rPr>
              <a:t>为非</a:t>
            </a:r>
            <a:r>
              <a:rPr lang="en-US" altLang="zh-CN" b="1" dirty="0">
                <a:solidFill>
                  <a:srgbClr val="009900"/>
                </a:solidFill>
              </a:rPr>
              <a:t>0</a:t>
            </a:r>
            <a:r>
              <a:rPr lang="zh-CN" altLang="en-US" b="1" dirty="0">
                <a:solidFill>
                  <a:srgbClr val="009900"/>
                </a:solidFill>
              </a:rPr>
              <a:t>整数集    </a:t>
            </a:r>
          </a:p>
          <a:p>
            <a:pPr marL="457200" indent="-457200" eaLnBrk="1" hangingPunct="1">
              <a:lnSpc>
                <a:spcPct val="130000"/>
              </a:lnSpc>
              <a:buClr>
                <a:srgbClr val="0070C0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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={&lt;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zh-CN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&gt;| 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zh-CN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r>
              <a:rPr lang="en-US" altLang="zh-CN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∈P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zh-CN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A) 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∧ 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zh-CN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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r>
              <a:rPr lang="en-US" altLang="zh-CN" b="1" dirty="0"/>
              <a:t>,  </a:t>
            </a:r>
            <a:r>
              <a:rPr lang="en-US" altLang="zh-CN" b="1" i="1" dirty="0">
                <a:solidFill>
                  <a:srgbClr val="009900"/>
                </a:solidFill>
              </a:rPr>
              <a:t>A</a:t>
            </a:r>
            <a:r>
              <a:rPr lang="zh-CN" altLang="en-US" b="1" dirty="0">
                <a:solidFill>
                  <a:srgbClr val="009900"/>
                </a:solidFill>
              </a:rPr>
              <a:t>是集合族</a:t>
            </a:r>
            <a:endParaRPr lang="en-US" altLang="zh-CN" b="1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87350" y="4581128"/>
            <a:ext cx="7993062" cy="1152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b="1" dirty="0"/>
              <a:t>类似的还可以定义</a:t>
            </a:r>
            <a:r>
              <a:rPr lang="zh-CN" alt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大于等于关系</a:t>
            </a:r>
            <a:r>
              <a:rPr lang="en-US" altLang="zh-CN" b="1" dirty="0"/>
              <a:t>, </a:t>
            </a:r>
            <a:r>
              <a:rPr lang="zh-CN" alt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小于关系</a:t>
            </a:r>
            <a:r>
              <a:rPr lang="en-US" altLang="zh-CN" b="1" dirty="0"/>
              <a:t>, </a:t>
            </a:r>
            <a:r>
              <a:rPr lang="zh-CN" alt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大于关系</a:t>
            </a:r>
            <a:r>
              <a:rPr lang="en-US" altLang="zh-CN" b="1" dirty="0"/>
              <a:t>, </a:t>
            </a:r>
            <a:r>
              <a:rPr lang="zh-CN" alt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真包含关系</a:t>
            </a:r>
            <a:r>
              <a:rPr lang="zh-CN" altLang="en-US" b="1" dirty="0"/>
              <a:t>等等。</a:t>
            </a:r>
            <a:endParaRPr lang="en-US" altLang="zh-CN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3E3929B-D61A-4330-982D-6AC485D2015F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877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23528" y="1436180"/>
            <a:ext cx="8229600" cy="720080"/>
          </a:xfr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例如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{1, 2, 3}, 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},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则：</a:t>
            </a:r>
            <a:b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endParaRPr lang="en-US" altLang="zh-CN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748" name="Text Box 1028"/>
          <p:cNvSpPr txBox="1">
            <a:spLocks noChangeArrowheads="1"/>
          </p:cNvSpPr>
          <p:nvPr/>
        </p:nvSpPr>
        <p:spPr bwMode="auto">
          <a:xfrm>
            <a:off x="1060450" y="3541713"/>
            <a:ext cx="8083550" cy="1156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</a:b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294509" y="71803"/>
            <a:ext cx="8229600" cy="1019175"/>
          </a:xfrm>
        </p:spPr>
        <p:txBody>
          <a:bodyPr/>
          <a:lstStyle/>
          <a:p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例题</a:t>
            </a:r>
            <a:r>
              <a:rPr lang="zh-CN" altLang="en-US" b="1" dirty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0" name="Rectangle 1027"/>
          <p:cNvSpPr txBox="1">
            <a:spLocks noChangeArrowheads="1"/>
          </p:cNvSpPr>
          <p:nvPr/>
        </p:nvSpPr>
        <p:spPr bwMode="auto">
          <a:xfrm>
            <a:off x="403920" y="2217949"/>
            <a:ext cx="8229600" cy="1787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800" b="1" i="1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800" b="1" i="1" kern="0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800" b="1" i="1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i="1" kern="0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上的包含关系 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-25000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</a:p>
        </p:txBody>
      </p:sp>
      <p:sp>
        <p:nvSpPr>
          <p:cNvPr id="4" name="矩形 3"/>
          <p:cNvSpPr/>
          <p:nvPr/>
        </p:nvSpPr>
        <p:spPr>
          <a:xfrm>
            <a:off x="1475656" y="2265553"/>
            <a:ext cx="67894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kern="0" dirty="0">
                <a:solidFill>
                  <a:schemeClr val="bg2"/>
                </a:solidFill>
              </a:rPr>
              <a:t>{&lt;1,1&gt;,&lt;1,2&gt;,&lt;1,3&gt;,&lt;2,2&gt;,&lt;2,3&gt;,&lt;3,3&gt;}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463201" y="2895114"/>
            <a:ext cx="62831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kern="0" dirty="0">
                <a:solidFill>
                  <a:schemeClr val="bg2"/>
                </a:solidFill>
              </a:rPr>
              <a:t>{&lt;1,1&gt;,&lt;1,2&gt;,&lt;1,3&gt;,&lt;2,2&gt;,&lt;3,3&gt;}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463201" y="4086973"/>
            <a:ext cx="7680799" cy="121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</a:rPr>
              <a:t>{&lt;</a:t>
            </a:r>
            <a:r>
              <a:rPr lang="en-US" altLang="zh-CN" b="1" dirty="0">
                <a:solidFill>
                  <a:schemeClr val="bg2"/>
                </a:solidFill>
                <a:sym typeface="Symbol" panose="05050102010706020507" pitchFamily="18" charset="2"/>
              </a:rPr>
              <a:t></a:t>
            </a:r>
            <a:r>
              <a:rPr lang="en-US" altLang="zh-CN" b="1" dirty="0">
                <a:solidFill>
                  <a:schemeClr val="bg2"/>
                </a:solidFill>
              </a:rPr>
              <a:t>,</a:t>
            </a:r>
            <a:r>
              <a:rPr lang="en-US" altLang="zh-CN" b="1" dirty="0">
                <a:solidFill>
                  <a:schemeClr val="bg2"/>
                </a:solidFill>
                <a:sym typeface="Symbol" panose="05050102010706020507" pitchFamily="18" charset="2"/>
              </a:rPr>
              <a:t></a:t>
            </a:r>
            <a:r>
              <a:rPr lang="en-US" altLang="zh-CN" b="1" dirty="0">
                <a:solidFill>
                  <a:schemeClr val="bg2"/>
                </a:solidFill>
              </a:rPr>
              <a:t>&gt;,&lt;</a:t>
            </a:r>
            <a:r>
              <a:rPr lang="en-US" altLang="zh-CN" b="1" dirty="0">
                <a:solidFill>
                  <a:schemeClr val="bg2"/>
                </a:solidFill>
                <a:sym typeface="Symbol" panose="05050102010706020507" pitchFamily="18" charset="2"/>
              </a:rPr>
              <a:t></a:t>
            </a:r>
            <a:r>
              <a:rPr lang="en-US" altLang="zh-CN" b="1" dirty="0">
                <a:solidFill>
                  <a:schemeClr val="bg2"/>
                </a:solidFill>
              </a:rPr>
              <a:t>,{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en-US" altLang="zh-CN" b="1" dirty="0">
                <a:solidFill>
                  <a:schemeClr val="bg2"/>
                </a:solidFill>
              </a:rPr>
              <a:t>}&gt;,&lt;</a:t>
            </a:r>
            <a:r>
              <a:rPr lang="en-US" altLang="zh-CN" b="1" dirty="0">
                <a:solidFill>
                  <a:schemeClr val="bg2"/>
                </a:solidFill>
                <a:sym typeface="Symbol" panose="05050102010706020507" pitchFamily="18" charset="2"/>
              </a:rPr>
              <a:t></a:t>
            </a:r>
            <a:r>
              <a:rPr lang="en-US" altLang="zh-CN" b="1" dirty="0">
                <a:solidFill>
                  <a:schemeClr val="bg2"/>
                </a:solidFill>
              </a:rPr>
              <a:t>,{</a:t>
            </a:r>
            <a:r>
              <a:rPr lang="en-US" altLang="zh-CN" b="1" i="1" dirty="0">
                <a:solidFill>
                  <a:schemeClr val="bg2"/>
                </a:solidFill>
              </a:rPr>
              <a:t>b</a:t>
            </a:r>
            <a:r>
              <a:rPr lang="en-US" altLang="zh-CN" b="1" dirty="0">
                <a:solidFill>
                  <a:schemeClr val="bg2"/>
                </a:solidFill>
              </a:rPr>
              <a:t>}&gt;,&lt;</a:t>
            </a:r>
            <a:r>
              <a:rPr lang="en-US" altLang="zh-CN" b="1" dirty="0">
                <a:solidFill>
                  <a:schemeClr val="bg2"/>
                </a:solidFill>
                <a:sym typeface="Symbol" panose="05050102010706020507" pitchFamily="18" charset="2"/>
              </a:rPr>
              <a:t></a:t>
            </a:r>
            <a:r>
              <a:rPr lang="en-US" altLang="zh-CN" b="1" dirty="0">
                <a:solidFill>
                  <a:schemeClr val="bg2"/>
                </a:solidFill>
              </a:rPr>
              <a:t>,{</a:t>
            </a:r>
            <a:r>
              <a:rPr lang="en-US" altLang="zh-CN" b="1" i="1" dirty="0" err="1">
                <a:solidFill>
                  <a:schemeClr val="bg2"/>
                </a:solidFill>
              </a:rPr>
              <a:t>a</a:t>
            </a:r>
            <a:r>
              <a:rPr lang="en-US" altLang="zh-CN" b="1" dirty="0" err="1">
                <a:solidFill>
                  <a:schemeClr val="bg2"/>
                </a:solidFill>
              </a:rPr>
              <a:t>,</a:t>
            </a:r>
            <a:r>
              <a:rPr lang="en-US" altLang="zh-CN" b="1" i="1" dirty="0" err="1">
                <a:solidFill>
                  <a:schemeClr val="bg2"/>
                </a:solidFill>
              </a:rPr>
              <a:t>b</a:t>
            </a:r>
            <a:r>
              <a:rPr lang="en-US" altLang="zh-CN" b="1" dirty="0">
                <a:solidFill>
                  <a:schemeClr val="bg2"/>
                </a:solidFill>
              </a:rPr>
              <a:t>}&gt;,&lt;{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en-US" altLang="zh-CN" b="1" dirty="0">
                <a:solidFill>
                  <a:schemeClr val="bg2"/>
                </a:solidFill>
              </a:rPr>
              <a:t>},{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en-US" altLang="zh-CN" b="1" dirty="0">
                <a:solidFill>
                  <a:schemeClr val="bg2"/>
                </a:solidFill>
              </a:rPr>
              <a:t>}&gt;,  &lt;{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en-US" altLang="zh-CN" b="1" dirty="0">
                <a:solidFill>
                  <a:schemeClr val="bg2"/>
                </a:solidFill>
              </a:rPr>
              <a:t>},{</a:t>
            </a:r>
            <a:r>
              <a:rPr lang="en-US" altLang="zh-CN" b="1" i="1" dirty="0" err="1">
                <a:solidFill>
                  <a:schemeClr val="bg2"/>
                </a:solidFill>
              </a:rPr>
              <a:t>a</a:t>
            </a:r>
            <a:r>
              <a:rPr lang="en-US" altLang="zh-CN" b="1" dirty="0" err="1">
                <a:solidFill>
                  <a:schemeClr val="bg2"/>
                </a:solidFill>
              </a:rPr>
              <a:t>,</a:t>
            </a:r>
            <a:r>
              <a:rPr lang="en-US" altLang="zh-CN" b="1" i="1" dirty="0" err="1">
                <a:solidFill>
                  <a:schemeClr val="bg2"/>
                </a:solidFill>
              </a:rPr>
              <a:t>b</a:t>
            </a:r>
            <a:r>
              <a:rPr lang="en-US" altLang="zh-CN" b="1" dirty="0">
                <a:solidFill>
                  <a:schemeClr val="bg2"/>
                </a:solidFill>
              </a:rPr>
              <a:t>}&gt;,&lt;{</a:t>
            </a:r>
            <a:r>
              <a:rPr lang="en-US" altLang="zh-CN" b="1" i="1" dirty="0">
                <a:solidFill>
                  <a:schemeClr val="bg2"/>
                </a:solidFill>
              </a:rPr>
              <a:t>b</a:t>
            </a:r>
            <a:r>
              <a:rPr lang="en-US" altLang="zh-CN" b="1" dirty="0">
                <a:solidFill>
                  <a:schemeClr val="bg2"/>
                </a:solidFill>
              </a:rPr>
              <a:t>},{</a:t>
            </a:r>
            <a:r>
              <a:rPr lang="en-US" altLang="zh-CN" b="1" i="1" dirty="0">
                <a:solidFill>
                  <a:schemeClr val="bg2"/>
                </a:solidFill>
              </a:rPr>
              <a:t>b</a:t>
            </a:r>
            <a:r>
              <a:rPr lang="en-US" altLang="zh-CN" b="1" dirty="0">
                <a:solidFill>
                  <a:schemeClr val="bg2"/>
                </a:solidFill>
              </a:rPr>
              <a:t>}&gt;,&lt;{</a:t>
            </a:r>
            <a:r>
              <a:rPr lang="en-US" altLang="zh-CN" b="1" i="1" dirty="0">
                <a:solidFill>
                  <a:schemeClr val="bg2"/>
                </a:solidFill>
              </a:rPr>
              <a:t>b</a:t>
            </a:r>
            <a:r>
              <a:rPr lang="en-US" altLang="zh-CN" b="1" dirty="0">
                <a:solidFill>
                  <a:schemeClr val="bg2"/>
                </a:solidFill>
              </a:rPr>
              <a:t>},{</a:t>
            </a:r>
            <a:r>
              <a:rPr lang="en-US" altLang="zh-CN" b="1" i="1" dirty="0" err="1">
                <a:solidFill>
                  <a:schemeClr val="bg2"/>
                </a:solidFill>
              </a:rPr>
              <a:t>a</a:t>
            </a:r>
            <a:r>
              <a:rPr lang="en-US" altLang="zh-CN" b="1" dirty="0" err="1">
                <a:solidFill>
                  <a:schemeClr val="bg2"/>
                </a:solidFill>
              </a:rPr>
              <a:t>,</a:t>
            </a:r>
            <a:r>
              <a:rPr lang="en-US" altLang="zh-CN" b="1" i="1" dirty="0" err="1">
                <a:solidFill>
                  <a:schemeClr val="bg2"/>
                </a:solidFill>
              </a:rPr>
              <a:t>b</a:t>
            </a:r>
            <a:r>
              <a:rPr lang="en-US" altLang="zh-CN" b="1" dirty="0">
                <a:solidFill>
                  <a:schemeClr val="bg2"/>
                </a:solidFill>
              </a:rPr>
              <a:t>}&gt;,&lt;{</a:t>
            </a:r>
            <a:r>
              <a:rPr lang="en-US" altLang="zh-CN" b="1" i="1" dirty="0" err="1">
                <a:solidFill>
                  <a:schemeClr val="bg2"/>
                </a:solidFill>
              </a:rPr>
              <a:t>a</a:t>
            </a:r>
            <a:r>
              <a:rPr lang="en-US" altLang="zh-CN" b="1" dirty="0" err="1">
                <a:solidFill>
                  <a:schemeClr val="bg2"/>
                </a:solidFill>
              </a:rPr>
              <a:t>,</a:t>
            </a:r>
            <a:r>
              <a:rPr lang="en-US" altLang="zh-CN" b="1" i="1" dirty="0" err="1">
                <a:solidFill>
                  <a:schemeClr val="bg2"/>
                </a:solidFill>
              </a:rPr>
              <a:t>b</a:t>
            </a:r>
            <a:r>
              <a:rPr lang="en-US" altLang="zh-CN" b="1" dirty="0">
                <a:solidFill>
                  <a:schemeClr val="bg2"/>
                </a:solidFill>
              </a:rPr>
              <a:t>},{</a:t>
            </a:r>
            <a:r>
              <a:rPr lang="en-US" altLang="zh-CN" b="1" i="1" dirty="0" err="1">
                <a:solidFill>
                  <a:schemeClr val="bg2"/>
                </a:solidFill>
              </a:rPr>
              <a:t>a</a:t>
            </a:r>
            <a:r>
              <a:rPr lang="en-US" altLang="zh-CN" b="1" dirty="0" err="1">
                <a:solidFill>
                  <a:schemeClr val="bg2"/>
                </a:solidFill>
              </a:rPr>
              <a:t>,</a:t>
            </a:r>
            <a:r>
              <a:rPr lang="en-US" altLang="zh-CN" b="1" i="1" dirty="0" err="1">
                <a:solidFill>
                  <a:schemeClr val="bg2"/>
                </a:solidFill>
              </a:rPr>
              <a:t>b</a:t>
            </a:r>
            <a:r>
              <a:rPr lang="en-US" altLang="zh-CN" b="1" dirty="0">
                <a:solidFill>
                  <a:schemeClr val="bg2"/>
                </a:solidFill>
              </a:rPr>
              <a:t>}&gt;}</a:t>
            </a:r>
            <a:endParaRPr lang="en-US" altLang="zh-CN" b="1" kern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B56340-FA5D-49D7-AB11-A97A81096D8F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>
          <a:xfrm>
            <a:off x="299089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关系的表示</a:t>
            </a:r>
          </a:p>
        </p:txBody>
      </p:sp>
      <p:sp>
        <p:nvSpPr>
          <p:cNvPr id="203779" name="Text Box 3"/>
          <p:cNvSpPr txBox="1">
            <a:spLocks noChangeArrowheads="1"/>
          </p:cNvSpPr>
          <p:nvPr/>
        </p:nvSpPr>
        <p:spPr bwMode="auto">
          <a:xfrm>
            <a:off x="309407" y="2099955"/>
            <a:ext cx="8208963" cy="4530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关系矩阵</a:t>
            </a:r>
            <a:r>
              <a:rPr lang="zh-CN" altLang="en-US" b="1" dirty="0"/>
              <a:t>：若</a:t>
            </a:r>
            <a:r>
              <a:rPr lang="en-US" altLang="zh-CN" b="1" i="1" dirty="0"/>
              <a:t>A</a:t>
            </a:r>
            <a:r>
              <a:rPr lang="en-US" altLang="zh-CN" b="1" dirty="0"/>
              <a:t>={</a:t>
            </a:r>
            <a:r>
              <a:rPr lang="en-US" altLang="zh-CN" b="1" i="1" dirty="0"/>
              <a:t>x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, </a:t>
            </a:r>
            <a:r>
              <a:rPr lang="en-US" altLang="zh-CN" b="1" i="1" dirty="0"/>
              <a:t>x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, …, </a:t>
            </a:r>
            <a:r>
              <a:rPr lang="en-US" altLang="zh-CN" b="1" i="1" dirty="0" err="1"/>
              <a:t>x</a:t>
            </a:r>
            <a:r>
              <a:rPr lang="en-US" altLang="zh-CN" b="1" i="1" baseline="-25000" dirty="0" err="1"/>
              <a:t>m</a:t>
            </a:r>
            <a:r>
              <a:rPr lang="en-US" altLang="zh-CN" b="1" dirty="0"/>
              <a:t>}</a:t>
            </a:r>
            <a:r>
              <a:rPr lang="zh-CN" altLang="en-US" b="1" dirty="0"/>
              <a:t>，</a:t>
            </a:r>
            <a:r>
              <a:rPr lang="en-US" altLang="zh-CN" b="1" i="1" dirty="0"/>
              <a:t>B</a:t>
            </a:r>
            <a:r>
              <a:rPr lang="en-US" altLang="zh-CN" b="1" dirty="0"/>
              <a:t>={</a:t>
            </a:r>
            <a:r>
              <a:rPr lang="en-US" altLang="zh-CN" b="1" i="1" dirty="0"/>
              <a:t>y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, </a:t>
            </a:r>
            <a:r>
              <a:rPr lang="en-US" altLang="zh-CN" b="1" i="1" dirty="0"/>
              <a:t>y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, …, </a:t>
            </a:r>
            <a:r>
              <a:rPr lang="en-US" altLang="zh-CN" b="1" i="1" dirty="0" err="1"/>
              <a:t>y</a:t>
            </a:r>
            <a:r>
              <a:rPr lang="en-US" altLang="zh-CN" b="1" i="1" baseline="-25000" dirty="0" err="1"/>
              <a:t>n</a:t>
            </a:r>
            <a:r>
              <a:rPr lang="en-US" altLang="zh-CN" b="1" dirty="0"/>
              <a:t>}</a:t>
            </a:r>
            <a:r>
              <a:rPr lang="zh-CN" altLang="en-US" b="1" dirty="0"/>
              <a:t>，</a:t>
            </a:r>
            <a:r>
              <a:rPr lang="en-US" altLang="zh-CN" b="1" i="1" dirty="0"/>
              <a:t>R</a:t>
            </a:r>
            <a:r>
              <a:rPr lang="zh-CN" altLang="en-US" b="1" dirty="0"/>
              <a:t>是从</a:t>
            </a:r>
            <a:r>
              <a:rPr lang="en-US" altLang="zh-CN" b="1" i="1" dirty="0"/>
              <a:t>A</a:t>
            </a:r>
            <a:r>
              <a:rPr lang="zh-CN" altLang="en-US" b="1" dirty="0"/>
              <a:t>到</a:t>
            </a:r>
            <a:r>
              <a:rPr lang="en-US" altLang="zh-CN" b="1" i="1" dirty="0"/>
              <a:t>B</a:t>
            </a:r>
            <a:r>
              <a:rPr lang="zh-CN" altLang="en-US" b="1" dirty="0"/>
              <a:t>的关系，</a:t>
            </a:r>
            <a:r>
              <a:rPr lang="en-US" altLang="zh-CN" b="1" i="1" dirty="0"/>
              <a:t>R</a:t>
            </a:r>
            <a:r>
              <a:rPr lang="zh-CN" altLang="en-US" b="1" dirty="0"/>
              <a:t>的关系矩阵是</a:t>
            </a:r>
            <a:r>
              <a:rPr lang="zh-CN" alt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布尔矩阵</a:t>
            </a:r>
            <a:r>
              <a:rPr lang="zh-CN" altLang="en-US" b="1" dirty="0"/>
              <a:t>：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lang="zh-CN" altLang="en-US" b="1" i="1" dirty="0"/>
              <a:t>      </a:t>
            </a:r>
            <a:r>
              <a:rPr lang="en-US" altLang="zh-CN" b="1" i="1" dirty="0"/>
              <a:t>M</a:t>
            </a:r>
            <a:r>
              <a:rPr lang="en-US" altLang="zh-CN" b="1" i="1" baseline="-25000" dirty="0"/>
              <a:t>R</a:t>
            </a:r>
            <a:r>
              <a:rPr lang="en-US" altLang="zh-CN" b="1" dirty="0"/>
              <a:t> = [ </a:t>
            </a:r>
            <a:r>
              <a:rPr lang="en-US" altLang="zh-CN" b="1" i="1" dirty="0" err="1"/>
              <a:t>r</a:t>
            </a:r>
            <a:r>
              <a:rPr lang="en-US" altLang="zh-CN" b="1" i="1" baseline="-25000" dirty="0" err="1"/>
              <a:t>ij</a:t>
            </a:r>
            <a:r>
              <a:rPr lang="en-US" altLang="zh-CN" b="1" dirty="0"/>
              <a:t> ] </a:t>
            </a:r>
            <a:r>
              <a:rPr lang="en-US" altLang="zh-CN" b="1" i="1" baseline="-25000" dirty="0" err="1"/>
              <a:t>m</a:t>
            </a:r>
            <a:r>
              <a:rPr lang="en-US" altLang="zh-CN" b="1" baseline="-25000" dirty="0" err="1">
                <a:sym typeface="Symbol" pitchFamily="18" charset="2"/>
              </a:rPr>
              <a:t></a:t>
            </a:r>
            <a:r>
              <a:rPr lang="en-US" altLang="zh-CN" b="1" i="1" baseline="-25000" dirty="0" err="1"/>
              <a:t>n</a:t>
            </a:r>
            <a:r>
              <a:rPr lang="en-US" altLang="zh-CN" b="1" dirty="0"/>
              <a:t>,    </a:t>
            </a:r>
            <a:r>
              <a:rPr lang="zh-CN" altLang="en-US" b="1" dirty="0"/>
              <a:t>其中 </a:t>
            </a:r>
            <a:r>
              <a:rPr lang="en-US" altLang="zh-CN" b="1" i="1" dirty="0" err="1"/>
              <a:t>r</a:t>
            </a:r>
            <a:r>
              <a:rPr lang="en-US" altLang="zh-CN" b="1" i="1" baseline="-25000" dirty="0" err="1"/>
              <a:t>ij</a:t>
            </a:r>
            <a:r>
              <a:rPr lang="en-US" altLang="zh-CN" b="1" baseline="-25000" dirty="0"/>
              <a:t> </a:t>
            </a:r>
            <a:r>
              <a:rPr lang="en-US" altLang="zh-CN" b="1" dirty="0"/>
              <a:t>= 1</a:t>
            </a:r>
            <a:r>
              <a:rPr lang="en-US" altLang="zh-CN" b="1" dirty="0">
                <a:sym typeface="Symbol" pitchFamily="18" charset="2"/>
              </a:rPr>
              <a:t></a:t>
            </a:r>
            <a:r>
              <a:rPr lang="en-US" altLang="zh-CN" b="1" dirty="0"/>
              <a:t> &lt; </a:t>
            </a:r>
            <a:r>
              <a:rPr lang="en-US" altLang="zh-CN" b="1" i="1" dirty="0"/>
              <a:t>x</a:t>
            </a:r>
            <a:r>
              <a:rPr lang="en-US" altLang="zh-CN" b="1" i="1" baseline="-25000" dirty="0"/>
              <a:t>i</a:t>
            </a:r>
            <a:r>
              <a:rPr lang="en-US" altLang="zh-CN" b="1" dirty="0"/>
              <a:t>, </a:t>
            </a:r>
            <a:r>
              <a:rPr lang="en-US" altLang="zh-CN" b="1" i="1" dirty="0" err="1"/>
              <a:t>y</a:t>
            </a:r>
            <a:r>
              <a:rPr lang="en-US" altLang="zh-CN" b="1" i="1" baseline="-25000" dirty="0" err="1"/>
              <a:t>j</a:t>
            </a:r>
            <a:r>
              <a:rPr lang="en-US" altLang="zh-CN" b="1" dirty="0"/>
              <a:t>&gt; </a:t>
            </a:r>
            <a:r>
              <a:rPr lang="en-US" altLang="zh-CN" b="1" dirty="0">
                <a:sym typeface="Symbol" pitchFamily="18" charset="2"/>
              </a:rPr>
              <a:t></a:t>
            </a:r>
            <a:r>
              <a:rPr lang="en-US" altLang="zh-CN" b="1" i="1" dirty="0"/>
              <a:t>R</a:t>
            </a:r>
            <a:r>
              <a:rPr lang="zh-CN" altLang="en-US" b="1" dirty="0"/>
              <a:t>，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lang="zh-CN" altLang="en-US" b="1" dirty="0"/>
              <a:t>                                           </a:t>
            </a:r>
            <a:r>
              <a:rPr lang="en-US" altLang="zh-CN" b="1" i="1" dirty="0" err="1"/>
              <a:t>r</a:t>
            </a:r>
            <a:r>
              <a:rPr lang="en-US" altLang="zh-CN" b="1" i="1" baseline="-25000" dirty="0" err="1"/>
              <a:t>ij</a:t>
            </a:r>
            <a:r>
              <a:rPr lang="en-US" altLang="zh-CN" b="1" baseline="-25000" dirty="0"/>
              <a:t> </a:t>
            </a:r>
            <a:r>
              <a:rPr lang="en-US" altLang="zh-CN" b="1" dirty="0"/>
              <a:t>= 0 </a:t>
            </a:r>
            <a:r>
              <a:rPr lang="en-US" altLang="zh-CN" b="1" dirty="0">
                <a:sym typeface="Symbol" pitchFamily="18" charset="2"/>
              </a:rPr>
              <a:t></a:t>
            </a:r>
            <a:r>
              <a:rPr lang="en-US" altLang="zh-CN" b="1" dirty="0"/>
              <a:t> &lt; </a:t>
            </a:r>
            <a:r>
              <a:rPr lang="en-US" altLang="zh-CN" b="1" i="1" dirty="0"/>
              <a:t>x</a:t>
            </a:r>
            <a:r>
              <a:rPr lang="en-US" altLang="zh-CN" b="1" i="1" baseline="-25000" dirty="0"/>
              <a:t>i</a:t>
            </a:r>
            <a:r>
              <a:rPr lang="en-US" altLang="zh-CN" b="1" dirty="0"/>
              <a:t>, </a:t>
            </a:r>
            <a:r>
              <a:rPr lang="en-US" altLang="zh-CN" b="1" i="1" dirty="0" err="1"/>
              <a:t>y</a:t>
            </a:r>
            <a:r>
              <a:rPr lang="en-US" altLang="zh-CN" b="1" i="1" baseline="-25000" dirty="0" err="1"/>
              <a:t>j</a:t>
            </a:r>
            <a:r>
              <a:rPr lang="en-US" altLang="zh-CN" b="1" dirty="0"/>
              <a:t>&gt; </a:t>
            </a:r>
            <a:r>
              <a:rPr lang="en-US" altLang="zh-CN" b="1" dirty="0">
                <a:sym typeface="Symbol" pitchFamily="18" charset="2"/>
              </a:rPr>
              <a:t></a:t>
            </a:r>
            <a:r>
              <a:rPr lang="en-US" altLang="zh-CN" b="1" i="1" dirty="0"/>
              <a:t>R</a:t>
            </a:r>
            <a:r>
              <a:rPr lang="en-US" altLang="zh-CN" b="1" dirty="0"/>
              <a:t>. 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lang="en-US" altLang="zh-CN" b="1" dirty="0">
                <a:solidFill>
                  <a:schemeClr val="bg2"/>
                </a:solidFill>
                <a:latin typeface="Arial" charset="0"/>
              </a:rPr>
              <a:t> </a:t>
            </a:r>
            <a:r>
              <a:rPr lang="zh-CN" altLang="en-US" b="1" dirty="0">
                <a:solidFill>
                  <a:schemeClr val="bg2"/>
                </a:solidFill>
                <a:latin typeface="Arial" charset="0"/>
              </a:rPr>
              <a:t>例：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en-US" altLang="zh-CN" b="1" dirty="0">
                <a:solidFill>
                  <a:schemeClr val="bg2"/>
                </a:solidFill>
              </a:rPr>
              <a:t>={1,2,3,4}, 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lang="en-US" altLang="zh-CN" b="1" i="1" dirty="0">
                <a:solidFill>
                  <a:schemeClr val="bg2"/>
                </a:solidFill>
              </a:rPr>
              <a:t>         R</a:t>
            </a:r>
            <a:r>
              <a:rPr lang="en-US" altLang="zh-CN" b="1" dirty="0">
                <a:solidFill>
                  <a:schemeClr val="bg2"/>
                </a:solidFill>
              </a:rPr>
              <a:t>={&lt;1,1&gt;, &lt;1,2&gt;,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lang="en-US" altLang="zh-CN" b="1" dirty="0">
                <a:solidFill>
                  <a:schemeClr val="bg2"/>
                </a:solidFill>
              </a:rPr>
              <a:t>   &lt;2,3&gt;, &lt;2,4&gt;, &lt;4,2&gt;},</a:t>
            </a:r>
            <a:r>
              <a:rPr lang="en-US" altLang="zh-CN" b="1" i="1" dirty="0">
                <a:solidFill>
                  <a:schemeClr val="bg2"/>
                </a:solidFill>
              </a:rPr>
              <a:t>   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lang="en-US" altLang="zh-CN" b="1" i="1" dirty="0">
                <a:solidFill>
                  <a:schemeClr val="bg2"/>
                </a:solidFill>
              </a:rPr>
              <a:t>   R</a:t>
            </a:r>
            <a:r>
              <a:rPr lang="zh-CN" altLang="en-US" b="1" dirty="0">
                <a:solidFill>
                  <a:schemeClr val="bg2"/>
                </a:solidFill>
              </a:rPr>
              <a:t>的关系矩阵</a:t>
            </a:r>
            <a:r>
              <a:rPr lang="en-US" altLang="zh-CN" b="1" i="1" dirty="0">
                <a:solidFill>
                  <a:schemeClr val="bg2"/>
                </a:solidFill>
              </a:rPr>
              <a:t>M</a:t>
            </a:r>
            <a:r>
              <a:rPr lang="en-US" altLang="zh-CN" b="1" i="1" baseline="-25000" dirty="0">
                <a:solidFill>
                  <a:schemeClr val="bg2"/>
                </a:solidFill>
              </a:rPr>
              <a:t>R</a:t>
            </a:r>
            <a:r>
              <a:rPr lang="zh-CN" altLang="en-US" b="1" dirty="0">
                <a:solidFill>
                  <a:schemeClr val="bg2"/>
                </a:solidFill>
              </a:rPr>
              <a:t>如右图所示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99089" y="1370140"/>
            <a:ext cx="867568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30000"/>
              </a:spcBef>
              <a:defRPr/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表示方式：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关系的集合表达式、关系矩阵、关系图 </a:t>
            </a:r>
          </a:p>
        </p:txBody>
      </p:sp>
      <p:graphicFrame>
        <p:nvGraphicFramePr>
          <p:cNvPr id="9" name="Object 102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056964"/>
              </p:ext>
            </p:extLst>
          </p:nvPr>
        </p:nvGraphicFramePr>
        <p:xfrm>
          <a:off x="4413888" y="4454103"/>
          <a:ext cx="3149600" cy="220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5" name="公式" r:id="rId4" imgW="1307880" imgH="914400" progId="Equation.3">
                  <p:embed/>
                </p:oleObj>
              </mc:Choice>
              <mc:Fallback>
                <p:oleObj name="公式" r:id="rId4" imgW="1307880" imgH="914400" progId="Equation.3">
                  <p:embed/>
                  <p:pic>
                    <p:nvPicPr>
                      <p:cNvPr id="313344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888" y="4454103"/>
                        <a:ext cx="3149600" cy="22018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059BEB0-6B3A-469D-A538-216EC9295B17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2890" y="137864"/>
            <a:ext cx="8229600" cy="9366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关系的表示</a:t>
            </a:r>
            <a:r>
              <a:rPr lang="en-US" altLang="zh-CN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续</a:t>
            </a:r>
            <a:r>
              <a:rPr lang="en-US" altLang="zh-CN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</p:txBody>
      </p:sp>
      <p:sp>
        <p:nvSpPr>
          <p:cNvPr id="204803" name="Text Box 3"/>
          <p:cNvSpPr txBox="1">
            <a:spLocks noChangeArrowheads="1"/>
          </p:cNvSpPr>
          <p:nvPr/>
        </p:nvSpPr>
        <p:spPr bwMode="auto">
          <a:xfrm>
            <a:off x="323528" y="1263650"/>
            <a:ext cx="8208962" cy="521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115000"/>
              </a:lnSpc>
              <a:spcBef>
                <a:spcPct val="1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关系图</a:t>
            </a:r>
            <a:r>
              <a:rPr lang="zh-CN" altLang="en-US" b="1" dirty="0"/>
              <a:t>：若</a:t>
            </a:r>
            <a:r>
              <a:rPr lang="en-US" altLang="zh-CN" b="1" i="1" dirty="0"/>
              <a:t>A</a:t>
            </a:r>
            <a:r>
              <a:rPr lang="en-US" altLang="zh-CN" b="1" dirty="0"/>
              <a:t>= {</a:t>
            </a:r>
            <a:r>
              <a:rPr lang="en-US" altLang="zh-CN" b="1" i="1" dirty="0"/>
              <a:t>x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, </a:t>
            </a:r>
            <a:r>
              <a:rPr lang="en-US" altLang="zh-CN" b="1" i="1" dirty="0"/>
              <a:t>x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, …, </a:t>
            </a:r>
            <a:r>
              <a:rPr lang="en-US" altLang="zh-CN" b="1" i="1" dirty="0" err="1"/>
              <a:t>x</a:t>
            </a:r>
            <a:r>
              <a:rPr lang="en-US" altLang="zh-CN" b="1" i="1" baseline="-25000" dirty="0" err="1"/>
              <a:t>m</a:t>
            </a:r>
            <a:r>
              <a:rPr lang="en-US" altLang="zh-CN" b="1" dirty="0"/>
              <a:t>}</a:t>
            </a:r>
            <a:r>
              <a:rPr lang="zh-CN" altLang="en-US" b="1" dirty="0"/>
              <a:t>，</a:t>
            </a:r>
            <a:r>
              <a:rPr lang="en-US" altLang="zh-CN" b="1" i="1" dirty="0"/>
              <a:t>R</a:t>
            </a:r>
            <a:r>
              <a:rPr lang="zh-CN" altLang="en-US" b="1" dirty="0"/>
              <a:t>是</a:t>
            </a:r>
            <a:r>
              <a:rPr lang="en-US" altLang="zh-CN" b="1" i="1" dirty="0"/>
              <a:t>A</a:t>
            </a:r>
            <a:r>
              <a:rPr lang="zh-CN" altLang="en-US" b="1" dirty="0"/>
              <a:t>上的关系，</a:t>
            </a:r>
            <a:r>
              <a:rPr lang="en-US" altLang="zh-CN" b="1" i="1" dirty="0"/>
              <a:t>R</a:t>
            </a:r>
            <a:r>
              <a:rPr lang="zh-CN" altLang="en-US" b="1" dirty="0"/>
              <a:t>的关系图是</a:t>
            </a:r>
            <a:r>
              <a:rPr lang="en-US" altLang="zh-CN" b="1" i="1" dirty="0"/>
              <a:t>G</a:t>
            </a:r>
            <a:r>
              <a:rPr lang="en-US" altLang="zh-CN" b="1" i="1" baseline="-25000" dirty="0"/>
              <a:t>R</a:t>
            </a:r>
            <a:r>
              <a:rPr lang="en-US" altLang="zh-CN" b="1" dirty="0"/>
              <a:t>=&lt;</a:t>
            </a:r>
            <a:r>
              <a:rPr lang="en-US" altLang="zh-CN" b="1" i="1" dirty="0"/>
              <a:t>A</a:t>
            </a:r>
            <a:r>
              <a:rPr lang="en-US" altLang="zh-CN" b="1" dirty="0"/>
              <a:t>, </a:t>
            </a:r>
            <a:r>
              <a:rPr lang="en-US" altLang="zh-CN" b="1" i="1" dirty="0"/>
              <a:t>R</a:t>
            </a:r>
            <a:r>
              <a:rPr lang="en-US" altLang="zh-CN" b="1" dirty="0"/>
              <a:t>&gt;, </a:t>
            </a:r>
            <a:r>
              <a:rPr lang="zh-CN" altLang="en-US" b="1" dirty="0"/>
              <a:t>其中</a:t>
            </a:r>
            <a:r>
              <a:rPr lang="en-US" altLang="zh-C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zh-CN" alt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为结点集</a:t>
            </a:r>
            <a:r>
              <a:rPr lang="zh-CN" altLang="en-US" b="1" dirty="0"/>
              <a:t>，</a:t>
            </a:r>
            <a:r>
              <a:rPr lang="en-US" altLang="zh-C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zh-CN" alt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为边集</a:t>
            </a:r>
            <a:r>
              <a:rPr lang="zh-CN" altLang="en-US" b="1" dirty="0"/>
              <a:t>。如果</a:t>
            </a:r>
            <a:r>
              <a:rPr lang="en-US" altLang="zh-CN" b="1" dirty="0"/>
              <a:t>&lt;</a:t>
            </a:r>
            <a:r>
              <a:rPr lang="en-US" altLang="zh-CN" b="1" i="1" dirty="0" err="1"/>
              <a:t>x</a:t>
            </a:r>
            <a:r>
              <a:rPr lang="en-US" altLang="zh-CN" b="1" i="1" baseline="-25000" dirty="0" err="1"/>
              <a:t>i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x</a:t>
            </a:r>
            <a:r>
              <a:rPr lang="en-US" altLang="zh-CN" b="1" i="1" baseline="-25000" dirty="0" err="1"/>
              <a:t>j</a:t>
            </a:r>
            <a:r>
              <a:rPr lang="en-US" altLang="zh-CN" b="1" dirty="0"/>
              <a:t>&gt;</a:t>
            </a:r>
            <a:r>
              <a:rPr lang="zh-CN" altLang="en-US" b="1" dirty="0"/>
              <a:t>属于关系</a:t>
            </a:r>
            <a:r>
              <a:rPr lang="en-US" altLang="zh-CN" b="1" i="1" dirty="0"/>
              <a:t>R</a:t>
            </a:r>
            <a:r>
              <a:rPr lang="zh-CN" altLang="en-US" b="1" dirty="0"/>
              <a:t>，在图中就有一条从 </a:t>
            </a:r>
            <a:r>
              <a:rPr lang="en-US" altLang="zh-CN" b="1" i="1" dirty="0"/>
              <a:t>x</a:t>
            </a:r>
            <a:r>
              <a:rPr lang="en-US" altLang="zh-CN" b="1" i="1" baseline="-25000" dirty="0"/>
              <a:t>i</a:t>
            </a:r>
            <a:r>
              <a:rPr lang="en-US" altLang="zh-CN" b="1" i="1" dirty="0"/>
              <a:t> </a:t>
            </a:r>
            <a:r>
              <a:rPr lang="zh-CN" altLang="en-US" b="1" dirty="0"/>
              <a:t>到 </a:t>
            </a:r>
            <a:r>
              <a:rPr lang="en-US" altLang="zh-CN" b="1" i="1" dirty="0" err="1"/>
              <a:t>x</a:t>
            </a:r>
            <a:r>
              <a:rPr lang="en-US" altLang="zh-CN" b="1" i="1" baseline="-25000" dirty="0" err="1"/>
              <a:t>j</a:t>
            </a:r>
            <a:r>
              <a:rPr lang="en-US" altLang="zh-CN" b="1" i="1" baseline="-25000" dirty="0"/>
              <a:t> </a:t>
            </a:r>
            <a:r>
              <a:rPr lang="zh-CN" altLang="en-US" b="1" dirty="0"/>
              <a:t>的有向边。</a:t>
            </a:r>
            <a:endParaRPr lang="en-US" altLang="zh-CN" b="1" dirty="0"/>
          </a:p>
          <a:p>
            <a:pPr eaLnBrk="1" hangingPunct="1">
              <a:lnSpc>
                <a:spcPct val="115000"/>
              </a:lnSpc>
              <a:spcBef>
                <a:spcPct val="10000"/>
              </a:spcBef>
              <a:defRPr/>
            </a:pPr>
            <a:r>
              <a:rPr lang="en-US" altLang="zh-CN" b="1" dirty="0">
                <a:solidFill>
                  <a:schemeClr val="bg2"/>
                </a:solidFill>
              </a:rPr>
              <a:t> </a:t>
            </a:r>
            <a:r>
              <a:rPr lang="zh-CN" altLang="en-US" b="1" dirty="0">
                <a:solidFill>
                  <a:schemeClr val="bg2"/>
                </a:solidFill>
              </a:rPr>
              <a:t>例</a:t>
            </a:r>
            <a:r>
              <a:rPr lang="zh-CN" altLang="en-US" b="1" dirty="0"/>
              <a:t>：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en-US" altLang="zh-CN" b="1" dirty="0">
                <a:solidFill>
                  <a:schemeClr val="bg2"/>
                </a:solidFill>
              </a:rPr>
              <a:t>={1,2,3,4}, </a:t>
            </a:r>
          </a:p>
          <a:p>
            <a:pPr eaLnBrk="1" hangingPunct="1">
              <a:lnSpc>
                <a:spcPct val="115000"/>
              </a:lnSpc>
              <a:spcBef>
                <a:spcPct val="10000"/>
              </a:spcBef>
              <a:defRPr/>
            </a:pPr>
            <a:r>
              <a:rPr lang="en-US" altLang="zh-CN" b="1" i="1" dirty="0">
                <a:solidFill>
                  <a:schemeClr val="bg2"/>
                </a:solidFill>
              </a:rPr>
              <a:t>   R</a:t>
            </a:r>
            <a:r>
              <a:rPr lang="en-US" altLang="zh-CN" b="1" dirty="0">
                <a:solidFill>
                  <a:schemeClr val="bg2"/>
                </a:solidFill>
              </a:rPr>
              <a:t>={&lt;1,1&gt;,&lt;1,2&gt;,&lt;2,3&gt;,</a:t>
            </a:r>
          </a:p>
          <a:p>
            <a:pPr eaLnBrk="1" hangingPunct="1">
              <a:lnSpc>
                <a:spcPct val="115000"/>
              </a:lnSpc>
              <a:spcBef>
                <a:spcPct val="10000"/>
              </a:spcBef>
              <a:defRPr/>
            </a:pPr>
            <a:r>
              <a:rPr lang="en-US" altLang="zh-CN" b="1" dirty="0">
                <a:solidFill>
                  <a:schemeClr val="bg2"/>
                </a:solidFill>
              </a:rPr>
              <a:t>         &lt;2,4&gt;,&lt;4,2&gt;},</a:t>
            </a:r>
            <a:endParaRPr lang="en-US" altLang="zh-CN" b="1" i="1" dirty="0">
              <a:solidFill>
                <a:schemeClr val="bg2"/>
              </a:solidFill>
            </a:endParaRPr>
          </a:p>
          <a:p>
            <a:pPr eaLnBrk="1" hangingPunct="1">
              <a:lnSpc>
                <a:spcPct val="115000"/>
              </a:lnSpc>
              <a:spcBef>
                <a:spcPct val="10000"/>
              </a:spcBef>
              <a:defRPr/>
            </a:pPr>
            <a:r>
              <a:rPr lang="en-US" altLang="zh-CN" b="1" i="1" dirty="0">
                <a:solidFill>
                  <a:schemeClr val="bg2"/>
                </a:solidFill>
              </a:rPr>
              <a:t>   R</a:t>
            </a:r>
            <a:r>
              <a:rPr lang="zh-CN" altLang="en-US" b="1" dirty="0">
                <a:solidFill>
                  <a:schemeClr val="bg2"/>
                </a:solidFill>
              </a:rPr>
              <a:t>的关系图</a:t>
            </a:r>
            <a:r>
              <a:rPr lang="en-US" altLang="zh-CN" b="1" i="1" dirty="0">
                <a:solidFill>
                  <a:schemeClr val="bg2"/>
                </a:solidFill>
              </a:rPr>
              <a:t>G</a:t>
            </a:r>
            <a:r>
              <a:rPr lang="en-US" altLang="zh-CN" b="1" i="1" baseline="-25000" dirty="0">
                <a:solidFill>
                  <a:schemeClr val="bg2"/>
                </a:solidFill>
              </a:rPr>
              <a:t>R</a:t>
            </a:r>
            <a:r>
              <a:rPr lang="zh-CN" altLang="en-US" b="1" dirty="0">
                <a:solidFill>
                  <a:schemeClr val="bg2"/>
                </a:solidFill>
              </a:rPr>
              <a:t>如右图所示：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注意：</a:t>
            </a:r>
            <a:r>
              <a:rPr lang="en-US" altLang="zh-CN" b="1" i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altLang="zh-CN" b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altLang="zh-CN" b="1" i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zh-CN" altLang="en-US" b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为有穷集时，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关系矩阵</a:t>
            </a:r>
            <a:r>
              <a:rPr lang="zh-CN" altLang="en-US" b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适于表示从</a:t>
            </a:r>
            <a:r>
              <a:rPr lang="en-US" altLang="zh-CN" b="1" i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zh-CN" altLang="en-US" b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到</a:t>
            </a:r>
            <a:r>
              <a:rPr lang="en-US" altLang="zh-CN" b="1" i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zh-CN" altLang="en-US" b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的关系或者</a:t>
            </a:r>
            <a:r>
              <a:rPr lang="en-US" altLang="zh-CN" b="1" i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zh-CN" altLang="en-US" b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上的关系，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关系图</a:t>
            </a:r>
            <a:r>
              <a:rPr lang="zh-CN" altLang="en-US" b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适于表示</a:t>
            </a:r>
            <a:r>
              <a:rPr lang="en-US" altLang="zh-CN" b="1" i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zh-CN" altLang="en-US" b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上的关系</a:t>
            </a:r>
          </a:p>
        </p:txBody>
      </p:sp>
      <p:pic>
        <p:nvPicPr>
          <p:cNvPr id="204806" name="Picture 6" descr="7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075" y="2996952"/>
            <a:ext cx="2447925" cy="23542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4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4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4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0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04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6075B4B-785C-4FFF-9E73-D65F28A5D8B8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439777" y="404664"/>
            <a:ext cx="27368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4000" b="1" dirty="0">
                <a:solidFill>
                  <a:srgbClr val="3366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课堂练习：</a:t>
            </a:r>
          </a:p>
        </p:txBody>
      </p:sp>
      <p:sp>
        <p:nvSpPr>
          <p:cNvPr id="36868" name="Text Box 5"/>
          <p:cNvSpPr txBox="1">
            <a:spLocks noChangeArrowheads="1"/>
          </p:cNvSpPr>
          <p:nvPr/>
        </p:nvSpPr>
        <p:spPr bwMode="auto">
          <a:xfrm>
            <a:off x="467544" y="1412776"/>
            <a:ext cx="7776864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设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={1,2,3,4}, 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上的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整除关系</a:t>
            </a:r>
            <a:r>
              <a:rPr lang="zh-CN" altLang="en-US" b="1" dirty="0">
                <a:latin typeface="Times New Roman" panose="02020603050405020304" pitchFamily="18" charset="0"/>
              </a:rPr>
              <a:t>，求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(1) 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</a:rPr>
              <a:t>的集合表达式；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(2) 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</a:rPr>
              <a:t>的关系矩阵；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(3) 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</a:rPr>
              <a:t>的关系图。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914245-4901-475B-9C58-DE49192C3A71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7891" name="Text Box 4"/>
          <p:cNvSpPr txBox="1">
            <a:spLocks noChangeArrowheads="1"/>
          </p:cNvSpPr>
          <p:nvPr/>
        </p:nvSpPr>
        <p:spPr bwMode="auto">
          <a:xfrm>
            <a:off x="395536" y="508365"/>
            <a:ext cx="8424862" cy="3127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解：</a:t>
            </a: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(1)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的集合表达式为：   </a:t>
            </a:r>
            <a:r>
              <a:rPr lang="en-US" altLang="zh-CN" sz="2800" b="1" dirty="0">
                <a:latin typeface="Times New Roman" panose="02020603050405020304" pitchFamily="18" charset="0"/>
              </a:rPr>
              <a:t>R={&lt;1,1,&gt;,&lt;2,2&gt;,&lt;3,3&gt;,&lt;4,4&gt;,&lt;1,2&gt;,&lt;1,3&gt;,&lt;1,4&gt;,&lt;2,4&gt;}</a:t>
            </a: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=I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∪{&lt;1,2&gt;,&lt;1,3&gt;,&lt;1,4&gt;,&lt;2,4&gt;}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(2)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的关系矩阵为：    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(3)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的关系图为：</a:t>
            </a:r>
          </a:p>
        </p:txBody>
      </p:sp>
      <p:graphicFrame>
        <p:nvGraphicFramePr>
          <p:cNvPr id="3789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6860304"/>
              </p:ext>
            </p:extLst>
          </p:nvPr>
        </p:nvGraphicFramePr>
        <p:xfrm>
          <a:off x="899753" y="3906044"/>
          <a:ext cx="2447925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50" name="公式" r:id="rId3" imgW="1333500" imgH="927100" progId="Equation.3">
                  <p:embed/>
                </p:oleObj>
              </mc:Choice>
              <mc:Fallback>
                <p:oleObj name="公式" r:id="rId3" imgW="1333500" imgH="927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753" y="3906044"/>
                        <a:ext cx="2447925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893" name="Group 24"/>
          <p:cNvGrpSpPr>
            <a:grpSpLocks/>
          </p:cNvGrpSpPr>
          <p:nvPr/>
        </p:nvGrpSpPr>
        <p:grpSpPr bwMode="auto">
          <a:xfrm>
            <a:off x="4716016" y="3795930"/>
            <a:ext cx="2540000" cy="1833562"/>
            <a:chOff x="3230" y="2511"/>
            <a:chExt cx="1600" cy="1155"/>
          </a:xfrm>
        </p:grpSpPr>
        <p:sp>
          <p:nvSpPr>
            <p:cNvPr id="37894" name="Oval 6"/>
            <p:cNvSpPr>
              <a:spLocks noChangeArrowheads="1"/>
            </p:cNvSpPr>
            <p:nvPr/>
          </p:nvSpPr>
          <p:spPr bwMode="auto">
            <a:xfrm>
              <a:off x="3243" y="2523"/>
              <a:ext cx="363" cy="31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7895" name="Oval 7"/>
            <p:cNvSpPr>
              <a:spLocks noChangeArrowheads="1"/>
            </p:cNvSpPr>
            <p:nvPr/>
          </p:nvSpPr>
          <p:spPr bwMode="auto">
            <a:xfrm>
              <a:off x="4390" y="2532"/>
              <a:ext cx="363" cy="31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7896" name="Oval 8"/>
            <p:cNvSpPr>
              <a:spLocks noChangeArrowheads="1"/>
            </p:cNvSpPr>
            <p:nvPr/>
          </p:nvSpPr>
          <p:spPr bwMode="auto">
            <a:xfrm>
              <a:off x="3230" y="3347"/>
              <a:ext cx="363" cy="31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7897" name="Oval 9"/>
            <p:cNvSpPr>
              <a:spLocks noChangeArrowheads="1"/>
            </p:cNvSpPr>
            <p:nvPr/>
          </p:nvSpPr>
          <p:spPr bwMode="auto">
            <a:xfrm>
              <a:off x="4377" y="3339"/>
              <a:ext cx="363" cy="31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7898" name="Line 12"/>
            <p:cNvSpPr>
              <a:spLocks noChangeShapeType="1"/>
            </p:cNvSpPr>
            <p:nvPr/>
          </p:nvSpPr>
          <p:spPr bwMode="auto">
            <a:xfrm flipV="1">
              <a:off x="3515" y="2795"/>
              <a:ext cx="0" cy="5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9" name="Line 13"/>
            <p:cNvSpPr>
              <a:spLocks noChangeShapeType="1"/>
            </p:cNvSpPr>
            <p:nvPr/>
          </p:nvSpPr>
          <p:spPr bwMode="auto">
            <a:xfrm flipV="1">
              <a:off x="3515" y="2795"/>
              <a:ext cx="907" cy="5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0" name="Line 14"/>
            <p:cNvSpPr>
              <a:spLocks noChangeShapeType="1"/>
            </p:cNvSpPr>
            <p:nvPr/>
          </p:nvSpPr>
          <p:spPr bwMode="auto">
            <a:xfrm>
              <a:off x="3515" y="3385"/>
              <a:ext cx="9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1" name="Line 15"/>
            <p:cNvSpPr>
              <a:spLocks noChangeShapeType="1"/>
            </p:cNvSpPr>
            <p:nvPr/>
          </p:nvSpPr>
          <p:spPr bwMode="auto">
            <a:xfrm flipV="1">
              <a:off x="4427" y="2795"/>
              <a:ext cx="0" cy="5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2" name="Line 16"/>
            <p:cNvSpPr>
              <a:spLocks noChangeShapeType="1"/>
            </p:cNvSpPr>
            <p:nvPr/>
          </p:nvSpPr>
          <p:spPr bwMode="auto">
            <a:xfrm>
              <a:off x="3243" y="2614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3" name="Line 17"/>
            <p:cNvSpPr>
              <a:spLocks noChangeShapeType="1"/>
            </p:cNvSpPr>
            <p:nvPr/>
          </p:nvSpPr>
          <p:spPr bwMode="auto">
            <a:xfrm>
              <a:off x="3243" y="3475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4" name="Line 18"/>
            <p:cNvSpPr>
              <a:spLocks noChangeShapeType="1"/>
            </p:cNvSpPr>
            <p:nvPr/>
          </p:nvSpPr>
          <p:spPr bwMode="auto">
            <a:xfrm flipV="1">
              <a:off x="4740" y="2568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5" name="Line 19"/>
            <p:cNvSpPr>
              <a:spLocks noChangeShapeType="1"/>
            </p:cNvSpPr>
            <p:nvPr/>
          </p:nvSpPr>
          <p:spPr bwMode="auto">
            <a:xfrm flipV="1">
              <a:off x="4740" y="3430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6" name="Text Box 20"/>
            <p:cNvSpPr txBox="1">
              <a:spLocks noChangeArrowheads="1"/>
            </p:cNvSpPr>
            <p:nvPr/>
          </p:nvSpPr>
          <p:spPr bwMode="auto">
            <a:xfrm>
              <a:off x="3288" y="3339"/>
              <a:ext cx="31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7907" name="Text Box 21"/>
            <p:cNvSpPr txBox="1">
              <a:spLocks noChangeArrowheads="1"/>
            </p:cNvSpPr>
            <p:nvPr/>
          </p:nvSpPr>
          <p:spPr bwMode="auto">
            <a:xfrm>
              <a:off x="3304" y="2511"/>
              <a:ext cx="3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7908" name="Text Box 22"/>
            <p:cNvSpPr txBox="1">
              <a:spLocks noChangeArrowheads="1"/>
            </p:cNvSpPr>
            <p:nvPr/>
          </p:nvSpPr>
          <p:spPr bwMode="auto">
            <a:xfrm>
              <a:off x="4422" y="2523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7909" name="Text Box 23"/>
            <p:cNvSpPr txBox="1">
              <a:spLocks noChangeArrowheads="1"/>
            </p:cNvSpPr>
            <p:nvPr/>
          </p:nvSpPr>
          <p:spPr bwMode="auto">
            <a:xfrm>
              <a:off x="4422" y="3339"/>
              <a:ext cx="3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C4FCCD-BCB6-4719-9E4E-BD9E3FC45EEC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77060" y="1412776"/>
            <a:ext cx="8229600" cy="3886200"/>
          </a:xfrm>
        </p:spPr>
        <p:txBody>
          <a:bodyPr/>
          <a:lstStyle/>
          <a:p>
            <a:r>
              <a:rPr lang="zh-CN" altLang="en-US" b="1" dirty="0"/>
              <a:t>基本运算定义</a:t>
            </a:r>
          </a:p>
          <a:p>
            <a:pPr lvl="1"/>
            <a:r>
              <a:rPr lang="zh-CN" altLang="en-US" b="1" dirty="0"/>
              <a:t>定义域、值域、域</a:t>
            </a:r>
          </a:p>
          <a:p>
            <a:pPr lvl="1"/>
            <a:r>
              <a:rPr lang="zh-CN" altLang="en-US" b="1" dirty="0"/>
              <a:t>逆、合成、限制、像</a:t>
            </a:r>
          </a:p>
          <a:p>
            <a:r>
              <a:rPr lang="zh-CN" altLang="en-US" b="1" dirty="0"/>
              <a:t>基本运算的性质</a:t>
            </a:r>
          </a:p>
          <a:p>
            <a:r>
              <a:rPr lang="zh-CN" altLang="en-US" b="1" dirty="0"/>
              <a:t>幂运算</a:t>
            </a:r>
          </a:p>
          <a:p>
            <a:pPr lvl="1"/>
            <a:r>
              <a:rPr lang="zh-CN" altLang="en-US" b="1" dirty="0"/>
              <a:t>定义</a:t>
            </a:r>
          </a:p>
          <a:p>
            <a:pPr lvl="1"/>
            <a:r>
              <a:rPr lang="zh-CN" altLang="en-US" b="1" dirty="0"/>
              <a:t>求法</a:t>
            </a:r>
          </a:p>
          <a:p>
            <a:pPr lvl="1"/>
            <a:r>
              <a:rPr lang="zh-CN" altLang="en-US" b="1" dirty="0"/>
              <a:t>性质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title"/>
          </p:nvPr>
        </p:nvSpPr>
        <p:spPr>
          <a:xfrm>
            <a:off x="448458" y="54769"/>
            <a:ext cx="8002588" cy="1100138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4.2  </a:t>
            </a:r>
            <a:r>
              <a:rPr lang="zh-CN" altLang="en-US" b="1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关系的运算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7B9FA4-F16E-42DD-AACF-5EB0A217F43C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399321" y="136158"/>
            <a:ext cx="8229600" cy="11525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关系的基本运算定义</a:t>
            </a:r>
          </a:p>
        </p:txBody>
      </p:sp>
      <p:sp>
        <p:nvSpPr>
          <p:cNvPr id="40964" name="Text Box 3"/>
          <p:cNvSpPr txBox="1">
            <a:spLocks noChangeArrowheads="1"/>
          </p:cNvSpPr>
          <p:nvPr/>
        </p:nvSpPr>
        <p:spPr bwMode="auto">
          <a:xfrm>
            <a:off x="429847" y="1384844"/>
            <a:ext cx="819907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关系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R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的 </a:t>
            </a:r>
            <a:r>
              <a:rPr lang="en-US" altLang="zh-CN" b="1" dirty="0">
                <a:latin typeface="Times New Roman" panose="02020603050405020304" pitchFamily="18" charset="0"/>
              </a:rPr>
              <a:t>( </a:t>
            </a:r>
            <a:r>
              <a:rPr lang="en-US" altLang="zh-CN" b="1" dirty="0">
                <a:latin typeface="+mn-ea"/>
                <a:ea typeface="+mn-ea"/>
              </a:rPr>
              <a:t>R</a:t>
            </a:r>
            <a:r>
              <a:rPr lang="zh-CN" altLang="en-US" b="1" dirty="0">
                <a:latin typeface="+mn-ea"/>
                <a:ea typeface="+mn-ea"/>
              </a:rPr>
              <a:t>为从集合</a:t>
            </a:r>
            <a:r>
              <a:rPr lang="en-US" altLang="zh-CN" b="1" dirty="0">
                <a:latin typeface="+mn-ea"/>
                <a:ea typeface="+mn-ea"/>
              </a:rPr>
              <a:t>X</a:t>
            </a:r>
            <a:r>
              <a:rPr lang="zh-CN" altLang="en-US" b="1" dirty="0">
                <a:latin typeface="+mn-ea"/>
                <a:ea typeface="+mn-ea"/>
              </a:rPr>
              <a:t>到</a:t>
            </a:r>
            <a:r>
              <a:rPr lang="en-US" altLang="zh-CN" b="1" dirty="0">
                <a:latin typeface="+mn-ea"/>
                <a:ea typeface="+mn-ea"/>
              </a:rPr>
              <a:t>Y</a:t>
            </a:r>
            <a:r>
              <a:rPr lang="zh-CN" altLang="en-US" b="1" dirty="0">
                <a:latin typeface="+mn-ea"/>
                <a:ea typeface="+mn-ea"/>
              </a:rPr>
              <a:t>的二元关系 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54108" y="3930815"/>
            <a:ext cx="7272338" cy="2412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1 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={&lt;1,2&gt;,&lt;1,3&gt;,&lt;2,4&gt;,&lt;4,3&gt;},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则  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800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dom</a:t>
            </a:r>
            <a:r>
              <a:rPr lang="en-US" altLang="zh-CN" sz="2800" b="1" i="1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{1, 2, 4}  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800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ran</a:t>
            </a:r>
            <a:r>
              <a:rPr lang="en-US" altLang="zh-CN" sz="2800" b="1" i="1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{2, 3, 4}  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800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fld</a:t>
            </a:r>
            <a:r>
              <a:rPr lang="en-US" altLang="zh-CN" sz="2800" b="1" i="1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{1, 2, 3, 4} 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84162" y="2017654"/>
            <a:ext cx="8199074" cy="18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SzPct val="70000"/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定义域</a:t>
            </a:r>
            <a:r>
              <a:rPr lang="zh-CN" altLang="en-US" b="1" dirty="0">
                <a:latin typeface="Times New Roman" panose="02020603050405020304" pitchFamily="18" charset="0"/>
              </a:rPr>
              <a:t>   </a:t>
            </a:r>
            <a:r>
              <a:rPr lang="en-US" altLang="zh-CN" b="1" dirty="0" err="1">
                <a:latin typeface="Times New Roman" panose="02020603050405020304" pitchFamily="18" charset="0"/>
              </a:rPr>
              <a:t>dom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 = { 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 | </a:t>
            </a:r>
            <a:r>
              <a:rPr lang="en-US" altLang="zh-CN" b="1" i="1" dirty="0" err="1">
                <a:latin typeface="Century Schoolbook" pitchFamily="18" charset="0"/>
              </a:rPr>
              <a:t>x</a:t>
            </a:r>
            <a:r>
              <a:rPr lang="en-US" altLang="zh-CN" b="1" dirty="0" err="1">
                <a:latin typeface="Century Schoolbook" pitchFamily="18" charset="0"/>
                <a:sym typeface="Symbol" panose="05050102010706020507" pitchFamily="18" charset="2"/>
              </a:rPr>
              <a:t>X</a:t>
            </a:r>
            <a:r>
              <a:rPr lang="zh-CN" altLang="en-US" b="1" dirty="0">
                <a:latin typeface="Century Schoolbook" pitchFamily="18" charset="0"/>
                <a:sym typeface="Symbol" panose="05050102010706020507" pitchFamily="18" charset="2"/>
              </a:rPr>
              <a:t>且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b="1" i="1" dirty="0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 (&lt;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b="1" dirty="0" err="1"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&gt;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) }</a:t>
            </a:r>
          </a:p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值域</a:t>
            </a:r>
            <a:r>
              <a:rPr lang="zh-CN" altLang="en-US" b="1" dirty="0">
                <a:solidFill>
                  <a:srgbClr val="FF3300"/>
                </a:solidFill>
              </a:rPr>
              <a:t>    </a:t>
            </a:r>
            <a:r>
              <a:rPr lang="zh-CN" altLang="en-US" b="1" dirty="0"/>
              <a:t>   </a:t>
            </a:r>
            <a:r>
              <a:rPr lang="en-US" altLang="zh-CN" b="1" dirty="0" err="1">
                <a:latin typeface="Times New Roman" panose="02020603050405020304" pitchFamily="18" charset="0"/>
              </a:rPr>
              <a:t>ran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 = { </a:t>
            </a:r>
            <a:r>
              <a:rPr lang="en-US" altLang="zh-CN" b="1" i="1" dirty="0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 | </a:t>
            </a:r>
            <a:r>
              <a:rPr lang="en-US" altLang="zh-CN" b="1" i="1" dirty="0" err="1">
                <a:latin typeface="Century Schoolbook" pitchFamily="18" charset="0"/>
              </a:rPr>
              <a:t>y</a:t>
            </a:r>
            <a:r>
              <a:rPr lang="en-US" altLang="zh-CN" b="1" dirty="0" err="1">
                <a:latin typeface="Century Schoolbook" pitchFamily="18" charset="0"/>
                <a:sym typeface="Symbol" panose="05050102010706020507" pitchFamily="18" charset="2"/>
              </a:rPr>
              <a:t>Y</a:t>
            </a:r>
            <a:r>
              <a:rPr lang="zh-CN" altLang="en-US" b="1" dirty="0">
                <a:latin typeface="Century Schoolbook" pitchFamily="18" charset="0"/>
                <a:sym typeface="Symbol" panose="05050102010706020507" pitchFamily="18" charset="2"/>
              </a:rPr>
              <a:t>且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 (&lt;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b="1" dirty="0" err="1"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&gt;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) }</a:t>
            </a:r>
          </a:p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域</a:t>
            </a:r>
            <a:r>
              <a:rPr lang="zh-CN" altLang="en-US" b="1" dirty="0">
                <a:solidFill>
                  <a:srgbClr val="FF3300"/>
                </a:solidFill>
              </a:rPr>
              <a:t>          </a:t>
            </a:r>
            <a:r>
              <a:rPr lang="en-US" altLang="zh-CN" b="1" dirty="0" err="1">
                <a:latin typeface="Times New Roman" panose="02020603050405020304" pitchFamily="18" charset="0"/>
              </a:rPr>
              <a:t>fld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 = </a:t>
            </a:r>
            <a:r>
              <a:rPr lang="en-US" altLang="zh-CN" b="1" dirty="0" err="1">
                <a:latin typeface="Times New Roman" panose="02020603050405020304" pitchFamily="18" charset="0"/>
              </a:rPr>
              <a:t>dom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</a:rPr>
              <a:t>ran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E774331-F694-434B-B704-0AA589E1A885}" type="slidenum">
              <a:rPr lang="zh-CN" altLang="zh-CN" sz="1200">
                <a:latin typeface="Arial Black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zh-CN" altLang="zh-CN" sz="1200">
              <a:latin typeface="Arial Black" pitchFamily="34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1412875"/>
            <a:ext cx="7459663" cy="1800225"/>
          </a:xfrm>
        </p:spPr>
        <p:txBody>
          <a:bodyPr/>
          <a:lstStyle/>
          <a:p>
            <a:pPr marL="476250" indent="-476250" eaLnBrk="1" hangingPunct="1">
              <a:lnSpc>
                <a:spcPct val="110000"/>
              </a:lnSpc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r>
              <a:rPr lang="zh-CN" altLang="zh-CN" sz="2800" b="1" smtClean="0">
                <a:solidFill>
                  <a:srgbClr val="FF0000"/>
                </a:solidFill>
              </a:rPr>
              <a:t>例13</a:t>
            </a:r>
            <a:r>
              <a:rPr lang="zh-CN" altLang="zh-CN" sz="2800" b="1" smtClean="0"/>
              <a:t> 设A={a，b，c，d，e}，B={1，2，3}，</a:t>
            </a:r>
          </a:p>
          <a:p>
            <a:pPr marL="476250" indent="-476250" eaLnBrk="1" hangingPunct="1">
              <a:lnSpc>
                <a:spcPct val="110000"/>
              </a:lnSpc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r>
              <a:rPr lang="zh-CN" altLang="zh-CN" sz="2800" b="1" smtClean="0"/>
              <a:t>         R={&lt;a，2&gt;，&lt;b，3&gt;，&lt;c，2&gt;}，求R的</a:t>
            </a:r>
          </a:p>
          <a:p>
            <a:pPr marL="476250" indent="-476250" eaLnBrk="1" hangingPunct="1">
              <a:lnSpc>
                <a:spcPct val="110000"/>
              </a:lnSpc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r>
              <a:rPr lang="zh-CN" altLang="zh-CN" sz="2800" b="1" smtClean="0"/>
              <a:t>         定义域和值域。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b="1" smtClean="0"/>
              <a:t>关系的运算—域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611188" y="3284538"/>
            <a:ext cx="76327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 b="1">
                <a:solidFill>
                  <a:srgbClr val="FF0000"/>
                </a:solidFill>
              </a:rPr>
              <a:t>解 :</a:t>
            </a:r>
            <a:r>
              <a:rPr lang="zh-CN" altLang="zh-CN" sz="2800" b="1"/>
              <a:t>  domR = {a，b，c}，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 b="1"/>
              <a:t>        ranR = {2，3}。</a:t>
            </a:r>
          </a:p>
        </p:txBody>
      </p:sp>
    </p:spTree>
    <p:extLst>
      <p:ext uri="{BB962C8B-B14F-4D97-AF65-F5344CB8AC3E}">
        <p14:creationId xmlns:p14="http://schemas.microsoft.com/office/powerpoint/2010/main" val="403887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FFF4EF-DC0E-4416-AC56-353CD4F34225}" type="slidenum">
              <a:rPr lang="zh-CN" altLang="zh-CN" sz="1200">
                <a:latin typeface="Arial Black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zh-CN" altLang="zh-CN" sz="1200">
              <a:latin typeface="Arial Black" pitchFamily="34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b="1" smtClean="0"/>
              <a:t>关系的运算—域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412875"/>
            <a:ext cx="7459662" cy="4203700"/>
          </a:xfrm>
        </p:spPr>
        <p:txBody>
          <a:bodyPr/>
          <a:lstStyle/>
          <a:p>
            <a:pPr marL="476250" indent="-476250" eaLnBrk="1" hangingPunct="1">
              <a:lnSpc>
                <a:spcPct val="110000"/>
              </a:lnSpc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r>
              <a:rPr lang="zh-CN" altLang="zh-CN" sz="2800" b="1" smtClean="0">
                <a:solidFill>
                  <a:srgbClr val="FF0000"/>
                </a:solidFill>
              </a:rPr>
              <a:t>例14 </a:t>
            </a:r>
            <a:r>
              <a:rPr lang="zh-CN" altLang="zh-CN" sz="2800" b="1" smtClean="0"/>
              <a:t>分别求以下关系的定义域和值域。          </a:t>
            </a:r>
          </a:p>
        </p:txBody>
      </p:sp>
      <p:grpSp>
        <p:nvGrpSpPr>
          <p:cNvPr id="30724" name="Group 4"/>
          <p:cNvGrpSpPr>
            <a:grpSpLocks/>
          </p:cNvGrpSpPr>
          <p:nvPr/>
        </p:nvGrpSpPr>
        <p:grpSpPr bwMode="auto">
          <a:xfrm>
            <a:off x="1403350" y="2205038"/>
            <a:ext cx="5022850" cy="752475"/>
            <a:chOff x="0" y="0"/>
            <a:chExt cx="3164" cy="474"/>
          </a:xfrm>
        </p:grpSpPr>
        <p:sp>
          <p:nvSpPr>
            <p:cNvPr id="31759" name="Text Box 5"/>
            <p:cNvSpPr txBox="1">
              <a:spLocks noChangeArrowheads="1"/>
            </p:cNvSpPr>
            <p:nvPr/>
          </p:nvSpPr>
          <p:spPr bwMode="auto">
            <a:xfrm>
              <a:off x="0" y="89"/>
              <a:ext cx="3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2400">
                  <a:latin typeface="Times New Roman" pitchFamily="18" charset="0"/>
                </a:rPr>
                <a:t>(1) </a:t>
              </a:r>
            </a:p>
          </p:txBody>
        </p:sp>
        <p:graphicFrame>
          <p:nvGraphicFramePr>
            <p:cNvPr id="31760" name="Object 6"/>
            <p:cNvGraphicFramePr>
              <a:graphicFrameLocks noChangeAspect="1"/>
            </p:cNvGraphicFramePr>
            <p:nvPr/>
          </p:nvGraphicFramePr>
          <p:xfrm>
            <a:off x="384" y="0"/>
            <a:ext cx="2780" cy="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482" r:id="rId3" imgW="1765300" imgH="304800" progId="Equation.DSMT4">
                    <p:embed/>
                  </p:oleObj>
                </mc:Choice>
                <mc:Fallback>
                  <p:oleObj r:id="rId3" imgW="1765300" imgH="304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0"/>
                          <a:ext cx="2780" cy="4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727" name="Group 7"/>
          <p:cNvGrpSpPr>
            <a:grpSpLocks/>
          </p:cNvGrpSpPr>
          <p:nvPr/>
        </p:nvGrpSpPr>
        <p:grpSpPr bwMode="auto">
          <a:xfrm>
            <a:off x="1389063" y="3068638"/>
            <a:ext cx="5775325" cy="752475"/>
            <a:chOff x="0" y="0"/>
            <a:chExt cx="3638" cy="474"/>
          </a:xfrm>
        </p:grpSpPr>
        <p:sp>
          <p:nvSpPr>
            <p:cNvPr id="31757" name="Text Box 8"/>
            <p:cNvSpPr txBox="1">
              <a:spLocks noChangeArrowheads="1"/>
            </p:cNvSpPr>
            <p:nvPr/>
          </p:nvSpPr>
          <p:spPr bwMode="auto">
            <a:xfrm>
              <a:off x="0" y="83"/>
              <a:ext cx="3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2400">
                  <a:latin typeface="Times New Roman" pitchFamily="18" charset="0"/>
                </a:rPr>
                <a:t>(2) </a:t>
              </a:r>
            </a:p>
          </p:txBody>
        </p:sp>
        <p:graphicFrame>
          <p:nvGraphicFramePr>
            <p:cNvPr id="31758" name="Object 9"/>
            <p:cNvGraphicFramePr>
              <a:graphicFrameLocks noChangeAspect="1"/>
            </p:cNvGraphicFramePr>
            <p:nvPr/>
          </p:nvGraphicFramePr>
          <p:xfrm>
            <a:off x="338" y="0"/>
            <a:ext cx="3300" cy="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483" r:id="rId5" imgW="2095500" imgH="304800" progId="Equation.DSMT4">
                    <p:embed/>
                  </p:oleObj>
                </mc:Choice>
                <mc:Fallback>
                  <p:oleObj r:id="rId5" imgW="2095500" imgH="304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" y="0"/>
                          <a:ext cx="3300" cy="4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751" name="Group 10"/>
          <p:cNvGrpSpPr>
            <a:grpSpLocks/>
          </p:cNvGrpSpPr>
          <p:nvPr/>
        </p:nvGrpSpPr>
        <p:grpSpPr bwMode="auto">
          <a:xfrm>
            <a:off x="1331913" y="4076700"/>
            <a:ext cx="5168900" cy="752475"/>
            <a:chOff x="0" y="0"/>
            <a:chExt cx="3256" cy="474"/>
          </a:xfrm>
        </p:grpSpPr>
        <p:sp>
          <p:nvSpPr>
            <p:cNvPr id="31755" name="Text Box 11"/>
            <p:cNvSpPr txBox="1">
              <a:spLocks noChangeArrowheads="1"/>
            </p:cNvSpPr>
            <p:nvPr/>
          </p:nvSpPr>
          <p:spPr bwMode="auto">
            <a:xfrm>
              <a:off x="0" y="83"/>
              <a:ext cx="3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2400">
                  <a:latin typeface="Times New Roman" pitchFamily="18" charset="0"/>
                </a:rPr>
                <a:t>(3) </a:t>
              </a:r>
            </a:p>
          </p:txBody>
        </p:sp>
        <p:graphicFrame>
          <p:nvGraphicFramePr>
            <p:cNvPr id="31756" name="Object 12"/>
            <p:cNvGraphicFramePr>
              <a:graphicFrameLocks noChangeAspect="1"/>
            </p:cNvGraphicFramePr>
            <p:nvPr/>
          </p:nvGraphicFramePr>
          <p:xfrm>
            <a:off x="336" y="0"/>
            <a:ext cx="2920" cy="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484" r:id="rId7" imgW="1855005" imgH="304932" progId="Equation.DSMT4">
                    <p:embed/>
                  </p:oleObj>
                </mc:Choice>
                <mc:Fallback>
                  <p:oleObj r:id="rId7" imgW="1855005" imgH="30493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0"/>
                          <a:ext cx="2920" cy="4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733" name="Group 13"/>
          <p:cNvGrpSpPr>
            <a:grpSpLocks/>
          </p:cNvGrpSpPr>
          <p:nvPr/>
        </p:nvGrpSpPr>
        <p:grpSpPr bwMode="auto">
          <a:xfrm>
            <a:off x="1282700" y="5084763"/>
            <a:ext cx="5810250" cy="752475"/>
            <a:chOff x="0" y="0"/>
            <a:chExt cx="3660" cy="474"/>
          </a:xfrm>
        </p:grpSpPr>
        <p:sp>
          <p:nvSpPr>
            <p:cNvPr id="31753" name="Text Box 14"/>
            <p:cNvSpPr txBox="1">
              <a:spLocks noChangeArrowheads="1"/>
            </p:cNvSpPr>
            <p:nvPr/>
          </p:nvSpPr>
          <p:spPr bwMode="auto">
            <a:xfrm>
              <a:off x="0" y="47"/>
              <a:ext cx="3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2400">
                  <a:latin typeface="Times New Roman" pitchFamily="18" charset="0"/>
                </a:rPr>
                <a:t>(4) </a:t>
              </a:r>
            </a:p>
          </p:txBody>
        </p:sp>
        <p:graphicFrame>
          <p:nvGraphicFramePr>
            <p:cNvPr id="31754" name="Object 15"/>
            <p:cNvGraphicFramePr>
              <a:graphicFrameLocks noChangeAspect="1"/>
            </p:cNvGraphicFramePr>
            <p:nvPr/>
          </p:nvGraphicFramePr>
          <p:xfrm>
            <a:off x="340" y="0"/>
            <a:ext cx="3320" cy="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485" r:id="rId9" imgW="2109115" imgH="304932" progId="Equation.DSMT4">
                    <p:embed/>
                  </p:oleObj>
                </mc:Choice>
                <mc:Fallback>
                  <p:oleObj r:id="rId9" imgW="2109115" imgH="30493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" y="0"/>
                          <a:ext cx="3320" cy="4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3447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907D47-AC3E-459B-9515-BC42EA81D3F6}" type="slidenum">
              <a:rPr lang="zh-CN" altLang="zh-CN" sz="1200">
                <a:latin typeface="Arial Black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zh-CN" altLang="zh-CN" sz="1200">
              <a:latin typeface="Arial Black" pitchFamily="34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b="1" smtClean="0"/>
              <a:t>关系的运算—域</a:t>
            </a:r>
          </a:p>
        </p:txBody>
      </p:sp>
      <p:graphicFrame>
        <p:nvGraphicFramePr>
          <p:cNvPr id="32772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1619250" y="2205038"/>
          <a:ext cx="45370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14" r:id="rId3" imgW="1664422" imgH="228699" progId="Equation.DSMT4">
                  <p:embed/>
                </p:oleObj>
              </mc:Choice>
              <mc:Fallback>
                <p:oleObj r:id="rId3" imgW="1664422" imgH="22869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205038"/>
                        <a:ext cx="453707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773" name="Group 4"/>
          <p:cNvGrpSpPr>
            <a:grpSpLocks/>
          </p:cNvGrpSpPr>
          <p:nvPr/>
        </p:nvGrpSpPr>
        <p:grpSpPr bwMode="auto">
          <a:xfrm>
            <a:off x="611188" y="1484313"/>
            <a:ext cx="5111750" cy="720725"/>
            <a:chOff x="0" y="0"/>
            <a:chExt cx="2392" cy="356"/>
          </a:xfrm>
        </p:grpSpPr>
        <p:sp>
          <p:nvSpPr>
            <p:cNvPr id="32779" name="Text Box 5"/>
            <p:cNvSpPr txBox="1">
              <a:spLocks noChangeArrowheads="1"/>
            </p:cNvSpPr>
            <p:nvPr/>
          </p:nvSpPr>
          <p:spPr bwMode="auto">
            <a:xfrm>
              <a:off x="0" y="4"/>
              <a:ext cx="455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2800" b="1">
                  <a:solidFill>
                    <a:srgbClr val="FF0000"/>
                  </a:solidFill>
                </a:rPr>
                <a:t>解：</a:t>
              </a:r>
              <a:r>
                <a:rPr lang="zh-CN" altLang="zh-CN" sz="2400">
                  <a:latin typeface="Times New Roman" pitchFamily="18" charset="0"/>
                </a:rPr>
                <a:t> </a:t>
              </a:r>
            </a:p>
          </p:txBody>
        </p:sp>
        <p:graphicFrame>
          <p:nvGraphicFramePr>
            <p:cNvPr id="32780" name="Object 6"/>
            <p:cNvGraphicFramePr>
              <a:graphicFrameLocks noChangeAspect="1"/>
            </p:cNvGraphicFramePr>
            <p:nvPr/>
          </p:nvGraphicFramePr>
          <p:xfrm>
            <a:off x="432" y="0"/>
            <a:ext cx="1960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15" r:id="rId5" imgW="1246765" imgH="228998" progId="Equation.DSMT4">
                    <p:embed/>
                  </p:oleObj>
                </mc:Choice>
                <mc:Fallback>
                  <p:oleObj r:id="rId5" imgW="1246765" imgH="22899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0"/>
                          <a:ext cx="1960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774" name="Object 7"/>
          <p:cNvGraphicFramePr>
            <a:graphicFrameLocks noChangeAspect="1"/>
          </p:cNvGraphicFramePr>
          <p:nvPr/>
        </p:nvGraphicFramePr>
        <p:xfrm>
          <a:off x="1619250" y="2997200"/>
          <a:ext cx="20447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16" r:id="rId7" imgW="750603" imgH="228998" progId="Equation.DSMT4">
                  <p:embed/>
                </p:oleObj>
              </mc:Choice>
              <mc:Fallback>
                <p:oleObj r:id="rId7" imgW="750603" imgH="22899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997200"/>
                        <a:ext cx="2044700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775" name="Group 8"/>
          <p:cNvGrpSpPr>
            <a:grpSpLocks/>
          </p:cNvGrpSpPr>
          <p:nvPr/>
        </p:nvGrpSpPr>
        <p:grpSpPr bwMode="auto">
          <a:xfrm>
            <a:off x="1692275" y="3789363"/>
            <a:ext cx="5870575" cy="719137"/>
            <a:chOff x="0" y="0"/>
            <a:chExt cx="3387" cy="356"/>
          </a:xfrm>
        </p:grpSpPr>
        <p:graphicFrame>
          <p:nvGraphicFramePr>
            <p:cNvPr id="32777" name="Object 9"/>
            <p:cNvGraphicFramePr>
              <a:graphicFrameLocks noChangeAspect="1"/>
            </p:cNvGraphicFramePr>
            <p:nvPr/>
          </p:nvGraphicFramePr>
          <p:xfrm>
            <a:off x="0" y="0"/>
            <a:ext cx="2580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517" r:id="rId9" imgW="1639011" imgH="228699" progId="Equation.DSMT4">
                    <p:embed/>
                  </p:oleObj>
                </mc:Choice>
                <mc:Fallback>
                  <p:oleObj r:id="rId9" imgW="1639011" imgH="22869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580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78" name="Text Box 10"/>
            <p:cNvSpPr txBox="1">
              <a:spLocks noChangeArrowheads="1"/>
            </p:cNvSpPr>
            <p:nvPr/>
          </p:nvSpPr>
          <p:spPr bwMode="auto">
            <a:xfrm>
              <a:off x="2534" y="26"/>
              <a:ext cx="853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2400"/>
                <a:t>即偶数集</a:t>
              </a:r>
              <a:r>
                <a:rPr lang="zh-CN" altLang="zh-CN" sz="2400">
                  <a:latin typeface="Times New Roman" pitchFamily="18" charset="0"/>
                </a:rPr>
                <a:t> </a:t>
              </a:r>
            </a:p>
          </p:txBody>
        </p:sp>
      </p:grpSp>
      <p:graphicFrame>
        <p:nvGraphicFramePr>
          <p:cNvPr id="32776" name="Object 11"/>
          <p:cNvGraphicFramePr>
            <a:graphicFrameLocks noGrp="1" noChangeAspect="1"/>
          </p:cNvGraphicFramePr>
          <p:nvPr>
            <p:ph sz="half" idx="2"/>
          </p:nvPr>
        </p:nvGraphicFramePr>
        <p:xfrm>
          <a:off x="1690688" y="4724400"/>
          <a:ext cx="453707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18" r:id="rId11" imgW="1550073" imgH="228699" progId="Equation.DSMT4">
                  <p:embed/>
                </p:oleObj>
              </mc:Choice>
              <mc:Fallback>
                <p:oleObj r:id="rId11" imgW="1550073" imgH="22869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4724400"/>
                        <a:ext cx="4537075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990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791D365-2DAE-4BAB-AB79-32BED7BD89A2}" type="slidenum">
              <a:rPr lang="zh-CN" altLang="zh-CN" sz="1200">
                <a:latin typeface="Arial Black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zh-CN" altLang="zh-CN" sz="1200">
              <a:latin typeface="Arial Black" pitchFamily="34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b="1" smtClean="0"/>
              <a:t>关系的运算—域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1412875"/>
            <a:ext cx="8064500" cy="4203700"/>
          </a:xfrm>
        </p:spPr>
        <p:txBody>
          <a:bodyPr/>
          <a:lstStyle/>
          <a:p>
            <a:pPr marL="476250" indent="-476250" eaLnBrk="1" hangingPunct="1">
              <a:lnSpc>
                <a:spcPct val="110000"/>
              </a:lnSpc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r>
              <a:rPr lang="zh-CN" altLang="zh-CN" sz="2800" b="1" smtClean="0">
                <a:solidFill>
                  <a:srgbClr val="FF0000"/>
                </a:solidFill>
              </a:rPr>
              <a:t>例15：</a:t>
            </a:r>
            <a:r>
              <a:rPr lang="zh-CN" altLang="zh-CN" sz="2800" b="1" smtClean="0"/>
              <a:t>A={1，2，3，4}，B={5，6，7}，   </a:t>
            </a:r>
          </a:p>
          <a:p>
            <a:pPr marL="476250" indent="-476250" eaLnBrk="1" hangingPunct="1">
              <a:lnSpc>
                <a:spcPct val="110000"/>
              </a:lnSpc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r>
              <a:rPr lang="zh-CN" altLang="zh-CN" sz="2800" b="1" smtClean="0"/>
              <a:t>           R={&lt;1，7&gt;，&lt;2，5&gt;，&lt;3，6&gt;，&lt;4，7&gt;}</a:t>
            </a:r>
          </a:p>
          <a:p>
            <a:pPr marL="476250" indent="-476250" algn="just" eaLnBrk="1" hangingPunct="1">
              <a:lnSpc>
                <a:spcPct val="110000"/>
              </a:lnSpc>
              <a:buClrTx/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r>
              <a:rPr lang="zh-CN" altLang="zh-CN" sz="2800" b="1" smtClean="0"/>
              <a:t>R的图解如图所示：</a:t>
            </a:r>
            <a:endParaRPr lang="zh-CN" altLang="zh-CN" sz="2800" b="1" smtClean="0">
              <a:latin typeface="宋体" charset="-122"/>
            </a:endParaRPr>
          </a:p>
        </p:txBody>
      </p:sp>
      <p:pic>
        <p:nvPicPr>
          <p:cNvPr id="3277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71775" y="3573463"/>
            <a:ext cx="3375025" cy="1539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32773" name="Group 5"/>
          <p:cNvGrpSpPr>
            <a:grpSpLocks/>
          </p:cNvGrpSpPr>
          <p:nvPr/>
        </p:nvGrpSpPr>
        <p:grpSpPr bwMode="auto">
          <a:xfrm>
            <a:off x="2627313" y="3429000"/>
            <a:ext cx="3313112" cy="1873250"/>
            <a:chOff x="0" y="0"/>
            <a:chExt cx="1270" cy="953"/>
          </a:xfrm>
        </p:grpSpPr>
        <p:sp>
          <p:nvSpPr>
            <p:cNvPr id="33801" name="AutoShape 6"/>
            <p:cNvSpPr>
              <a:spLocks noChangeArrowheads="1"/>
            </p:cNvSpPr>
            <p:nvPr/>
          </p:nvSpPr>
          <p:spPr bwMode="auto">
            <a:xfrm>
              <a:off x="0" y="0"/>
              <a:ext cx="363" cy="953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3802" name="AutoShape 7"/>
            <p:cNvSpPr>
              <a:spLocks noChangeArrowheads="1"/>
            </p:cNvSpPr>
            <p:nvPr/>
          </p:nvSpPr>
          <p:spPr bwMode="auto">
            <a:xfrm>
              <a:off x="907" y="0"/>
              <a:ext cx="363" cy="953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4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33799" name="Text Box 8"/>
          <p:cNvSpPr txBox="1">
            <a:spLocks noChangeArrowheads="1"/>
          </p:cNvSpPr>
          <p:nvPr/>
        </p:nvSpPr>
        <p:spPr bwMode="auto">
          <a:xfrm>
            <a:off x="2484438" y="5445125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zh-CN" sz="2800" b="1"/>
              <a:t>domR</a:t>
            </a:r>
          </a:p>
        </p:txBody>
      </p:sp>
      <p:sp>
        <p:nvSpPr>
          <p:cNvPr id="33800" name="Text Box 9"/>
          <p:cNvSpPr txBox="1">
            <a:spLocks noChangeArrowheads="1"/>
          </p:cNvSpPr>
          <p:nvPr/>
        </p:nvSpPr>
        <p:spPr bwMode="auto">
          <a:xfrm>
            <a:off x="4932363" y="5445125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zh-CN" sz="2800" b="1"/>
              <a:t>ranR</a:t>
            </a:r>
          </a:p>
        </p:txBody>
      </p:sp>
    </p:spTree>
    <p:extLst>
      <p:ext uri="{BB962C8B-B14F-4D97-AF65-F5344CB8AC3E}">
        <p14:creationId xmlns:p14="http://schemas.microsoft.com/office/powerpoint/2010/main" val="402896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FB3623-3450-4785-83A5-6C2AE4CE5A27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351813" y="-57718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关系的基本运算定义（续）</a:t>
            </a:r>
          </a:p>
        </p:txBody>
      </p:sp>
      <p:sp>
        <p:nvSpPr>
          <p:cNvPr id="207875" name="Text Box 3"/>
          <p:cNvSpPr txBox="1">
            <a:spLocks noChangeArrowheads="1"/>
          </p:cNvSpPr>
          <p:nvPr/>
        </p:nvSpPr>
        <p:spPr bwMode="auto">
          <a:xfrm>
            <a:off x="391352" y="1385455"/>
            <a:ext cx="8496944" cy="18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关系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逆</a:t>
            </a:r>
            <a:r>
              <a:rPr lang="zh-CN" altLang="en-US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 = {&lt;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 | 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}</a:t>
            </a:r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合成</a:t>
            </a:r>
            <a:r>
              <a:rPr lang="zh-CN" altLang="en-US" b="1" dirty="0">
                <a:solidFill>
                  <a:srgbClr val="FF3300"/>
                </a:solidFill>
              </a:rPr>
              <a:t>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/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 = {&lt;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y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 |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latin typeface="Times New Roman" panose="02020603050405020304" pitchFamily="18" charset="0"/>
              </a:rPr>
              <a:t> (&lt;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 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 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800" b="1" i="1" dirty="0">
                <a:solidFill>
                  <a:srgbClr val="00B05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) } 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81720" y="3339383"/>
            <a:ext cx="806450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2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={&lt;1,2&gt;, &lt;2,3&gt;, &lt;1,4&gt;, &lt;2,2&gt;}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={&lt;1,1&gt;, &lt;1,3&gt;, &lt;2,3&gt;, &lt;3,2&gt;, &lt;3,3&gt;}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，则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baseline="30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∘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=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∘</a:t>
            </a:r>
            <a:r>
              <a:rPr lang="en-US" altLang="zh-CN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=</a:t>
            </a:r>
          </a:p>
        </p:txBody>
      </p:sp>
      <p:sp>
        <p:nvSpPr>
          <p:cNvPr id="2" name="矩形 1"/>
          <p:cNvSpPr/>
          <p:nvPr/>
        </p:nvSpPr>
        <p:spPr>
          <a:xfrm>
            <a:off x="2031953" y="4340052"/>
            <a:ext cx="4532010" cy="564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solidFill>
                  <a:schemeClr val="bg2"/>
                </a:solidFill>
              </a:rPr>
              <a:t>{&lt;2,1&gt;, &lt;3,2&gt;, &lt;4,1&gt;, &lt;2,2&gt;} </a:t>
            </a:r>
          </a:p>
        </p:txBody>
      </p:sp>
      <p:sp>
        <p:nvSpPr>
          <p:cNvPr id="3" name="矩形 2"/>
          <p:cNvSpPr/>
          <p:nvPr/>
        </p:nvSpPr>
        <p:spPr>
          <a:xfrm>
            <a:off x="2192849" y="4865717"/>
            <a:ext cx="4442242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solidFill>
                  <a:schemeClr val="bg2"/>
                </a:solidFill>
              </a:rPr>
              <a:t>{&lt;1,2&gt;, &lt;1,4&gt;, &lt;3,2&gt;, &lt;3,3&gt;}</a:t>
            </a:r>
          </a:p>
        </p:txBody>
      </p:sp>
      <p:sp>
        <p:nvSpPr>
          <p:cNvPr id="4" name="矩形 3"/>
          <p:cNvSpPr/>
          <p:nvPr/>
        </p:nvSpPr>
        <p:spPr>
          <a:xfrm>
            <a:off x="2192849" y="5381209"/>
            <a:ext cx="3403496" cy="564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solidFill>
                  <a:schemeClr val="bg2"/>
                </a:solidFill>
              </a:rPr>
              <a:t>{&lt;1,3&gt;, &lt;2,2&gt;, &lt;2,3&gt;}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7B613A5-7B74-4FD1-A91B-452E162B41E9}" type="slidenum">
              <a:rPr lang="zh-CN" altLang="zh-CN" sz="1200">
                <a:latin typeface="Arial Black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zh-CN" altLang="zh-CN" sz="1200">
              <a:latin typeface="Arial Black" pitchFamily="34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8" y="-20638"/>
            <a:ext cx="8229600" cy="1365251"/>
          </a:xfrm>
        </p:spPr>
        <p:txBody>
          <a:bodyPr/>
          <a:lstStyle/>
          <a:p>
            <a:pPr eaLnBrk="1" hangingPunct="1"/>
            <a:r>
              <a:rPr lang="zh-CN" altLang="zh-CN" b="1" smtClean="0"/>
              <a:t>合成运算的图示方法</a:t>
            </a:r>
          </a:p>
        </p:txBody>
      </p:sp>
      <p:sp>
        <p:nvSpPr>
          <p:cNvPr id="36868" name="Text Box 3"/>
          <p:cNvSpPr txBox="1">
            <a:spLocks noChangeArrowheads="1"/>
          </p:cNvSpPr>
          <p:nvPr/>
        </p:nvSpPr>
        <p:spPr bwMode="auto">
          <a:xfrm>
            <a:off x="539750" y="1312863"/>
            <a:ext cx="6861175" cy="219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1800" b="1"/>
              <a:t> </a:t>
            </a:r>
            <a:r>
              <a:rPr lang="zh-CN" altLang="zh-CN" sz="2800" b="1">
                <a:latin typeface="Times New Roman" pitchFamily="18" charset="0"/>
              </a:rPr>
              <a:t>利用图示(不是关系图)方法求合成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600" b="1" i="1">
                <a:latin typeface="Times New Roman" pitchFamily="18" charset="0"/>
              </a:rPr>
              <a:t>R={&lt;1,2&gt;, &lt;2,3&gt;, &lt;1,4&gt;, &lt;2,2&gt;}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600" b="1" i="1">
                <a:latin typeface="Times New Roman" pitchFamily="18" charset="0"/>
              </a:rPr>
              <a:t>S={&lt;1,1&gt;, &lt;1,3&gt;, &lt;2,3&gt;, &lt;3,2&gt;, &lt;3,3&gt;}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600" b="1" i="1">
                <a:latin typeface="Times New Roman" pitchFamily="18" charset="0"/>
              </a:rPr>
              <a:t> R∘S ={&lt;1,2&gt;, &lt;1,4&gt;, &lt;3,2&gt;, &lt;3,3&gt;}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600" b="1" i="1">
                <a:latin typeface="Times New Roman" pitchFamily="18" charset="0"/>
              </a:rPr>
              <a:t> S∘R ={&lt;1,3&gt;, &lt;2,2&gt;, &lt;2,3&gt;}</a:t>
            </a:r>
          </a:p>
        </p:txBody>
      </p:sp>
      <p:pic>
        <p:nvPicPr>
          <p:cNvPr id="3686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3716338"/>
            <a:ext cx="3638550" cy="286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716338"/>
            <a:ext cx="3600450" cy="284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3464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C039D43-EFD4-45EB-A95C-C0115152BBBC}" type="slidenum">
              <a:rPr lang="zh-CN" altLang="zh-CN" sz="1200">
                <a:latin typeface="Arial Black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zh-CN" altLang="zh-CN" sz="1200">
              <a:latin typeface="Arial Black" pitchFamily="34" charset="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zh-CN" altLang="zh-CN" b="1" smtClean="0"/>
              <a:t>逆和合成运算的矩阵方法</a:t>
            </a:r>
          </a:p>
        </p:txBody>
      </p:sp>
      <p:graphicFrame>
        <p:nvGraphicFramePr>
          <p:cNvPr id="2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611188" y="1557338"/>
          <a:ext cx="2952750" cy="210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30" r:id="rId4" imgW="1284931" imgH="915990" progId="Equation.3">
                  <p:embed/>
                </p:oleObj>
              </mc:Choice>
              <mc:Fallback>
                <p:oleObj r:id="rId4" imgW="1284931" imgH="9159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557338"/>
                        <a:ext cx="2952750" cy="2105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924300" y="1628775"/>
          <a:ext cx="2952750" cy="212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31" r:id="rId6" imgW="1271656" imgH="915592" progId="Equation.3">
                  <p:embed/>
                </p:oleObj>
              </mc:Choice>
              <mc:Fallback>
                <p:oleObj r:id="rId6" imgW="1271656" imgH="9155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1628775"/>
                        <a:ext cx="2952750" cy="2127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84213" y="3789363"/>
          <a:ext cx="2735262" cy="185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32" r:id="rId8" imgW="1348541" imgH="915990" progId="Equation.3">
                  <p:embed/>
                </p:oleObj>
              </mc:Choice>
              <mc:Fallback>
                <p:oleObj r:id="rId8" imgW="1348541" imgH="9159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789363"/>
                        <a:ext cx="2735262" cy="18573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6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3995738" y="3860800"/>
          <a:ext cx="3024187" cy="203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33" r:id="rId10" imgW="1361263" imgH="915990" progId="Equation.3">
                  <p:embed/>
                </p:oleObj>
              </mc:Choice>
              <mc:Fallback>
                <p:oleObj r:id="rId10" imgW="1361263" imgH="9159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860800"/>
                        <a:ext cx="3024187" cy="20367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6" name="Text Box 7"/>
          <p:cNvSpPr txBox="1">
            <a:spLocks noChangeArrowheads="1"/>
          </p:cNvSpPr>
          <p:nvPr/>
        </p:nvSpPr>
        <p:spPr bwMode="auto">
          <a:xfrm>
            <a:off x="7164388" y="4005263"/>
            <a:ext cx="1979612" cy="178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zh-CN" sz="2800" b="1">
                <a:cs typeface="Arial" charset="0"/>
              </a:rPr>
              <a:t>=M</a:t>
            </a:r>
            <a:r>
              <a:rPr lang="zh-CN" altLang="zh-CN" sz="2800" b="1" baseline="-25000">
                <a:cs typeface="Arial" charset="0"/>
              </a:rPr>
              <a:t>R*</a:t>
            </a:r>
            <a:r>
              <a:rPr lang="zh-CN" altLang="zh-CN" sz="2800" b="1">
                <a:cs typeface="Arial" charset="0"/>
              </a:rPr>
              <a:t>M</a:t>
            </a:r>
            <a:r>
              <a:rPr lang="zh-CN" altLang="zh-CN" sz="2800" b="1" baseline="-25000">
                <a:cs typeface="Arial" charset="0"/>
              </a:rPr>
              <a:t>s，</a:t>
            </a:r>
            <a:r>
              <a:rPr lang="zh-CN" altLang="zh-CN" sz="2800" b="1">
                <a:cs typeface="Arial" charset="0"/>
              </a:rPr>
              <a:t>元素和为逻辑和。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925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983F69-42C2-4A7A-83F6-0009CC95D474}" type="slidenum">
              <a:rPr lang="zh-CN" altLang="zh-CN" sz="1200">
                <a:latin typeface="Arial Black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zh-CN" altLang="zh-CN" sz="1200">
              <a:latin typeface="Arial Black" pitchFamily="34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412875"/>
            <a:ext cx="8351837" cy="4419600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76250" indent="-476250" eaLnBrk="1" hangingPunct="1"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r>
              <a:rPr lang="zh-CN" altLang="en-US" b="1" smtClean="0">
                <a:solidFill>
                  <a:srgbClr val="FF0000"/>
                </a:solidFill>
              </a:rPr>
              <a:t>例 </a:t>
            </a:r>
            <a:r>
              <a:rPr lang="zh-CN" altLang="en-US" b="1" smtClean="0"/>
              <a:t>  设R，S关系为：</a:t>
            </a:r>
          </a:p>
          <a:p>
            <a:pPr marL="476250" indent="-476250" eaLnBrk="1" hangingPunct="1"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r>
              <a:rPr lang="zh-CN" altLang="en-US" b="1" smtClean="0"/>
              <a:t>         R={&lt;001,C1&gt;,&lt;002,C2&gt;,&lt;001,C3&gt;,</a:t>
            </a:r>
          </a:p>
          <a:p>
            <a:pPr marL="476250" indent="-476250" eaLnBrk="1" hangingPunct="1"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r>
              <a:rPr lang="zh-CN" altLang="en-US" b="1" smtClean="0"/>
              <a:t>         &lt;003,C1&gt;，&lt;003,C2&gt;}</a:t>
            </a:r>
          </a:p>
          <a:p>
            <a:pPr marL="476250" indent="-476250" eaLnBrk="1" hangingPunct="1"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r>
              <a:rPr lang="zh-CN" altLang="en-US" b="1" smtClean="0"/>
              <a:t>        S={&lt;C1,"大英"&gt;，&lt;C2,"高数"&gt;,</a:t>
            </a:r>
          </a:p>
          <a:p>
            <a:pPr marL="476250" indent="-476250" eaLnBrk="1" hangingPunct="1"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r>
              <a:rPr lang="zh-CN" altLang="en-US" b="1" smtClean="0"/>
              <a:t>              &lt;C3,"马列"&gt;}</a:t>
            </a:r>
          </a:p>
          <a:p>
            <a:pPr marL="476250" indent="-476250" eaLnBrk="1" hangingPunct="1"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r>
              <a:rPr lang="zh-CN" altLang="en-US" b="1" smtClean="0"/>
              <a:t>        求S◦R。</a:t>
            </a:r>
            <a:endParaRPr lang="zh-CN" altLang="en-US" sz="3600" b="1" smtClean="0">
              <a:latin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6897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BB7475-36A9-4589-9F9B-3CDA57DA8206}" type="slidenum">
              <a:rPr lang="zh-CN" altLang="zh-CN" sz="1200">
                <a:latin typeface="Arial Black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zh-CN" altLang="zh-CN" sz="1200">
              <a:latin typeface="Arial Black" pitchFamily="34" charset="0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195263" y="228600"/>
            <a:ext cx="8015287" cy="674688"/>
          </a:xfrm>
        </p:spPr>
        <p:txBody>
          <a:bodyPr/>
          <a:lstStyle/>
          <a:p>
            <a:pPr eaLnBrk="1" hangingPunct="1"/>
            <a:r>
              <a:rPr lang="zh-CN" altLang="zh-CN" sz="3800" b="1" smtClean="0"/>
              <a:t>合成运算的图示方法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1341438"/>
            <a:ext cx="8208963" cy="4419600"/>
          </a:xfrm>
        </p:spPr>
        <p:txBody>
          <a:bodyPr/>
          <a:lstStyle/>
          <a:p>
            <a:pPr marL="476250" indent="-476250" eaLnBrk="1" hangingPunct="1"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r>
              <a:rPr lang="zh-CN" altLang="zh-CN" sz="2800" b="1" smtClean="0">
                <a:solidFill>
                  <a:srgbClr val="FF0000"/>
                </a:solidFill>
              </a:rPr>
              <a:t>例17</a:t>
            </a:r>
            <a:r>
              <a:rPr lang="zh-CN" altLang="zh-CN" sz="2800" b="1" smtClean="0"/>
              <a:t>   A={1，2，3，4}，B={3，5，7}，C={1，</a:t>
            </a:r>
          </a:p>
          <a:p>
            <a:pPr marL="476250" indent="-476250" eaLnBrk="1" hangingPunct="1"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r>
              <a:rPr lang="zh-CN" altLang="zh-CN" sz="2800" b="1" smtClean="0"/>
              <a:t>2，3}， S={&lt;2,7&gt;，&lt;3,5&gt;，&lt;4,3&gt;}， R ={&lt;3,3&gt;，</a:t>
            </a:r>
          </a:p>
          <a:p>
            <a:pPr marL="476250" indent="-476250" eaLnBrk="1" hangingPunct="1"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r>
              <a:rPr lang="zh-CN" altLang="zh-CN" sz="2800" b="1" smtClean="0"/>
              <a:t>&lt;7,2&gt;}，求R◦S</a:t>
            </a:r>
          </a:p>
          <a:p>
            <a:pPr marL="476250" indent="-476250" eaLnBrk="1" hangingPunct="1"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endParaRPr lang="zh-CN" altLang="zh-CN" sz="2800" b="1" smtClean="0"/>
          </a:p>
          <a:p>
            <a:pPr marL="476250" indent="-476250" eaLnBrk="1" hangingPunct="1"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r>
              <a:rPr lang="zh-CN" altLang="zh-CN" sz="2800" b="1" smtClean="0"/>
              <a:t>图解,如图所示：R◦S = { &lt;2，2&gt;，&lt;4，3&gt; }。</a:t>
            </a:r>
            <a:endParaRPr lang="zh-CN" altLang="zh-CN" sz="2800" b="1" smtClean="0">
              <a:latin typeface="宋体" charset="-122"/>
            </a:endParaRPr>
          </a:p>
        </p:txBody>
      </p:sp>
      <p:pic>
        <p:nvPicPr>
          <p:cNvPr id="3891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58888" y="4076700"/>
            <a:ext cx="6481762" cy="2265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9372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4" dur="20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D7C614-C685-445E-9A87-476E51578D4C}" type="slidenum">
              <a:rPr lang="zh-CN" altLang="zh-CN" sz="1200">
                <a:latin typeface="Arial Black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zh-CN" altLang="zh-CN" sz="1200">
              <a:latin typeface="Arial Black" pitchFamily="34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412875"/>
            <a:ext cx="8351837" cy="4419600"/>
          </a:xfrm>
        </p:spPr>
        <p:txBody>
          <a:bodyPr/>
          <a:lstStyle/>
          <a:p>
            <a:pPr marL="476250" indent="-476250" eaLnBrk="1" hangingPunct="1"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r>
              <a:rPr lang="zh-CN" altLang="zh-CN" sz="2800" b="1" smtClean="0">
                <a:solidFill>
                  <a:srgbClr val="FF0000"/>
                </a:solidFill>
              </a:rPr>
              <a:t>例18</a:t>
            </a:r>
            <a:r>
              <a:rPr lang="zh-CN" altLang="zh-CN" sz="2800" b="1" smtClean="0"/>
              <a:t>  设R，S都是A上的关系，A={1，2，3，4}。S={&lt;1，2&gt;，&lt;1，3&gt;，&lt;3，4&gt;}，R={&lt;1，1&gt;，&lt;2，2&gt;，&lt;3，3&gt;，&lt;4，4&gt;}，即R为A上的恒等关系，则R◦S=S◦R= S 。</a:t>
            </a:r>
          </a:p>
          <a:p>
            <a:pPr marL="476250" indent="-476250" algn="just" eaLnBrk="1" hangingPunct="1">
              <a:buClrTx/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r>
              <a:rPr lang="en-US" altLang="zh-CN" sz="2800" b="1" smtClean="0"/>
              <a:t>    </a:t>
            </a:r>
            <a:r>
              <a:rPr lang="zh-CN" altLang="zh-CN" sz="2800" b="1" smtClean="0"/>
              <a:t>求R◦S关系图</a:t>
            </a:r>
            <a:r>
              <a:rPr lang="zh-CN" altLang="en-US" sz="2800" b="1" smtClean="0"/>
              <a:t>。</a:t>
            </a:r>
            <a:endParaRPr lang="en-US" altLang="zh-CN" sz="2800" b="1" smtClean="0"/>
          </a:p>
          <a:p>
            <a:pPr marL="476250" indent="-476250" algn="just" eaLnBrk="1" hangingPunct="1">
              <a:buClrTx/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endParaRPr lang="en-US" altLang="zh-CN" sz="2800" b="1" smtClean="0"/>
          </a:p>
          <a:p>
            <a:pPr marL="476250" indent="-476250" algn="just" eaLnBrk="1" hangingPunct="1">
              <a:buClrTx/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endParaRPr lang="en-US" altLang="zh-CN" sz="2800" b="1" smtClean="0"/>
          </a:p>
          <a:p>
            <a:pPr marL="476250" indent="-476250" algn="just" eaLnBrk="1" hangingPunct="1">
              <a:buClrTx/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endParaRPr lang="en-US" altLang="zh-CN" sz="2800" b="1" smtClean="0"/>
          </a:p>
        </p:txBody>
      </p:sp>
      <p:sp>
        <p:nvSpPr>
          <p:cNvPr id="40964" name="Rectangle 3"/>
          <p:cNvSpPr>
            <a:spLocks noChangeArrowheads="1"/>
          </p:cNvSpPr>
          <p:nvPr/>
        </p:nvSpPr>
        <p:spPr bwMode="auto">
          <a:xfrm>
            <a:off x="228600" y="2997200"/>
            <a:ext cx="89154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ClrTx/>
              <a:buSzTx/>
              <a:buFontTx/>
              <a:buNone/>
            </a:pPr>
            <a:endParaRPr lang="zh-CN" altLang="zh-CN" sz="2400">
              <a:solidFill>
                <a:schemeClr val="tx2"/>
              </a:solidFill>
              <a:latin typeface="宋体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4213" y="4581525"/>
            <a:ext cx="3959225" cy="9350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 结论：</a:t>
            </a:r>
            <a:r>
              <a:rPr lang="zh-CN" altLang="zh-CN" sz="2800" b="1" dirty="0">
                <a:solidFill>
                  <a:schemeClr val="tx1"/>
                </a:solidFill>
              </a:rPr>
              <a:t>R◦S = S◦R = S</a:t>
            </a:r>
            <a:endParaRPr lang="zh-CN" altLang="zh-CN" sz="28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ctr"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627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6804248" y="6197947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877EE33-37AE-4AA4-8F38-55A84E3EDFD1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45059" name="TextBox 2"/>
          <p:cNvSpPr txBox="1">
            <a:spLocks noChangeArrowheads="1"/>
          </p:cNvSpPr>
          <p:nvPr/>
        </p:nvSpPr>
        <p:spPr bwMode="auto">
          <a:xfrm>
            <a:off x="323528" y="1268760"/>
            <a:ext cx="6911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例  设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R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和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S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定义在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P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上，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P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是所有人的集合。</a:t>
            </a:r>
          </a:p>
        </p:txBody>
      </p:sp>
      <p:sp>
        <p:nvSpPr>
          <p:cNvPr id="45060" name="TextBox 4"/>
          <p:cNvSpPr txBox="1">
            <a:spLocks noChangeArrowheads="1"/>
          </p:cNvSpPr>
          <p:nvPr/>
        </p:nvSpPr>
        <p:spPr bwMode="auto">
          <a:xfrm>
            <a:off x="415642" y="1829147"/>
            <a:ext cx="5975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={&lt;</a:t>
            </a:r>
            <a:r>
              <a:rPr lang="en-US" altLang="zh-CN" sz="28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&gt;|</a:t>
            </a:r>
            <a:r>
              <a:rPr lang="en-US" altLang="zh-CN" sz="28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的父亲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}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5061" name="TextBox 5"/>
          <p:cNvSpPr txBox="1">
            <a:spLocks noChangeArrowheads="1"/>
          </p:cNvSpPr>
          <p:nvPr/>
        </p:nvSpPr>
        <p:spPr bwMode="auto">
          <a:xfrm>
            <a:off x="415642" y="2413910"/>
            <a:ext cx="59769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={&lt;</a:t>
            </a:r>
            <a:r>
              <a:rPr lang="en-US" altLang="zh-CN" sz="28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&gt;|</a:t>
            </a:r>
            <a:r>
              <a:rPr lang="en-US" altLang="zh-CN" sz="28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的母亲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}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5062" name="TextBox 6"/>
          <p:cNvSpPr txBox="1">
            <a:spLocks noChangeArrowheads="1"/>
          </p:cNvSpPr>
          <p:nvPr/>
        </p:nvSpPr>
        <p:spPr bwMode="auto">
          <a:xfrm>
            <a:off x="415642" y="3047323"/>
            <a:ext cx="4679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表示的是什么关系？</a:t>
            </a:r>
          </a:p>
        </p:txBody>
      </p:sp>
      <p:sp>
        <p:nvSpPr>
          <p:cNvPr id="45063" name="TextBox 7"/>
          <p:cNvSpPr txBox="1">
            <a:spLocks noChangeArrowheads="1"/>
          </p:cNvSpPr>
          <p:nvPr/>
        </p:nvSpPr>
        <p:spPr bwMode="auto">
          <a:xfrm>
            <a:off x="415642" y="3667471"/>
            <a:ext cx="4681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(2)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-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表示的是什么关系？</a:t>
            </a:r>
          </a:p>
        </p:txBody>
      </p:sp>
      <p:sp>
        <p:nvSpPr>
          <p:cNvPr id="45064" name="TextBox 8"/>
          <p:cNvSpPr txBox="1">
            <a:spLocks noChangeArrowheads="1"/>
          </p:cNvSpPr>
          <p:nvPr/>
        </p:nvSpPr>
        <p:spPr bwMode="auto">
          <a:xfrm>
            <a:off x="415642" y="4276624"/>
            <a:ext cx="4679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(3)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-1</a:t>
            </a:r>
            <a:r>
              <a:rPr lang="zh-CN" altLang="en-US" sz="2800" b="1" dirty="0">
                <a:latin typeface="Times New Roman" panose="02020603050405020304" pitchFamily="18" charset="0"/>
              </a:rPr>
              <a:t>表示的是什么关系？</a:t>
            </a:r>
          </a:p>
        </p:txBody>
      </p:sp>
      <p:sp>
        <p:nvSpPr>
          <p:cNvPr id="45065" name="TextBox 9"/>
          <p:cNvSpPr txBox="1">
            <a:spLocks noChangeArrowheads="1"/>
          </p:cNvSpPr>
          <p:nvPr/>
        </p:nvSpPr>
        <p:spPr bwMode="auto">
          <a:xfrm>
            <a:off x="415642" y="4904047"/>
            <a:ext cx="78422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(4)</a:t>
            </a:r>
            <a:r>
              <a:rPr lang="zh-CN" altLang="en-US" sz="2800" b="1" dirty="0">
                <a:latin typeface="Times New Roman" panose="02020603050405020304" pitchFamily="18" charset="0"/>
              </a:rPr>
              <a:t>关系</a:t>
            </a:r>
            <a:r>
              <a:rPr lang="en-US" altLang="zh-CN" sz="2800" b="1" dirty="0">
                <a:latin typeface="Times New Roman" panose="02020603050405020304" pitchFamily="18" charset="0"/>
              </a:rPr>
              <a:t>{&lt;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&gt;|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的外祖母</a:t>
            </a:r>
            <a:r>
              <a:rPr lang="en-US" altLang="zh-CN" sz="2800" b="1" dirty="0">
                <a:latin typeface="Times New Roman" panose="02020603050405020304" pitchFamily="18" charset="0"/>
              </a:rPr>
              <a:t>}</a:t>
            </a:r>
            <a:r>
              <a:rPr lang="zh-CN" altLang="en-US" sz="2800" b="1" dirty="0">
                <a:latin typeface="Times New Roman" panose="02020603050405020304" pitchFamily="18" charset="0"/>
              </a:rPr>
              <a:t>的表达式是？</a:t>
            </a:r>
          </a:p>
        </p:txBody>
      </p:sp>
      <p:sp>
        <p:nvSpPr>
          <p:cNvPr id="45066" name="TextBox 10"/>
          <p:cNvSpPr txBox="1">
            <a:spLocks noChangeArrowheads="1"/>
          </p:cNvSpPr>
          <p:nvPr/>
        </p:nvSpPr>
        <p:spPr bwMode="auto">
          <a:xfrm>
            <a:off x="415642" y="5533786"/>
            <a:ext cx="7842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(5)</a:t>
            </a:r>
            <a:r>
              <a:rPr lang="zh-CN" altLang="en-US" sz="2800" b="1" dirty="0">
                <a:latin typeface="Times New Roman" panose="02020603050405020304" pitchFamily="18" charset="0"/>
              </a:rPr>
              <a:t>关系</a:t>
            </a:r>
            <a:r>
              <a:rPr lang="en-US" altLang="zh-CN" sz="2800" b="1" dirty="0">
                <a:latin typeface="Times New Roman" panose="02020603050405020304" pitchFamily="18" charset="0"/>
              </a:rPr>
              <a:t>{&lt;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&gt;|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的祖母</a:t>
            </a:r>
            <a:r>
              <a:rPr lang="en-US" altLang="zh-CN" sz="2800" b="1" dirty="0">
                <a:latin typeface="Times New Roman" panose="02020603050405020304" pitchFamily="18" charset="0"/>
              </a:rPr>
              <a:t>}</a:t>
            </a:r>
            <a:r>
              <a:rPr lang="zh-CN" altLang="en-US" sz="2800" b="1" dirty="0">
                <a:latin typeface="Times New Roman" panose="02020603050405020304" pitchFamily="18" charset="0"/>
              </a:rPr>
              <a:t>的表达式是？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6255569" y="6284813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2759649-02F8-4D56-BA51-E0B550428B02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46083" name="TextBox 2"/>
          <p:cNvSpPr txBox="1">
            <a:spLocks noChangeArrowheads="1"/>
          </p:cNvSpPr>
          <p:nvPr/>
        </p:nvSpPr>
        <p:spPr bwMode="auto">
          <a:xfrm>
            <a:off x="467544" y="1412776"/>
            <a:ext cx="5975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(1){&lt;</a:t>
            </a:r>
            <a:r>
              <a:rPr lang="en-US" altLang="zh-CN" sz="2800" b="1" i="1">
                <a:latin typeface="Times New Roman" panose="02020603050405020304" pitchFamily="18" charset="0"/>
              </a:rPr>
              <a:t>x,y</a:t>
            </a:r>
            <a:r>
              <a:rPr lang="en-US" altLang="zh-CN" sz="2800" b="1">
                <a:latin typeface="Times New Roman" panose="02020603050405020304" pitchFamily="18" charset="0"/>
              </a:rPr>
              <a:t>&gt;|</a:t>
            </a:r>
            <a:r>
              <a:rPr lang="en-US" altLang="zh-CN" sz="2800" b="1" i="1">
                <a:latin typeface="Times New Roman" panose="02020603050405020304" pitchFamily="18" charset="0"/>
              </a:rPr>
              <a:t>x,y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的祖父</a:t>
            </a:r>
            <a:r>
              <a:rPr lang="en-US" altLang="zh-CN" sz="2800" b="1">
                <a:latin typeface="Times New Roman" panose="02020603050405020304" pitchFamily="18" charset="0"/>
              </a:rPr>
              <a:t>}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46084" name="TextBox 3"/>
          <p:cNvSpPr txBox="1">
            <a:spLocks noChangeArrowheads="1"/>
          </p:cNvSpPr>
          <p:nvPr/>
        </p:nvSpPr>
        <p:spPr bwMode="auto">
          <a:xfrm>
            <a:off x="462782" y="2046188"/>
            <a:ext cx="5976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(2){&lt;</a:t>
            </a:r>
            <a:r>
              <a:rPr lang="en-US" altLang="zh-CN" sz="2800" b="1" i="1">
                <a:latin typeface="Times New Roman" panose="02020603050405020304" pitchFamily="18" charset="0"/>
              </a:rPr>
              <a:t>x,y</a:t>
            </a:r>
            <a:r>
              <a:rPr lang="en-US" altLang="zh-CN" sz="2800" b="1">
                <a:latin typeface="Times New Roman" panose="02020603050405020304" pitchFamily="18" charset="0"/>
              </a:rPr>
              <a:t>&gt;|</a:t>
            </a:r>
            <a:r>
              <a:rPr lang="en-US" altLang="zh-CN" sz="2800" b="1" i="1">
                <a:latin typeface="Times New Roman" panose="02020603050405020304" pitchFamily="18" charset="0"/>
              </a:rPr>
              <a:t>x,y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的丈夫</a:t>
            </a:r>
            <a:r>
              <a:rPr lang="en-US" altLang="zh-CN" sz="2800" b="1">
                <a:latin typeface="Times New Roman" panose="02020603050405020304" pitchFamily="18" charset="0"/>
              </a:rPr>
              <a:t>}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46085" name="TextBox 4"/>
          <p:cNvSpPr txBox="1">
            <a:spLocks noChangeArrowheads="1"/>
          </p:cNvSpPr>
          <p:nvPr/>
        </p:nvSpPr>
        <p:spPr bwMode="auto">
          <a:xfrm>
            <a:off x="505818" y="431166"/>
            <a:ext cx="12239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解：</a:t>
            </a:r>
          </a:p>
        </p:txBody>
      </p:sp>
      <p:sp>
        <p:nvSpPr>
          <p:cNvPr id="46086" name="TextBox 5"/>
          <p:cNvSpPr txBox="1">
            <a:spLocks noChangeArrowheads="1"/>
          </p:cNvSpPr>
          <p:nvPr/>
        </p:nvSpPr>
        <p:spPr bwMode="auto">
          <a:xfrm>
            <a:off x="475482" y="2666901"/>
            <a:ext cx="12239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(3)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46087" name="TextBox 6"/>
          <p:cNvSpPr txBox="1">
            <a:spLocks noChangeArrowheads="1"/>
          </p:cNvSpPr>
          <p:nvPr/>
        </p:nvSpPr>
        <p:spPr bwMode="auto">
          <a:xfrm>
            <a:off x="450082" y="3320951"/>
            <a:ext cx="69119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(4) {&lt;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&gt;|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的外祖母</a:t>
            </a:r>
            <a:r>
              <a:rPr lang="en-US" altLang="zh-CN" sz="2800" b="1" dirty="0">
                <a:latin typeface="Times New Roman" panose="02020603050405020304" pitchFamily="18" charset="0"/>
              </a:rPr>
              <a:t>}=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-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S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-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6088" name="TextBox 7"/>
          <p:cNvSpPr txBox="1">
            <a:spLocks noChangeArrowheads="1"/>
          </p:cNvSpPr>
          <p:nvPr/>
        </p:nvSpPr>
        <p:spPr bwMode="auto">
          <a:xfrm>
            <a:off x="499294" y="3976588"/>
            <a:ext cx="78406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(5)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{&lt;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&gt;|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的祖母</a:t>
            </a:r>
            <a:r>
              <a:rPr lang="en-US" altLang="zh-CN" sz="2800" b="1" dirty="0">
                <a:latin typeface="Times New Roman" panose="02020603050405020304" pitchFamily="18" charset="0"/>
              </a:rPr>
              <a:t>}=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R</a:t>
            </a:r>
            <a:r>
              <a:rPr lang="en-US" altLang="zh-CN" sz="2800" b="1" dirty="0">
                <a:latin typeface="Times New Roman" panose="02020603050405020304" pitchFamily="18" charset="0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4313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EB6EB1-6D65-41BB-97AC-BA0298CE3548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29600" cy="1008062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限制与像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9312" y="1404938"/>
            <a:ext cx="8229600" cy="2024062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b="1" i="1" dirty="0">
                <a:latin typeface="Times New Roman" panose="02020603050405020304" pitchFamily="18" charset="0"/>
              </a:rPr>
              <a:t>  </a:t>
            </a:r>
            <a:endParaRPr lang="en-US" altLang="zh-CN" b="1" i="1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u"/>
            </a:pPr>
            <a:r>
              <a:rPr lang="en-US" altLang="zh-CN" b="1" i="1" dirty="0">
                <a:latin typeface="Times New Roman" panose="02020603050405020304" pitchFamily="18" charset="0"/>
              </a:rPr>
              <a:t>F </a:t>
            </a:r>
            <a:r>
              <a:rPr lang="zh-CN" altLang="en-US" b="1" dirty="0">
                <a:latin typeface="Times New Roman" panose="02020603050405020304" pitchFamily="18" charset="0"/>
              </a:rPr>
              <a:t>在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上</a:t>
            </a:r>
            <a:r>
              <a:rPr lang="zh-CN" altLang="en-US" b="1" dirty="0">
                <a:latin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限制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: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↾</a:t>
            </a:r>
            <a:r>
              <a:rPr lang="en-US" altLang="zh-CN" b="1" i="1" dirty="0">
                <a:latin typeface="Times New Roman" panose="02020603050405020304" pitchFamily="18" charset="0"/>
              </a:rPr>
              <a:t>A </a:t>
            </a:r>
            <a:r>
              <a:rPr lang="en-US" altLang="zh-CN" b="1" dirty="0">
                <a:latin typeface="Times New Roman" panose="02020603050405020304" pitchFamily="18" charset="0"/>
              </a:rPr>
              <a:t>= {&lt;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&gt; |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xFy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u"/>
            </a:pP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在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下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像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:    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] = ran(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↾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)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11560" y="3212976"/>
            <a:ext cx="8229600" cy="530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实例   </a:t>
            </a:r>
            <a:r>
              <a:rPr lang="en-US" altLang="zh-CN" b="1" i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={&lt;1,2&gt;, &lt;2,3&gt;, &lt;1,4&gt;, &lt;2,2&gt;}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</a:t>
            </a:r>
            <a:r>
              <a:rPr lang="en-US" altLang="zh-CN" b="1" i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↾{1}= {&lt;1,2&gt;,&lt;1,4&gt;}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</a:t>
            </a:r>
            <a:r>
              <a:rPr lang="en-US" altLang="zh-CN" b="1" i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[{1}]={2,4}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</a:t>
            </a:r>
            <a:r>
              <a:rPr lang="en-US" altLang="zh-CN" b="1" i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↾</a:t>
            </a:r>
            <a:r>
              <a:rPr lang="en-US" altLang="zh-CN" b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=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b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</a:t>
            </a:r>
            <a:r>
              <a:rPr lang="en-US" altLang="zh-CN" b="1" i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kern="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[{1,2}]={2,3,4}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b="1" kern="0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b="1" kern="0" dirty="0">
                <a:solidFill>
                  <a:srgbClr val="3366CC"/>
                </a:solidFill>
                <a:latin typeface="Times New Roman" panose="02020603050405020304" pitchFamily="18" charset="0"/>
              </a:rPr>
              <a:t>注意：</a:t>
            </a:r>
            <a:r>
              <a:rPr lang="en-US" altLang="zh-CN" sz="2800" b="1" i="1" kern="0" dirty="0">
                <a:solidFill>
                  <a:srgbClr val="3366CC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 kern="0" dirty="0">
                <a:solidFill>
                  <a:srgbClr val="3366CC"/>
                </a:solidFill>
                <a:latin typeface="Times New Roman" panose="02020603050405020304" pitchFamily="18" charset="0"/>
              </a:rPr>
              <a:t>↾</a:t>
            </a:r>
            <a:r>
              <a:rPr lang="en-US" altLang="zh-CN" b="1" i="1" kern="0" dirty="0">
                <a:solidFill>
                  <a:srgbClr val="3366CC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kern="0" dirty="0">
                <a:solidFill>
                  <a:srgbClr val="3366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="1" i="1" kern="0" dirty="0">
                <a:solidFill>
                  <a:srgbClr val="3366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kern="0" dirty="0">
                <a:solidFill>
                  <a:srgbClr val="3366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b="1" i="1" kern="0" dirty="0">
                <a:solidFill>
                  <a:srgbClr val="3366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kern="0" dirty="0">
                <a:solidFill>
                  <a:srgbClr val="3366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CN" b="1" i="1" kern="0" dirty="0">
                <a:solidFill>
                  <a:srgbClr val="3366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kern="0" dirty="0">
                <a:solidFill>
                  <a:srgbClr val="3366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 </a:t>
            </a:r>
            <a:r>
              <a:rPr lang="en-US" altLang="zh-CN" b="1" kern="0" dirty="0" err="1">
                <a:solidFill>
                  <a:srgbClr val="3366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ran</a:t>
            </a:r>
            <a:r>
              <a:rPr lang="en-US" altLang="zh-CN" b="1" i="1" kern="0" dirty="0" err="1">
                <a:solidFill>
                  <a:srgbClr val="3366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kern="0" dirty="0">
                <a:solidFill>
                  <a:srgbClr val="3366CC"/>
                </a:solidFill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395CC7-0287-45F0-AA12-C40724150F91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09924" name="Rectangle 4"/>
          <p:cNvSpPr>
            <a:spLocks noChangeArrowheads="1"/>
          </p:cNvSpPr>
          <p:nvPr/>
        </p:nvSpPr>
        <p:spPr bwMode="auto">
          <a:xfrm>
            <a:off x="549274" y="6202363"/>
            <a:ext cx="7848600" cy="5032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7513" y="21000"/>
            <a:ext cx="8229600" cy="11525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关系基本运算的性质</a:t>
            </a:r>
            <a:r>
              <a:rPr lang="zh-CN" altLang="en-US" b="1" dirty="0"/>
              <a:t> </a:t>
            </a:r>
          </a:p>
        </p:txBody>
      </p:sp>
      <p:sp>
        <p:nvSpPr>
          <p:cNvPr id="209923" name="Text Box 3"/>
          <p:cNvSpPr txBox="1">
            <a:spLocks noChangeArrowheads="1"/>
          </p:cNvSpPr>
          <p:nvPr/>
        </p:nvSpPr>
        <p:spPr bwMode="auto">
          <a:xfrm>
            <a:off x="447675" y="1341165"/>
            <a:ext cx="7993062" cy="536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15000"/>
              </a:spcBef>
              <a:defRPr/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</a:t>
            </a:r>
            <a:r>
              <a:rPr lang="en-US" altLang="zh-CN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b="1" dirty="0">
                <a:solidFill>
                  <a:srgbClr val="C00000"/>
                </a:solidFill>
              </a:rPr>
              <a:t>  </a:t>
            </a:r>
            <a:r>
              <a:rPr lang="zh-CN" altLang="en-US" b="1" dirty="0"/>
              <a:t>设</a:t>
            </a:r>
            <a:r>
              <a:rPr lang="en-US" altLang="zh-CN" b="1" i="1" dirty="0"/>
              <a:t>F</a:t>
            </a:r>
            <a:r>
              <a:rPr lang="zh-CN" altLang="en-US" b="1" dirty="0"/>
              <a:t>是任意的关系</a:t>
            </a:r>
            <a:r>
              <a:rPr lang="en-US" altLang="zh-CN" b="1" dirty="0"/>
              <a:t>, </a:t>
            </a:r>
            <a:r>
              <a:rPr lang="zh-CN" altLang="en-US" b="1" dirty="0"/>
              <a:t>则</a:t>
            </a:r>
          </a:p>
          <a:p>
            <a:pPr eaLnBrk="1" hangingPunct="1">
              <a:lnSpc>
                <a:spcPct val="110000"/>
              </a:lnSpc>
              <a:spcBef>
                <a:spcPct val="15000"/>
              </a:spcBef>
              <a:defRPr/>
            </a:pPr>
            <a:r>
              <a:rPr lang="zh-CN" altLang="en-US" b="1" dirty="0"/>
              <a:t>    </a:t>
            </a:r>
            <a:r>
              <a:rPr lang="en-US" altLang="zh-CN" b="1" dirty="0"/>
              <a:t>(1) </a:t>
            </a:r>
            <a:r>
              <a:rPr lang="en-US" altLang="zh-CN" b="1" i="1" dirty="0"/>
              <a:t>(F</a:t>
            </a:r>
            <a:r>
              <a:rPr lang="en-US" altLang="zh-CN" b="1" i="1" baseline="30000" dirty="0">
                <a:sym typeface="Symbol" pitchFamily="18" charset="2"/>
              </a:rPr>
              <a:t></a:t>
            </a:r>
            <a:r>
              <a:rPr lang="en-US" altLang="zh-CN" b="1" baseline="30000" dirty="0"/>
              <a:t>1</a:t>
            </a:r>
            <a:r>
              <a:rPr lang="en-US" altLang="zh-CN" b="1" i="1" dirty="0"/>
              <a:t>)</a:t>
            </a:r>
            <a:r>
              <a:rPr lang="en-US" altLang="zh-CN" b="1" i="1" baseline="30000" dirty="0">
                <a:sym typeface="Symbol" pitchFamily="18" charset="2"/>
              </a:rPr>
              <a:t></a:t>
            </a:r>
            <a:r>
              <a:rPr lang="en-US" altLang="zh-CN" b="1" baseline="30000" dirty="0"/>
              <a:t>1 </a:t>
            </a:r>
            <a:r>
              <a:rPr lang="en-US" altLang="zh-CN" b="1" i="1" dirty="0"/>
              <a:t>= F</a:t>
            </a:r>
            <a:endParaRPr lang="en-US" altLang="zh-CN" b="1" dirty="0"/>
          </a:p>
          <a:p>
            <a:pPr eaLnBrk="1" hangingPunct="1">
              <a:lnSpc>
                <a:spcPct val="110000"/>
              </a:lnSpc>
              <a:spcBef>
                <a:spcPct val="15000"/>
              </a:spcBef>
              <a:defRPr/>
            </a:pPr>
            <a:r>
              <a:rPr lang="en-US" altLang="zh-CN" b="1" dirty="0"/>
              <a:t>    (2) dom</a:t>
            </a:r>
            <a:r>
              <a:rPr lang="en-US" altLang="zh-CN" b="1" i="1" dirty="0"/>
              <a:t>F</a:t>
            </a:r>
            <a:r>
              <a:rPr lang="en-US" altLang="zh-CN" b="1" i="1" baseline="30000" dirty="0">
                <a:sym typeface="Symbol" pitchFamily="18" charset="2"/>
              </a:rPr>
              <a:t></a:t>
            </a:r>
            <a:r>
              <a:rPr lang="en-US" altLang="zh-CN" b="1" baseline="30000" dirty="0"/>
              <a:t>1 </a:t>
            </a:r>
            <a:r>
              <a:rPr lang="en-US" altLang="zh-CN" b="1" dirty="0"/>
              <a:t>= </a:t>
            </a:r>
            <a:r>
              <a:rPr lang="en-US" altLang="zh-CN" b="1" dirty="0" err="1"/>
              <a:t>ran</a:t>
            </a:r>
            <a:r>
              <a:rPr lang="en-US" altLang="zh-CN" b="1" i="1" dirty="0" err="1"/>
              <a:t>F</a:t>
            </a:r>
            <a:r>
              <a:rPr lang="en-US" altLang="zh-CN" b="1" dirty="0"/>
              <a:t>,  ran</a:t>
            </a:r>
            <a:r>
              <a:rPr lang="en-US" altLang="zh-CN" b="1" i="1" dirty="0"/>
              <a:t>F</a:t>
            </a:r>
            <a:r>
              <a:rPr lang="en-US" altLang="zh-CN" b="1" i="1" baseline="30000" dirty="0">
                <a:sym typeface="Symbol" pitchFamily="18" charset="2"/>
              </a:rPr>
              <a:t></a:t>
            </a:r>
            <a:r>
              <a:rPr lang="en-US" altLang="zh-CN" b="1" baseline="30000" dirty="0"/>
              <a:t>1 </a:t>
            </a:r>
            <a:r>
              <a:rPr lang="en-US" altLang="zh-CN" b="1" dirty="0"/>
              <a:t>= </a:t>
            </a:r>
            <a:r>
              <a:rPr lang="en-US" altLang="zh-CN" b="1" dirty="0" err="1"/>
              <a:t>dom</a:t>
            </a:r>
            <a:r>
              <a:rPr lang="en-US" altLang="zh-CN" b="1" i="1" dirty="0" err="1"/>
              <a:t>F</a:t>
            </a:r>
            <a:endParaRPr lang="en-US" altLang="zh-CN" b="1" i="1" dirty="0"/>
          </a:p>
          <a:p>
            <a:pPr eaLnBrk="1" hangingPunct="1">
              <a:lnSpc>
                <a:spcPct val="110000"/>
              </a:lnSpc>
              <a:spcBef>
                <a:spcPct val="15000"/>
              </a:spcBef>
              <a:defRPr/>
            </a:pPr>
            <a:r>
              <a:rPr lang="zh-CN" altLang="en-US" b="1" dirty="0">
                <a:solidFill>
                  <a:srgbClr val="3366CC"/>
                </a:solidFill>
              </a:rPr>
              <a:t>证  </a:t>
            </a:r>
            <a:r>
              <a:rPr lang="en-US" altLang="zh-CN" b="1" dirty="0">
                <a:solidFill>
                  <a:srgbClr val="3366CC"/>
                </a:solidFill>
              </a:rPr>
              <a:t>(1) </a:t>
            </a:r>
            <a:r>
              <a:rPr lang="zh-CN" altLang="en-US" b="1" dirty="0">
                <a:solidFill>
                  <a:srgbClr val="3366CC"/>
                </a:solidFill>
              </a:rPr>
              <a:t>任取</a:t>
            </a:r>
            <a:r>
              <a:rPr lang="en-US" altLang="zh-CN" b="1" dirty="0">
                <a:solidFill>
                  <a:srgbClr val="3366CC"/>
                </a:solidFill>
              </a:rPr>
              <a:t>&lt;</a:t>
            </a:r>
            <a:r>
              <a:rPr lang="en-US" altLang="zh-CN" b="1" i="1" dirty="0" err="1">
                <a:solidFill>
                  <a:srgbClr val="3366CC"/>
                </a:solidFill>
              </a:rPr>
              <a:t>x</a:t>
            </a:r>
            <a:r>
              <a:rPr lang="en-US" altLang="zh-CN" b="1" dirty="0" err="1">
                <a:solidFill>
                  <a:srgbClr val="3366CC"/>
                </a:solidFill>
              </a:rPr>
              <a:t>,</a:t>
            </a:r>
            <a:r>
              <a:rPr lang="en-US" altLang="zh-CN" b="1" i="1" dirty="0" err="1">
                <a:solidFill>
                  <a:srgbClr val="3366CC"/>
                </a:solidFill>
              </a:rPr>
              <a:t>y</a:t>
            </a:r>
            <a:r>
              <a:rPr lang="en-US" altLang="zh-CN" b="1" dirty="0">
                <a:solidFill>
                  <a:srgbClr val="3366CC"/>
                </a:solidFill>
              </a:rPr>
              <a:t>&gt;, </a:t>
            </a:r>
            <a:r>
              <a:rPr lang="zh-CN" altLang="en-US" b="1" dirty="0">
                <a:solidFill>
                  <a:srgbClr val="3366CC"/>
                </a:solidFill>
              </a:rPr>
              <a:t>由逆的定义有</a:t>
            </a:r>
          </a:p>
          <a:p>
            <a:pPr eaLnBrk="1" hangingPunct="1">
              <a:lnSpc>
                <a:spcPct val="110000"/>
              </a:lnSpc>
              <a:spcBef>
                <a:spcPct val="15000"/>
              </a:spcBef>
              <a:defRPr/>
            </a:pPr>
            <a:r>
              <a:rPr lang="zh-CN" altLang="en-US" b="1" dirty="0">
                <a:solidFill>
                  <a:srgbClr val="3366CC"/>
                </a:solidFill>
              </a:rPr>
              <a:t>      </a:t>
            </a:r>
            <a:r>
              <a:rPr lang="en-US" altLang="zh-CN" b="1" dirty="0">
                <a:solidFill>
                  <a:srgbClr val="3366CC"/>
                </a:solidFill>
              </a:rPr>
              <a:t>&lt;</a:t>
            </a:r>
            <a:r>
              <a:rPr lang="en-US" altLang="zh-CN" b="1" i="1" dirty="0" err="1">
                <a:solidFill>
                  <a:srgbClr val="3366CC"/>
                </a:solidFill>
              </a:rPr>
              <a:t>x</a:t>
            </a:r>
            <a:r>
              <a:rPr lang="en-US" altLang="zh-CN" b="1" dirty="0" err="1">
                <a:solidFill>
                  <a:srgbClr val="3366CC"/>
                </a:solidFill>
              </a:rPr>
              <a:t>,</a:t>
            </a:r>
            <a:r>
              <a:rPr lang="en-US" altLang="zh-CN" b="1" i="1" dirty="0" err="1">
                <a:solidFill>
                  <a:srgbClr val="3366CC"/>
                </a:solidFill>
              </a:rPr>
              <a:t>y</a:t>
            </a:r>
            <a:r>
              <a:rPr lang="en-US" altLang="zh-CN" b="1" dirty="0">
                <a:solidFill>
                  <a:srgbClr val="3366CC"/>
                </a:solidFill>
              </a:rPr>
              <a:t>&gt;∈(</a:t>
            </a:r>
            <a:r>
              <a:rPr lang="en-US" altLang="zh-CN" b="1" i="1" dirty="0">
                <a:solidFill>
                  <a:srgbClr val="3366CC"/>
                </a:solidFill>
              </a:rPr>
              <a:t>F </a:t>
            </a:r>
            <a:r>
              <a:rPr lang="en-US" altLang="zh-CN" b="1" i="1" baseline="30000" dirty="0">
                <a:solidFill>
                  <a:srgbClr val="3366CC"/>
                </a:solidFill>
                <a:latin typeface="Arial" charset="0"/>
                <a:sym typeface="Symbol" pitchFamily="18" charset="2"/>
              </a:rPr>
              <a:t></a:t>
            </a:r>
            <a:r>
              <a:rPr lang="en-US" altLang="zh-CN" b="1" dirty="0">
                <a:solidFill>
                  <a:srgbClr val="3366CC"/>
                </a:solidFill>
                <a:latin typeface="Arial" charset="0"/>
              </a:rPr>
              <a:t> </a:t>
            </a:r>
            <a:r>
              <a:rPr lang="en-US" altLang="zh-CN" b="1" baseline="30000" dirty="0">
                <a:solidFill>
                  <a:srgbClr val="3366CC"/>
                </a:solidFill>
              </a:rPr>
              <a:t>1</a:t>
            </a:r>
            <a:r>
              <a:rPr lang="en-US" altLang="zh-CN" b="1" dirty="0">
                <a:solidFill>
                  <a:srgbClr val="3366CC"/>
                </a:solidFill>
              </a:rPr>
              <a:t>)</a:t>
            </a:r>
            <a:r>
              <a:rPr lang="en-US" altLang="zh-CN" b="1" i="1" baseline="30000" dirty="0">
                <a:solidFill>
                  <a:srgbClr val="3366CC"/>
                </a:solidFill>
                <a:sym typeface="Symbol" pitchFamily="18" charset="2"/>
              </a:rPr>
              <a:t></a:t>
            </a:r>
            <a:r>
              <a:rPr lang="en-US" altLang="zh-CN" b="1" baseline="30000" dirty="0">
                <a:solidFill>
                  <a:srgbClr val="3366CC"/>
                </a:solidFill>
              </a:rPr>
              <a:t>1 </a:t>
            </a:r>
            <a:r>
              <a:rPr lang="en-US" altLang="zh-CN" b="1" dirty="0">
                <a:solidFill>
                  <a:srgbClr val="3366CC"/>
                </a:solidFill>
                <a:sym typeface="Symbol" pitchFamily="18" charset="2"/>
              </a:rPr>
              <a:t> </a:t>
            </a:r>
            <a:r>
              <a:rPr lang="en-US" altLang="zh-CN" b="1" dirty="0">
                <a:solidFill>
                  <a:srgbClr val="3366CC"/>
                </a:solidFill>
              </a:rPr>
              <a:t>&lt;</a:t>
            </a:r>
            <a:r>
              <a:rPr lang="en-US" altLang="zh-CN" b="1" i="1" dirty="0" err="1">
                <a:solidFill>
                  <a:srgbClr val="3366CC"/>
                </a:solidFill>
              </a:rPr>
              <a:t>y</a:t>
            </a:r>
            <a:r>
              <a:rPr lang="en-US" altLang="zh-CN" b="1" dirty="0" err="1">
                <a:solidFill>
                  <a:srgbClr val="3366CC"/>
                </a:solidFill>
              </a:rPr>
              <a:t>,</a:t>
            </a:r>
            <a:r>
              <a:rPr lang="en-US" altLang="zh-CN" b="1" i="1" dirty="0" err="1">
                <a:solidFill>
                  <a:srgbClr val="3366CC"/>
                </a:solidFill>
              </a:rPr>
              <a:t>x</a:t>
            </a:r>
            <a:r>
              <a:rPr lang="en-US" altLang="zh-CN" b="1" dirty="0">
                <a:solidFill>
                  <a:srgbClr val="3366CC"/>
                </a:solidFill>
              </a:rPr>
              <a:t>&gt;∈</a:t>
            </a:r>
            <a:r>
              <a:rPr lang="en-US" altLang="zh-CN" b="1" i="1" dirty="0">
                <a:solidFill>
                  <a:srgbClr val="3366CC"/>
                </a:solidFill>
              </a:rPr>
              <a:t>F</a:t>
            </a:r>
            <a:r>
              <a:rPr lang="en-US" altLang="zh-CN" b="1" i="1" baseline="30000" dirty="0">
                <a:solidFill>
                  <a:srgbClr val="3366CC"/>
                </a:solidFill>
                <a:sym typeface="Symbol" pitchFamily="18" charset="2"/>
              </a:rPr>
              <a:t></a:t>
            </a:r>
            <a:r>
              <a:rPr lang="en-US" altLang="zh-CN" b="1" baseline="30000" dirty="0">
                <a:solidFill>
                  <a:srgbClr val="3366CC"/>
                </a:solidFill>
              </a:rPr>
              <a:t>1 </a:t>
            </a:r>
            <a:r>
              <a:rPr lang="en-US" altLang="zh-CN" b="1" dirty="0">
                <a:solidFill>
                  <a:srgbClr val="3366CC"/>
                </a:solidFill>
                <a:sym typeface="Symbol" pitchFamily="18" charset="2"/>
              </a:rPr>
              <a:t> </a:t>
            </a:r>
            <a:r>
              <a:rPr lang="en-US" altLang="zh-CN" b="1" dirty="0">
                <a:solidFill>
                  <a:srgbClr val="3366CC"/>
                </a:solidFill>
              </a:rPr>
              <a:t>&lt;</a:t>
            </a:r>
            <a:r>
              <a:rPr lang="en-US" altLang="zh-CN" b="1" i="1" dirty="0" err="1">
                <a:solidFill>
                  <a:srgbClr val="3366CC"/>
                </a:solidFill>
              </a:rPr>
              <a:t>x</a:t>
            </a:r>
            <a:r>
              <a:rPr lang="en-US" altLang="zh-CN" b="1" dirty="0" err="1">
                <a:solidFill>
                  <a:srgbClr val="3366CC"/>
                </a:solidFill>
              </a:rPr>
              <a:t>,</a:t>
            </a:r>
            <a:r>
              <a:rPr lang="en-US" altLang="zh-CN" b="1" i="1" dirty="0" err="1">
                <a:solidFill>
                  <a:srgbClr val="3366CC"/>
                </a:solidFill>
              </a:rPr>
              <a:t>y</a:t>
            </a:r>
            <a:r>
              <a:rPr lang="en-US" altLang="zh-CN" b="1" dirty="0">
                <a:solidFill>
                  <a:srgbClr val="3366CC"/>
                </a:solidFill>
              </a:rPr>
              <a:t>&gt;∈</a:t>
            </a:r>
            <a:r>
              <a:rPr lang="en-US" altLang="zh-CN" b="1" i="1" dirty="0">
                <a:solidFill>
                  <a:srgbClr val="3366CC"/>
                </a:solidFill>
              </a:rPr>
              <a:t>F</a:t>
            </a:r>
            <a:endParaRPr lang="en-US" altLang="zh-CN" b="1" dirty="0">
              <a:solidFill>
                <a:srgbClr val="3366CC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15000"/>
              </a:spcBef>
              <a:defRPr/>
            </a:pPr>
            <a:r>
              <a:rPr lang="zh-CN" altLang="en-US" b="1" dirty="0">
                <a:solidFill>
                  <a:srgbClr val="3366CC"/>
                </a:solidFill>
              </a:rPr>
              <a:t>所以有 </a:t>
            </a:r>
            <a:r>
              <a:rPr lang="en-US" altLang="zh-CN" b="1" dirty="0">
                <a:solidFill>
                  <a:srgbClr val="3366CC"/>
                </a:solidFill>
              </a:rPr>
              <a:t>(</a:t>
            </a:r>
            <a:r>
              <a:rPr lang="en-US" altLang="zh-CN" b="1" i="1" dirty="0">
                <a:solidFill>
                  <a:srgbClr val="3366CC"/>
                </a:solidFill>
              </a:rPr>
              <a:t>F</a:t>
            </a:r>
            <a:r>
              <a:rPr lang="en-US" altLang="zh-CN" b="1" i="1" baseline="30000" dirty="0">
                <a:solidFill>
                  <a:srgbClr val="3366CC"/>
                </a:solidFill>
                <a:sym typeface="Symbol" pitchFamily="18" charset="2"/>
              </a:rPr>
              <a:t></a:t>
            </a:r>
            <a:r>
              <a:rPr lang="en-US" altLang="zh-CN" b="1" baseline="30000" dirty="0">
                <a:solidFill>
                  <a:srgbClr val="3366CC"/>
                </a:solidFill>
              </a:rPr>
              <a:t>1</a:t>
            </a:r>
            <a:r>
              <a:rPr lang="en-US" altLang="zh-CN" b="1" dirty="0">
                <a:solidFill>
                  <a:srgbClr val="3366CC"/>
                </a:solidFill>
              </a:rPr>
              <a:t>)</a:t>
            </a:r>
            <a:r>
              <a:rPr lang="en-US" altLang="zh-CN" b="1" i="1" baseline="30000" dirty="0">
                <a:solidFill>
                  <a:srgbClr val="3366CC"/>
                </a:solidFill>
                <a:sym typeface="Symbol" pitchFamily="18" charset="2"/>
              </a:rPr>
              <a:t></a:t>
            </a:r>
            <a:r>
              <a:rPr lang="en-US" altLang="zh-CN" b="1" baseline="30000" dirty="0">
                <a:solidFill>
                  <a:srgbClr val="3366CC"/>
                </a:solidFill>
              </a:rPr>
              <a:t>1</a:t>
            </a:r>
            <a:r>
              <a:rPr lang="en-US" altLang="zh-CN" b="1" dirty="0">
                <a:solidFill>
                  <a:srgbClr val="3366CC"/>
                </a:solidFill>
              </a:rPr>
              <a:t>=</a:t>
            </a:r>
            <a:r>
              <a:rPr lang="en-US" altLang="zh-CN" b="1" i="1" dirty="0">
                <a:solidFill>
                  <a:srgbClr val="3366CC"/>
                </a:solidFill>
              </a:rPr>
              <a:t>F</a:t>
            </a:r>
            <a:endParaRPr lang="en-US" altLang="zh-CN" b="1" dirty="0">
              <a:solidFill>
                <a:srgbClr val="3366CC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15000"/>
              </a:spcBef>
              <a:defRPr/>
            </a:pPr>
            <a:r>
              <a:rPr lang="en-US" altLang="zh-CN" b="1" dirty="0">
                <a:solidFill>
                  <a:srgbClr val="3366CC"/>
                </a:solidFill>
              </a:rPr>
              <a:t>       (2) </a:t>
            </a:r>
            <a:r>
              <a:rPr lang="zh-CN" altLang="en-US" b="1" dirty="0">
                <a:solidFill>
                  <a:srgbClr val="3366CC"/>
                </a:solidFill>
              </a:rPr>
              <a:t>任取</a:t>
            </a:r>
            <a:r>
              <a:rPr lang="en-US" altLang="zh-CN" b="1" i="1" dirty="0">
                <a:solidFill>
                  <a:srgbClr val="3366CC"/>
                </a:solidFill>
              </a:rPr>
              <a:t>x</a:t>
            </a:r>
            <a:r>
              <a:rPr lang="en-US" altLang="zh-CN" b="1" dirty="0">
                <a:solidFill>
                  <a:srgbClr val="3366CC"/>
                </a:solidFill>
              </a:rPr>
              <a:t>,</a:t>
            </a:r>
            <a:endParaRPr lang="en-US" altLang="zh-CN" b="1" i="1" dirty="0">
              <a:solidFill>
                <a:srgbClr val="3366CC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15000"/>
              </a:spcBef>
              <a:defRPr/>
            </a:pPr>
            <a:r>
              <a:rPr lang="en-US" altLang="zh-CN" b="1" i="1" dirty="0">
                <a:solidFill>
                  <a:srgbClr val="3366CC"/>
                </a:solidFill>
              </a:rPr>
              <a:t>          x</a:t>
            </a:r>
            <a:r>
              <a:rPr lang="en-US" altLang="zh-CN" b="1" dirty="0">
                <a:solidFill>
                  <a:srgbClr val="3366CC"/>
                </a:solidFill>
              </a:rPr>
              <a:t>∈dom</a:t>
            </a:r>
            <a:r>
              <a:rPr lang="en-US" altLang="zh-CN" b="1" i="1" dirty="0">
                <a:solidFill>
                  <a:srgbClr val="3366CC"/>
                </a:solidFill>
              </a:rPr>
              <a:t>F</a:t>
            </a:r>
            <a:r>
              <a:rPr lang="en-US" altLang="zh-CN" b="1" i="1" baseline="30000" dirty="0">
                <a:solidFill>
                  <a:srgbClr val="3366CC"/>
                </a:solidFill>
                <a:sym typeface="Symbol" pitchFamily="18" charset="2"/>
              </a:rPr>
              <a:t></a:t>
            </a:r>
            <a:r>
              <a:rPr lang="en-US" altLang="zh-CN" b="1" baseline="30000" dirty="0">
                <a:solidFill>
                  <a:srgbClr val="3366CC"/>
                </a:solidFill>
              </a:rPr>
              <a:t>1 </a:t>
            </a:r>
            <a:r>
              <a:rPr lang="en-US" altLang="zh-CN" b="1" dirty="0">
                <a:solidFill>
                  <a:srgbClr val="3366CC"/>
                </a:solidFill>
                <a:sym typeface="Symbol" pitchFamily="18" charset="2"/>
              </a:rPr>
              <a:t> </a:t>
            </a:r>
            <a:r>
              <a:rPr lang="en-US" altLang="zh-CN" b="1" i="1" dirty="0">
                <a:solidFill>
                  <a:srgbClr val="3366CC"/>
                </a:solidFill>
              </a:rPr>
              <a:t>y</a:t>
            </a:r>
            <a:r>
              <a:rPr lang="en-US" altLang="zh-CN" b="1" dirty="0">
                <a:solidFill>
                  <a:srgbClr val="3366CC"/>
                </a:solidFill>
              </a:rPr>
              <a:t>(&lt;</a:t>
            </a:r>
            <a:r>
              <a:rPr lang="en-US" altLang="zh-CN" b="1" i="1" dirty="0" err="1">
                <a:solidFill>
                  <a:srgbClr val="3366CC"/>
                </a:solidFill>
              </a:rPr>
              <a:t>x</a:t>
            </a:r>
            <a:r>
              <a:rPr lang="en-US" altLang="zh-CN" b="1" dirty="0" err="1">
                <a:solidFill>
                  <a:srgbClr val="3366CC"/>
                </a:solidFill>
              </a:rPr>
              <a:t>,</a:t>
            </a:r>
            <a:r>
              <a:rPr lang="en-US" altLang="zh-CN" b="1" i="1" dirty="0" err="1">
                <a:solidFill>
                  <a:srgbClr val="3366CC"/>
                </a:solidFill>
              </a:rPr>
              <a:t>y</a:t>
            </a:r>
            <a:r>
              <a:rPr lang="en-US" altLang="zh-CN" b="1" dirty="0">
                <a:solidFill>
                  <a:srgbClr val="3366CC"/>
                </a:solidFill>
              </a:rPr>
              <a:t>&gt;∈</a:t>
            </a:r>
            <a:r>
              <a:rPr lang="en-US" altLang="zh-CN" b="1" i="1" dirty="0">
                <a:solidFill>
                  <a:srgbClr val="3366CC"/>
                </a:solidFill>
              </a:rPr>
              <a:t>F</a:t>
            </a:r>
            <a:r>
              <a:rPr lang="en-US" altLang="zh-CN" b="1" i="1" baseline="30000" dirty="0">
                <a:solidFill>
                  <a:srgbClr val="3366CC"/>
                </a:solidFill>
                <a:sym typeface="Symbol" pitchFamily="18" charset="2"/>
              </a:rPr>
              <a:t></a:t>
            </a:r>
            <a:r>
              <a:rPr lang="en-US" altLang="zh-CN" b="1" baseline="30000" dirty="0">
                <a:solidFill>
                  <a:srgbClr val="3366CC"/>
                </a:solidFill>
              </a:rPr>
              <a:t>1</a:t>
            </a:r>
            <a:r>
              <a:rPr lang="en-US" altLang="zh-CN" b="1" dirty="0">
                <a:solidFill>
                  <a:srgbClr val="3366CC"/>
                </a:solidFill>
              </a:rPr>
              <a:t>) </a:t>
            </a:r>
            <a:endParaRPr lang="en-US" altLang="zh-CN" b="1" dirty="0">
              <a:solidFill>
                <a:srgbClr val="3366CC"/>
              </a:solidFill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15000"/>
              </a:spcBef>
              <a:defRPr/>
            </a:pPr>
            <a:r>
              <a:rPr lang="en-US" altLang="zh-CN" b="1" dirty="0">
                <a:solidFill>
                  <a:srgbClr val="3366CC"/>
                </a:solidFill>
                <a:sym typeface="Symbol" pitchFamily="18" charset="2"/>
              </a:rPr>
              <a:t>        </a:t>
            </a:r>
            <a:r>
              <a:rPr lang="en-US" altLang="zh-CN" b="1" i="1" dirty="0">
                <a:solidFill>
                  <a:srgbClr val="3366CC"/>
                </a:solidFill>
              </a:rPr>
              <a:t>y</a:t>
            </a:r>
            <a:r>
              <a:rPr lang="en-US" altLang="zh-CN" b="1" dirty="0">
                <a:solidFill>
                  <a:srgbClr val="3366CC"/>
                </a:solidFill>
              </a:rPr>
              <a:t>(&lt;</a:t>
            </a:r>
            <a:r>
              <a:rPr lang="en-US" altLang="zh-CN" b="1" i="1" dirty="0" err="1">
                <a:solidFill>
                  <a:srgbClr val="3366CC"/>
                </a:solidFill>
              </a:rPr>
              <a:t>y</a:t>
            </a:r>
            <a:r>
              <a:rPr lang="en-US" altLang="zh-CN" b="1" dirty="0" err="1">
                <a:solidFill>
                  <a:srgbClr val="3366CC"/>
                </a:solidFill>
              </a:rPr>
              <a:t>,</a:t>
            </a:r>
            <a:r>
              <a:rPr lang="en-US" altLang="zh-CN" b="1" i="1" dirty="0" err="1">
                <a:solidFill>
                  <a:srgbClr val="3366CC"/>
                </a:solidFill>
              </a:rPr>
              <a:t>x</a:t>
            </a:r>
            <a:r>
              <a:rPr lang="en-US" altLang="zh-CN" b="1" dirty="0">
                <a:solidFill>
                  <a:srgbClr val="3366CC"/>
                </a:solidFill>
              </a:rPr>
              <a:t>&gt;∈</a:t>
            </a:r>
            <a:r>
              <a:rPr lang="en-US" altLang="zh-CN" b="1" i="1" dirty="0">
                <a:solidFill>
                  <a:srgbClr val="3366CC"/>
                </a:solidFill>
              </a:rPr>
              <a:t>F</a:t>
            </a:r>
            <a:r>
              <a:rPr lang="en-US" altLang="zh-CN" b="1" dirty="0">
                <a:solidFill>
                  <a:srgbClr val="3366CC"/>
                </a:solidFill>
              </a:rPr>
              <a:t>) </a:t>
            </a:r>
            <a:r>
              <a:rPr lang="en-US" altLang="zh-CN" b="1" dirty="0">
                <a:solidFill>
                  <a:srgbClr val="3366CC"/>
                </a:solidFill>
                <a:sym typeface="Symbol" pitchFamily="18" charset="2"/>
              </a:rPr>
              <a:t></a:t>
            </a:r>
            <a:r>
              <a:rPr lang="en-US" altLang="zh-CN" b="1" dirty="0">
                <a:solidFill>
                  <a:srgbClr val="3366CC"/>
                </a:solidFill>
              </a:rPr>
              <a:t> </a:t>
            </a:r>
            <a:r>
              <a:rPr lang="en-US" altLang="zh-CN" b="1" i="1" dirty="0" err="1">
                <a:solidFill>
                  <a:srgbClr val="3366CC"/>
                </a:solidFill>
              </a:rPr>
              <a:t>x</a:t>
            </a:r>
            <a:r>
              <a:rPr lang="en-US" altLang="zh-CN" b="1" dirty="0" err="1">
                <a:solidFill>
                  <a:srgbClr val="3366CC"/>
                </a:solidFill>
              </a:rPr>
              <a:t>∈ran</a:t>
            </a:r>
            <a:r>
              <a:rPr lang="en-US" altLang="zh-CN" b="1" i="1" dirty="0" err="1">
                <a:solidFill>
                  <a:srgbClr val="3366CC"/>
                </a:solidFill>
              </a:rPr>
              <a:t>F</a:t>
            </a:r>
            <a:r>
              <a:rPr lang="en-US" altLang="zh-CN" b="1" dirty="0">
                <a:solidFill>
                  <a:srgbClr val="3366CC"/>
                </a:solidFill>
              </a:rPr>
              <a:t> </a:t>
            </a:r>
            <a:r>
              <a:rPr lang="en-US" altLang="zh-CN" b="1" dirty="0"/>
              <a:t/>
            </a:r>
            <a:br>
              <a:rPr lang="en-US" altLang="zh-CN" b="1" dirty="0"/>
            </a:br>
            <a:r>
              <a:rPr lang="zh-CN" altLang="en-US" b="1" dirty="0"/>
              <a:t>所以有</a:t>
            </a:r>
            <a:r>
              <a:rPr lang="en-US" altLang="zh-CN" b="1" dirty="0"/>
              <a:t>dom</a:t>
            </a:r>
            <a:r>
              <a:rPr lang="en-US" altLang="zh-CN" b="1" i="1" dirty="0"/>
              <a:t>F</a:t>
            </a:r>
            <a:r>
              <a:rPr lang="en-US" altLang="zh-CN" b="1" i="1" baseline="30000" dirty="0">
                <a:sym typeface="Symbol" pitchFamily="18" charset="2"/>
              </a:rPr>
              <a:t></a:t>
            </a:r>
            <a:r>
              <a:rPr lang="en-US" altLang="zh-CN" b="1" baseline="30000" dirty="0"/>
              <a:t>1</a:t>
            </a:r>
            <a:r>
              <a:rPr lang="en-US" altLang="zh-CN" b="1" dirty="0"/>
              <a:t>= </a:t>
            </a:r>
            <a:r>
              <a:rPr lang="en-US" altLang="zh-CN" b="1" dirty="0" err="1"/>
              <a:t>ran</a:t>
            </a:r>
            <a:r>
              <a:rPr lang="en-US" altLang="zh-CN" b="1" i="1" dirty="0" err="1"/>
              <a:t>F</a:t>
            </a:r>
            <a:r>
              <a:rPr lang="zh-CN" altLang="en-US" b="1" i="1" dirty="0"/>
              <a:t>。</a:t>
            </a:r>
            <a:r>
              <a:rPr lang="en-US" altLang="zh-CN" b="1" i="1" dirty="0"/>
              <a:t> </a:t>
            </a:r>
            <a:r>
              <a:rPr lang="zh-CN" altLang="en-US" b="1" dirty="0"/>
              <a:t>同理可证 </a:t>
            </a:r>
            <a:r>
              <a:rPr lang="en-US" altLang="zh-CN" b="1" dirty="0"/>
              <a:t>ran</a:t>
            </a:r>
            <a:r>
              <a:rPr lang="en-US" altLang="zh-CN" b="1" i="1" dirty="0"/>
              <a:t>F</a:t>
            </a:r>
            <a:r>
              <a:rPr lang="en-US" altLang="zh-CN" b="1" i="1" baseline="30000" dirty="0">
                <a:sym typeface="Symbol" pitchFamily="18" charset="2"/>
              </a:rPr>
              <a:t></a:t>
            </a:r>
            <a:r>
              <a:rPr lang="en-US" altLang="zh-CN" b="1" baseline="30000" dirty="0"/>
              <a:t>1</a:t>
            </a:r>
            <a:r>
              <a:rPr lang="en-US" altLang="zh-CN" b="1" dirty="0"/>
              <a:t> = </a:t>
            </a:r>
            <a:r>
              <a:rPr lang="en-US" altLang="zh-CN" b="1" dirty="0" err="1"/>
              <a:t>dom</a:t>
            </a:r>
            <a:r>
              <a:rPr lang="en-US" altLang="zh-CN" b="1" i="1" dirty="0" err="1"/>
              <a:t>F</a:t>
            </a:r>
            <a:r>
              <a:rPr lang="zh-CN" altLang="en-US" b="1" dirty="0"/>
              <a:t>。</a:t>
            </a:r>
            <a:endParaRPr lang="en-US" altLang="zh-CN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9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9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9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9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9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09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09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943E40E-8FB1-4C6E-9EEC-549579891A3A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10946" name="Text Box 2"/>
          <p:cNvSpPr txBox="1">
            <a:spLocks noChangeArrowheads="1"/>
          </p:cNvSpPr>
          <p:nvPr/>
        </p:nvSpPr>
        <p:spPr bwMode="auto">
          <a:xfrm>
            <a:off x="396081" y="1313897"/>
            <a:ext cx="8496300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定理</a:t>
            </a:r>
            <a:r>
              <a:rPr lang="en-US" altLang="zh-CN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zh-CN" b="1" dirty="0">
                <a:solidFill>
                  <a:srgbClr val="FF3300"/>
                </a:solidFill>
              </a:rPr>
              <a:t>   </a:t>
            </a:r>
            <a:r>
              <a:rPr lang="zh-CN" altLang="en-US" b="1" dirty="0"/>
              <a:t>设</a:t>
            </a:r>
            <a:r>
              <a:rPr lang="en-US" altLang="zh-CN" b="1" i="1" dirty="0"/>
              <a:t>F</a:t>
            </a:r>
            <a:r>
              <a:rPr lang="en-US" altLang="zh-CN" b="1" dirty="0"/>
              <a:t>, </a:t>
            </a:r>
            <a:r>
              <a:rPr lang="en-US" altLang="zh-CN" b="1" i="1" dirty="0"/>
              <a:t>G</a:t>
            </a:r>
            <a:r>
              <a:rPr lang="en-US" altLang="zh-CN" b="1" dirty="0"/>
              <a:t>, </a:t>
            </a:r>
            <a:r>
              <a:rPr lang="en-US" altLang="zh-CN" b="1" i="1" dirty="0"/>
              <a:t>H</a:t>
            </a:r>
            <a:r>
              <a:rPr lang="zh-CN" altLang="en-US" b="1" dirty="0"/>
              <a:t>是任意的关系</a:t>
            </a:r>
            <a:r>
              <a:rPr lang="en-US" altLang="zh-CN" b="1" dirty="0"/>
              <a:t>, </a:t>
            </a:r>
            <a:r>
              <a:rPr lang="zh-CN" altLang="en-US" b="1" dirty="0"/>
              <a:t>则  </a:t>
            </a:r>
          </a:p>
          <a:p>
            <a:pPr eaLnBrk="1" hangingPunct="1">
              <a:defRPr/>
            </a:pPr>
            <a:r>
              <a:rPr lang="zh-CN" altLang="en-US" b="1" dirty="0"/>
              <a:t>    </a:t>
            </a:r>
            <a:r>
              <a:rPr lang="en-US" altLang="zh-CN" b="1" dirty="0"/>
              <a:t>(1) (</a:t>
            </a:r>
            <a:r>
              <a:rPr lang="en-US" altLang="zh-CN" b="1" i="1" dirty="0"/>
              <a:t>F</a:t>
            </a:r>
            <a:r>
              <a:rPr lang="en-US" altLang="zh-CN" b="1" dirty="0">
                <a:latin typeface="Arial" charset="0"/>
              </a:rPr>
              <a:t>∘</a:t>
            </a:r>
            <a:r>
              <a:rPr lang="en-US" altLang="zh-CN" b="1" i="1" dirty="0"/>
              <a:t>G</a:t>
            </a:r>
            <a:r>
              <a:rPr lang="en-US" altLang="zh-CN" b="1" dirty="0"/>
              <a:t>)</a:t>
            </a:r>
            <a:r>
              <a:rPr lang="en-US" altLang="zh-CN" b="1" dirty="0">
                <a:latin typeface="Arial" charset="0"/>
              </a:rPr>
              <a:t>∘</a:t>
            </a:r>
            <a:r>
              <a:rPr lang="en-US" altLang="zh-CN" b="1" i="1" dirty="0"/>
              <a:t>H</a:t>
            </a:r>
            <a:r>
              <a:rPr lang="en-US" altLang="zh-CN" b="1" dirty="0"/>
              <a:t>=</a:t>
            </a:r>
            <a:r>
              <a:rPr lang="en-US" altLang="zh-CN" b="1" i="1" dirty="0"/>
              <a:t>F</a:t>
            </a:r>
            <a:r>
              <a:rPr lang="en-US" altLang="zh-CN" b="1" dirty="0">
                <a:latin typeface="Arial" charset="0"/>
              </a:rPr>
              <a:t>∘</a:t>
            </a:r>
            <a:r>
              <a:rPr lang="en-US" altLang="zh-CN" b="1" dirty="0"/>
              <a:t>(</a:t>
            </a:r>
            <a:r>
              <a:rPr lang="en-US" altLang="zh-CN" b="1" i="1" dirty="0"/>
              <a:t>G</a:t>
            </a:r>
            <a:r>
              <a:rPr lang="en-US" altLang="zh-CN" b="1" dirty="0">
                <a:latin typeface="Arial" charset="0"/>
              </a:rPr>
              <a:t>∘</a:t>
            </a:r>
            <a:r>
              <a:rPr lang="en-US" altLang="zh-CN" b="1" i="1" dirty="0"/>
              <a:t>H</a:t>
            </a:r>
            <a:r>
              <a:rPr lang="en-US" altLang="zh-CN" b="1" dirty="0"/>
              <a:t>)</a:t>
            </a:r>
          </a:p>
          <a:p>
            <a:pPr eaLnBrk="1" hangingPunct="1">
              <a:defRPr/>
            </a:pPr>
            <a:r>
              <a:rPr lang="en-US" altLang="zh-CN" b="1" dirty="0"/>
              <a:t>    (2) (</a:t>
            </a:r>
            <a:r>
              <a:rPr lang="en-US" altLang="zh-CN" b="1" i="1" dirty="0"/>
              <a:t>F</a:t>
            </a:r>
            <a:r>
              <a:rPr lang="en-US" altLang="zh-CN" b="1" dirty="0">
                <a:latin typeface="Arial" charset="0"/>
              </a:rPr>
              <a:t>∘</a:t>
            </a:r>
            <a:r>
              <a:rPr lang="en-US" altLang="zh-CN" b="1" i="1" dirty="0"/>
              <a:t>G</a:t>
            </a:r>
            <a:r>
              <a:rPr lang="en-US" altLang="zh-CN" b="1" dirty="0"/>
              <a:t>)</a:t>
            </a:r>
            <a:r>
              <a:rPr lang="en-US" altLang="zh-CN" b="1" i="1" baseline="30000" dirty="0">
                <a:sym typeface="Symbol" pitchFamily="18" charset="2"/>
              </a:rPr>
              <a:t></a:t>
            </a:r>
            <a:r>
              <a:rPr lang="en-US" altLang="zh-CN" b="1" baseline="30000" dirty="0"/>
              <a:t>1</a:t>
            </a:r>
            <a:r>
              <a:rPr lang="en-US" altLang="zh-CN" b="1" dirty="0"/>
              <a:t>=</a:t>
            </a:r>
            <a:r>
              <a:rPr lang="en-US" altLang="zh-CN" b="1" i="1" dirty="0"/>
              <a:t> G</a:t>
            </a:r>
            <a:r>
              <a:rPr lang="en-US" altLang="zh-CN" b="1" i="1" baseline="30000" dirty="0">
                <a:sym typeface="Symbol" pitchFamily="18" charset="2"/>
              </a:rPr>
              <a:t></a:t>
            </a:r>
            <a:r>
              <a:rPr lang="en-US" altLang="zh-CN" b="1" baseline="30000" dirty="0"/>
              <a:t>1</a:t>
            </a:r>
            <a:r>
              <a:rPr lang="en-US" altLang="zh-CN" b="1" dirty="0">
                <a:latin typeface="Arial" charset="0"/>
              </a:rPr>
              <a:t>∘</a:t>
            </a:r>
            <a:r>
              <a:rPr lang="en-US" altLang="zh-CN" b="1" i="1" dirty="0"/>
              <a:t>F</a:t>
            </a:r>
            <a:r>
              <a:rPr lang="en-US" altLang="zh-CN" b="1" i="1" baseline="30000" dirty="0">
                <a:sym typeface="Symbol" pitchFamily="18" charset="2"/>
              </a:rPr>
              <a:t></a:t>
            </a:r>
            <a:r>
              <a:rPr lang="en-US" altLang="zh-CN" b="1" baseline="30000" dirty="0"/>
              <a:t>1 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title"/>
          </p:nvPr>
        </p:nvSpPr>
        <p:spPr>
          <a:xfrm>
            <a:off x="396081" y="161372"/>
            <a:ext cx="7920037" cy="11525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关系基本运算的性质（续）</a:t>
            </a:r>
            <a:r>
              <a:rPr lang="zh-CN" altLang="en-US" dirty="0"/>
              <a:t> 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22969" y="2933006"/>
            <a:ext cx="84963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/>
              <a:t>证 </a:t>
            </a:r>
            <a:r>
              <a:rPr lang="en-US" altLang="zh-CN" b="1" dirty="0"/>
              <a:t>(1) </a:t>
            </a:r>
            <a:r>
              <a:rPr lang="zh-CN" altLang="en-US" b="1" dirty="0"/>
              <a:t>任取</a:t>
            </a:r>
            <a:r>
              <a:rPr lang="en-US" altLang="zh-CN" b="1" dirty="0"/>
              <a:t>&lt;</a:t>
            </a:r>
            <a:r>
              <a:rPr lang="en-US" altLang="zh-CN" b="1" i="1" dirty="0"/>
              <a:t>x</a:t>
            </a:r>
            <a:r>
              <a:rPr lang="en-US" altLang="zh-CN" b="1" dirty="0"/>
              <a:t>, </a:t>
            </a:r>
            <a:r>
              <a:rPr lang="en-US" altLang="zh-CN" b="1" i="1" dirty="0"/>
              <a:t>y</a:t>
            </a:r>
            <a:r>
              <a:rPr lang="en-US" altLang="zh-CN" b="1" dirty="0"/>
              <a:t>&gt;, </a:t>
            </a:r>
          </a:p>
          <a:p>
            <a:pPr eaLnBrk="1" hangingPunct="1">
              <a:defRPr/>
            </a:pPr>
            <a:r>
              <a:rPr lang="en-US" altLang="zh-CN" b="1" dirty="0"/>
              <a:t>     &lt;</a:t>
            </a:r>
            <a:r>
              <a:rPr lang="en-US" altLang="zh-CN" b="1" i="1" dirty="0"/>
              <a:t>x</a:t>
            </a:r>
            <a:r>
              <a:rPr lang="en-US" altLang="zh-CN" b="1" dirty="0"/>
              <a:t>, </a:t>
            </a:r>
            <a:r>
              <a:rPr lang="en-US" altLang="zh-CN" b="1" i="1" dirty="0"/>
              <a:t>y</a:t>
            </a:r>
            <a:r>
              <a:rPr lang="en-US" altLang="zh-CN" b="1" dirty="0"/>
              <a:t>&gt;</a:t>
            </a:r>
            <a:r>
              <a:rPr lang="en-US" altLang="zh-CN" b="1" dirty="0">
                <a:sym typeface="Symbol" pitchFamily="18" charset="2"/>
              </a:rPr>
              <a:t></a:t>
            </a:r>
            <a:r>
              <a:rPr lang="en-US" altLang="zh-CN" b="1" dirty="0"/>
              <a:t>(</a:t>
            </a:r>
            <a:r>
              <a:rPr lang="en-US" altLang="zh-CN" b="1" i="1" dirty="0"/>
              <a:t>F</a:t>
            </a:r>
            <a:r>
              <a:rPr lang="en-US" altLang="zh-CN" b="1" dirty="0">
                <a:latin typeface="Arial" charset="0"/>
              </a:rPr>
              <a:t>∘</a:t>
            </a:r>
            <a:r>
              <a:rPr lang="en-US" altLang="zh-CN" b="1" i="1" dirty="0"/>
              <a:t>G</a:t>
            </a:r>
            <a:r>
              <a:rPr lang="en-US" altLang="zh-CN" b="1" dirty="0"/>
              <a:t>)</a:t>
            </a:r>
            <a:r>
              <a:rPr lang="en-US" altLang="zh-CN" b="1" dirty="0">
                <a:latin typeface="Arial" charset="0"/>
              </a:rPr>
              <a:t>∘</a:t>
            </a:r>
            <a:r>
              <a:rPr lang="en-US" altLang="zh-CN" b="1" i="1" dirty="0"/>
              <a:t>H</a:t>
            </a:r>
            <a:r>
              <a:rPr lang="en-US" altLang="zh-CN" b="1" dirty="0">
                <a:sym typeface="Symbol" pitchFamily="18" charset="2"/>
              </a:rPr>
              <a:t> </a:t>
            </a:r>
            <a:r>
              <a:rPr lang="en-US" altLang="zh-CN" b="1" i="1" dirty="0"/>
              <a:t>t</a:t>
            </a:r>
            <a:r>
              <a:rPr lang="en-US" altLang="zh-CN" b="1" dirty="0"/>
              <a:t>(&lt;</a:t>
            </a:r>
            <a:r>
              <a:rPr lang="en-US" altLang="zh-CN" b="1" i="1" dirty="0"/>
              <a:t>x</a:t>
            </a:r>
            <a:r>
              <a:rPr lang="en-US" altLang="zh-CN" b="1" dirty="0"/>
              <a:t>, </a:t>
            </a:r>
            <a:r>
              <a:rPr lang="en-US" altLang="zh-CN" b="1" i="1" dirty="0"/>
              <a:t>t</a:t>
            </a:r>
            <a:r>
              <a:rPr lang="en-US" altLang="zh-CN" b="1" dirty="0"/>
              <a:t>&gt;∈ </a:t>
            </a:r>
            <a:r>
              <a:rPr lang="en-US" altLang="zh-CN" b="1" i="1" dirty="0"/>
              <a:t>H</a:t>
            </a:r>
            <a:r>
              <a:rPr lang="en-US" altLang="zh-CN" b="1" dirty="0"/>
              <a:t> ∧&lt;</a:t>
            </a:r>
            <a:r>
              <a:rPr lang="en-US" altLang="zh-CN" b="1" i="1" dirty="0"/>
              <a:t>t</a:t>
            </a:r>
            <a:r>
              <a:rPr lang="en-US" altLang="zh-CN" b="1" dirty="0"/>
              <a:t>, </a:t>
            </a:r>
            <a:r>
              <a:rPr lang="en-US" altLang="zh-CN" b="1" i="1" dirty="0"/>
              <a:t>y&gt;</a:t>
            </a:r>
            <a:r>
              <a:rPr lang="en-US" altLang="zh-CN" b="1" dirty="0"/>
              <a:t>∈ </a:t>
            </a:r>
            <a:r>
              <a:rPr lang="en-US" altLang="zh-CN" b="1" i="1" dirty="0"/>
              <a:t>F</a:t>
            </a:r>
            <a:r>
              <a:rPr lang="en-US" altLang="zh-CN" b="1" dirty="0">
                <a:latin typeface="Arial" charset="0"/>
              </a:rPr>
              <a:t>∘</a:t>
            </a:r>
            <a:r>
              <a:rPr lang="en-US" altLang="zh-CN" b="1" i="1" dirty="0"/>
              <a:t>G</a:t>
            </a:r>
            <a:r>
              <a:rPr lang="en-US" altLang="zh-CN" b="1" dirty="0"/>
              <a:t>)</a:t>
            </a:r>
          </a:p>
          <a:p>
            <a:pPr eaLnBrk="1" hangingPunct="1">
              <a:defRPr/>
            </a:pPr>
            <a:r>
              <a:rPr lang="en-US" altLang="zh-CN" b="1" dirty="0"/>
              <a:t> </a:t>
            </a:r>
            <a:r>
              <a:rPr lang="en-US" altLang="zh-CN" b="1" dirty="0">
                <a:sym typeface="Symbol" pitchFamily="18" charset="2"/>
              </a:rPr>
              <a:t>   </a:t>
            </a:r>
            <a:r>
              <a:rPr lang="en-US" altLang="zh-CN" b="1" i="1" dirty="0"/>
              <a:t>t </a:t>
            </a:r>
            <a:r>
              <a:rPr lang="en-US" altLang="zh-CN" b="1" dirty="0"/>
              <a:t>(&lt;</a:t>
            </a:r>
            <a:r>
              <a:rPr lang="en-US" altLang="zh-CN" b="1" i="1" dirty="0" err="1"/>
              <a:t>x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t</a:t>
            </a:r>
            <a:r>
              <a:rPr lang="en-US" altLang="zh-CN" b="1" dirty="0"/>
              <a:t>&gt;∈ </a:t>
            </a:r>
            <a:r>
              <a:rPr lang="en-US" altLang="zh-CN" b="1" i="1" dirty="0"/>
              <a:t>H</a:t>
            </a:r>
            <a:r>
              <a:rPr lang="en-US" altLang="zh-CN" b="1" dirty="0"/>
              <a:t> ∧ </a:t>
            </a:r>
            <a:r>
              <a:rPr lang="en-US" altLang="zh-CN" b="1" dirty="0">
                <a:sym typeface="Symbol" pitchFamily="18" charset="2"/>
              </a:rPr>
              <a:t></a:t>
            </a:r>
            <a:r>
              <a:rPr lang="en-US" altLang="zh-CN" b="1" i="1" dirty="0"/>
              <a:t>s</a:t>
            </a:r>
            <a:r>
              <a:rPr lang="en-US" altLang="zh-CN" b="1" dirty="0"/>
              <a:t> (&lt; </a:t>
            </a:r>
            <a:r>
              <a:rPr lang="en-US" altLang="zh-CN" b="1" i="1" dirty="0"/>
              <a:t>t</a:t>
            </a:r>
            <a:r>
              <a:rPr lang="en-US" altLang="zh-CN" b="1" dirty="0"/>
              <a:t>,</a:t>
            </a:r>
            <a:r>
              <a:rPr lang="en-US" altLang="zh-CN" b="1" i="1" dirty="0"/>
              <a:t> s </a:t>
            </a:r>
            <a:r>
              <a:rPr lang="en-US" altLang="zh-CN" b="1" dirty="0"/>
              <a:t>&gt;∈</a:t>
            </a:r>
            <a:r>
              <a:rPr lang="en-US" altLang="zh-CN" b="1" i="1" dirty="0"/>
              <a:t>G</a:t>
            </a:r>
            <a:r>
              <a:rPr lang="en-US" altLang="zh-CN" b="1" dirty="0"/>
              <a:t>) ∧ &lt;</a:t>
            </a:r>
            <a:r>
              <a:rPr lang="en-US" altLang="zh-CN" b="1" i="1" dirty="0" err="1"/>
              <a:t>s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y</a:t>
            </a:r>
            <a:r>
              <a:rPr lang="en-US" altLang="zh-CN" b="1" dirty="0"/>
              <a:t>&gt;∈ </a:t>
            </a:r>
            <a:r>
              <a:rPr lang="en-US" altLang="zh-CN" b="1" i="1" dirty="0"/>
              <a:t>F</a:t>
            </a:r>
            <a:r>
              <a:rPr lang="en-US" altLang="zh-CN" b="1" dirty="0"/>
              <a:t>) )</a:t>
            </a:r>
          </a:p>
          <a:p>
            <a:pPr eaLnBrk="1" hangingPunct="1">
              <a:defRPr/>
            </a:pPr>
            <a:r>
              <a:rPr lang="en-US" altLang="zh-CN" b="1" dirty="0"/>
              <a:t>   </a:t>
            </a:r>
            <a:r>
              <a:rPr lang="en-US" altLang="zh-CN" b="1" dirty="0">
                <a:sym typeface="Symbol" pitchFamily="18" charset="2"/>
              </a:rPr>
              <a:t> </a:t>
            </a:r>
            <a:r>
              <a:rPr lang="en-US" altLang="zh-CN" b="1" i="1" dirty="0"/>
              <a:t>t </a:t>
            </a:r>
            <a:r>
              <a:rPr lang="en-US" altLang="zh-CN" b="1" dirty="0">
                <a:sym typeface="Symbol" pitchFamily="18" charset="2"/>
              </a:rPr>
              <a:t></a:t>
            </a:r>
            <a:r>
              <a:rPr lang="en-US" altLang="zh-CN" b="1" i="1" dirty="0"/>
              <a:t>s </a:t>
            </a:r>
            <a:r>
              <a:rPr lang="en-US" altLang="zh-CN" b="1" dirty="0"/>
              <a:t>(&lt;</a:t>
            </a:r>
            <a:r>
              <a:rPr lang="en-US" altLang="zh-CN" b="1" i="1" dirty="0" err="1"/>
              <a:t>x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t</a:t>
            </a:r>
            <a:r>
              <a:rPr lang="en-US" altLang="zh-CN" b="1" dirty="0"/>
              <a:t>&gt;∈ </a:t>
            </a:r>
            <a:r>
              <a:rPr lang="en-US" altLang="zh-CN" b="1" i="1" dirty="0"/>
              <a:t>H</a:t>
            </a:r>
            <a:r>
              <a:rPr lang="en-US" altLang="zh-CN" b="1" dirty="0"/>
              <a:t> ∧&lt; </a:t>
            </a:r>
            <a:r>
              <a:rPr lang="en-US" altLang="zh-CN" b="1" i="1" dirty="0"/>
              <a:t>t</a:t>
            </a:r>
            <a:r>
              <a:rPr lang="en-US" altLang="zh-CN" b="1" dirty="0"/>
              <a:t>,</a:t>
            </a:r>
            <a:r>
              <a:rPr lang="en-US" altLang="zh-CN" b="1" i="1" dirty="0"/>
              <a:t> s </a:t>
            </a:r>
            <a:r>
              <a:rPr lang="en-US" altLang="zh-CN" b="1" dirty="0"/>
              <a:t>&gt;∈</a:t>
            </a:r>
            <a:r>
              <a:rPr lang="en-US" altLang="zh-CN" b="1" i="1" dirty="0"/>
              <a:t>G</a:t>
            </a:r>
            <a:r>
              <a:rPr lang="en-US" altLang="zh-CN" b="1" dirty="0"/>
              <a:t>∧&lt;</a:t>
            </a:r>
            <a:r>
              <a:rPr lang="en-US" altLang="zh-CN" b="1" i="1" dirty="0" err="1"/>
              <a:t>s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y</a:t>
            </a:r>
            <a:r>
              <a:rPr lang="en-US" altLang="zh-CN" b="1" dirty="0"/>
              <a:t>&gt;∈ </a:t>
            </a:r>
            <a:r>
              <a:rPr lang="en-US" altLang="zh-CN" b="1" i="1" dirty="0"/>
              <a:t>F</a:t>
            </a:r>
            <a:r>
              <a:rPr lang="en-US" altLang="zh-CN" b="1" dirty="0"/>
              <a:t>)</a:t>
            </a:r>
          </a:p>
          <a:p>
            <a:pPr eaLnBrk="1" hangingPunct="1">
              <a:defRPr/>
            </a:pPr>
            <a:r>
              <a:rPr lang="en-US" altLang="zh-CN" b="1" dirty="0"/>
              <a:t>   </a:t>
            </a:r>
            <a:r>
              <a:rPr lang="en-US" altLang="zh-CN" b="1" dirty="0">
                <a:sym typeface="Symbol" pitchFamily="18" charset="2"/>
              </a:rPr>
              <a:t> </a:t>
            </a:r>
            <a:r>
              <a:rPr lang="en-US" altLang="zh-CN" b="1" i="1" dirty="0"/>
              <a:t>s </a:t>
            </a:r>
            <a:r>
              <a:rPr lang="en-US" altLang="zh-CN" b="1" dirty="0"/>
              <a:t>(</a:t>
            </a:r>
            <a:r>
              <a:rPr lang="en-US" altLang="zh-CN" b="1" dirty="0">
                <a:sym typeface="Symbol" pitchFamily="18" charset="2"/>
              </a:rPr>
              <a:t></a:t>
            </a:r>
            <a:r>
              <a:rPr lang="en-US" altLang="zh-CN" b="1" i="1" dirty="0"/>
              <a:t>t </a:t>
            </a:r>
            <a:r>
              <a:rPr lang="en-US" altLang="zh-CN" b="1" dirty="0"/>
              <a:t>(&lt;</a:t>
            </a:r>
            <a:r>
              <a:rPr lang="en-US" altLang="zh-CN" b="1" i="1" dirty="0" err="1"/>
              <a:t>x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t</a:t>
            </a:r>
            <a:r>
              <a:rPr lang="en-US" altLang="zh-CN" b="1" dirty="0"/>
              <a:t>&gt;∈</a:t>
            </a:r>
            <a:r>
              <a:rPr lang="en-US" altLang="zh-CN" b="1" i="1" dirty="0"/>
              <a:t>H</a:t>
            </a:r>
            <a:r>
              <a:rPr lang="en-US" altLang="zh-CN" b="1" dirty="0"/>
              <a:t>∧&lt;</a:t>
            </a:r>
            <a:r>
              <a:rPr lang="en-US" altLang="zh-CN" b="1" i="1" dirty="0" err="1"/>
              <a:t>t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s</a:t>
            </a:r>
            <a:r>
              <a:rPr lang="en-US" altLang="zh-CN" b="1" dirty="0"/>
              <a:t>&gt;∈</a:t>
            </a:r>
            <a:r>
              <a:rPr lang="en-US" altLang="zh-CN" b="1" i="1" dirty="0"/>
              <a:t>G </a:t>
            </a:r>
            <a:r>
              <a:rPr lang="en-US" altLang="zh-CN" b="1" dirty="0"/>
              <a:t>)∧&lt; </a:t>
            </a:r>
            <a:r>
              <a:rPr lang="en-US" altLang="zh-CN" b="1" i="1" dirty="0"/>
              <a:t>s</a:t>
            </a:r>
            <a:r>
              <a:rPr lang="en-US" altLang="zh-CN" b="1" dirty="0"/>
              <a:t>,</a:t>
            </a:r>
            <a:r>
              <a:rPr lang="en-US" altLang="zh-CN" b="1" i="1" dirty="0"/>
              <a:t> y</a:t>
            </a:r>
            <a:r>
              <a:rPr lang="en-US" altLang="zh-CN" b="1" dirty="0"/>
              <a:t>&gt;∈</a:t>
            </a:r>
            <a:r>
              <a:rPr lang="en-US" altLang="zh-CN" b="1" i="1" dirty="0"/>
              <a:t>F</a:t>
            </a:r>
            <a:r>
              <a:rPr lang="en-US" altLang="zh-CN" b="1" dirty="0"/>
              <a:t>)</a:t>
            </a:r>
          </a:p>
          <a:p>
            <a:pPr eaLnBrk="1" hangingPunct="1">
              <a:defRPr/>
            </a:pPr>
            <a:r>
              <a:rPr lang="en-US" altLang="zh-CN" b="1" dirty="0"/>
              <a:t>   </a:t>
            </a:r>
            <a:r>
              <a:rPr lang="en-US" altLang="zh-CN" b="1" dirty="0">
                <a:sym typeface="Symbol" pitchFamily="18" charset="2"/>
              </a:rPr>
              <a:t> </a:t>
            </a:r>
            <a:r>
              <a:rPr lang="en-US" altLang="zh-CN" b="1" i="1" dirty="0"/>
              <a:t>s </a:t>
            </a:r>
            <a:r>
              <a:rPr lang="en-US" altLang="zh-CN" b="1" dirty="0"/>
              <a:t>(&lt;</a:t>
            </a:r>
            <a:r>
              <a:rPr lang="en-US" altLang="zh-CN" b="1" i="1" dirty="0" err="1"/>
              <a:t>x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s</a:t>
            </a:r>
            <a:r>
              <a:rPr lang="en-US" altLang="zh-CN" b="1" dirty="0"/>
              <a:t>&gt;∈</a:t>
            </a:r>
            <a:r>
              <a:rPr lang="en-US" altLang="zh-CN" b="1" i="1" dirty="0"/>
              <a:t>G</a:t>
            </a:r>
            <a:r>
              <a:rPr lang="en-US" altLang="zh-CN" b="1" dirty="0"/>
              <a:t>∘</a:t>
            </a:r>
            <a:r>
              <a:rPr lang="en-US" altLang="zh-CN" b="1" i="1" dirty="0"/>
              <a:t>H</a:t>
            </a:r>
            <a:r>
              <a:rPr lang="en-US" altLang="zh-CN" dirty="0"/>
              <a:t> </a:t>
            </a:r>
            <a:r>
              <a:rPr lang="en-US" altLang="zh-CN" b="1" dirty="0"/>
              <a:t>∧&lt;</a:t>
            </a:r>
            <a:r>
              <a:rPr lang="en-US" altLang="zh-CN" b="1" i="1" dirty="0" err="1"/>
              <a:t>s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y</a:t>
            </a:r>
            <a:r>
              <a:rPr lang="en-US" altLang="zh-CN" b="1" dirty="0"/>
              <a:t>&gt;∈</a:t>
            </a:r>
            <a:r>
              <a:rPr lang="en-US" altLang="zh-CN" b="1" i="1" dirty="0"/>
              <a:t>F</a:t>
            </a:r>
            <a:r>
              <a:rPr lang="en-US" altLang="zh-CN" b="1" dirty="0"/>
              <a:t>)</a:t>
            </a:r>
          </a:p>
          <a:p>
            <a:pPr eaLnBrk="1" hangingPunct="1">
              <a:defRPr/>
            </a:pPr>
            <a:r>
              <a:rPr lang="en-US" altLang="zh-CN" b="1" dirty="0"/>
              <a:t>   </a:t>
            </a:r>
            <a:r>
              <a:rPr lang="en-US" altLang="zh-CN" b="1" dirty="0">
                <a:sym typeface="Symbol" pitchFamily="18" charset="2"/>
              </a:rPr>
              <a:t> </a:t>
            </a:r>
            <a:r>
              <a:rPr lang="en-US" altLang="zh-CN" b="1" dirty="0"/>
              <a:t>&lt;</a:t>
            </a:r>
            <a:r>
              <a:rPr lang="en-US" altLang="zh-CN" b="1" i="1" dirty="0" err="1"/>
              <a:t>x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y</a:t>
            </a:r>
            <a:r>
              <a:rPr lang="en-US" altLang="zh-CN" b="1" dirty="0"/>
              <a:t>&gt;∈</a:t>
            </a:r>
            <a:r>
              <a:rPr lang="en-US" altLang="zh-CN" b="1" i="1" dirty="0"/>
              <a:t>F</a:t>
            </a:r>
            <a:r>
              <a:rPr lang="en-US" altLang="zh-CN" b="1" dirty="0">
                <a:latin typeface="Arial" charset="0"/>
              </a:rPr>
              <a:t>∘</a:t>
            </a:r>
            <a:r>
              <a:rPr lang="en-US" altLang="zh-CN" b="1" dirty="0"/>
              <a:t>(</a:t>
            </a:r>
            <a:r>
              <a:rPr lang="en-US" altLang="zh-CN" b="1" i="1" dirty="0"/>
              <a:t>G</a:t>
            </a:r>
            <a:r>
              <a:rPr lang="en-US" altLang="zh-CN" b="1" dirty="0">
                <a:latin typeface="Arial" charset="0"/>
              </a:rPr>
              <a:t>∘</a:t>
            </a:r>
            <a:r>
              <a:rPr lang="en-US" altLang="zh-CN" b="1" i="1" dirty="0"/>
              <a:t>H</a:t>
            </a:r>
            <a:r>
              <a:rPr lang="en-US" altLang="zh-CN" b="1" dirty="0"/>
              <a:t>) </a:t>
            </a:r>
          </a:p>
          <a:p>
            <a:pPr eaLnBrk="1" hangingPunct="1">
              <a:defRPr/>
            </a:pPr>
            <a:r>
              <a:rPr lang="en-US" altLang="zh-CN" b="1" dirty="0"/>
              <a:t> </a:t>
            </a:r>
            <a:r>
              <a:rPr lang="zh-CN" altLang="en-US" b="1" dirty="0"/>
              <a:t>所以 </a:t>
            </a:r>
            <a:r>
              <a:rPr lang="en-US" altLang="zh-CN" b="1" dirty="0"/>
              <a:t>(</a:t>
            </a:r>
            <a:r>
              <a:rPr lang="en-US" altLang="zh-CN" b="1" i="1" dirty="0"/>
              <a:t>F</a:t>
            </a:r>
            <a:r>
              <a:rPr lang="en-US" altLang="zh-CN" b="1" dirty="0">
                <a:latin typeface="Arial" charset="0"/>
              </a:rPr>
              <a:t>∘</a:t>
            </a:r>
            <a:r>
              <a:rPr lang="en-US" altLang="zh-CN" b="1" i="1" dirty="0"/>
              <a:t>G</a:t>
            </a:r>
            <a:r>
              <a:rPr lang="en-US" altLang="zh-CN" b="1" dirty="0"/>
              <a:t>)</a:t>
            </a:r>
            <a:r>
              <a:rPr lang="en-US" altLang="zh-CN" b="1" dirty="0">
                <a:latin typeface="Arial" charset="0"/>
              </a:rPr>
              <a:t>∘</a:t>
            </a:r>
            <a:r>
              <a:rPr lang="en-US" altLang="zh-CN" b="1" i="1" dirty="0"/>
              <a:t>H </a:t>
            </a:r>
            <a:r>
              <a:rPr lang="en-US" altLang="zh-CN" b="1" dirty="0"/>
              <a:t>= </a:t>
            </a:r>
            <a:r>
              <a:rPr lang="en-US" altLang="zh-CN" b="1" i="1" dirty="0"/>
              <a:t>F</a:t>
            </a:r>
            <a:r>
              <a:rPr lang="en-US" altLang="zh-CN" b="1" dirty="0">
                <a:latin typeface="Arial" charset="0"/>
              </a:rPr>
              <a:t>∘</a:t>
            </a:r>
            <a:r>
              <a:rPr lang="en-US" altLang="zh-CN" b="1" dirty="0"/>
              <a:t>(</a:t>
            </a:r>
            <a:r>
              <a:rPr lang="en-US" altLang="zh-CN" b="1" i="1" dirty="0"/>
              <a:t>G</a:t>
            </a:r>
            <a:r>
              <a:rPr lang="en-US" altLang="zh-CN" b="1" dirty="0">
                <a:latin typeface="Arial" charset="0"/>
              </a:rPr>
              <a:t>∘</a:t>
            </a:r>
            <a:r>
              <a:rPr lang="en-US" altLang="zh-CN" b="1" i="1" dirty="0"/>
              <a:t>H</a:t>
            </a:r>
            <a:r>
              <a:rPr lang="en-US" altLang="zh-CN" b="1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59DACA-4DAC-437C-9012-0DE0B2034C76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51203" name="Text Box 2"/>
          <p:cNvSpPr txBox="1">
            <a:spLocks noChangeArrowheads="1"/>
          </p:cNvSpPr>
          <p:nvPr/>
        </p:nvSpPr>
        <p:spPr bwMode="auto">
          <a:xfrm>
            <a:off x="518914" y="1432967"/>
            <a:ext cx="7416800" cy="368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(2) </a:t>
            </a:r>
            <a:r>
              <a:rPr lang="zh-CN" altLang="en-US" sz="2800" b="1" dirty="0">
                <a:latin typeface="Times New Roman" panose="02020603050405020304" pitchFamily="18" charset="0"/>
              </a:rPr>
              <a:t>任取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&gt;,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&gt;∈(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/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/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 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</a:rPr>
              <a:t>(&lt;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&gt;∈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 ∧&lt;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x&gt;</a:t>
            </a:r>
            <a:r>
              <a:rPr lang="en-US" altLang="zh-CN" sz="2800" b="1" dirty="0">
                <a:latin typeface="Times New Roman" panose="02020603050405020304" pitchFamily="18" charset="0"/>
              </a:rPr>
              <a:t>∈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 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</a:rPr>
              <a:t>(&lt;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&gt;∈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 ∧&lt;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y&gt;</a:t>
            </a:r>
            <a:r>
              <a:rPr lang="en-US" altLang="zh-CN" sz="2800" b="1" dirty="0">
                <a:latin typeface="Times New Roman" panose="02020603050405020304" pitchFamily="18" charset="0"/>
              </a:rPr>
              <a:t>∈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/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所以 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/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 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G</a:t>
            </a:r>
            <a:r>
              <a:rPr lang="en-US" altLang="zh-CN" sz="2800" b="1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/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title"/>
          </p:nvPr>
        </p:nvSpPr>
        <p:spPr>
          <a:xfrm>
            <a:off x="395536" y="188640"/>
            <a:ext cx="8064500" cy="11525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关系基本运算的性质（续）</a:t>
            </a:r>
            <a:r>
              <a:rPr lang="zh-CN" altLang="en-US" dirty="0"/>
              <a:t>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E16F631-5C5B-40AA-8A93-F46273705AAD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93890" name="Rectangle 2"/>
          <p:cNvSpPr>
            <a:spLocks noChangeArrowheads="1"/>
          </p:cNvSpPr>
          <p:nvPr/>
        </p:nvSpPr>
        <p:spPr bwMode="auto">
          <a:xfrm>
            <a:off x="468313" y="188913"/>
            <a:ext cx="806450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4400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关系基本运算的性质（续）</a:t>
            </a:r>
            <a:r>
              <a:rPr lang="zh-CN" altLang="en-US" sz="4400" dirty="0">
                <a:latin typeface="Arial" charset="0"/>
              </a:rPr>
              <a:t> </a:t>
            </a:r>
          </a:p>
        </p:txBody>
      </p:sp>
      <p:sp>
        <p:nvSpPr>
          <p:cNvPr id="52228" name="Text Box 3"/>
          <p:cNvSpPr txBox="1">
            <a:spLocks noChangeArrowheads="1"/>
          </p:cNvSpPr>
          <p:nvPr/>
        </p:nvSpPr>
        <p:spPr bwMode="auto">
          <a:xfrm>
            <a:off x="457200" y="1268413"/>
            <a:ext cx="8305800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设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 </a:t>
            </a:r>
            <a:r>
              <a:rPr lang="zh-CN" alt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、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G</a:t>
            </a:r>
            <a:r>
              <a:rPr lang="zh-CN" alt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、 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H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为任意的二元关系，则有：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∘ (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G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H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∘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G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∘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H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(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G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H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∘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F </a:t>
            </a:r>
            <a:r>
              <a:rPr lang="en-US" altLang="zh-CN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∘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H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∘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</a:rPr>
              <a:t>合成运算对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运算满足分配律）</a:t>
            </a:r>
            <a:endParaRPr lang="zh-CN" altLang="en-US" sz="2800" b="1" i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∘ (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G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H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∘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G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∘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H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4. (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G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H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∘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F 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∘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H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∘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</a:rPr>
              <a:t>合成运算对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运算分配后是包含关系）</a:t>
            </a: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反例：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F={&lt;1,2&gt;,&lt;2,2&gt;},G={&lt;4,1&gt;},H={&lt;4,2&gt;}</a:t>
            </a:r>
            <a:endParaRPr lang="zh-CN" altLang="en-US" sz="28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05F7DC-F155-40D3-86D5-41035F2708C9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54275" name="Text Box 4"/>
          <p:cNvSpPr txBox="1">
            <a:spLocks noChangeArrowheads="1"/>
          </p:cNvSpPr>
          <p:nvPr/>
        </p:nvSpPr>
        <p:spPr bwMode="auto">
          <a:xfrm>
            <a:off x="395536" y="1412776"/>
            <a:ext cx="8208962" cy="297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设集合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={0,1,2,3,4},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R,S</a:t>
            </a:r>
            <a:r>
              <a:rPr lang="zh-CN" altLang="en-US" sz="2800" b="1" dirty="0">
                <a:latin typeface="Times New Roman" panose="02020603050405020304" pitchFamily="18" charset="0"/>
              </a:rPr>
              <a:t>均为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上的二元关系，且</a:t>
            </a: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R=</a:t>
            </a:r>
            <a:r>
              <a:rPr lang="en-US" altLang="zh-CN" sz="2800" b="1" dirty="0">
                <a:latin typeface="Times New Roman" panose="02020603050405020304" pitchFamily="18" charset="0"/>
              </a:rPr>
              <a:t>{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&gt;|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∧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x+y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</a:rPr>
              <a:t>4},      </a:t>
            </a: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S=</a:t>
            </a:r>
            <a:r>
              <a:rPr lang="en-US" altLang="zh-CN" sz="2800" b="1" dirty="0">
                <a:latin typeface="Times New Roman" panose="02020603050405020304" pitchFamily="18" charset="0"/>
              </a:rPr>
              <a:t>{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&gt;|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∧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y-x=</a:t>
            </a:r>
            <a:r>
              <a:rPr lang="en-US" altLang="zh-CN" sz="2800" b="1" dirty="0">
                <a:latin typeface="Times New Roman" panose="02020603050405020304" pitchFamily="18" charset="0"/>
              </a:rPr>
              <a:t>1}</a:t>
            </a: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求</a:t>
            </a:r>
            <a:r>
              <a:rPr lang="en-US" altLang="zh-CN" sz="2800" b="1" dirty="0">
                <a:latin typeface="Times New Roman" panose="02020603050405020304" pitchFamily="18" charset="0"/>
              </a:rPr>
              <a:t>1) 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dom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ran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↾{1,2},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[{3,4}],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S,  S</a:t>
            </a:r>
            <a:r>
              <a:rPr lang="en-US" altLang="zh-CN" sz="2800" b="1" dirty="0">
                <a:latin typeface="Times New Roman" panose="02020603050405020304" pitchFamily="18" charset="0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R, R</a:t>
            </a:r>
            <a:r>
              <a:rPr lang="en-US" altLang="zh-CN" sz="2800" b="1" dirty="0">
                <a:latin typeface="Times New Roman" panose="02020603050405020304" pitchFamily="18" charset="0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R.</a:t>
            </a: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2)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若集合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为自然数集合，求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S,  S</a:t>
            </a:r>
            <a:r>
              <a:rPr lang="en-US" altLang="zh-CN" sz="2800" b="1" dirty="0">
                <a:latin typeface="Times New Roman" panose="02020603050405020304" pitchFamily="18" charset="0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54276" name="矩形 1"/>
          <p:cNvSpPr>
            <a:spLocks noChangeArrowheads="1"/>
          </p:cNvSpPr>
          <p:nvPr/>
        </p:nvSpPr>
        <p:spPr bwMode="auto">
          <a:xfrm>
            <a:off x="395536" y="332656"/>
            <a:ext cx="2757486" cy="760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课堂练习：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7ED473-7CEB-4ED4-B4EB-025EBEF8257E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55299" name="Text Box 4"/>
          <p:cNvSpPr txBox="1">
            <a:spLocks noChangeArrowheads="1"/>
          </p:cNvSpPr>
          <p:nvPr/>
        </p:nvSpPr>
        <p:spPr bwMode="auto">
          <a:xfrm>
            <a:off x="467939" y="1187227"/>
            <a:ext cx="7704137" cy="564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1) 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={0,1,2,3,4}, 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R=</a:t>
            </a:r>
            <a:r>
              <a:rPr lang="en-US" altLang="zh-CN" sz="2800" b="1" dirty="0">
                <a:latin typeface="Times New Roman" panose="02020603050405020304" pitchFamily="18" charset="0"/>
              </a:rPr>
              <a:t>{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&gt;|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∧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x+y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</a:rPr>
              <a:t>4}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={&lt;0,4&gt;,&lt;4,0&gt;,&lt;1,3&gt;,&lt;3,1&gt;,&lt;2,2&gt;},</a:t>
            </a: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S=</a:t>
            </a:r>
            <a:r>
              <a:rPr lang="en-US" altLang="zh-CN" sz="2800" b="1" dirty="0">
                <a:latin typeface="Times New Roman" panose="02020603050405020304" pitchFamily="18" charset="0"/>
              </a:rPr>
              <a:t>{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&gt;|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∧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y-x=</a:t>
            </a:r>
            <a:r>
              <a:rPr lang="en-US" altLang="zh-CN" sz="2800" b="1" dirty="0">
                <a:latin typeface="Times New Roman" panose="02020603050405020304" pitchFamily="18" charset="0"/>
              </a:rPr>
              <a:t>1}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={&lt;0,1&gt;,&lt;1,2&gt;,&lt;2,3&gt;,&lt;3,4&gt;}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800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dom</a:t>
            </a:r>
            <a:r>
              <a:rPr lang="en-US" altLang="zh-CN" sz="2800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</a:rPr>
              <a:t>{0,1,2,3},      </a:t>
            </a:r>
            <a:r>
              <a:rPr lang="en-US" altLang="zh-CN" sz="2800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ran</a:t>
            </a:r>
            <a:r>
              <a:rPr lang="en-US" altLang="zh-CN" sz="2800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</a:rPr>
              <a:t>{1,2,3,4}, 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↾{1,2}</a:t>
            </a:r>
            <a:r>
              <a:rPr lang="en-US" altLang="zh-CN" sz="2800" b="1" dirty="0">
                <a:latin typeface="Times New Roman" panose="02020603050405020304" pitchFamily="18" charset="0"/>
              </a:rPr>
              <a:t>={&lt;1,3&gt;,&lt;2,2&gt;},       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[{3,4}]</a:t>
            </a:r>
            <a:r>
              <a:rPr lang="en-US" altLang="zh-CN" sz="2800" b="1" dirty="0">
                <a:latin typeface="Times New Roman" panose="02020603050405020304" pitchFamily="18" charset="0"/>
              </a:rPr>
              <a:t>={0,1},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∘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</a:rPr>
              <a:t>{&lt;0,3&gt;,&lt;1,2&gt;,&lt;2,1&gt;,&lt;3,0&gt;}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,  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∘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</a:rPr>
              <a:t>{&lt;4,1&gt;,&lt;1,4&gt;,&lt;3,2&gt;,&lt;2,3&gt;},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∘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</a:rPr>
              <a:t>{&lt;0,0&gt;,&lt;1,1&gt;,&lt;2,2&gt;,&lt;3,3&gt;,&lt;4,4&gt;}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51520" y="296939"/>
            <a:ext cx="7704137" cy="760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4000" dirty="0">
                <a:solidFill>
                  <a:srgbClr val="3366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40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解：</a:t>
            </a:r>
            <a:endParaRPr lang="en-US" altLang="zh-CN" sz="4000" dirty="0">
              <a:solidFill>
                <a:srgbClr val="3366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A0C8A9-7563-4DD7-8700-8ACEDFE47610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56323" name="Text Box 4"/>
          <p:cNvSpPr txBox="1">
            <a:spLocks noChangeArrowheads="1"/>
          </p:cNvSpPr>
          <p:nvPr/>
        </p:nvSpPr>
        <p:spPr bwMode="auto">
          <a:xfrm>
            <a:off x="509588" y="1281113"/>
            <a:ext cx="8135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任给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∈</a:t>
            </a:r>
            <a:r>
              <a:rPr lang="en-US" altLang="zh-CN" sz="2800" b="1" i="1">
                <a:latin typeface="Times New Roman" panose="02020603050405020304" pitchFamily="18" charset="0"/>
              </a:rPr>
              <a:t>N,</a:t>
            </a:r>
            <a:r>
              <a:rPr lang="zh-CN" altLang="en-US" sz="2800" b="1">
                <a:latin typeface="Times New Roman" panose="02020603050405020304" pitchFamily="18" charset="0"/>
              </a:rPr>
              <a:t>有</a:t>
            </a:r>
          </a:p>
        </p:txBody>
      </p:sp>
      <p:graphicFrame>
        <p:nvGraphicFramePr>
          <p:cNvPr id="56324" name="Object 5"/>
          <p:cNvGraphicFramePr>
            <a:graphicFrameLocks noChangeAspect="1"/>
          </p:cNvGraphicFramePr>
          <p:nvPr/>
        </p:nvGraphicFramePr>
        <p:xfrm>
          <a:off x="2700338" y="1281113"/>
          <a:ext cx="4279900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10" name="公式" r:id="rId3" imgW="2095500" imgH="533400" progId="Equation.3">
                  <p:embed/>
                </p:oleObj>
              </mc:Choice>
              <mc:Fallback>
                <p:oleObj name="公式" r:id="rId3" imgW="2095500" imgH="533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281113"/>
                        <a:ext cx="4279900" cy="1195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5" name="Text Box 6"/>
          <p:cNvSpPr txBox="1">
            <a:spLocks noChangeArrowheads="1"/>
          </p:cNvSpPr>
          <p:nvPr/>
        </p:nvSpPr>
        <p:spPr bwMode="auto">
          <a:xfrm>
            <a:off x="611188" y="2349500"/>
            <a:ext cx="763270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所以：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y=</a:t>
            </a:r>
            <a:r>
              <a:rPr lang="en-US" altLang="zh-CN" sz="2800" b="1" dirty="0">
                <a:latin typeface="Times New Roman" panose="02020603050405020304" pitchFamily="18" charset="0"/>
              </a:rPr>
              <a:t>3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-x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，即：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zh-CN" altLang="en-US" sz="2800" b="1" i="1" dirty="0">
                <a:latin typeface="Times New Roman" panose="02020603050405020304" pitchFamily="18" charset="0"/>
              </a:rPr>
              <a:t>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S=</a:t>
            </a:r>
            <a:r>
              <a:rPr lang="en-US" altLang="zh-CN" sz="2800" b="1" dirty="0">
                <a:latin typeface="Times New Roman" panose="02020603050405020304" pitchFamily="18" charset="0"/>
              </a:rPr>
              <a:t>{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&gt;|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 ∧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x+y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</a:rPr>
              <a:t>3}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sp>
        <p:nvSpPr>
          <p:cNvPr id="56326" name="Text Box 7"/>
          <p:cNvSpPr txBox="1">
            <a:spLocks noChangeArrowheads="1"/>
          </p:cNvSpPr>
          <p:nvPr/>
        </p:nvSpPr>
        <p:spPr bwMode="auto">
          <a:xfrm>
            <a:off x="379413" y="3760788"/>
            <a:ext cx="72009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   </a:t>
            </a:r>
            <a:r>
              <a:rPr lang="zh-CN" altLang="en-US" sz="2800" b="1">
                <a:latin typeface="Times New Roman" panose="02020603050405020304" pitchFamily="18" charset="0"/>
              </a:rPr>
              <a:t>求</a:t>
            </a:r>
            <a:r>
              <a:rPr lang="en-US" altLang="zh-CN" sz="2800" b="1" i="1">
                <a:latin typeface="Times New Roman" panose="02020603050405020304" pitchFamily="18" charset="0"/>
              </a:rPr>
              <a:t>S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zh-CN" altLang="en-US" sz="2800" b="1" i="1">
                <a:latin typeface="Times New Roman" panose="02020603050405020304" pitchFamily="18" charset="0"/>
              </a:rPr>
              <a:t>：</a:t>
            </a:r>
            <a:endParaRPr lang="en-US" altLang="zh-CN" sz="2800" b="1" i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任给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∈</a:t>
            </a:r>
            <a:r>
              <a:rPr lang="en-US" altLang="zh-CN" sz="2800" b="1" i="1">
                <a:latin typeface="Times New Roman" panose="02020603050405020304" pitchFamily="18" charset="0"/>
              </a:rPr>
              <a:t>N,</a:t>
            </a:r>
            <a:r>
              <a:rPr lang="zh-CN" altLang="en-US" sz="2800" b="1">
                <a:latin typeface="Times New Roman" panose="02020603050405020304" pitchFamily="18" charset="0"/>
              </a:rPr>
              <a:t>有</a:t>
            </a:r>
          </a:p>
        </p:txBody>
      </p:sp>
      <p:graphicFrame>
        <p:nvGraphicFramePr>
          <p:cNvPr id="56327" name="Object 8"/>
          <p:cNvGraphicFramePr>
            <a:graphicFrameLocks noChangeAspect="1"/>
          </p:cNvGraphicFramePr>
          <p:nvPr/>
        </p:nvGraphicFramePr>
        <p:xfrm>
          <a:off x="2870200" y="4173538"/>
          <a:ext cx="4838700" cy="1217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11" name="公式" r:id="rId5" imgW="2120900" imgH="533400" progId="Equation.3">
                  <p:embed/>
                </p:oleObj>
              </mc:Choice>
              <mc:Fallback>
                <p:oleObj name="公式" r:id="rId5" imgW="2120900" imgH="533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200" y="4173538"/>
                        <a:ext cx="4838700" cy="1217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8" name="Text Box 9"/>
          <p:cNvSpPr txBox="1">
            <a:spLocks noChangeArrowheads="1"/>
          </p:cNvSpPr>
          <p:nvPr/>
        </p:nvSpPr>
        <p:spPr bwMode="auto">
          <a:xfrm>
            <a:off x="677863" y="5481638"/>
            <a:ext cx="763270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所以：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y=</a:t>
            </a:r>
            <a:r>
              <a:rPr lang="en-US" altLang="zh-CN" sz="2800" b="1" dirty="0">
                <a:latin typeface="Times New Roman" panose="02020603050405020304" pitchFamily="18" charset="0"/>
              </a:rPr>
              <a:t>5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-x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，即：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zh-CN" altLang="en-US" sz="2800" b="1" i="1" dirty="0">
                <a:latin typeface="Times New Roman" panose="02020603050405020304" pitchFamily="18" charset="0"/>
              </a:rPr>
              <a:t>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R=</a:t>
            </a:r>
            <a:r>
              <a:rPr lang="en-US" altLang="zh-CN" sz="2800" b="1" dirty="0">
                <a:latin typeface="Times New Roman" panose="02020603050405020304" pitchFamily="18" charset="0"/>
              </a:rPr>
              <a:t>{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&gt;|x,y</a:t>
            </a:r>
            <a:r>
              <a:rPr lang="en-US" altLang="zh-CN" sz="2800" b="1" dirty="0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 ∧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x&lt;5</a:t>
            </a:r>
            <a:r>
              <a:rPr lang="en-US" altLang="zh-CN" sz="2800" b="1" dirty="0">
                <a:latin typeface="Times New Roman" panose="02020603050405020304" pitchFamily="18" charset="0"/>
              </a:rPr>
              <a:t> ∧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x+y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</a:rPr>
              <a:t>5}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sp>
        <p:nvSpPr>
          <p:cNvPr id="56329" name="Text Box 4"/>
          <p:cNvSpPr txBox="1">
            <a:spLocks noChangeArrowheads="1"/>
          </p:cNvSpPr>
          <p:nvPr/>
        </p:nvSpPr>
        <p:spPr bwMode="auto">
          <a:xfrm>
            <a:off x="550862" y="567531"/>
            <a:ext cx="8135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2) 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为自然数集合，求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∘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D484DD-4835-4EF0-B13C-7DADAEF1F3F8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487164" y="188913"/>
            <a:ext cx="8229600" cy="1079500"/>
          </a:xfrm>
        </p:spPr>
        <p:txBody>
          <a:bodyPr/>
          <a:lstStyle/>
          <a:p>
            <a:pPr>
              <a:defRPr/>
            </a:pPr>
            <a:r>
              <a:rPr lang="en-US" altLang="zh-CN" b="1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上关系的幂运算</a:t>
            </a:r>
          </a:p>
        </p:txBody>
      </p:sp>
      <p:sp>
        <p:nvSpPr>
          <p:cNvPr id="39940" name="Text Box 3"/>
          <p:cNvSpPr txBox="1">
            <a:spLocks noChangeArrowheads="1"/>
          </p:cNvSpPr>
          <p:nvPr/>
        </p:nvSpPr>
        <p:spPr bwMode="auto">
          <a:xfrm>
            <a:off x="430808" y="1268413"/>
            <a:ext cx="8342312" cy="2234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定义：</a:t>
            </a:r>
            <a:r>
              <a:rPr lang="zh-CN" altLang="en-US" b="1" dirty="0"/>
              <a:t>设</a:t>
            </a:r>
            <a:r>
              <a:rPr lang="en-US" altLang="zh-CN" b="1" i="1" dirty="0"/>
              <a:t>R</a:t>
            </a:r>
            <a:r>
              <a:rPr lang="zh-CN" altLang="en-US" b="1" dirty="0"/>
              <a:t>为</a:t>
            </a:r>
            <a:r>
              <a:rPr lang="en-US" altLang="zh-CN" b="1" i="1" dirty="0"/>
              <a:t>A</a:t>
            </a:r>
            <a:r>
              <a:rPr lang="zh-CN" altLang="en-US" b="1" dirty="0"/>
              <a:t>上的关系</a:t>
            </a:r>
            <a:r>
              <a:rPr lang="en-US" altLang="zh-CN" b="1" dirty="0"/>
              <a:t>, </a:t>
            </a:r>
            <a:r>
              <a:rPr lang="en-US" altLang="zh-CN" b="1" i="1" dirty="0"/>
              <a:t>n</a:t>
            </a:r>
            <a:r>
              <a:rPr lang="zh-CN" altLang="en-US" b="1" dirty="0"/>
              <a:t>为自然数</a:t>
            </a:r>
            <a:r>
              <a:rPr lang="en-US" altLang="zh-CN" b="1" dirty="0"/>
              <a:t>, </a:t>
            </a:r>
            <a:r>
              <a:rPr lang="zh-CN" altLang="en-US" b="1" dirty="0"/>
              <a:t>则 </a:t>
            </a:r>
            <a:r>
              <a:rPr lang="en-US" altLang="zh-CN" b="1" i="1" dirty="0"/>
              <a:t>R </a:t>
            </a:r>
            <a:r>
              <a:rPr lang="zh-CN" altLang="en-US" b="1" dirty="0"/>
              <a:t>的 </a:t>
            </a:r>
            <a:r>
              <a:rPr lang="en-US" altLang="zh-CN" b="1" i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n</a:t>
            </a:r>
            <a:r>
              <a:rPr lang="zh-CN" alt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次幂</a:t>
            </a:r>
            <a:r>
              <a:rPr lang="zh-CN" altLang="en-US" b="1" dirty="0"/>
              <a:t>定义为：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b="1" dirty="0"/>
              <a:t>   </a:t>
            </a:r>
            <a:r>
              <a:rPr lang="en-US" altLang="zh-CN" b="1" dirty="0"/>
              <a:t>(1) </a:t>
            </a:r>
            <a:r>
              <a:rPr lang="en-US" altLang="zh-CN" b="1" i="1" dirty="0"/>
              <a:t>R</a:t>
            </a:r>
            <a:r>
              <a:rPr lang="en-US" altLang="zh-CN" b="1" baseline="30000" dirty="0"/>
              <a:t>0</a:t>
            </a:r>
            <a:r>
              <a:rPr lang="en-US" altLang="zh-CN" b="1" dirty="0"/>
              <a:t>={&lt;</a:t>
            </a:r>
            <a:r>
              <a:rPr lang="en-US" altLang="zh-CN" b="1" i="1" dirty="0"/>
              <a:t>x</a:t>
            </a:r>
            <a:r>
              <a:rPr lang="en-US" altLang="zh-CN" b="1" dirty="0"/>
              <a:t>, </a:t>
            </a:r>
            <a:r>
              <a:rPr lang="en-US" altLang="zh-CN" b="1" i="1" dirty="0"/>
              <a:t>x</a:t>
            </a:r>
            <a:r>
              <a:rPr lang="en-US" altLang="zh-CN" b="1" dirty="0"/>
              <a:t>&gt; | 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zh-CN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∈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altLang="zh-CN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b="1" dirty="0"/>
              <a:t>}=</a:t>
            </a:r>
            <a:r>
              <a:rPr lang="en-US" altLang="zh-CN" b="1" i="1" dirty="0"/>
              <a:t>I</a:t>
            </a:r>
            <a:r>
              <a:rPr lang="en-US" altLang="zh-CN" b="1" i="1" baseline="-25000" dirty="0"/>
              <a:t>A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b="1" i="1" dirty="0"/>
              <a:t> </a:t>
            </a:r>
            <a:r>
              <a:rPr lang="en-US" altLang="zh-CN" b="1" dirty="0"/>
              <a:t>  (2) </a:t>
            </a:r>
            <a:r>
              <a:rPr lang="en-US" altLang="zh-CN" b="1" i="1" dirty="0"/>
              <a:t>R</a:t>
            </a:r>
            <a:r>
              <a:rPr lang="en-US" altLang="zh-CN" b="1" i="1" baseline="30000" dirty="0"/>
              <a:t>n</a:t>
            </a:r>
            <a:r>
              <a:rPr lang="en-US" altLang="zh-CN" b="1" baseline="30000" dirty="0"/>
              <a:t> </a:t>
            </a:r>
            <a:r>
              <a:rPr lang="en-US" altLang="zh-CN" b="1" dirty="0"/>
              <a:t>= </a:t>
            </a:r>
            <a:r>
              <a:rPr lang="en-US" altLang="zh-CN" b="1" i="1" dirty="0"/>
              <a:t>R</a:t>
            </a:r>
            <a:r>
              <a:rPr lang="en-US" altLang="zh-CN" b="1" i="1" baseline="30000" dirty="0"/>
              <a:t>n</a:t>
            </a:r>
            <a:r>
              <a:rPr lang="en-US" altLang="zh-CN" b="1" baseline="30000" dirty="0"/>
              <a:t>-1</a:t>
            </a:r>
            <a:r>
              <a:rPr lang="en-US" altLang="zh-CN" b="1" dirty="0">
                <a:latin typeface="Arial" charset="0"/>
              </a:rPr>
              <a:t>∘</a:t>
            </a:r>
            <a:r>
              <a:rPr lang="en-US" altLang="zh-CN" b="1" i="1" dirty="0"/>
              <a:t>R</a:t>
            </a:r>
            <a:endParaRPr lang="en-US" altLang="zh-CN" b="1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87164" y="3861048"/>
            <a:ext cx="7994576" cy="1643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注意：</a:t>
            </a: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/>
              <a:t>对于</a:t>
            </a:r>
            <a:r>
              <a:rPr lang="en-US" altLang="zh-CN" b="1" i="1" dirty="0"/>
              <a:t>A</a:t>
            </a:r>
            <a:r>
              <a:rPr lang="zh-CN" altLang="en-US" b="1" dirty="0"/>
              <a:t>上的任何关系</a:t>
            </a:r>
            <a:r>
              <a:rPr lang="en-US" altLang="zh-CN" b="1" i="1" dirty="0"/>
              <a:t>R</a:t>
            </a:r>
            <a:r>
              <a:rPr lang="en-US" altLang="zh-CN" b="1" baseline="-25000" dirty="0"/>
              <a:t>1</a:t>
            </a:r>
            <a:r>
              <a:rPr lang="zh-CN" altLang="en-US" b="1" dirty="0"/>
              <a:t>和</a:t>
            </a:r>
            <a:r>
              <a:rPr lang="en-US" altLang="zh-CN" b="1" i="1" dirty="0"/>
              <a:t>R</a:t>
            </a:r>
            <a:r>
              <a:rPr lang="en-US" altLang="zh-CN" b="1" baseline="-25000" dirty="0"/>
              <a:t>2</a:t>
            </a:r>
            <a:r>
              <a:rPr lang="zh-CN" altLang="en-US" b="1" dirty="0"/>
              <a:t>都有：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b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b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zh-CN" b="1" i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/>
              <a:t>对于</a:t>
            </a:r>
            <a:r>
              <a:rPr lang="en-US" altLang="zh-CN" b="1" i="1" dirty="0"/>
              <a:t>A</a:t>
            </a:r>
            <a:r>
              <a:rPr lang="zh-CN" altLang="en-US" b="1" dirty="0"/>
              <a:t>上的任何关系 </a:t>
            </a:r>
            <a:r>
              <a:rPr lang="en-US" altLang="zh-CN" b="1" i="1" dirty="0"/>
              <a:t>R </a:t>
            </a:r>
            <a:r>
              <a:rPr lang="zh-CN" altLang="en-US" b="1" dirty="0"/>
              <a:t>都有 ：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b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85B762-6F79-4797-9259-5E6562C9CA19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2117"/>
            <a:ext cx="8229600" cy="119697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幂的求法</a:t>
            </a:r>
          </a:p>
        </p:txBody>
      </p:sp>
      <p:sp>
        <p:nvSpPr>
          <p:cNvPr id="59396" name="Text Box 3"/>
          <p:cNvSpPr txBox="1">
            <a:spLocks noChangeArrowheads="1"/>
          </p:cNvSpPr>
          <p:nvPr/>
        </p:nvSpPr>
        <p:spPr bwMode="auto">
          <a:xfrm>
            <a:off x="457200" y="1304193"/>
            <a:ext cx="8675687" cy="320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15000"/>
              </a:lnSpc>
              <a:spcBef>
                <a:spcPct val="10000"/>
              </a:spcBef>
              <a:buSzPct val="70000"/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集合表示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的关系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，计算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latin typeface="Times New Roman" panose="02020603050405020304" pitchFamily="18" charset="0"/>
              </a:rPr>
              <a:t>就是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个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左复合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15000"/>
              </a:lnSpc>
              <a:spcBef>
                <a:spcPct val="10000"/>
              </a:spcBef>
              <a:buSzPct val="70000"/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矩阵表示</a:t>
            </a:r>
            <a:r>
              <a:rPr lang="zh-CN" altLang="en-US" sz="2800" b="1" dirty="0">
                <a:latin typeface="Times New Roman" panose="02020603050405020304" pitchFamily="18" charset="0"/>
              </a:rPr>
              <a:t>就是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个矩阵相乘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其中相加采用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逻辑加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15000"/>
              </a:lnSpc>
              <a:spcBef>
                <a:spcPct val="10000"/>
              </a:spcBef>
              <a:buSzPct val="70000"/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关系图法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3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&gt;}, </a:t>
            </a:r>
          </a:p>
          <a:p>
            <a:pPr eaLnBrk="1" hangingPunct="1">
              <a:lnSpc>
                <a:spcPct val="11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求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的各次幂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分别用矩阵和关系图表示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.</a:t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解：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的关系矩阵分别为</a:t>
            </a:r>
            <a:endParaRPr lang="zh-CN" altLang="en-US" sz="2800" b="1" dirty="0">
              <a:solidFill>
                <a:schemeClr val="bg2"/>
              </a:solidFill>
            </a:endParaRPr>
          </a:p>
        </p:txBody>
      </p:sp>
      <p:sp>
        <p:nvSpPr>
          <p:cNvPr id="5939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59398" name="Object 0"/>
          <p:cNvGraphicFramePr>
            <a:graphicFrameLocks noChangeAspect="1"/>
          </p:cNvGraphicFramePr>
          <p:nvPr/>
        </p:nvGraphicFramePr>
        <p:xfrm>
          <a:off x="684213" y="4581525"/>
          <a:ext cx="2232025" cy="170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82" name="公式" r:id="rId4" imgW="933518" imgH="666776" progId="Equation.3">
                  <p:embed/>
                </p:oleObj>
              </mc:Choice>
              <mc:Fallback>
                <p:oleObj name="公式" r:id="rId4" imgW="933518" imgH="666776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581525"/>
                        <a:ext cx="2232025" cy="170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592856"/>
              </p:ext>
            </p:extLst>
          </p:nvPr>
        </p:nvGraphicFramePr>
        <p:xfrm>
          <a:off x="1331640" y="4545806"/>
          <a:ext cx="6552728" cy="2124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83" name="公式" r:id="rId6" imgW="3403440" imgH="914400" progId="Equation.3">
                  <p:embed/>
                </p:oleObj>
              </mc:Choice>
              <mc:Fallback>
                <p:oleObj name="公式" r:id="rId6" imgW="3403440" imgH="914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545806"/>
                        <a:ext cx="6552728" cy="2124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7DE75C-4E24-483D-A6BD-9F7F9AAC33E8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15042" name="Text Box 2"/>
          <p:cNvSpPr txBox="1">
            <a:spLocks noChangeArrowheads="1"/>
          </p:cNvSpPr>
          <p:nvPr/>
        </p:nvSpPr>
        <p:spPr bwMode="auto">
          <a:xfrm>
            <a:off x="395536" y="1412776"/>
            <a:ext cx="7921625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bg2"/>
                </a:solidFill>
              </a:rPr>
              <a:t>同理，</a:t>
            </a:r>
            <a:r>
              <a:rPr lang="en-US" altLang="zh-CN" b="1" i="1" dirty="0">
                <a:solidFill>
                  <a:schemeClr val="bg2"/>
                </a:solidFill>
              </a:rPr>
              <a:t>R</a:t>
            </a:r>
            <a:r>
              <a:rPr lang="en-US" altLang="zh-CN" b="1" baseline="30000" dirty="0">
                <a:solidFill>
                  <a:schemeClr val="bg2"/>
                </a:solidFill>
              </a:rPr>
              <a:t>0</a:t>
            </a:r>
            <a:r>
              <a:rPr lang="en-US" altLang="zh-CN" b="1" dirty="0">
                <a:solidFill>
                  <a:schemeClr val="bg2"/>
                </a:solidFill>
              </a:rPr>
              <a:t>=</a:t>
            </a:r>
            <a:r>
              <a:rPr lang="en-US" altLang="zh-CN" b="1" i="1" dirty="0">
                <a:solidFill>
                  <a:schemeClr val="bg2"/>
                </a:solidFill>
              </a:rPr>
              <a:t>I</a:t>
            </a:r>
            <a:r>
              <a:rPr lang="en-US" altLang="zh-CN" b="1" i="1" baseline="-25000" dirty="0">
                <a:solidFill>
                  <a:schemeClr val="bg2"/>
                </a:solidFill>
              </a:rPr>
              <a:t>A</a:t>
            </a:r>
            <a:r>
              <a:rPr lang="en-US" altLang="zh-CN" b="1" dirty="0">
                <a:solidFill>
                  <a:schemeClr val="bg2"/>
                </a:solidFill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</a:rPr>
              <a:t>R</a:t>
            </a:r>
            <a:r>
              <a:rPr lang="en-US" altLang="zh-CN" b="1" baseline="30000" dirty="0">
                <a:solidFill>
                  <a:schemeClr val="bg2"/>
                </a:solidFill>
              </a:rPr>
              <a:t>3</a:t>
            </a:r>
            <a:r>
              <a:rPr lang="zh-CN" altLang="en-US" b="1" dirty="0">
                <a:solidFill>
                  <a:schemeClr val="bg2"/>
                </a:solidFill>
              </a:rPr>
              <a:t>和</a:t>
            </a:r>
            <a:r>
              <a:rPr lang="en-US" altLang="zh-CN" b="1" i="1" dirty="0">
                <a:solidFill>
                  <a:schemeClr val="bg2"/>
                </a:solidFill>
              </a:rPr>
              <a:t>R</a:t>
            </a:r>
            <a:r>
              <a:rPr lang="en-US" altLang="zh-CN" b="1" baseline="30000" dirty="0">
                <a:solidFill>
                  <a:schemeClr val="bg2"/>
                </a:solidFill>
              </a:rPr>
              <a:t>4</a:t>
            </a:r>
            <a:r>
              <a:rPr lang="zh-CN" altLang="en-US" b="1" dirty="0">
                <a:solidFill>
                  <a:schemeClr val="bg2"/>
                </a:solidFill>
              </a:rPr>
              <a:t>的矩阵分别是：</a:t>
            </a:r>
          </a:p>
          <a:p>
            <a:pPr eaLnBrk="1" hangingPunct="1">
              <a:defRPr/>
            </a:pPr>
            <a:endParaRPr lang="zh-CN" altLang="en-US" b="1" dirty="0">
              <a:solidFill>
                <a:schemeClr val="bg2"/>
              </a:solidFill>
            </a:endParaRPr>
          </a:p>
          <a:p>
            <a:pPr eaLnBrk="1" hangingPunct="1">
              <a:defRPr/>
            </a:pPr>
            <a:endParaRPr lang="zh-CN" altLang="en-US" b="1" dirty="0">
              <a:solidFill>
                <a:schemeClr val="bg2"/>
              </a:solidFill>
            </a:endParaRPr>
          </a:p>
          <a:p>
            <a:pPr eaLnBrk="1" hangingPunct="1">
              <a:defRPr/>
            </a:pPr>
            <a:endParaRPr lang="zh-CN" altLang="en-US" b="1" dirty="0">
              <a:solidFill>
                <a:schemeClr val="bg2"/>
              </a:solidFill>
            </a:endParaRPr>
          </a:p>
          <a:p>
            <a:pPr eaLnBrk="1" hangingPunct="1">
              <a:defRPr/>
            </a:pPr>
            <a:endParaRPr lang="zh-CN" altLang="en-US" b="1" dirty="0">
              <a:solidFill>
                <a:schemeClr val="bg2"/>
              </a:solidFill>
            </a:endParaRPr>
          </a:p>
          <a:p>
            <a:pPr eaLnBrk="1" hangingPunct="1">
              <a:defRPr/>
            </a:pPr>
            <a:endParaRPr lang="zh-CN" altLang="en-US" b="1" dirty="0">
              <a:solidFill>
                <a:schemeClr val="bg2"/>
              </a:solidFill>
            </a:endParaRPr>
          </a:p>
          <a:p>
            <a:pPr eaLnBrk="1" hangingPunct="1">
              <a:defRPr/>
            </a:pPr>
            <a:endParaRPr lang="zh-CN" altLang="en-US" b="1" dirty="0">
              <a:solidFill>
                <a:schemeClr val="bg2"/>
              </a:solidFill>
            </a:endParaRPr>
          </a:p>
          <a:p>
            <a:pPr eaLnBrk="1" hangingPunct="1">
              <a:defRPr/>
            </a:pPr>
            <a:r>
              <a:rPr lang="zh-CN" altLang="en-US" b="1" dirty="0">
                <a:solidFill>
                  <a:schemeClr val="bg2"/>
                </a:solidFill>
              </a:rPr>
              <a:t>因此</a:t>
            </a:r>
            <a:r>
              <a:rPr lang="en-US" altLang="zh-CN" b="1" i="1" dirty="0">
                <a:solidFill>
                  <a:schemeClr val="bg2"/>
                </a:solidFill>
              </a:rPr>
              <a:t>M</a:t>
            </a:r>
            <a:r>
              <a:rPr lang="en-US" altLang="zh-CN" b="1" baseline="30000" dirty="0">
                <a:solidFill>
                  <a:schemeClr val="bg2"/>
                </a:solidFill>
              </a:rPr>
              <a:t>4</a:t>
            </a:r>
            <a:r>
              <a:rPr lang="en-US" altLang="zh-CN" b="1" dirty="0">
                <a:solidFill>
                  <a:schemeClr val="bg2"/>
                </a:solidFill>
              </a:rPr>
              <a:t>=</a:t>
            </a:r>
            <a:r>
              <a:rPr lang="en-US" altLang="zh-CN" b="1" i="1" dirty="0">
                <a:solidFill>
                  <a:schemeClr val="bg2"/>
                </a:solidFill>
              </a:rPr>
              <a:t>M</a:t>
            </a:r>
            <a:r>
              <a:rPr lang="en-US" altLang="zh-CN" b="1" baseline="30000" dirty="0">
                <a:solidFill>
                  <a:schemeClr val="bg2"/>
                </a:solidFill>
              </a:rPr>
              <a:t>2</a:t>
            </a:r>
            <a:r>
              <a:rPr lang="en-US" altLang="zh-CN" b="1" dirty="0">
                <a:solidFill>
                  <a:schemeClr val="bg2"/>
                </a:solidFill>
              </a:rPr>
              <a:t>, </a:t>
            </a:r>
            <a:r>
              <a:rPr lang="zh-CN" altLang="en-US" b="1" dirty="0">
                <a:solidFill>
                  <a:schemeClr val="bg2"/>
                </a:solidFill>
              </a:rPr>
              <a:t>即</a:t>
            </a:r>
            <a:r>
              <a:rPr lang="en-US" altLang="zh-CN" b="1" i="1" dirty="0">
                <a:solidFill>
                  <a:schemeClr val="bg2"/>
                </a:solidFill>
              </a:rPr>
              <a:t>R</a:t>
            </a:r>
            <a:r>
              <a:rPr lang="en-US" altLang="zh-CN" b="1" baseline="30000" dirty="0">
                <a:solidFill>
                  <a:schemeClr val="bg2"/>
                </a:solidFill>
              </a:rPr>
              <a:t>4</a:t>
            </a:r>
            <a:r>
              <a:rPr lang="en-US" altLang="zh-CN" b="1" dirty="0">
                <a:solidFill>
                  <a:schemeClr val="bg2"/>
                </a:solidFill>
              </a:rPr>
              <a:t>=</a:t>
            </a:r>
            <a:r>
              <a:rPr lang="en-US" altLang="zh-CN" b="1" i="1" dirty="0">
                <a:solidFill>
                  <a:schemeClr val="bg2"/>
                </a:solidFill>
              </a:rPr>
              <a:t>R</a:t>
            </a:r>
            <a:r>
              <a:rPr lang="en-US" altLang="zh-CN" b="1" baseline="30000" dirty="0">
                <a:solidFill>
                  <a:schemeClr val="bg2"/>
                </a:solidFill>
              </a:rPr>
              <a:t>2</a:t>
            </a:r>
            <a:r>
              <a:rPr lang="en-US" altLang="zh-CN" b="1" dirty="0">
                <a:solidFill>
                  <a:schemeClr val="bg2"/>
                </a:solidFill>
              </a:rPr>
              <a:t>. </a:t>
            </a:r>
            <a:r>
              <a:rPr lang="zh-CN" altLang="en-US" b="1" dirty="0">
                <a:solidFill>
                  <a:schemeClr val="bg2"/>
                </a:solidFill>
              </a:rPr>
              <a:t>因此可以得到</a:t>
            </a:r>
            <a:br>
              <a:rPr lang="zh-CN" altLang="en-US" b="1" dirty="0">
                <a:solidFill>
                  <a:schemeClr val="bg2"/>
                </a:solidFill>
              </a:rPr>
            </a:br>
            <a:r>
              <a:rPr lang="zh-CN" altLang="en-US" b="1" dirty="0">
                <a:solidFill>
                  <a:schemeClr val="bg2"/>
                </a:solidFill>
              </a:rPr>
              <a:t>         </a:t>
            </a:r>
            <a:r>
              <a:rPr lang="en-US" altLang="zh-CN" b="1" i="1" dirty="0">
                <a:solidFill>
                  <a:schemeClr val="bg2"/>
                </a:solidFill>
              </a:rPr>
              <a:t>R</a:t>
            </a:r>
            <a:r>
              <a:rPr lang="en-US" altLang="zh-CN" b="1" baseline="30000" dirty="0">
                <a:solidFill>
                  <a:schemeClr val="bg2"/>
                </a:solidFill>
              </a:rPr>
              <a:t>2</a:t>
            </a:r>
            <a:r>
              <a:rPr lang="en-US" altLang="zh-CN" b="1" dirty="0">
                <a:solidFill>
                  <a:schemeClr val="bg2"/>
                </a:solidFill>
              </a:rPr>
              <a:t>=</a:t>
            </a:r>
            <a:r>
              <a:rPr lang="en-US" altLang="zh-CN" b="1" i="1" dirty="0">
                <a:solidFill>
                  <a:schemeClr val="bg2"/>
                </a:solidFill>
              </a:rPr>
              <a:t>R</a:t>
            </a:r>
            <a:r>
              <a:rPr lang="en-US" altLang="zh-CN" b="1" baseline="30000" dirty="0">
                <a:solidFill>
                  <a:schemeClr val="bg2"/>
                </a:solidFill>
              </a:rPr>
              <a:t>4</a:t>
            </a:r>
            <a:r>
              <a:rPr lang="en-US" altLang="zh-CN" b="1" dirty="0">
                <a:solidFill>
                  <a:schemeClr val="bg2"/>
                </a:solidFill>
              </a:rPr>
              <a:t>=</a:t>
            </a:r>
            <a:r>
              <a:rPr lang="en-US" altLang="zh-CN" b="1" i="1" dirty="0">
                <a:solidFill>
                  <a:schemeClr val="bg2"/>
                </a:solidFill>
              </a:rPr>
              <a:t>R</a:t>
            </a:r>
            <a:r>
              <a:rPr lang="en-US" altLang="zh-CN" b="1" baseline="30000" dirty="0">
                <a:solidFill>
                  <a:schemeClr val="bg2"/>
                </a:solidFill>
              </a:rPr>
              <a:t>6</a:t>
            </a:r>
            <a:r>
              <a:rPr lang="en-US" altLang="zh-CN" b="1" dirty="0">
                <a:solidFill>
                  <a:schemeClr val="bg2"/>
                </a:solidFill>
              </a:rPr>
              <a:t>=…,   </a:t>
            </a:r>
            <a:r>
              <a:rPr lang="en-US" altLang="zh-CN" b="1" i="1" dirty="0">
                <a:solidFill>
                  <a:schemeClr val="bg2"/>
                </a:solidFill>
              </a:rPr>
              <a:t>R</a:t>
            </a:r>
            <a:r>
              <a:rPr lang="en-US" altLang="zh-CN" b="1" baseline="30000" dirty="0">
                <a:solidFill>
                  <a:schemeClr val="bg2"/>
                </a:solidFill>
              </a:rPr>
              <a:t>3</a:t>
            </a:r>
            <a:r>
              <a:rPr lang="en-US" altLang="zh-CN" b="1" dirty="0">
                <a:solidFill>
                  <a:schemeClr val="bg2"/>
                </a:solidFill>
              </a:rPr>
              <a:t>=</a:t>
            </a:r>
            <a:r>
              <a:rPr lang="en-US" altLang="zh-CN" b="1" i="1" dirty="0">
                <a:solidFill>
                  <a:schemeClr val="bg2"/>
                </a:solidFill>
              </a:rPr>
              <a:t>R</a:t>
            </a:r>
            <a:r>
              <a:rPr lang="en-US" altLang="zh-CN" b="1" baseline="30000" dirty="0">
                <a:solidFill>
                  <a:schemeClr val="bg2"/>
                </a:solidFill>
              </a:rPr>
              <a:t>5</a:t>
            </a:r>
            <a:r>
              <a:rPr lang="en-US" altLang="zh-CN" b="1" dirty="0">
                <a:solidFill>
                  <a:schemeClr val="bg2"/>
                </a:solidFill>
              </a:rPr>
              <a:t>=</a:t>
            </a:r>
            <a:r>
              <a:rPr lang="en-US" altLang="zh-CN" b="1" i="1" dirty="0">
                <a:solidFill>
                  <a:schemeClr val="bg2"/>
                </a:solidFill>
              </a:rPr>
              <a:t>R</a:t>
            </a:r>
            <a:r>
              <a:rPr lang="en-US" altLang="zh-CN" b="1" baseline="30000" dirty="0">
                <a:solidFill>
                  <a:schemeClr val="bg2"/>
                </a:solidFill>
              </a:rPr>
              <a:t>7</a:t>
            </a:r>
            <a:r>
              <a:rPr lang="en-US" altLang="zh-CN" b="1" dirty="0">
                <a:solidFill>
                  <a:schemeClr val="bg2"/>
                </a:solidFill>
              </a:rPr>
              <a:t>=…</a:t>
            </a:r>
            <a:r>
              <a:rPr lang="en-US" altLang="zh-CN" b="1" dirty="0">
                <a:solidFill>
                  <a:srgbClr val="000099"/>
                </a:solidFill>
              </a:rPr>
              <a:t/>
            </a:r>
            <a:br>
              <a:rPr lang="en-US" altLang="zh-CN" b="1" dirty="0">
                <a:solidFill>
                  <a:srgbClr val="000099"/>
                </a:solidFill>
              </a:rPr>
            </a:br>
            <a:r>
              <a:rPr lang="zh-CN" altLang="en-US" b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对于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有穷集</a:t>
            </a:r>
            <a:r>
              <a:rPr lang="en-US" altLang="zh-CN" b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zh-CN" altLang="en-US" b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 b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zh-CN" altLang="en-US" b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上关系</a:t>
            </a:r>
            <a:r>
              <a:rPr lang="en-US" altLang="zh-CN" b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zh-CN" altLang="en-US" b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的不同幂只有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有限个</a:t>
            </a:r>
            <a:r>
              <a:rPr lang="zh-CN" altLang="en-US" b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</a:p>
        </p:txBody>
      </p:sp>
      <p:sp>
        <p:nvSpPr>
          <p:cNvPr id="61444" name="Rectangle 3"/>
          <p:cNvSpPr>
            <a:spLocks noChangeArrowheads="1"/>
          </p:cNvSpPr>
          <p:nvPr/>
        </p:nvSpPr>
        <p:spPr bwMode="auto">
          <a:xfrm>
            <a:off x="0" y="30670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61445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615658"/>
              </p:ext>
            </p:extLst>
          </p:nvPr>
        </p:nvGraphicFramePr>
        <p:xfrm>
          <a:off x="3245186" y="1997420"/>
          <a:ext cx="5672137" cy="2139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28" name="公式" r:id="rId4" imgW="2908080" imgH="914400" progId="Equation.3">
                  <p:embed/>
                </p:oleObj>
              </mc:Choice>
              <mc:Fallback>
                <p:oleObj name="公式" r:id="rId4" imgW="2908080" imgH="9144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5186" y="1997420"/>
                        <a:ext cx="5672137" cy="21392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5474561"/>
              </p:ext>
            </p:extLst>
          </p:nvPr>
        </p:nvGraphicFramePr>
        <p:xfrm>
          <a:off x="395536" y="2054577"/>
          <a:ext cx="2672035" cy="2024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29" name="公式" r:id="rId6" imgW="1307880" imgH="914400" progId="Equation.3">
                  <p:embed/>
                </p:oleObj>
              </mc:Choice>
              <mc:Fallback>
                <p:oleObj name="公式" r:id="rId6" imgW="1307880" imgH="914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2054577"/>
                        <a:ext cx="2672035" cy="20249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46" name="Rectangle 6"/>
          <p:cNvSpPr>
            <a:spLocks noGrp="1" noChangeArrowheads="1"/>
          </p:cNvSpPr>
          <p:nvPr>
            <p:ph type="title"/>
          </p:nvPr>
        </p:nvSpPr>
        <p:spPr>
          <a:xfrm>
            <a:off x="395535" y="146352"/>
            <a:ext cx="7921625" cy="1081088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幂的求法（续）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00B4FB-9267-4001-95FF-74C125B3F2EE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62467" name="Text Box 2"/>
          <p:cNvSpPr txBox="1">
            <a:spLocks noChangeArrowheads="1"/>
          </p:cNvSpPr>
          <p:nvPr/>
        </p:nvSpPr>
        <p:spPr bwMode="auto">
          <a:xfrm>
            <a:off x="431800" y="1435101"/>
            <a:ext cx="7993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,…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的关系图如下图所示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title"/>
          </p:nvPr>
        </p:nvSpPr>
        <p:spPr>
          <a:xfrm>
            <a:off x="431800" y="176959"/>
            <a:ext cx="8064500" cy="1008062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幂的求法（续）</a:t>
            </a:r>
          </a:p>
        </p:txBody>
      </p:sp>
      <p:pic>
        <p:nvPicPr>
          <p:cNvPr id="6246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2003425"/>
            <a:ext cx="8351837" cy="401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25FF3F8-8C03-42D8-BB5D-5DA0658B08F6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452264" y="260349"/>
            <a:ext cx="8229600" cy="1081088"/>
          </a:xfrm>
        </p:spPr>
        <p:txBody>
          <a:bodyPr/>
          <a:lstStyle/>
          <a:p>
            <a:r>
              <a:rPr lang="zh-CN" altLang="en-US" b="1" dirty="0">
                <a:solidFill>
                  <a:srgbClr val="A50021"/>
                </a:solidFill>
              </a:rPr>
              <a:t>幂运算的性质</a:t>
            </a:r>
          </a:p>
        </p:txBody>
      </p:sp>
      <p:sp>
        <p:nvSpPr>
          <p:cNvPr id="64517" name="Text Box 4"/>
          <p:cNvSpPr txBox="1">
            <a:spLocks noChangeArrowheads="1"/>
          </p:cNvSpPr>
          <p:nvPr/>
        </p:nvSpPr>
        <p:spPr bwMode="auto">
          <a:xfrm>
            <a:off x="468313" y="1341437"/>
            <a:ext cx="7775575" cy="1150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元集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是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上的关系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则存在自然数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</a:rPr>
              <a:t>,  </a:t>
            </a:r>
            <a:r>
              <a:rPr lang="zh-CN" altLang="en-US" sz="2800" b="1" dirty="0">
                <a:latin typeface="Times New Roman" panose="02020603050405020304" pitchFamily="18" charset="0"/>
              </a:rPr>
              <a:t>使得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t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9552" y="2708920"/>
            <a:ext cx="7775575" cy="2751522"/>
            <a:chOff x="539552" y="2780928"/>
            <a:chExt cx="7775575" cy="2751522"/>
          </a:xfrm>
        </p:grpSpPr>
        <p:graphicFrame>
          <p:nvGraphicFramePr>
            <p:cNvPr id="64518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1652001"/>
                </p:ext>
              </p:extLst>
            </p:nvPr>
          </p:nvGraphicFramePr>
          <p:xfrm>
            <a:off x="1403648" y="3365390"/>
            <a:ext cx="581025" cy="415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759" name="公式" r:id="rId4" imgW="228501" imgH="203112" progId="Equation.3">
                    <p:embed/>
                  </p:oleObj>
                </mc:Choice>
                <mc:Fallback>
                  <p:oleObj name="公式" r:id="rId4" imgW="228501" imgH="203112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3648" y="3365390"/>
                          <a:ext cx="581025" cy="415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539552" y="2780928"/>
              <a:ext cx="7775575" cy="2751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证</a:t>
              </a:r>
              <a:r>
                <a:rPr lang="en-US" altLang="zh-CN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: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R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为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A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上的关系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由于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|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|=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A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上的不同关系只有      个。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当列出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R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的各次幂</a:t>
              </a:r>
              <a:endParaRPr lang="zh-CN" altLang="en-US" sz="2800" b="1" i="1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i="1" dirty="0">
                  <a:latin typeface="Times New Roman" panose="02020603050405020304" pitchFamily="18" charset="0"/>
                </a:rPr>
                <a:t>     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800" b="1" baseline="30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800" b="1" baseline="30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800" b="1" baseline="30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 …, , …, 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必存在自然数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s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和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t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使得  </a:t>
              </a:r>
              <a:r>
                <a:rPr lang="en-US" altLang="zh-CN" sz="2800" b="1" i="1" dirty="0" err="1">
                  <a:latin typeface="Times New Roman" panose="02020603050405020304" pitchFamily="18" charset="0"/>
                </a:rPr>
                <a:t>R</a:t>
              </a:r>
              <a:r>
                <a:rPr lang="en-US" altLang="zh-CN" sz="2800" b="1" i="1" baseline="30000" dirty="0" err="1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=</a:t>
              </a:r>
              <a:r>
                <a:rPr lang="en-US" altLang="zh-CN" sz="2800" b="1" i="1" dirty="0" err="1">
                  <a:latin typeface="Times New Roman" panose="02020603050405020304" pitchFamily="18" charset="0"/>
                </a:rPr>
                <a:t>R</a:t>
              </a:r>
              <a:r>
                <a:rPr lang="en-US" altLang="zh-CN" sz="2800" b="1" i="1" baseline="30000" dirty="0" err="1">
                  <a:latin typeface="Times New Roman" panose="02020603050405020304" pitchFamily="18" charset="0"/>
                </a:rPr>
                <a:t>t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。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1C46415-CDDD-4427-B61E-E18D5E412BC2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66563" name="Text Box 2"/>
          <p:cNvSpPr txBox="1">
            <a:spLocks noChangeArrowheads="1"/>
          </p:cNvSpPr>
          <p:nvPr/>
        </p:nvSpPr>
        <p:spPr bwMode="auto">
          <a:xfrm>
            <a:off x="396280" y="1320262"/>
            <a:ext cx="6463051" cy="1733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4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上的关系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</a:rPr>
              <a:t>(1)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/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m</a:t>
            </a:r>
            <a:r>
              <a:rPr lang="en-US" altLang="zh-CN" sz="2800" b="1" baseline="30000" dirty="0" err="1">
                <a:latin typeface="Times New Roman" panose="02020603050405020304" pitchFamily="18" charset="0"/>
              </a:rPr>
              <a:t>+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  (2)  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mn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b="1" baseline="30000" dirty="0">
              <a:latin typeface="Times New Roman" panose="02020603050405020304" pitchFamily="18" charset="0"/>
            </a:endParaRP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title"/>
          </p:nvPr>
        </p:nvSpPr>
        <p:spPr>
          <a:xfrm>
            <a:off x="395536" y="0"/>
            <a:ext cx="7391400" cy="1371600"/>
          </a:xfrm>
          <a:noFill/>
        </p:spPr>
        <p:txBody>
          <a:bodyPr/>
          <a:lstStyle/>
          <a:p>
            <a:r>
              <a:rPr lang="zh-CN" altLang="en-US" b="1" dirty="0">
                <a:solidFill>
                  <a:srgbClr val="A50021"/>
                </a:solidFill>
              </a:rPr>
              <a:t>幂运算的性质（续）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99140" y="2951932"/>
            <a:ext cx="7120860" cy="3586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证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: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用归纳法  </a:t>
            </a:r>
            <a:r>
              <a:rPr lang="zh-CN" altLang="en-US" sz="2800" b="1" dirty="0">
                <a:latin typeface="Times New Roman" panose="02020603050405020304" pitchFamily="18" charset="0"/>
              </a:rPr>
              <a:t/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对于任意给定的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,  </a:t>
            </a:r>
            <a:r>
              <a:rPr lang="zh-CN" altLang="en-US" sz="2800" b="1" dirty="0">
                <a:latin typeface="Times New Roman" panose="02020603050405020304" pitchFamily="18" charset="0"/>
              </a:rPr>
              <a:t>对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进行归纳。</a:t>
            </a:r>
            <a:r>
              <a:rPr lang="en-US" altLang="zh-CN" sz="2800" b="1" dirty="0"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=0,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则有 </a:t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 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/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/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+0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假设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m</a:t>
            </a:r>
            <a:r>
              <a:rPr lang="en-US" altLang="zh-CN" sz="2800" b="1" dirty="0" err="1"/>
              <a:t>∘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m</a:t>
            </a:r>
            <a:r>
              <a:rPr lang="en-US" altLang="zh-CN" sz="2800" b="1" baseline="30000" dirty="0" err="1">
                <a:latin typeface="Times New Roman" panose="02020603050405020304" pitchFamily="18" charset="0"/>
              </a:rPr>
              <a:t>+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则有</a:t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/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+1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/>
              <a:t>∘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 err="1"/>
              <a:t>∘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)=(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m</a:t>
            </a:r>
            <a:r>
              <a:rPr lang="en-US" altLang="zh-CN" sz="2800" b="1" dirty="0" err="1"/>
              <a:t>∘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dirty="0"/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+1</a:t>
            </a:r>
            <a:r>
              <a:rPr lang="en-US" altLang="zh-CN" sz="2800" b="1" dirty="0">
                <a:latin typeface="Times New Roman" panose="02020603050405020304" pitchFamily="18" charset="0"/>
              </a:rPr>
              <a:t> ,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所以对一切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有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m</a:t>
            </a:r>
            <a:r>
              <a:rPr lang="en-US" altLang="zh-CN" sz="2800" b="1" dirty="0" err="1"/>
              <a:t>∘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m</a:t>
            </a:r>
            <a:r>
              <a:rPr lang="en-US" altLang="zh-CN" sz="2800" b="1" baseline="30000" dirty="0" err="1">
                <a:latin typeface="Times New Roman" panose="02020603050405020304" pitchFamily="18" charset="0"/>
              </a:rPr>
              <a:t>+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n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b="1" baseline="30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2FC6334-5D29-45C6-93C4-DF2927E3F9E4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68611" name="Text Box 2"/>
          <p:cNvSpPr txBox="1">
            <a:spLocks noChangeArrowheads="1"/>
          </p:cNvSpPr>
          <p:nvPr/>
        </p:nvSpPr>
        <p:spPr bwMode="auto">
          <a:xfrm>
            <a:off x="611188" y="1268413"/>
            <a:ext cx="7705725" cy="368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</a:rPr>
              <a:t>接上页证明</a:t>
            </a:r>
            <a:r>
              <a:rPr lang="en-US" altLang="zh-CN" sz="2800" b="1" dirty="0">
                <a:latin typeface="Times New Roman" panose="02020603050405020304" pitchFamily="18" charset="0"/>
              </a:rPr>
              <a:t>)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latin typeface="Times New Roman" panose="02020603050405020304" pitchFamily="18" charset="0"/>
              </a:rPr>
              <a:t>对于任意给定的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对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进行归纳。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=0,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则有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×0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假设 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mn</a:t>
            </a:r>
            <a:r>
              <a:rPr lang="en-US" altLang="zh-CN" sz="2800" b="1" dirty="0">
                <a:latin typeface="Times New Roman" panose="02020603050405020304" pitchFamily="18" charset="0"/>
              </a:rPr>
              <a:t>, 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则有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+1</a:t>
            </a:r>
            <a:r>
              <a:rPr lang="en-US" altLang="zh-CN" sz="2800" b="1" dirty="0">
                <a:latin typeface="Times New Roman" panose="02020603050405020304" pitchFamily="18" charset="0"/>
              </a:rPr>
              <a:t>=(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 err="1"/>
              <a:t>∘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=(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mn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dirty="0"/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mn</a:t>
            </a:r>
            <a:r>
              <a:rPr lang="en-US" altLang="zh-CN" sz="2800" b="1" baseline="30000" dirty="0" err="1">
                <a:latin typeface="Times New Roman" panose="02020603050405020304" pitchFamily="18" charset="0"/>
              </a:rPr>
              <a:t>+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+1)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所以对一切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有 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 dirty="0" err="1">
                <a:latin typeface="Times New Roman" panose="02020603050405020304" pitchFamily="18" charset="0"/>
              </a:rPr>
              <a:t>mn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19139" name="Rectangle 3"/>
          <p:cNvSpPr>
            <a:spLocks noGrp="1" noChangeArrowheads="1"/>
          </p:cNvSpPr>
          <p:nvPr>
            <p:ph type="title"/>
          </p:nvPr>
        </p:nvSpPr>
        <p:spPr>
          <a:xfrm>
            <a:off x="684213" y="106363"/>
            <a:ext cx="7632700" cy="116205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幂运算的性质（续）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64" name="AutoShape 12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611188" y="476250"/>
            <a:ext cx="915987" cy="450850"/>
          </a:xfrm>
          <a:prstGeom prst="actionButtonBlank">
            <a:avLst/>
          </a:prstGeom>
          <a:solidFill>
            <a:srgbClr val="00990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6800" rIns="50400" anchor="ctr" anchorCtr="1">
            <a:spAutoFit/>
          </a:bodyPr>
          <a:lstStyle/>
          <a:p>
            <a:pPr eaLnBrk="1" hangingPunct="1">
              <a:defRPr/>
            </a:pPr>
            <a:r>
              <a:rPr lang="zh-CN" altLang="en-US" sz="2000" b="1" dirty="0">
                <a:solidFill>
                  <a:schemeClr val="bg1"/>
                </a:solidFill>
                <a:ea typeface="幼圆" panose="02010509060101010101" pitchFamily="49" charset="-122"/>
              </a:rPr>
              <a:t>作 业</a:t>
            </a:r>
            <a:endParaRPr lang="zh-CN" altLang="en-US" sz="2000" dirty="0">
              <a:solidFill>
                <a:srgbClr val="009900"/>
              </a:solidFill>
              <a:effectDag name="">
                <a:cont type="tree" name="">
                  <a:effect ref="fillLine"/>
                  <a:outerShdw dist="38100" dir="13500000" algn="br">
                    <a:srgbClr val="4CE54C"/>
                  </a:outerShdw>
                </a:cont>
                <a:cont type="tree" name="">
                  <a:effect ref="fillLine"/>
                  <a:outerShdw dist="38100" dir="2700000" algn="tl">
                    <a:srgbClr val="005B00"/>
                  </a:outerShdw>
                </a:cont>
                <a:effect ref="fillLine"/>
              </a:effectDag>
              <a:ea typeface="隶书" panose="02010509060101010101" pitchFamily="49" charset="-122"/>
            </a:endParaRPr>
          </a:p>
        </p:txBody>
      </p:sp>
      <p:sp>
        <p:nvSpPr>
          <p:cNvPr id="70659" name="Rectangle 13"/>
          <p:cNvSpPr>
            <a:spLocks noChangeArrowheads="1"/>
          </p:cNvSpPr>
          <p:nvPr/>
        </p:nvSpPr>
        <p:spPr bwMode="auto">
          <a:xfrm>
            <a:off x="619125" y="1557338"/>
            <a:ext cx="5827713" cy="272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4.2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4.3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4.13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endParaRPr lang="en-US" altLang="zh-CN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CCF6F5-4E70-43FB-B7A8-86BD457C4CE7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56357"/>
            <a:ext cx="8002587" cy="1100138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4.3 </a:t>
            </a:r>
            <a:r>
              <a:rPr lang="zh-CN" altLang="en-US" b="1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关系的性质</a:t>
            </a:r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484313"/>
            <a:ext cx="8229600" cy="38862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b="1" dirty="0"/>
              <a:t>自反性</a:t>
            </a:r>
          </a:p>
          <a:p>
            <a:pPr>
              <a:spcBef>
                <a:spcPct val="50000"/>
              </a:spcBef>
            </a:pPr>
            <a:r>
              <a:rPr lang="zh-CN" altLang="en-US" b="1" dirty="0"/>
              <a:t>反自反性</a:t>
            </a:r>
          </a:p>
          <a:p>
            <a:pPr>
              <a:spcBef>
                <a:spcPct val="50000"/>
              </a:spcBef>
            </a:pPr>
            <a:r>
              <a:rPr lang="zh-CN" altLang="en-US" b="1" dirty="0"/>
              <a:t>对称性</a:t>
            </a:r>
          </a:p>
          <a:p>
            <a:pPr>
              <a:spcBef>
                <a:spcPct val="50000"/>
              </a:spcBef>
            </a:pPr>
            <a:r>
              <a:rPr lang="zh-CN" altLang="en-US" b="1" dirty="0"/>
              <a:t>反对称性</a:t>
            </a:r>
          </a:p>
          <a:p>
            <a:pPr>
              <a:spcBef>
                <a:spcPct val="50000"/>
              </a:spcBef>
            </a:pPr>
            <a:r>
              <a:rPr lang="zh-CN" altLang="en-US" b="1" dirty="0"/>
              <a:t>传递性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2DF6C2C-8307-4AB5-8A6A-D2B868FBECC3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自反性与反自反性</a:t>
            </a:r>
          </a:p>
        </p:txBody>
      </p:sp>
      <p:sp>
        <p:nvSpPr>
          <p:cNvPr id="221187" name="Text Box 3"/>
          <p:cNvSpPr txBox="1">
            <a:spLocks noChangeArrowheads="1"/>
          </p:cNvSpPr>
          <p:nvPr/>
        </p:nvSpPr>
        <p:spPr bwMode="auto">
          <a:xfrm>
            <a:off x="379140" y="3819326"/>
            <a:ext cx="8569325" cy="2733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实例：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自反关系：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上的</a:t>
            </a:r>
            <a:r>
              <a:rPr lang="zh-CN" altLang="en-US" sz="24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全域关系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4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4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恒等关系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  </a:t>
            </a:r>
            <a:r>
              <a:rPr lang="zh-CN" altLang="en-US" sz="24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小于等于关系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4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4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整除关系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b="1" baseline="-250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反自反关系：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实数集上的</a:t>
            </a:r>
            <a:r>
              <a:rPr lang="zh-CN" altLang="en-US" sz="24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小于关系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       幂集上的</a:t>
            </a:r>
            <a:r>
              <a:rPr lang="zh-CN" altLang="en-US" sz="24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真包含关系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问题</a:t>
            </a:r>
            <a:r>
              <a:rPr lang="zh-CN" altLang="en-US" sz="28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若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为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到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的关系，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是否有自反性或反自反性？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95288" y="1199359"/>
            <a:ext cx="8569325" cy="2551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sz="2800" b="1" dirty="0">
                <a:latin typeface="Times New Roman" panose="02020603050405020304" pitchFamily="18" charset="0"/>
              </a:rPr>
              <a:t>   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上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的关系 </a:t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),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则称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在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上是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自反</a:t>
            </a:r>
            <a:r>
              <a:rPr lang="zh-CN" altLang="en-US" sz="2800" b="1" dirty="0">
                <a:latin typeface="Times New Roman" panose="02020603050405020304" pitchFamily="18" charset="0"/>
              </a:rPr>
              <a:t>的。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关系矩阵的主对角线元素都是</a:t>
            </a:r>
            <a:r>
              <a:rPr lang="en-US" altLang="zh-CN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，关系图的每个顶点都有环</a:t>
            </a:r>
            <a:r>
              <a:rPr lang="en-US" altLang="zh-CN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。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/>
            </a:r>
            <a:b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),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则称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在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上是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反自反</a:t>
            </a:r>
            <a:r>
              <a:rPr lang="zh-CN" altLang="en-US" sz="2800" b="1" dirty="0">
                <a:latin typeface="Times New Roman" panose="02020603050405020304" pitchFamily="18" charset="0"/>
              </a:rPr>
              <a:t>的。</a:t>
            </a:r>
            <a:r>
              <a:rPr lang="en-US" altLang="zh-CN" sz="2800" b="1" dirty="0"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关系矩阵的主对角线元素都是</a:t>
            </a:r>
            <a:r>
              <a:rPr lang="en-US" altLang="zh-CN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，关系图的每个顶点都没有环</a:t>
            </a:r>
            <a:r>
              <a:rPr lang="en-US" altLang="zh-CN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7A1261-0863-4295-891B-C76E441E7AD9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7680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68313" y="101600"/>
            <a:ext cx="8002587" cy="1100138"/>
          </a:xfrm>
        </p:spPr>
        <p:txBody>
          <a:bodyPr/>
          <a:lstStyle/>
          <a:p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7680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311047"/>
            <a:ext cx="8229600" cy="2449512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1   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={1,2,3},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上的关系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其中</a:t>
            </a:r>
            <a:b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{&lt;1,1&gt;,&lt;2,2&gt;}</a:t>
            </a:r>
            <a:b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{&lt;1,1&gt;,&lt;2,2&gt;,&lt;3,3&gt;,&lt;1,2&gt;}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{&lt;1,3&gt;}</a:t>
            </a:r>
            <a:endParaRPr lang="en-US" altLang="zh-CN" dirty="0">
              <a:solidFill>
                <a:schemeClr val="bg2"/>
              </a:solidFill>
            </a:endParaRPr>
          </a:p>
        </p:txBody>
      </p:sp>
      <p:sp>
        <p:nvSpPr>
          <p:cNvPr id="288772" name="Text Box 1028"/>
          <p:cNvSpPr txBox="1">
            <a:spLocks noChangeArrowheads="1"/>
          </p:cNvSpPr>
          <p:nvPr/>
        </p:nvSpPr>
        <p:spPr bwMode="auto">
          <a:xfrm>
            <a:off x="755576" y="4017861"/>
            <a:ext cx="6767512" cy="2443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答：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</a:rPr>
              <a:t>既不是自反也不是反自反的</a:t>
            </a:r>
            <a:endParaRPr lang="zh-CN" altLang="en-US" b="1" i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自反</a:t>
            </a:r>
            <a:endParaRPr lang="en-US" altLang="zh-CN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反自反</a:t>
            </a:r>
            <a:endParaRPr lang="en-US" altLang="zh-CN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65FA8DA-B357-4882-8B04-9DBAB6272308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30200" y="158292"/>
            <a:ext cx="8229600" cy="94615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对称性与反对称性</a:t>
            </a:r>
          </a:p>
        </p:txBody>
      </p:sp>
      <p:sp>
        <p:nvSpPr>
          <p:cNvPr id="222211" name="Text Box 3"/>
          <p:cNvSpPr txBox="1">
            <a:spLocks noChangeArrowheads="1"/>
          </p:cNvSpPr>
          <p:nvPr/>
        </p:nvSpPr>
        <p:spPr bwMode="auto">
          <a:xfrm>
            <a:off x="330200" y="4999492"/>
            <a:ext cx="8013700" cy="1372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实例：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对称关系：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上的</a:t>
            </a:r>
            <a:r>
              <a:rPr lang="zh-CN" altLang="en-US" sz="24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全域关系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4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400" b="1" u="sng" dirty="0">
                <a:solidFill>
                  <a:srgbClr val="00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恒等关系</a:t>
            </a:r>
            <a:r>
              <a:rPr lang="en-US" altLang="zh-CN" sz="2400" b="1" i="1" u="sng" dirty="0">
                <a:solidFill>
                  <a:srgbClr val="0099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i="1" u="sng" baseline="-25000" dirty="0">
                <a:solidFill>
                  <a:srgbClr val="00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和</a:t>
            </a:r>
            <a:r>
              <a:rPr lang="zh-CN" altLang="en-US" sz="2400" b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空关系</a:t>
            </a:r>
            <a:r>
              <a:rPr lang="zh-CN" altLang="en-US" sz="2400" b="1" u="sng" dirty="0">
                <a:solidFill>
                  <a:srgbClr val="FFC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zh-CN" altLang="en-US" sz="2400" b="1" u="sng" dirty="0">
              <a:solidFill>
                <a:srgbClr val="FFC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反对称关系：</a:t>
            </a:r>
            <a:r>
              <a:rPr lang="zh-CN" altLang="en-US" sz="2400" b="1" u="sng" dirty="0">
                <a:solidFill>
                  <a:srgbClr val="00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恒等关系</a:t>
            </a:r>
            <a:r>
              <a:rPr lang="en-US" altLang="zh-CN" sz="2400" b="1" i="1" u="sng" dirty="0">
                <a:solidFill>
                  <a:srgbClr val="0099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i="1" u="sng" baseline="-25000" dirty="0">
                <a:solidFill>
                  <a:srgbClr val="00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400" b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空关系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上的反对称关系。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30200" y="1250773"/>
            <a:ext cx="8013700" cy="374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上的关系</a:t>
            </a:r>
            <a:r>
              <a:rPr lang="en-US" altLang="zh-CN" sz="2800" b="1" dirty="0">
                <a:latin typeface="Times New Roman" panose="02020603050405020304" pitchFamily="18" charset="0"/>
              </a:rPr>
              <a:t>, </a:t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 (1) 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u="sng" dirty="0">
                <a:latin typeface="Times New Roman" panose="02020603050405020304" pitchFamily="18" charset="0"/>
              </a:rPr>
              <a:t>x</a:t>
            </a:r>
            <a:r>
              <a:rPr lang="en-US" altLang="zh-CN" sz="2800" b="1" u="sng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u="sng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u="sng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u="sng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∧</a:t>
            </a:r>
            <a:r>
              <a:rPr lang="en-US" altLang="zh-CN" sz="2800" b="1" u="sng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u="sng" dirty="0">
                <a:latin typeface="Times New Roman" panose="02020603050405020304" pitchFamily="18" charset="0"/>
              </a:rPr>
              <a:t>x</a:t>
            </a:r>
            <a:r>
              <a:rPr lang="en-US" altLang="zh-CN" sz="2800" b="1" u="sng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u="sng" dirty="0">
                <a:latin typeface="Times New Roman" panose="02020603050405020304" pitchFamily="18" charset="0"/>
              </a:rPr>
              <a:t>y</a:t>
            </a:r>
            <a:r>
              <a:rPr lang="en-US" altLang="zh-CN" sz="2800" b="1" u="sng" dirty="0">
                <a:latin typeface="Times New Roman" panose="02020603050405020304" pitchFamily="18" charset="0"/>
              </a:rPr>
              <a:t>&gt;∈</a:t>
            </a:r>
            <a:r>
              <a:rPr lang="en-US" altLang="zh-CN" sz="2800" b="1" i="1" u="sng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→</a:t>
            </a:r>
            <a:r>
              <a:rPr lang="en-US" altLang="zh-CN" sz="2800" b="1" u="sng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u="sng" dirty="0">
                <a:latin typeface="Times New Roman" panose="02020603050405020304" pitchFamily="18" charset="0"/>
              </a:rPr>
              <a:t>y</a:t>
            </a:r>
            <a:r>
              <a:rPr lang="en-US" altLang="zh-CN" sz="2800" b="1" u="sng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u="sng" dirty="0">
                <a:latin typeface="Times New Roman" panose="02020603050405020304" pitchFamily="18" charset="0"/>
              </a:rPr>
              <a:t>x</a:t>
            </a:r>
            <a:r>
              <a:rPr lang="en-US" altLang="zh-CN" sz="2800" b="1" u="sng" dirty="0">
                <a:latin typeface="Times New Roman" panose="02020603050405020304" pitchFamily="18" charset="0"/>
              </a:rPr>
              <a:t>&gt;∈</a:t>
            </a:r>
            <a:r>
              <a:rPr lang="en-US" altLang="zh-CN" sz="2800" b="1" i="1" u="sng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), 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则称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上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对称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的关系。</a:t>
            </a:r>
            <a:r>
              <a:rPr lang="en-US" altLang="zh-CN" sz="2800" b="1" dirty="0"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zh-CN" altLang="en-US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（关系矩阵为对称矩阵；</a:t>
            </a:r>
            <a:r>
              <a:rPr lang="zh-CN" altLang="en-US" sz="2400" b="1" u="sng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如果</a:t>
            </a:r>
            <a:r>
              <a:rPr lang="zh-CN" altLang="en-US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两顶点之间有边，一定是一对方向相反的边）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(2) 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u="sng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u="sng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u="sng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u="sng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u="sng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∧</a:t>
            </a:r>
            <a:r>
              <a:rPr lang="en-US" altLang="zh-CN" sz="2800" b="1" u="sng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u="sng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u="sng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u="sng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u="sng" dirty="0">
                <a:latin typeface="Times New Roman" panose="02020603050405020304" pitchFamily="18" charset="0"/>
              </a:rPr>
              <a:t>&gt;∈</a:t>
            </a:r>
            <a:r>
              <a:rPr lang="en-US" altLang="zh-CN" sz="2800" b="1" i="1" u="sng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∧</a:t>
            </a:r>
            <a:r>
              <a:rPr lang="en-US" altLang="zh-CN" sz="2800" b="1" u="sng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u="sng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u="sng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u="sng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u="sng" dirty="0">
                <a:latin typeface="Times New Roman" panose="02020603050405020304" pitchFamily="18" charset="0"/>
              </a:rPr>
              <a:t>&gt;∈</a:t>
            </a:r>
            <a:r>
              <a:rPr lang="en-US" altLang="zh-CN" sz="2800" b="1" i="1" u="sng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→</a:t>
            </a:r>
            <a:r>
              <a:rPr lang="en-US" altLang="zh-CN" sz="2800" b="1" i="1" u="sng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u="sng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u="sng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), 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则称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反对称</a:t>
            </a:r>
            <a:r>
              <a:rPr lang="zh-CN" altLang="en-US" sz="2800" b="1" dirty="0">
                <a:latin typeface="Times New Roman" panose="02020603050405020304" pitchFamily="18" charset="0"/>
              </a:rPr>
              <a:t>关系。</a:t>
            </a:r>
            <a:r>
              <a:rPr lang="en-US" altLang="zh-CN" sz="2800" b="1" dirty="0"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（如果两顶点之间有边，一定只有一条有向边）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3F59597-9D54-4E86-BB12-45611F28852D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80899" name="Rectangle 2"/>
          <p:cNvSpPr>
            <a:spLocks noGrp="1" noChangeArrowheads="1"/>
          </p:cNvSpPr>
          <p:nvPr>
            <p:ph type="title"/>
          </p:nvPr>
        </p:nvSpPr>
        <p:spPr>
          <a:xfrm>
            <a:off x="210929" y="56939"/>
            <a:ext cx="8002588" cy="1100138"/>
          </a:xfrm>
        </p:spPr>
        <p:txBody>
          <a:bodyPr/>
          <a:lstStyle/>
          <a:p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9248" y="1391338"/>
            <a:ext cx="8640960" cy="2311400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2 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{1,2,3},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都是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上的关系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其中：</a:t>
            </a:r>
            <a:b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{&lt;1,1&gt;,&lt;2,2&gt;}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{&lt;1,1&gt;,&lt;1,2&gt;,&lt;2,1&gt;}</a:t>
            </a:r>
            <a:b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{&lt;1,2&gt;,&lt;1,3&gt;}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{&lt;1,2&gt;,&lt;2,1&gt;,&lt;1,3&gt;}</a:t>
            </a:r>
            <a:r>
              <a:rPr lang="en-US" altLang="zh-CN" b="1" dirty="0">
                <a:solidFill>
                  <a:srgbClr val="000099"/>
                </a:solidFill>
                <a:latin typeface="Times New Roman" panose="02020603050405020304" pitchFamily="18" charset="0"/>
              </a:rPr>
              <a:t> 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90820" name="Text Box 4"/>
          <p:cNvSpPr txBox="1">
            <a:spLocks noChangeArrowheads="1"/>
          </p:cNvSpPr>
          <p:nvPr/>
        </p:nvSpPr>
        <p:spPr bwMode="auto">
          <a:xfrm>
            <a:off x="277565" y="4004746"/>
            <a:ext cx="5761037" cy="2689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答：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对称、反对称</a:t>
            </a:r>
            <a:endParaRPr lang="en-US" altLang="zh-CN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对称，不反对称</a:t>
            </a:r>
            <a:endParaRPr lang="en-US" altLang="zh-CN" b="1" i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不对称，反对称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既不对称、也不反对称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2A3CAE9-FC90-42F8-90DC-FF9DA2237A7C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37605" y="27895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传递性</a:t>
            </a:r>
            <a:r>
              <a:rPr lang="zh-CN" altLang="en-US" b="1" dirty="0"/>
              <a:t>  </a:t>
            </a:r>
          </a:p>
        </p:txBody>
      </p:sp>
      <p:sp>
        <p:nvSpPr>
          <p:cNvPr id="223235" name="Text Box 3"/>
          <p:cNvSpPr txBox="1">
            <a:spLocks noChangeArrowheads="1"/>
          </p:cNvSpPr>
          <p:nvPr/>
        </p:nvSpPr>
        <p:spPr bwMode="auto">
          <a:xfrm>
            <a:off x="468313" y="1341438"/>
            <a:ext cx="8351837" cy="2160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定义</a:t>
            </a:r>
            <a:r>
              <a:rPr lang="zh-CN" altLang="en-US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 </a:t>
            </a:r>
            <a:r>
              <a:rPr lang="zh-CN" altLang="en-US" b="1" dirty="0">
                <a:solidFill>
                  <a:schemeClr val="accent2"/>
                </a:solidFill>
                <a:ea typeface="宋体" charset="-122"/>
              </a:rPr>
              <a:t>  </a:t>
            </a:r>
            <a:r>
              <a:rPr lang="zh-CN" altLang="en-US" b="1" dirty="0">
                <a:ea typeface="宋体" charset="-122"/>
              </a:rPr>
              <a:t>设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zh-CN" altLang="en-US" b="1" dirty="0">
                <a:ea typeface="宋体" charset="-122"/>
              </a:rPr>
              <a:t>为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A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上</a:t>
            </a:r>
            <a:r>
              <a:rPr lang="zh-CN" altLang="en-US" b="1" dirty="0">
                <a:ea typeface="宋体" charset="-122"/>
              </a:rPr>
              <a:t>的关系</a:t>
            </a:r>
            <a:r>
              <a:rPr lang="en-US" altLang="zh-CN" b="1" dirty="0">
                <a:ea typeface="宋体" charset="-122"/>
              </a:rPr>
              <a:t>, </a:t>
            </a:r>
            <a:r>
              <a:rPr lang="zh-CN" altLang="en-US" b="1" dirty="0">
                <a:ea typeface="宋体" charset="-122"/>
              </a:rPr>
              <a:t>若 </a:t>
            </a:r>
            <a:r>
              <a:rPr lang="zh-CN" altLang="en-US" b="1" dirty="0">
                <a:ea typeface="宋体" charset="-122"/>
                <a:sym typeface="Symbol" pitchFamily="18" charset="2"/>
              </a:rPr>
              <a:t></a:t>
            </a:r>
            <a:r>
              <a:rPr lang="en-US" altLang="zh-CN" b="1" i="1" dirty="0" err="1">
                <a:ea typeface="宋体" charset="-122"/>
              </a:rPr>
              <a:t>x</a:t>
            </a:r>
            <a:r>
              <a:rPr lang="en-US" altLang="zh-CN" b="1" dirty="0" err="1">
                <a:ea typeface="宋体" charset="-122"/>
                <a:sym typeface="Symbol" pitchFamily="18" charset="2"/>
              </a:rPr>
              <a:t></a:t>
            </a:r>
            <a:r>
              <a:rPr lang="en-US" altLang="zh-CN" b="1" i="1" dirty="0" err="1">
                <a:ea typeface="宋体" charset="-122"/>
              </a:rPr>
              <a:t>y</a:t>
            </a:r>
            <a:r>
              <a:rPr lang="en-US" altLang="zh-CN" b="1" dirty="0" err="1">
                <a:ea typeface="宋体" charset="-122"/>
                <a:sym typeface="Symbol" pitchFamily="18" charset="2"/>
              </a:rPr>
              <a:t></a:t>
            </a:r>
            <a:r>
              <a:rPr lang="en-US" altLang="zh-CN" b="1" i="1" dirty="0" err="1">
                <a:ea typeface="宋体" charset="-122"/>
              </a:rPr>
              <a:t>z</a:t>
            </a:r>
            <a:r>
              <a:rPr lang="en-US" altLang="zh-CN" b="1" dirty="0">
                <a:ea typeface="宋体" charset="-122"/>
              </a:rPr>
              <a:t>(</a:t>
            </a:r>
            <a:r>
              <a:rPr lang="en-US" altLang="zh-CN" b="1" i="1" u="sng" dirty="0" err="1">
                <a:ea typeface="宋体" charset="-122"/>
              </a:rPr>
              <a:t>x</a:t>
            </a:r>
            <a:r>
              <a:rPr lang="en-US" altLang="zh-CN" b="1" u="sng" dirty="0" err="1">
                <a:ea typeface="宋体" charset="-122"/>
              </a:rPr>
              <a:t>,</a:t>
            </a:r>
            <a:r>
              <a:rPr lang="en-US" altLang="zh-CN" b="1" i="1" u="sng" dirty="0" err="1">
                <a:ea typeface="宋体" charset="-122"/>
              </a:rPr>
              <a:t>y</a:t>
            </a:r>
            <a:r>
              <a:rPr lang="en-US" altLang="zh-CN" b="1" u="sng" dirty="0" err="1">
                <a:ea typeface="宋体" charset="-122"/>
              </a:rPr>
              <a:t>,</a:t>
            </a:r>
            <a:r>
              <a:rPr lang="en-US" altLang="zh-CN" b="1" i="1" u="sng" dirty="0" err="1">
                <a:ea typeface="宋体" charset="-122"/>
              </a:rPr>
              <a:t>z</a:t>
            </a:r>
            <a:r>
              <a:rPr lang="en-US" altLang="zh-CN" b="1" u="sng" dirty="0" err="1">
                <a:ea typeface="宋体" charset="-122"/>
              </a:rPr>
              <a:t>∈</a:t>
            </a:r>
            <a:r>
              <a:rPr lang="en-US" altLang="zh-CN" b="1" i="1" u="sng" dirty="0" err="1">
                <a:ea typeface="宋体" charset="-122"/>
              </a:rPr>
              <a:t>A</a:t>
            </a:r>
            <a:r>
              <a:rPr lang="en-US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∧</a:t>
            </a:r>
            <a:r>
              <a:rPr lang="en-US" altLang="zh-CN" b="1" u="sng" dirty="0">
                <a:ea typeface="宋体" charset="-122"/>
              </a:rPr>
              <a:t>&lt;</a:t>
            </a:r>
            <a:r>
              <a:rPr lang="en-US" altLang="zh-CN" b="1" i="1" u="sng" dirty="0" err="1">
                <a:solidFill>
                  <a:srgbClr val="FF0000"/>
                </a:solidFill>
                <a:ea typeface="宋体" charset="-122"/>
              </a:rPr>
              <a:t>x</a:t>
            </a:r>
            <a:r>
              <a:rPr lang="en-US" altLang="zh-CN" b="1" u="sng" dirty="0" err="1">
                <a:ea typeface="宋体" charset="-122"/>
              </a:rPr>
              <a:t>,</a:t>
            </a:r>
            <a:r>
              <a:rPr lang="en-US" altLang="zh-CN" b="1" i="1" dirty="0" err="1">
                <a:solidFill>
                  <a:srgbClr val="00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y</a:t>
            </a:r>
            <a:r>
              <a:rPr lang="en-US" altLang="zh-CN" b="1" u="sng" dirty="0">
                <a:ea typeface="宋体" charset="-122"/>
              </a:rPr>
              <a:t>&gt;∈</a:t>
            </a:r>
            <a:r>
              <a:rPr lang="en-US" altLang="zh-CN" b="1" i="1" u="sng" dirty="0">
                <a:ea typeface="宋体" charset="-122"/>
              </a:rPr>
              <a:t>R</a:t>
            </a:r>
            <a:r>
              <a:rPr lang="en-US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∧</a:t>
            </a:r>
            <a:r>
              <a:rPr lang="en-US" altLang="zh-CN" b="1" u="sng" dirty="0">
                <a:ea typeface="宋体" charset="-122"/>
              </a:rPr>
              <a:t>&lt;</a:t>
            </a:r>
            <a:r>
              <a:rPr lang="en-US" altLang="zh-CN" b="1" i="1" dirty="0" err="1">
                <a:solidFill>
                  <a:srgbClr val="00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y</a:t>
            </a:r>
            <a:r>
              <a:rPr lang="en-US" altLang="zh-CN" b="1" u="sng" dirty="0" err="1">
                <a:ea typeface="宋体" charset="-122"/>
              </a:rPr>
              <a:t>,</a:t>
            </a:r>
            <a:r>
              <a:rPr lang="en-US" altLang="zh-CN" b="1" i="1" u="sng" dirty="0" err="1">
                <a:solidFill>
                  <a:srgbClr val="FF0000"/>
                </a:solidFill>
                <a:ea typeface="宋体" charset="-122"/>
              </a:rPr>
              <a:t>z</a:t>
            </a:r>
            <a:r>
              <a:rPr lang="en-US" altLang="zh-CN" b="1" u="sng" dirty="0">
                <a:ea typeface="宋体" charset="-122"/>
              </a:rPr>
              <a:t>&gt;∈</a:t>
            </a:r>
            <a:r>
              <a:rPr lang="en-US" altLang="zh-CN" b="1" i="1" u="sng" dirty="0">
                <a:ea typeface="宋体" charset="-122"/>
              </a:rPr>
              <a:t>R</a:t>
            </a:r>
            <a:r>
              <a:rPr lang="en-US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→</a:t>
            </a:r>
            <a:r>
              <a:rPr lang="en-US" altLang="zh-CN" b="1" u="sng" dirty="0">
                <a:ea typeface="宋体" charset="-122"/>
              </a:rPr>
              <a:t>&lt;</a:t>
            </a:r>
            <a:r>
              <a:rPr lang="en-US" altLang="zh-CN" b="1" i="1" u="sng" dirty="0" err="1">
                <a:solidFill>
                  <a:srgbClr val="FF0000"/>
                </a:solidFill>
                <a:ea typeface="宋体" charset="-122"/>
              </a:rPr>
              <a:t>x</a:t>
            </a:r>
            <a:r>
              <a:rPr lang="en-US" altLang="zh-CN" b="1" u="sng" dirty="0" err="1">
                <a:ea typeface="宋体" charset="-122"/>
              </a:rPr>
              <a:t>,</a:t>
            </a:r>
            <a:r>
              <a:rPr lang="en-US" altLang="zh-CN" b="1" i="1" u="sng" dirty="0" err="1">
                <a:solidFill>
                  <a:srgbClr val="FF0000"/>
                </a:solidFill>
                <a:ea typeface="宋体" charset="-122"/>
              </a:rPr>
              <a:t>z</a:t>
            </a:r>
            <a:r>
              <a:rPr lang="en-US" altLang="zh-CN" b="1" u="sng" dirty="0">
                <a:ea typeface="宋体" charset="-122"/>
              </a:rPr>
              <a:t>&gt;∈</a:t>
            </a:r>
            <a:r>
              <a:rPr lang="en-US" altLang="zh-CN" b="1" i="1" u="sng" dirty="0">
                <a:ea typeface="宋体" charset="-122"/>
              </a:rPr>
              <a:t>R</a:t>
            </a:r>
            <a:r>
              <a:rPr lang="en-US" altLang="zh-CN" b="1" dirty="0">
                <a:ea typeface="宋体" charset="-122"/>
              </a:rPr>
              <a:t>),</a:t>
            </a:r>
            <a:br>
              <a:rPr lang="en-US" altLang="zh-CN" b="1" dirty="0">
                <a:ea typeface="宋体" charset="-122"/>
              </a:rPr>
            </a:br>
            <a:r>
              <a:rPr lang="zh-CN" altLang="en-US" b="1" dirty="0">
                <a:ea typeface="宋体" charset="-122"/>
              </a:rPr>
              <a:t>则称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zh-CN" altLang="en-US" b="1" dirty="0">
                <a:ea typeface="宋体" charset="-122"/>
              </a:rPr>
              <a:t>是</a:t>
            </a:r>
            <a:r>
              <a:rPr lang="en-US" altLang="zh-CN" b="1" i="1" dirty="0">
                <a:ea typeface="宋体" charset="-122"/>
              </a:rPr>
              <a:t>A</a:t>
            </a:r>
            <a:r>
              <a:rPr lang="zh-CN" altLang="en-US" b="1" dirty="0">
                <a:ea typeface="宋体" charset="-122"/>
              </a:rPr>
              <a:t>上的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传递</a:t>
            </a:r>
            <a:r>
              <a:rPr lang="zh-CN" altLang="en-US" b="1" dirty="0">
                <a:ea typeface="宋体" charset="-122"/>
              </a:rPr>
              <a:t>关系。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(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R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  <a:sym typeface="Symbol" pitchFamily="18" charset="2"/>
              </a:rPr>
              <a:t>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R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  <a:sym typeface="Symbol" pitchFamily="18" charset="2"/>
              </a:rPr>
              <a:t>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R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) </a:t>
            </a:r>
            <a:r>
              <a:rPr lang="en-US" altLang="zh-CN" b="1" dirty="0">
                <a:ea typeface="宋体" charset="-122"/>
              </a:rPr>
              <a:t/>
            </a:r>
            <a:br>
              <a:rPr lang="en-US" altLang="zh-CN" b="1" dirty="0">
                <a:ea typeface="宋体" charset="-122"/>
              </a:rPr>
            </a:br>
            <a:r>
              <a:rPr lang="zh-CN" altLang="en-US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（ 如果顶点</a:t>
            </a:r>
            <a:r>
              <a:rPr lang="en-US" altLang="zh-CN" sz="24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x</a:t>
            </a:r>
            <a:r>
              <a:rPr lang="en-US" altLang="zh-CN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 </a:t>
            </a:r>
            <a:r>
              <a:rPr lang="en-US" altLang="zh-CN" sz="2400" b="1" baseline="-25000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i</a:t>
            </a:r>
            <a:r>
              <a:rPr lang="zh-CN" altLang="en-US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到</a:t>
            </a:r>
            <a:r>
              <a:rPr lang="en-US" altLang="zh-CN" sz="24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x</a:t>
            </a:r>
            <a:r>
              <a:rPr lang="en-US" altLang="zh-CN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 </a:t>
            </a:r>
            <a:r>
              <a:rPr lang="en-US" altLang="zh-CN" sz="2400" b="1" baseline="-2500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j</a:t>
            </a:r>
            <a:r>
              <a:rPr lang="zh-CN" altLang="en-US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有边</a:t>
            </a:r>
            <a:r>
              <a:rPr lang="en-US" altLang="zh-CN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,</a:t>
            </a:r>
            <a:r>
              <a:rPr lang="zh-CN" altLang="en-US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顶点</a:t>
            </a:r>
            <a:r>
              <a:rPr lang="en-US" altLang="zh-CN" sz="24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x</a:t>
            </a:r>
            <a:r>
              <a:rPr lang="en-US" altLang="zh-CN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 </a:t>
            </a:r>
            <a:r>
              <a:rPr lang="en-US" altLang="zh-CN" sz="2400" b="1" baseline="-2500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j</a:t>
            </a:r>
            <a:r>
              <a:rPr lang="zh-CN" altLang="en-US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到</a:t>
            </a:r>
            <a:r>
              <a:rPr lang="en-US" altLang="zh-CN" sz="24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x</a:t>
            </a:r>
            <a:r>
              <a:rPr lang="en-US" altLang="zh-CN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 </a:t>
            </a:r>
            <a:r>
              <a:rPr lang="en-US" altLang="zh-CN" sz="2400" b="1" baseline="-2500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k</a:t>
            </a:r>
            <a:r>
              <a:rPr lang="zh-CN" altLang="en-US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有边</a:t>
            </a:r>
            <a:r>
              <a:rPr lang="en-US" altLang="zh-CN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,</a:t>
            </a:r>
            <a:r>
              <a:rPr lang="zh-CN" altLang="en-US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则 </a:t>
            </a:r>
            <a:r>
              <a:rPr lang="en-US" altLang="zh-CN" sz="24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x</a:t>
            </a:r>
            <a:r>
              <a:rPr lang="en-US" altLang="zh-CN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 </a:t>
            </a:r>
            <a:r>
              <a:rPr lang="en-US" altLang="zh-CN" sz="2400" b="1" baseline="-25000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i</a:t>
            </a:r>
            <a:r>
              <a:rPr lang="zh-CN" altLang="en-US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到</a:t>
            </a:r>
            <a:r>
              <a:rPr lang="en-US" altLang="zh-CN" sz="2400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x</a:t>
            </a:r>
            <a:r>
              <a:rPr lang="en-US" altLang="zh-CN" sz="2400" b="1" baseline="-25000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k</a:t>
            </a:r>
            <a:r>
              <a:rPr lang="zh-CN" altLang="en-US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有边）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37605" y="3718477"/>
            <a:ext cx="8351837" cy="2529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3200" b="1" dirty="0">
                <a:solidFill>
                  <a:srgbClr val="00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实例：</a:t>
            </a:r>
            <a:endParaRPr lang="zh-CN" altLang="en-US" sz="3200" b="1" i="1" dirty="0">
              <a:solidFill>
                <a:srgbClr val="00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charset="-122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b="1" i="1" dirty="0">
                <a:solidFill>
                  <a:schemeClr val="bg2"/>
                </a:solidFill>
                <a:ea typeface="宋体" charset="-122"/>
              </a:rPr>
              <a:t>     </a:t>
            </a:r>
            <a:r>
              <a:rPr lang="en-US" altLang="zh-CN" b="1" i="1" dirty="0">
                <a:solidFill>
                  <a:schemeClr val="bg2"/>
                </a:solidFill>
                <a:ea typeface="宋体" charset="-122"/>
              </a:rPr>
              <a:t>A</a:t>
            </a:r>
            <a:r>
              <a:rPr lang="zh-CN" altLang="en-US" b="1" dirty="0">
                <a:solidFill>
                  <a:schemeClr val="bg2"/>
                </a:solidFill>
                <a:ea typeface="宋体" charset="-122"/>
              </a:rPr>
              <a:t>上的</a:t>
            </a:r>
            <a:r>
              <a:rPr lang="zh-CN" altLang="en-US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全域关系</a:t>
            </a:r>
            <a:r>
              <a:rPr lang="en-US" altLang="zh-CN" b="1" i="1" dirty="0">
                <a:solidFill>
                  <a:schemeClr val="bg2"/>
                </a:solidFill>
                <a:ea typeface="宋体" charset="-122"/>
              </a:rPr>
              <a:t>E</a:t>
            </a:r>
            <a:r>
              <a:rPr lang="en-US" altLang="zh-CN" b="1" i="1" baseline="-25000" dirty="0">
                <a:solidFill>
                  <a:schemeClr val="bg2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bg2"/>
                </a:solidFill>
                <a:ea typeface="宋体" charset="-122"/>
              </a:rPr>
              <a:t>,</a:t>
            </a:r>
            <a:r>
              <a:rPr lang="zh-CN" altLang="en-US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恒等关系</a:t>
            </a:r>
            <a:r>
              <a:rPr lang="en-US" altLang="zh-CN" b="1" i="1" dirty="0">
                <a:solidFill>
                  <a:schemeClr val="bg2"/>
                </a:solidFill>
                <a:ea typeface="宋体" charset="-122"/>
              </a:rPr>
              <a:t>I</a:t>
            </a:r>
            <a:r>
              <a:rPr lang="en-US" altLang="zh-CN" b="1" i="1" baseline="-25000" dirty="0">
                <a:solidFill>
                  <a:schemeClr val="bg2"/>
                </a:solidFill>
                <a:ea typeface="宋体" charset="-122"/>
              </a:rPr>
              <a:t>A</a:t>
            </a:r>
            <a:r>
              <a:rPr lang="zh-CN" altLang="en-US" b="1" dirty="0">
                <a:solidFill>
                  <a:schemeClr val="bg2"/>
                </a:solidFill>
                <a:ea typeface="宋体" charset="-122"/>
              </a:rPr>
              <a:t>和</a:t>
            </a:r>
            <a:r>
              <a:rPr lang="zh-CN" altLang="en-US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空关系</a:t>
            </a:r>
            <a:r>
              <a:rPr lang="zh-CN" altLang="en-US" b="1" dirty="0">
                <a:solidFill>
                  <a:schemeClr val="bg2"/>
                </a:solidFill>
                <a:ea typeface="宋体" charset="-122"/>
                <a:sym typeface="Symbol" pitchFamily="18" charset="2"/>
              </a:rPr>
              <a:t></a:t>
            </a:r>
            <a:endParaRPr lang="zh-CN" altLang="en-US" b="1" dirty="0">
              <a:solidFill>
                <a:schemeClr val="bg2"/>
              </a:solidFill>
              <a:ea typeface="宋体" charset="-122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b="1" dirty="0">
                <a:solidFill>
                  <a:schemeClr val="bg2"/>
                </a:solidFill>
                <a:ea typeface="宋体" charset="-122"/>
              </a:rPr>
              <a:t>     </a:t>
            </a:r>
            <a:r>
              <a:rPr lang="zh-CN" altLang="en-US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小于等于关系</a:t>
            </a:r>
            <a:r>
              <a:rPr lang="en-US" altLang="zh-CN" b="1" dirty="0">
                <a:solidFill>
                  <a:schemeClr val="bg2"/>
                </a:solidFill>
                <a:ea typeface="宋体" charset="-122"/>
              </a:rPr>
              <a:t>, </a:t>
            </a:r>
            <a:r>
              <a:rPr lang="zh-CN" altLang="en-US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小于关系</a:t>
            </a:r>
            <a:r>
              <a:rPr lang="zh-CN" altLang="en-US" b="1" dirty="0">
                <a:solidFill>
                  <a:schemeClr val="bg2"/>
                </a:solidFill>
                <a:ea typeface="宋体" charset="-122"/>
              </a:rPr>
              <a:t>，</a:t>
            </a:r>
            <a:r>
              <a:rPr lang="zh-CN" altLang="en-US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整除关系</a:t>
            </a:r>
            <a:r>
              <a:rPr lang="zh-CN" altLang="en-US" b="1" dirty="0">
                <a:solidFill>
                  <a:schemeClr val="bg2"/>
                </a:solidFill>
                <a:ea typeface="宋体" charset="-122"/>
              </a:rPr>
              <a:t>，</a:t>
            </a:r>
            <a:r>
              <a:rPr lang="zh-CN" altLang="en-US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包含关系</a:t>
            </a:r>
            <a:r>
              <a:rPr lang="zh-CN" altLang="en-US" b="1" dirty="0">
                <a:solidFill>
                  <a:schemeClr val="bg2"/>
                </a:solidFill>
                <a:ea typeface="宋体" charset="-122"/>
              </a:rPr>
              <a:t>，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b="1" dirty="0">
                <a:solidFill>
                  <a:schemeClr val="bg2"/>
                </a:solidFill>
                <a:ea typeface="宋体" charset="-122"/>
              </a:rPr>
              <a:t>     </a:t>
            </a:r>
            <a:r>
              <a:rPr lang="zh-CN" altLang="en-US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真包含关系</a:t>
            </a:r>
            <a:r>
              <a:rPr lang="zh-CN" altLang="en-US" b="1" dirty="0">
                <a:solidFill>
                  <a:schemeClr val="bg2"/>
                </a:solidFill>
                <a:ea typeface="宋体" charset="-122"/>
              </a:rPr>
              <a:t/>
            </a:r>
            <a:br>
              <a:rPr lang="zh-CN" altLang="en-US" b="1" dirty="0">
                <a:solidFill>
                  <a:schemeClr val="bg2"/>
                </a:solidFill>
                <a:ea typeface="宋体" charset="-122"/>
              </a:rPr>
            </a:br>
            <a:endParaRPr lang="zh-CN" altLang="en-US" b="1" dirty="0">
              <a:solidFill>
                <a:schemeClr val="bg2"/>
              </a:solidFill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8EBF4E-2CDE-49CA-8E85-05C4FE4C308A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>
          <a:xfrm>
            <a:off x="438944" y="188640"/>
            <a:ext cx="8002588" cy="1100138"/>
          </a:xfrm>
        </p:spPr>
        <p:txBody>
          <a:bodyPr/>
          <a:lstStyle/>
          <a:p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0907" y="1322126"/>
            <a:ext cx="8435280" cy="2168525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3 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{1,2,3},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上的关系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其中</a:t>
            </a:r>
            <a:b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{&lt;1,1&gt;,&lt;2,2&gt;}</a:t>
            </a:r>
            <a:b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{&lt;1,2&gt;,&lt;2,3&gt;}</a:t>
            </a:r>
            <a:b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{&lt;1,3&gt;}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1844" name="Text Box 4"/>
          <p:cNvSpPr txBox="1">
            <a:spLocks noChangeArrowheads="1"/>
          </p:cNvSpPr>
          <p:nvPr/>
        </p:nvSpPr>
        <p:spPr bwMode="auto">
          <a:xfrm>
            <a:off x="445007" y="4046527"/>
            <a:ext cx="7200900" cy="1303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解：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上的传递关系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不是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上的传递关系</a:t>
            </a:r>
            <a:endParaRPr lang="zh-CN" altLang="en-US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C5819B-654E-47FF-AF2F-731CF50C7481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1880"/>
            <a:ext cx="7775575" cy="1008063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关系性质的充要条件</a:t>
            </a:r>
          </a:p>
        </p:txBody>
      </p:sp>
      <p:sp>
        <p:nvSpPr>
          <p:cNvPr id="86020" name="Text Box 3"/>
          <p:cNvSpPr txBox="1">
            <a:spLocks noChangeArrowheads="1"/>
          </p:cNvSpPr>
          <p:nvPr/>
        </p:nvSpPr>
        <p:spPr bwMode="auto">
          <a:xfrm>
            <a:off x="554038" y="1340768"/>
            <a:ext cx="7581900" cy="3637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上的关系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则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Char char="u"/>
            </a:pP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</a:rPr>
              <a:t>在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上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自反</a:t>
            </a:r>
            <a:r>
              <a:rPr lang="zh-CN" altLang="en-US" b="1" dirty="0">
                <a:latin typeface="Times New Roman" panose="02020603050405020304" pitchFamily="18" charset="0"/>
              </a:rPr>
              <a:t>当且仅当   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Char char="u"/>
            </a:pP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</a:rPr>
              <a:t>在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上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反自反</a:t>
            </a:r>
            <a:r>
              <a:rPr lang="zh-CN" altLang="en-US" b="1" dirty="0">
                <a:latin typeface="Times New Roman" panose="02020603050405020304" pitchFamily="18" charset="0"/>
              </a:rPr>
              <a:t>当且仅当  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∩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Char char="u"/>
            </a:pP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</a:rPr>
              <a:t>在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上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对称</a:t>
            </a:r>
            <a:r>
              <a:rPr lang="zh-CN" altLang="en-US" b="1" dirty="0">
                <a:latin typeface="Times New Roman" panose="02020603050405020304" pitchFamily="18" charset="0"/>
              </a:rPr>
              <a:t>当且仅当   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b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Char char="u"/>
            </a:pP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</a:rPr>
              <a:t>在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上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反对称</a:t>
            </a:r>
            <a:r>
              <a:rPr lang="zh-CN" altLang="en-US" b="1" dirty="0">
                <a:latin typeface="Times New Roman" panose="02020603050405020304" pitchFamily="18" charset="0"/>
              </a:rPr>
              <a:t>当且仅当   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∩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b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Char char="u"/>
            </a:pP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</a:rPr>
              <a:t>在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上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传递</a:t>
            </a:r>
            <a:r>
              <a:rPr lang="zh-CN" altLang="en-US" b="1" dirty="0">
                <a:latin typeface="Times New Roman" panose="02020603050405020304" pitchFamily="18" charset="0"/>
              </a:rPr>
              <a:t>当且仅当   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030868C-AE6F-4D35-B432-9DDA1D025658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7921625" cy="792163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关系性质判别</a:t>
            </a:r>
          </a:p>
        </p:txBody>
      </p:sp>
      <p:graphicFrame>
        <p:nvGraphicFramePr>
          <p:cNvPr id="292905" name="Group 4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4820897"/>
              </p:ext>
            </p:extLst>
          </p:nvPr>
        </p:nvGraphicFramePr>
        <p:xfrm>
          <a:off x="323528" y="1492250"/>
          <a:ext cx="8640763" cy="4389437"/>
        </p:xfrm>
        <a:graphic>
          <a:graphicData uri="http://schemas.openxmlformats.org/drawingml/2006/table">
            <a:tbl>
              <a:tblPr/>
              <a:tblGrid>
                <a:gridCol w="1152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80022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655763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58432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5723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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自反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反自反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对称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反对称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传递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D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723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表达式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E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400" b="1" i="1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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R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E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400" b="1" i="1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=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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E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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  <a:endParaRPr kumimoji="0" lang="en-US" altLang="zh-CN" sz="2400" b="1" i="0" u="none" strike="noStrike" cap="none" normalizeH="0" baseline="30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E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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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I</a:t>
                      </a:r>
                      <a:r>
                        <a:rPr kumimoji="0" lang="en-US" altLang="zh-CN" sz="2400" b="1" i="1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E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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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R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E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55459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关系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矩阵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主对角线元素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全是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主对角线元素全是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矩阵是对称矩阵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若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4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ij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＝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1,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且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≠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j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,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则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4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ji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＝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对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中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所在位置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中相应位置都是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2037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关系图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0FD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每个顶点都有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环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0FD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每个顶点都没有环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0FD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如果两个顶点之间有边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,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是一对方向相反的边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无单边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)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0FD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如果两点之间有边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,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是一条有向边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无双向边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0FD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如果顶点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i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到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1" i="1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j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有边，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1" i="1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j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到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k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有边</a:t>
                      </a:r>
                      <a:r>
                        <a:rPr kumimoji="0" lang="zh-CN" altLang="en-US" sz="20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,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则从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到 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k</a:t>
                      </a:r>
                      <a:r>
                        <a:rPr kumimoji="0" lang="en-US" altLang="zh-CN" sz="20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有边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0FDC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759575" y="61500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A8D9D3-B3DB-4815-9ED6-0EE8AC77A292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>
          <a:xfrm>
            <a:off x="382166" y="-61912"/>
            <a:ext cx="8229600" cy="1371600"/>
          </a:xfrm>
        </p:spPr>
        <p:txBody>
          <a:bodyPr/>
          <a:lstStyle/>
          <a:p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90116" name="Text Box 3"/>
          <p:cNvSpPr txBox="1">
            <a:spLocks noChangeArrowheads="1"/>
          </p:cNvSpPr>
          <p:nvPr/>
        </p:nvSpPr>
        <p:spPr bwMode="auto">
          <a:xfrm>
            <a:off x="382166" y="1407318"/>
            <a:ext cx="7920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8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判断下图中关系的性质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并说明理由。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3892" name="Text Box 4"/>
          <p:cNvSpPr txBox="1">
            <a:spLocks noChangeArrowheads="1"/>
          </p:cNvSpPr>
          <p:nvPr/>
        </p:nvSpPr>
        <p:spPr bwMode="auto">
          <a:xfrm>
            <a:off x="755650" y="5013325"/>
            <a:ext cx="7993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不自反，反自反；不对称，反对称；传递。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9011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115"/>
          <a:stretch>
            <a:fillRect/>
          </a:stretch>
        </p:blipFill>
        <p:spPr bwMode="auto">
          <a:xfrm>
            <a:off x="827088" y="2060575"/>
            <a:ext cx="7408862" cy="195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3894" name="Text Box 6"/>
          <p:cNvSpPr txBox="1">
            <a:spLocks noChangeArrowheads="1"/>
          </p:cNvSpPr>
          <p:nvPr/>
        </p:nvSpPr>
        <p:spPr bwMode="auto">
          <a:xfrm>
            <a:off x="755650" y="4313238"/>
            <a:ext cx="8137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(1)</a:t>
            </a:r>
            <a:r>
              <a:rPr lang="zh-CN" altLang="en-US" sz="2800" b="1" dirty="0">
                <a:solidFill>
                  <a:schemeClr val="bg2"/>
                </a:solidFill>
              </a:rPr>
              <a:t>不自反也不反自反；对称</a:t>
            </a:r>
            <a:r>
              <a:rPr lang="en-US" altLang="zh-CN" sz="2800" b="1" dirty="0">
                <a:solidFill>
                  <a:schemeClr val="bg2"/>
                </a:solidFill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</a:rPr>
              <a:t>不反对称；不传递。</a:t>
            </a:r>
            <a:endParaRPr lang="en-US" altLang="zh-CN" sz="2800" dirty="0">
              <a:solidFill>
                <a:schemeClr val="bg2"/>
              </a:solidFill>
            </a:endParaRPr>
          </a:p>
        </p:txBody>
      </p:sp>
      <p:sp>
        <p:nvSpPr>
          <p:cNvPr id="293895" name="Text Box 7"/>
          <p:cNvSpPr txBox="1">
            <a:spLocks noChangeArrowheads="1"/>
          </p:cNvSpPr>
          <p:nvPr/>
        </p:nvSpPr>
        <p:spPr bwMode="auto">
          <a:xfrm>
            <a:off x="755650" y="5805488"/>
            <a:ext cx="8064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(3) </a:t>
            </a:r>
            <a:r>
              <a:rPr lang="zh-CN" altLang="en-US" sz="2800" b="1" dirty="0">
                <a:solidFill>
                  <a:schemeClr val="bg2"/>
                </a:solidFill>
              </a:rPr>
              <a:t>自反，不反自反；不对称，反对称；不传递。</a:t>
            </a:r>
            <a:r>
              <a:rPr lang="en-US" altLang="zh-CN" sz="2800" b="1" dirty="0">
                <a:solidFill>
                  <a:schemeClr val="bg2"/>
                </a:solidFill>
              </a:rPr>
              <a:t> 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3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3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3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3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2" grpId="0"/>
      <p:bldP spid="293894" grpId="0"/>
      <p:bldP spid="29389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12C009-633D-485D-9489-E61B7C23E0D9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title"/>
          </p:nvPr>
        </p:nvSpPr>
        <p:spPr>
          <a:xfrm>
            <a:off x="411163" y="-26988"/>
            <a:ext cx="8229600" cy="1371601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自反性证明</a:t>
            </a:r>
          </a:p>
        </p:txBody>
      </p:sp>
      <p:sp>
        <p:nvSpPr>
          <p:cNvPr id="91140" name="Text Box 4"/>
          <p:cNvSpPr txBox="1">
            <a:spLocks noChangeArrowheads="1"/>
          </p:cNvSpPr>
          <p:nvPr/>
        </p:nvSpPr>
        <p:spPr bwMode="auto">
          <a:xfrm>
            <a:off x="611560" y="1519238"/>
            <a:ext cx="7381875" cy="1825625"/>
          </a:xfrm>
          <a:prstGeom prst="rect">
            <a:avLst/>
          </a:prstGeom>
          <a:solidFill>
            <a:srgbClr val="CCFFCC"/>
          </a:solidFill>
          <a:ln w="25400">
            <a:solidFill>
              <a:srgbClr val="0033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证明模式  证明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在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上自反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任取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endParaRPr lang="en-US" altLang="zh-CN" sz="2800" b="1" i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   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Times New Roman" panose="02020603050405020304" pitchFamily="18" charset="0"/>
              </a:rPr>
              <a:t> ……………..….…….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dirty="0">
                <a:latin typeface="Times New Roman" panose="02020603050405020304" pitchFamily="18" charset="0"/>
              </a:rPr>
              <a:t> 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前提                 推理过程                         结论</a:t>
            </a:r>
          </a:p>
        </p:txBody>
      </p:sp>
      <p:sp>
        <p:nvSpPr>
          <p:cNvPr id="91141" name="Text Box 5"/>
          <p:cNvSpPr txBox="1">
            <a:spLocks noChangeArrowheads="1"/>
          </p:cNvSpPr>
          <p:nvPr/>
        </p:nvSpPr>
        <p:spPr bwMode="auto">
          <a:xfrm>
            <a:off x="565944" y="3645102"/>
            <a:ext cx="7920037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4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证明若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则</a:t>
            </a:r>
            <a:r>
              <a:rPr lang="zh-CN" altLang="en-US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在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上自反。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91630" y="4254500"/>
            <a:ext cx="7920037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证：任取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 </a:t>
            </a:r>
            <a:r>
              <a:rPr lang="en-US" altLang="zh-CN" sz="2800" b="1" dirty="0">
                <a:solidFill>
                  <a:schemeClr val="bg2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solidFill>
                  <a:schemeClr val="bg2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因此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在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上是自反的。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52D0B46-DD3C-4888-A0C3-674FC5046A9A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064500" cy="11525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对称性证明</a:t>
            </a:r>
          </a:p>
        </p:txBody>
      </p:sp>
      <p:sp>
        <p:nvSpPr>
          <p:cNvPr id="93188" name="Text Box 5"/>
          <p:cNvSpPr txBox="1">
            <a:spLocks noChangeArrowheads="1"/>
          </p:cNvSpPr>
          <p:nvPr/>
        </p:nvSpPr>
        <p:spPr bwMode="auto">
          <a:xfrm>
            <a:off x="539750" y="1526382"/>
            <a:ext cx="7921625" cy="1828800"/>
          </a:xfrm>
          <a:prstGeom prst="rect">
            <a:avLst/>
          </a:prstGeom>
          <a:solidFill>
            <a:srgbClr val="CCFFCC"/>
          </a:solidFill>
          <a:ln w="28575">
            <a:solidFill>
              <a:srgbClr val="0033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证明模式  证明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在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上对称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任取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 </a:t>
            </a:r>
            <a:endParaRPr lang="en-US" altLang="zh-CN" sz="2800" b="1" i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    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Times New Roman" panose="02020603050405020304" pitchFamily="18" charset="0"/>
              </a:rPr>
              <a:t>……………..….…….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dirty="0">
                <a:latin typeface="Times New Roman" panose="02020603050405020304" pitchFamily="18" charset="0"/>
              </a:rPr>
              <a:t> 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前提                   推理过程                       结论</a:t>
            </a:r>
          </a:p>
        </p:txBody>
      </p:sp>
      <p:sp>
        <p:nvSpPr>
          <p:cNvPr id="93189" name="Text Box 6"/>
          <p:cNvSpPr txBox="1">
            <a:spLocks noChangeArrowheads="1"/>
          </p:cNvSpPr>
          <p:nvPr/>
        </p:nvSpPr>
        <p:spPr bwMode="auto">
          <a:xfrm>
            <a:off x="468313" y="3548758"/>
            <a:ext cx="7488237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5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证明若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则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在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上对称。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68313" y="4161434"/>
            <a:ext cx="7488237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证：任取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 </a:t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x,y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solidFill>
                  <a:schemeClr val="bg2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solidFill>
                  <a:schemeClr val="bg2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baseline="30000" dirty="0">
                <a:solidFill>
                  <a:schemeClr val="bg2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bg2"/>
                </a:solidFill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x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solidFill>
                  <a:schemeClr val="bg2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  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因此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在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上是对称的。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111596A-9BD7-48F7-B882-7C4A51A25FF6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title"/>
          </p:nvPr>
        </p:nvSpPr>
        <p:spPr>
          <a:xfrm>
            <a:off x="323850" y="188913"/>
            <a:ext cx="8208963" cy="1008062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反对称性证明</a:t>
            </a:r>
          </a:p>
        </p:txBody>
      </p:sp>
      <p:sp>
        <p:nvSpPr>
          <p:cNvPr id="95236" name="Text Box 4"/>
          <p:cNvSpPr txBox="1">
            <a:spLocks noChangeArrowheads="1"/>
          </p:cNvSpPr>
          <p:nvPr/>
        </p:nvSpPr>
        <p:spPr bwMode="auto">
          <a:xfrm>
            <a:off x="950913" y="170656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800" b="1"/>
          </a:p>
        </p:txBody>
      </p:sp>
      <p:sp>
        <p:nvSpPr>
          <p:cNvPr id="95237" name="Text Box 5"/>
          <p:cNvSpPr txBox="1">
            <a:spLocks noChangeArrowheads="1"/>
          </p:cNvSpPr>
          <p:nvPr/>
        </p:nvSpPr>
        <p:spPr bwMode="auto">
          <a:xfrm>
            <a:off x="440060" y="1443038"/>
            <a:ext cx="7723188" cy="1825625"/>
          </a:xfrm>
          <a:prstGeom prst="rect">
            <a:avLst/>
          </a:prstGeom>
          <a:solidFill>
            <a:srgbClr val="CCFFCC"/>
          </a:solidFill>
          <a:ln w="25400">
            <a:solidFill>
              <a:srgbClr val="0033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证明模式  证明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zh-CN" altLang="en-US" sz="2800" b="1">
                <a:latin typeface="Times New Roman" panose="02020603050405020304" pitchFamily="18" charset="0"/>
              </a:rPr>
              <a:t>在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</a:rPr>
              <a:t>上反对称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 任取</a:t>
            </a:r>
            <a:r>
              <a:rPr lang="en-US" altLang="zh-CN" sz="2800" b="1">
                <a:latin typeface="Times New Roman" panose="02020603050405020304" pitchFamily="18" charset="0"/>
              </a:rPr>
              <a:t>&lt;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</a:rPr>
              <a:t>&gt; </a:t>
            </a:r>
            <a:endParaRPr lang="en-US" altLang="zh-CN" sz="2800" b="1" i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</a:rPr>
              <a:t>     &lt;x,y&gt;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>
                <a:latin typeface="Times New Roman" panose="02020603050405020304" pitchFamily="18" charset="0"/>
              </a:rPr>
              <a:t>&lt;</a:t>
            </a:r>
            <a:r>
              <a:rPr lang="en-US" altLang="zh-CN" sz="2800" b="1" i="1">
                <a:latin typeface="Times New Roman" panose="02020603050405020304" pitchFamily="18" charset="0"/>
              </a:rPr>
              <a:t>y,x</a:t>
            </a:r>
            <a:r>
              <a:rPr lang="en-US" altLang="zh-CN" sz="2800" b="1">
                <a:latin typeface="Times New Roman" panose="02020603050405020304" pitchFamily="18" charset="0"/>
              </a:rPr>
              <a:t>&gt;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/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>
                <a:latin typeface="Times New Roman" panose="02020603050405020304" pitchFamily="18" charset="0"/>
              </a:rPr>
              <a:t> ………..……….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x=y 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           </a:t>
            </a:r>
            <a:r>
              <a:rPr lang="zh-CN" altLang="en-US" sz="2800" b="1">
                <a:latin typeface="Times New Roman" panose="02020603050405020304" pitchFamily="18" charset="0"/>
              </a:rPr>
              <a:t>前提                      推理过程            结论</a:t>
            </a:r>
          </a:p>
        </p:txBody>
      </p:sp>
      <p:sp>
        <p:nvSpPr>
          <p:cNvPr id="95238" name="Text Box 6"/>
          <p:cNvSpPr txBox="1">
            <a:spLocks noChangeArrowheads="1"/>
          </p:cNvSpPr>
          <p:nvPr/>
        </p:nvSpPr>
        <p:spPr bwMode="auto">
          <a:xfrm>
            <a:off x="331986" y="3453607"/>
            <a:ext cx="828040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6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证明若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∩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sz="2800" b="1" dirty="0">
                <a:solidFill>
                  <a:schemeClr val="bg2"/>
                </a:solidFill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则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在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上反对称。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06400" y="4013994"/>
            <a:ext cx="8280400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证：任取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 </a:t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x,y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solidFill>
                  <a:schemeClr val="bg2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y, 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x,y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baseline="30000" dirty="0">
                <a:solidFill>
                  <a:schemeClr val="bg2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bg2"/>
                </a:solidFill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</a:rPr>
              <a:t>     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∩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baseline="30000" dirty="0">
                <a:solidFill>
                  <a:schemeClr val="bg2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bg2"/>
                </a:solidFill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solidFill>
                  <a:schemeClr val="bg2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x=y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因此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在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上是反对称的。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EE1DC9-CA8B-4866-93E5-75FB39C5AFFD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title"/>
          </p:nvPr>
        </p:nvSpPr>
        <p:spPr>
          <a:xfrm>
            <a:off x="397595" y="148754"/>
            <a:ext cx="8207375" cy="1008063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传递性证明</a:t>
            </a:r>
          </a:p>
        </p:txBody>
      </p:sp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950913" y="170656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800" b="1"/>
          </a:p>
        </p:txBody>
      </p:sp>
      <p:sp>
        <p:nvSpPr>
          <p:cNvPr id="97285" name="Text Box 5"/>
          <p:cNvSpPr txBox="1">
            <a:spLocks noChangeArrowheads="1"/>
          </p:cNvSpPr>
          <p:nvPr/>
        </p:nvSpPr>
        <p:spPr bwMode="auto">
          <a:xfrm>
            <a:off x="477565" y="1414463"/>
            <a:ext cx="7723187" cy="1825625"/>
          </a:xfrm>
          <a:prstGeom prst="rect">
            <a:avLst/>
          </a:prstGeom>
          <a:solidFill>
            <a:srgbClr val="CCFFCC"/>
          </a:solidFill>
          <a:ln w="25400">
            <a:solidFill>
              <a:srgbClr val="0033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证明模式  证明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在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上传递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任取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y, z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 </a:t>
            </a:r>
            <a:endParaRPr lang="en-US" altLang="zh-CN" sz="2800" b="1" i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    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y, z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Times New Roman" panose="02020603050405020304" pitchFamily="18" charset="0"/>
              </a:rPr>
              <a:t>…..……….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dirty="0">
                <a:latin typeface="Times New Roman" panose="02020603050405020304" pitchFamily="18" charset="0"/>
              </a:rPr>
              <a:t> 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   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  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前提                  推理过程             结论</a:t>
            </a:r>
          </a:p>
        </p:txBody>
      </p:sp>
      <p:sp>
        <p:nvSpPr>
          <p:cNvPr id="97286" name="Text Box 6"/>
          <p:cNvSpPr txBox="1">
            <a:spLocks noChangeArrowheads="1"/>
          </p:cNvSpPr>
          <p:nvPr/>
        </p:nvSpPr>
        <p:spPr bwMode="auto">
          <a:xfrm>
            <a:off x="473125" y="3441824"/>
            <a:ext cx="8137525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7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证明若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则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在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上传递。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549275" y="4027860"/>
            <a:ext cx="8137525" cy="164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证：任取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y, 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 </a:t>
            </a:r>
            <a:endParaRPr lang="en-US" altLang="zh-CN" sz="2800" b="1" i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x,y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solidFill>
                  <a:schemeClr val="bg2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y,z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solidFill>
                  <a:schemeClr val="bg2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solidFill>
                  <a:schemeClr val="bg2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    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因此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在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上是传递的。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7B0D4B-5219-46FC-BDC4-7B9751CB2920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>
          <a:xfrm>
            <a:off x="310778" y="163898"/>
            <a:ext cx="8002588" cy="1100138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运算与性质的关系</a:t>
            </a:r>
          </a:p>
        </p:txBody>
      </p:sp>
      <p:grpSp>
        <p:nvGrpSpPr>
          <p:cNvPr id="99332" name="Group 73"/>
          <p:cNvGrpSpPr>
            <a:grpSpLocks/>
          </p:cNvGrpSpPr>
          <p:nvPr/>
        </p:nvGrpSpPr>
        <p:grpSpPr bwMode="auto">
          <a:xfrm>
            <a:off x="379413" y="1484784"/>
            <a:ext cx="8075613" cy="3527425"/>
            <a:chOff x="330" y="1480"/>
            <a:chExt cx="5087" cy="2222"/>
          </a:xfrm>
        </p:grpSpPr>
        <p:sp>
          <p:nvSpPr>
            <p:cNvPr id="99333" name="Rectangle 4"/>
            <p:cNvSpPr>
              <a:spLocks noChangeArrowheads="1"/>
            </p:cNvSpPr>
            <p:nvPr/>
          </p:nvSpPr>
          <p:spPr bwMode="auto">
            <a:xfrm>
              <a:off x="4590" y="3303"/>
              <a:ext cx="827" cy="399"/>
            </a:xfrm>
            <a:prstGeom prst="rect">
              <a:avLst/>
            </a:prstGeom>
            <a:solidFill>
              <a:srgbClr val="E3FA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34" name="Rectangle 5"/>
            <p:cNvSpPr>
              <a:spLocks noChangeArrowheads="1"/>
            </p:cNvSpPr>
            <p:nvPr/>
          </p:nvSpPr>
          <p:spPr bwMode="auto">
            <a:xfrm>
              <a:off x="3681" y="3303"/>
              <a:ext cx="909" cy="399"/>
            </a:xfrm>
            <a:prstGeom prst="rect">
              <a:avLst/>
            </a:prstGeom>
            <a:solidFill>
              <a:srgbClr val="E3FA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35" name="Rectangle 6"/>
            <p:cNvSpPr>
              <a:spLocks noChangeArrowheads="1"/>
            </p:cNvSpPr>
            <p:nvPr/>
          </p:nvSpPr>
          <p:spPr bwMode="auto">
            <a:xfrm>
              <a:off x="2881" y="3303"/>
              <a:ext cx="800" cy="399"/>
            </a:xfrm>
            <a:prstGeom prst="rect">
              <a:avLst/>
            </a:prstGeom>
            <a:solidFill>
              <a:srgbClr val="E3FA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36" name="Rectangle 7"/>
            <p:cNvSpPr>
              <a:spLocks noChangeArrowheads="1"/>
            </p:cNvSpPr>
            <p:nvPr/>
          </p:nvSpPr>
          <p:spPr bwMode="auto">
            <a:xfrm>
              <a:off x="1942" y="3303"/>
              <a:ext cx="939" cy="399"/>
            </a:xfrm>
            <a:prstGeom prst="rect">
              <a:avLst/>
            </a:prstGeom>
            <a:solidFill>
              <a:srgbClr val="E3FA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37" name="Rectangle 8"/>
            <p:cNvSpPr>
              <a:spLocks noChangeArrowheads="1"/>
            </p:cNvSpPr>
            <p:nvPr/>
          </p:nvSpPr>
          <p:spPr bwMode="auto">
            <a:xfrm>
              <a:off x="1170" y="3303"/>
              <a:ext cx="772" cy="399"/>
            </a:xfrm>
            <a:prstGeom prst="rect">
              <a:avLst/>
            </a:prstGeom>
            <a:solidFill>
              <a:srgbClr val="FFF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38" name="Rectangle 9"/>
            <p:cNvSpPr>
              <a:spLocks noChangeArrowheads="1"/>
            </p:cNvSpPr>
            <p:nvPr/>
          </p:nvSpPr>
          <p:spPr bwMode="auto">
            <a:xfrm>
              <a:off x="340" y="3303"/>
              <a:ext cx="830" cy="399"/>
            </a:xfrm>
            <a:prstGeom prst="rect">
              <a:avLst/>
            </a:prstGeom>
            <a:solidFill>
              <a:srgbClr val="E2DF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400" b="1" baseline="-300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∘</a:t>
              </a:r>
              <a:r>
                <a:rPr lang="en-US" altLang="zh-CN" sz="2400" b="1" i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400" b="1" baseline="-300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99339" name="Rectangle 10"/>
            <p:cNvSpPr>
              <a:spLocks noChangeArrowheads="1"/>
            </p:cNvSpPr>
            <p:nvPr/>
          </p:nvSpPr>
          <p:spPr bwMode="auto">
            <a:xfrm>
              <a:off x="4590" y="2942"/>
              <a:ext cx="827" cy="361"/>
            </a:xfrm>
            <a:prstGeom prst="rect">
              <a:avLst/>
            </a:prstGeom>
            <a:solidFill>
              <a:srgbClr val="E3FA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40" name="Rectangle 11"/>
            <p:cNvSpPr>
              <a:spLocks noChangeArrowheads="1"/>
            </p:cNvSpPr>
            <p:nvPr/>
          </p:nvSpPr>
          <p:spPr bwMode="auto">
            <a:xfrm>
              <a:off x="3681" y="2942"/>
              <a:ext cx="909" cy="361"/>
            </a:xfrm>
            <a:prstGeom prst="rect">
              <a:avLst/>
            </a:prstGeom>
            <a:solidFill>
              <a:srgbClr val="FFF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41" name="Rectangle 12"/>
            <p:cNvSpPr>
              <a:spLocks noChangeArrowheads="1"/>
            </p:cNvSpPr>
            <p:nvPr/>
          </p:nvSpPr>
          <p:spPr bwMode="auto">
            <a:xfrm>
              <a:off x="2881" y="2942"/>
              <a:ext cx="800" cy="361"/>
            </a:xfrm>
            <a:prstGeom prst="rect">
              <a:avLst/>
            </a:prstGeom>
            <a:solidFill>
              <a:srgbClr val="FFF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42" name="Rectangle 13"/>
            <p:cNvSpPr>
              <a:spLocks noChangeArrowheads="1"/>
            </p:cNvSpPr>
            <p:nvPr/>
          </p:nvSpPr>
          <p:spPr bwMode="auto">
            <a:xfrm>
              <a:off x="1942" y="2942"/>
              <a:ext cx="939" cy="361"/>
            </a:xfrm>
            <a:prstGeom prst="rect">
              <a:avLst/>
            </a:prstGeom>
            <a:solidFill>
              <a:srgbClr val="FFF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43" name="Rectangle 14"/>
            <p:cNvSpPr>
              <a:spLocks noChangeArrowheads="1"/>
            </p:cNvSpPr>
            <p:nvPr/>
          </p:nvSpPr>
          <p:spPr bwMode="auto">
            <a:xfrm>
              <a:off x="1170" y="2942"/>
              <a:ext cx="772" cy="361"/>
            </a:xfrm>
            <a:prstGeom prst="rect">
              <a:avLst/>
            </a:prstGeom>
            <a:solidFill>
              <a:srgbClr val="E3FA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44" name="Rectangle 15"/>
            <p:cNvSpPr>
              <a:spLocks noChangeArrowheads="1"/>
            </p:cNvSpPr>
            <p:nvPr/>
          </p:nvSpPr>
          <p:spPr bwMode="auto">
            <a:xfrm>
              <a:off x="340" y="2942"/>
              <a:ext cx="830" cy="361"/>
            </a:xfrm>
            <a:prstGeom prst="rect">
              <a:avLst/>
            </a:prstGeom>
            <a:solidFill>
              <a:srgbClr val="E2DF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400" b="1" baseline="-300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400" b="1" i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400" b="1" baseline="-300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r>
                <a:rPr lang="en-US" altLang="zh-CN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</a:p>
          </p:txBody>
        </p:sp>
        <p:sp>
          <p:nvSpPr>
            <p:cNvPr id="99345" name="Rectangle 16"/>
            <p:cNvSpPr>
              <a:spLocks noChangeArrowheads="1"/>
            </p:cNvSpPr>
            <p:nvPr/>
          </p:nvSpPr>
          <p:spPr bwMode="auto">
            <a:xfrm>
              <a:off x="4590" y="2582"/>
              <a:ext cx="827" cy="360"/>
            </a:xfrm>
            <a:prstGeom prst="rect">
              <a:avLst/>
            </a:prstGeom>
            <a:solidFill>
              <a:srgbClr val="E3FA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46" name="Rectangle 17"/>
            <p:cNvSpPr>
              <a:spLocks noChangeArrowheads="1"/>
            </p:cNvSpPr>
            <p:nvPr/>
          </p:nvSpPr>
          <p:spPr bwMode="auto">
            <a:xfrm>
              <a:off x="3681" y="2582"/>
              <a:ext cx="909" cy="360"/>
            </a:xfrm>
            <a:prstGeom prst="rect">
              <a:avLst/>
            </a:prstGeom>
            <a:solidFill>
              <a:srgbClr val="E3FA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47" name="Rectangle 18"/>
            <p:cNvSpPr>
              <a:spLocks noChangeArrowheads="1"/>
            </p:cNvSpPr>
            <p:nvPr/>
          </p:nvSpPr>
          <p:spPr bwMode="auto">
            <a:xfrm>
              <a:off x="2881" y="2582"/>
              <a:ext cx="800" cy="360"/>
            </a:xfrm>
            <a:prstGeom prst="rect">
              <a:avLst/>
            </a:prstGeom>
            <a:solidFill>
              <a:srgbClr val="FFF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48" name="Rectangle 19"/>
            <p:cNvSpPr>
              <a:spLocks noChangeArrowheads="1"/>
            </p:cNvSpPr>
            <p:nvPr/>
          </p:nvSpPr>
          <p:spPr bwMode="auto">
            <a:xfrm>
              <a:off x="1942" y="2582"/>
              <a:ext cx="939" cy="360"/>
            </a:xfrm>
            <a:prstGeom prst="rect">
              <a:avLst/>
            </a:prstGeom>
            <a:solidFill>
              <a:srgbClr val="FFF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49" name="Rectangle 20"/>
            <p:cNvSpPr>
              <a:spLocks noChangeArrowheads="1"/>
            </p:cNvSpPr>
            <p:nvPr/>
          </p:nvSpPr>
          <p:spPr bwMode="auto">
            <a:xfrm>
              <a:off x="1170" y="2582"/>
              <a:ext cx="772" cy="360"/>
            </a:xfrm>
            <a:prstGeom prst="rect">
              <a:avLst/>
            </a:prstGeom>
            <a:solidFill>
              <a:srgbClr val="FFF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50" name="Rectangle 21"/>
            <p:cNvSpPr>
              <a:spLocks noChangeArrowheads="1"/>
            </p:cNvSpPr>
            <p:nvPr/>
          </p:nvSpPr>
          <p:spPr bwMode="auto">
            <a:xfrm>
              <a:off x="340" y="2582"/>
              <a:ext cx="830" cy="360"/>
            </a:xfrm>
            <a:prstGeom prst="rect">
              <a:avLst/>
            </a:prstGeom>
            <a:solidFill>
              <a:srgbClr val="E2DF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400" b="1" baseline="-300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∪</a:t>
              </a:r>
              <a:r>
                <a:rPr lang="en-US" altLang="zh-CN" sz="2400" b="1" i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400" b="1" baseline="-300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99351" name="Rectangle 22"/>
            <p:cNvSpPr>
              <a:spLocks noChangeArrowheads="1"/>
            </p:cNvSpPr>
            <p:nvPr/>
          </p:nvSpPr>
          <p:spPr bwMode="auto">
            <a:xfrm>
              <a:off x="4590" y="2221"/>
              <a:ext cx="827" cy="361"/>
            </a:xfrm>
            <a:prstGeom prst="rect">
              <a:avLst/>
            </a:prstGeom>
            <a:solidFill>
              <a:srgbClr val="FFF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52" name="Rectangle 23"/>
            <p:cNvSpPr>
              <a:spLocks noChangeArrowheads="1"/>
            </p:cNvSpPr>
            <p:nvPr/>
          </p:nvSpPr>
          <p:spPr bwMode="auto">
            <a:xfrm>
              <a:off x="3681" y="2221"/>
              <a:ext cx="909" cy="361"/>
            </a:xfrm>
            <a:prstGeom prst="rect">
              <a:avLst/>
            </a:prstGeom>
            <a:solidFill>
              <a:srgbClr val="FFF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53" name="Rectangle 24"/>
            <p:cNvSpPr>
              <a:spLocks noChangeArrowheads="1"/>
            </p:cNvSpPr>
            <p:nvPr/>
          </p:nvSpPr>
          <p:spPr bwMode="auto">
            <a:xfrm>
              <a:off x="2881" y="2221"/>
              <a:ext cx="800" cy="361"/>
            </a:xfrm>
            <a:prstGeom prst="rect">
              <a:avLst/>
            </a:prstGeom>
            <a:solidFill>
              <a:srgbClr val="FFF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54" name="Rectangle 25"/>
            <p:cNvSpPr>
              <a:spLocks noChangeArrowheads="1"/>
            </p:cNvSpPr>
            <p:nvPr/>
          </p:nvSpPr>
          <p:spPr bwMode="auto">
            <a:xfrm>
              <a:off x="1942" y="2221"/>
              <a:ext cx="939" cy="361"/>
            </a:xfrm>
            <a:prstGeom prst="rect">
              <a:avLst/>
            </a:prstGeom>
            <a:solidFill>
              <a:srgbClr val="FFF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55" name="Rectangle 26"/>
            <p:cNvSpPr>
              <a:spLocks noChangeArrowheads="1"/>
            </p:cNvSpPr>
            <p:nvPr/>
          </p:nvSpPr>
          <p:spPr bwMode="auto">
            <a:xfrm>
              <a:off x="1170" y="2221"/>
              <a:ext cx="772" cy="361"/>
            </a:xfrm>
            <a:prstGeom prst="rect">
              <a:avLst/>
            </a:prstGeom>
            <a:solidFill>
              <a:srgbClr val="FFF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56" name="Rectangle 27"/>
            <p:cNvSpPr>
              <a:spLocks noChangeArrowheads="1"/>
            </p:cNvSpPr>
            <p:nvPr/>
          </p:nvSpPr>
          <p:spPr bwMode="auto">
            <a:xfrm>
              <a:off x="340" y="2221"/>
              <a:ext cx="830" cy="361"/>
            </a:xfrm>
            <a:prstGeom prst="rect">
              <a:avLst/>
            </a:prstGeom>
            <a:solidFill>
              <a:srgbClr val="E2DF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400" b="1" baseline="-300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∩</a:t>
              </a:r>
              <a:r>
                <a:rPr lang="en-US" altLang="zh-CN" sz="2400" b="1" i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400" b="1" baseline="-300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99357" name="Rectangle 28"/>
            <p:cNvSpPr>
              <a:spLocks noChangeArrowheads="1"/>
            </p:cNvSpPr>
            <p:nvPr/>
          </p:nvSpPr>
          <p:spPr bwMode="auto">
            <a:xfrm>
              <a:off x="4590" y="1856"/>
              <a:ext cx="827" cy="365"/>
            </a:xfrm>
            <a:prstGeom prst="rect">
              <a:avLst/>
            </a:prstGeom>
            <a:solidFill>
              <a:srgbClr val="FFF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58" name="Rectangle 29"/>
            <p:cNvSpPr>
              <a:spLocks noChangeArrowheads="1"/>
            </p:cNvSpPr>
            <p:nvPr/>
          </p:nvSpPr>
          <p:spPr bwMode="auto">
            <a:xfrm>
              <a:off x="3681" y="1856"/>
              <a:ext cx="909" cy="365"/>
            </a:xfrm>
            <a:prstGeom prst="rect">
              <a:avLst/>
            </a:prstGeom>
            <a:solidFill>
              <a:srgbClr val="FFF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59" name="Rectangle 30"/>
            <p:cNvSpPr>
              <a:spLocks noChangeArrowheads="1"/>
            </p:cNvSpPr>
            <p:nvPr/>
          </p:nvSpPr>
          <p:spPr bwMode="auto">
            <a:xfrm>
              <a:off x="2881" y="1856"/>
              <a:ext cx="800" cy="365"/>
            </a:xfrm>
            <a:prstGeom prst="rect">
              <a:avLst/>
            </a:prstGeom>
            <a:solidFill>
              <a:srgbClr val="FFF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60" name="Rectangle 31"/>
            <p:cNvSpPr>
              <a:spLocks noChangeArrowheads="1"/>
            </p:cNvSpPr>
            <p:nvPr/>
          </p:nvSpPr>
          <p:spPr bwMode="auto">
            <a:xfrm>
              <a:off x="1942" y="1856"/>
              <a:ext cx="939" cy="365"/>
            </a:xfrm>
            <a:prstGeom prst="rect">
              <a:avLst/>
            </a:prstGeom>
            <a:solidFill>
              <a:srgbClr val="FFF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61" name="Rectangle 32"/>
            <p:cNvSpPr>
              <a:spLocks noChangeArrowheads="1"/>
            </p:cNvSpPr>
            <p:nvPr/>
          </p:nvSpPr>
          <p:spPr bwMode="auto">
            <a:xfrm>
              <a:off x="1170" y="1856"/>
              <a:ext cx="772" cy="365"/>
            </a:xfrm>
            <a:prstGeom prst="rect">
              <a:avLst/>
            </a:prstGeom>
            <a:solidFill>
              <a:srgbClr val="FFF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62" name="Rectangle 33"/>
            <p:cNvSpPr>
              <a:spLocks noChangeArrowheads="1"/>
            </p:cNvSpPr>
            <p:nvPr/>
          </p:nvSpPr>
          <p:spPr bwMode="auto">
            <a:xfrm>
              <a:off x="340" y="1856"/>
              <a:ext cx="830" cy="365"/>
            </a:xfrm>
            <a:prstGeom prst="rect">
              <a:avLst/>
            </a:prstGeom>
            <a:solidFill>
              <a:srgbClr val="E2DF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400" b="1" baseline="-300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baseline="300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400" b="1" baseline="300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zh-CN" sz="2400" b="1" baseline="30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99363" name="Rectangle 34"/>
            <p:cNvSpPr>
              <a:spLocks noChangeArrowheads="1"/>
            </p:cNvSpPr>
            <p:nvPr/>
          </p:nvSpPr>
          <p:spPr bwMode="auto">
            <a:xfrm>
              <a:off x="4590" y="1480"/>
              <a:ext cx="827" cy="376"/>
            </a:xfrm>
            <a:prstGeom prst="rect">
              <a:avLst/>
            </a:prstGeom>
            <a:solidFill>
              <a:srgbClr val="E2DF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传递性</a:t>
              </a:r>
              <a:endPara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99364" name="Rectangle 35"/>
            <p:cNvSpPr>
              <a:spLocks noChangeArrowheads="1"/>
            </p:cNvSpPr>
            <p:nvPr/>
          </p:nvSpPr>
          <p:spPr bwMode="auto">
            <a:xfrm>
              <a:off x="3681" y="1480"/>
              <a:ext cx="909" cy="376"/>
            </a:xfrm>
            <a:prstGeom prst="rect">
              <a:avLst/>
            </a:prstGeom>
            <a:solidFill>
              <a:srgbClr val="E2DF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反对称性</a:t>
              </a:r>
              <a:endPara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99365" name="Rectangle 36"/>
            <p:cNvSpPr>
              <a:spLocks noChangeArrowheads="1"/>
            </p:cNvSpPr>
            <p:nvPr/>
          </p:nvSpPr>
          <p:spPr bwMode="auto">
            <a:xfrm>
              <a:off x="2881" y="1480"/>
              <a:ext cx="800" cy="376"/>
            </a:xfrm>
            <a:prstGeom prst="rect">
              <a:avLst/>
            </a:prstGeom>
            <a:solidFill>
              <a:srgbClr val="E2DF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对称性</a:t>
              </a:r>
              <a:endPara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99366" name="Rectangle 37"/>
            <p:cNvSpPr>
              <a:spLocks noChangeArrowheads="1"/>
            </p:cNvSpPr>
            <p:nvPr/>
          </p:nvSpPr>
          <p:spPr bwMode="auto">
            <a:xfrm>
              <a:off x="1942" y="1480"/>
              <a:ext cx="939" cy="376"/>
            </a:xfrm>
            <a:prstGeom prst="rect">
              <a:avLst/>
            </a:prstGeom>
            <a:solidFill>
              <a:srgbClr val="E2DF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反自反性</a:t>
              </a:r>
              <a:endPara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99367" name="Rectangle 38"/>
            <p:cNvSpPr>
              <a:spLocks noChangeArrowheads="1"/>
            </p:cNvSpPr>
            <p:nvPr/>
          </p:nvSpPr>
          <p:spPr bwMode="auto">
            <a:xfrm>
              <a:off x="1170" y="1480"/>
              <a:ext cx="772" cy="376"/>
            </a:xfrm>
            <a:prstGeom prst="rect">
              <a:avLst/>
            </a:prstGeom>
            <a:solidFill>
              <a:srgbClr val="E2DF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自反性</a:t>
              </a:r>
              <a:endPara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99368" name="Rectangle 39"/>
            <p:cNvSpPr>
              <a:spLocks noChangeArrowheads="1"/>
            </p:cNvSpPr>
            <p:nvPr/>
          </p:nvSpPr>
          <p:spPr bwMode="auto">
            <a:xfrm>
              <a:off x="340" y="1480"/>
              <a:ext cx="830" cy="376"/>
            </a:xfrm>
            <a:prstGeom prst="rect">
              <a:avLst/>
            </a:prstGeom>
            <a:solidFill>
              <a:srgbClr val="E2DF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9369" name="Line 40"/>
            <p:cNvSpPr>
              <a:spLocks noChangeShapeType="1"/>
            </p:cNvSpPr>
            <p:nvPr/>
          </p:nvSpPr>
          <p:spPr bwMode="auto">
            <a:xfrm>
              <a:off x="340" y="1480"/>
              <a:ext cx="5077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70" name="Line 41"/>
            <p:cNvSpPr>
              <a:spLocks noChangeShapeType="1"/>
            </p:cNvSpPr>
            <p:nvPr/>
          </p:nvSpPr>
          <p:spPr bwMode="auto">
            <a:xfrm>
              <a:off x="340" y="3702"/>
              <a:ext cx="5077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71" name="Line 42"/>
            <p:cNvSpPr>
              <a:spLocks noChangeShapeType="1"/>
            </p:cNvSpPr>
            <p:nvPr/>
          </p:nvSpPr>
          <p:spPr bwMode="auto">
            <a:xfrm>
              <a:off x="340" y="1480"/>
              <a:ext cx="0" cy="2222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72" name="Line 43"/>
            <p:cNvSpPr>
              <a:spLocks noChangeShapeType="1"/>
            </p:cNvSpPr>
            <p:nvPr/>
          </p:nvSpPr>
          <p:spPr bwMode="auto">
            <a:xfrm>
              <a:off x="5417" y="1480"/>
              <a:ext cx="0" cy="2222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73" name="Line 44"/>
            <p:cNvSpPr>
              <a:spLocks noChangeShapeType="1"/>
            </p:cNvSpPr>
            <p:nvPr/>
          </p:nvSpPr>
          <p:spPr bwMode="auto">
            <a:xfrm>
              <a:off x="340" y="1856"/>
              <a:ext cx="5077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74" name="Line 45"/>
            <p:cNvSpPr>
              <a:spLocks noChangeShapeType="1"/>
            </p:cNvSpPr>
            <p:nvPr/>
          </p:nvSpPr>
          <p:spPr bwMode="auto">
            <a:xfrm>
              <a:off x="1170" y="1480"/>
              <a:ext cx="0" cy="222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75" name="Line 46"/>
            <p:cNvSpPr>
              <a:spLocks noChangeShapeType="1"/>
            </p:cNvSpPr>
            <p:nvPr/>
          </p:nvSpPr>
          <p:spPr bwMode="auto">
            <a:xfrm>
              <a:off x="1942" y="1480"/>
              <a:ext cx="0" cy="222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76" name="Line 47"/>
            <p:cNvSpPr>
              <a:spLocks noChangeShapeType="1"/>
            </p:cNvSpPr>
            <p:nvPr/>
          </p:nvSpPr>
          <p:spPr bwMode="auto">
            <a:xfrm>
              <a:off x="2881" y="1480"/>
              <a:ext cx="0" cy="222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77" name="Line 48"/>
            <p:cNvSpPr>
              <a:spLocks noChangeShapeType="1"/>
            </p:cNvSpPr>
            <p:nvPr/>
          </p:nvSpPr>
          <p:spPr bwMode="auto">
            <a:xfrm>
              <a:off x="3681" y="1480"/>
              <a:ext cx="0" cy="222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78" name="Line 49"/>
            <p:cNvSpPr>
              <a:spLocks noChangeShapeType="1"/>
            </p:cNvSpPr>
            <p:nvPr/>
          </p:nvSpPr>
          <p:spPr bwMode="auto">
            <a:xfrm>
              <a:off x="4590" y="1480"/>
              <a:ext cx="0" cy="222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79" name="Line 50"/>
            <p:cNvSpPr>
              <a:spLocks noChangeShapeType="1"/>
            </p:cNvSpPr>
            <p:nvPr/>
          </p:nvSpPr>
          <p:spPr bwMode="auto">
            <a:xfrm>
              <a:off x="340" y="2221"/>
              <a:ext cx="5077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80" name="Line 51"/>
            <p:cNvSpPr>
              <a:spLocks noChangeShapeType="1"/>
            </p:cNvSpPr>
            <p:nvPr/>
          </p:nvSpPr>
          <p:spPr bwMode="auto">
            <a:xfrm>
              <a:off x="340" y="2582"/>
              <a:ext cx="5077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81" name="Line 52"/>
            <p:cNvSpPr>
              <a:spLocks noChangeShapeType="1"/>
            </p:cNvSpPr>
            <p:nvPr/>
          </p:nvSpPr>
          <p:spPr bwMode="auto">
            <a:xfrm>
              <a:off x="340" y="2942"/>
              <a:ext cx="5077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82" name="Line 53"/>
            <p:cNvSpPr>
              <a:spLocks noChangeShapeType="1"/>
            </p:cNvSpPr>
            <p:nvPr/>
          </p:nvSpPr>
          <p:spPr bwMode="auto">
            <a:xfrm>
              <a:off x="340" y="3303"/>
              <a:ext cx="5077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83" name="Text Box 70"/>
            <p:cNvSpPr txBox="1">
              <a:spLocks noChangeArrowheads="1"/>
            </p:cNvSpPr>
            <p:nvPr/>
          </p:nvSpPr>
          <p:spPr bwMode="auto">
            <a:xfrm>
              <a:off x="519" y="1481"/>
              <a:ext cx="77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rgbClr val="000099"/>
                  </a:solidFill>
                </a:rPr>
                <a:t>原有性质</a:t>
              </a:r>
            </a:p>
          </p:txBody>
        </p:sp>
        <p:sp>
          <p:nvSpPr>
            <p:cNvPr id="99384" name="Text Box 71"/>
            <p:cNvSpPr txBox="1">
              <a:spLocks noChangeArrowheads="1"/>
            </p:cNvSpPr>
            <p:nvPr/>
          </p:nvSpPr>
          <p:spPr bwMode="auto">
            <a:xfrm>
              <a:off x="330" y="1630"/>
              <a:ext cx="4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rgbClr val="000099"/>
                  </a:solidFill>
                </a:rPr>
                <a:t>运算</a:t>
              </a:r>
            </a:p>
          </p:txBody>
        </p:sp>
        <p:sp>
          <p:nvSpPr>
            <p:cNvPr id="99385" name="Line 72"/>
            <p:cNvSpPr>
              <a:spLocks noChangeShapeType="1"/>
            </p:cNvSpPr>
            <p:nvPr/>
          </p:nvSpPr>
          <p:spPr bwMode="auto">
            <a:xfrm>
              <a:off x="340" y="1525"/>
              <a:ext cx="783" cy="347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7A0BC2D-477E-42B3-B95C-0AFF8290985F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00355" name="Text Box 2"/>
          <p:cNvSpPr txBox="1">
            <a:spLocks noChangeArrowheads="1"/>
          </p:cNvSpPr>
          <p:nvPr/>
        </p:nvSpPr>
        <p:spPr bwMode="auto">
          <a:xfrm>
            <a:off x="303072" y="271671"/>
            <a:ext cx="811529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40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课堂练习：判断下列关系的性质</a:t>
            </a:r>
          </a:p>
        </p:txBody>
      </p:sp>
      <p:grpSp>
        <p:nvGrpSpPr>
          <p:cNvPr id="100356" name="Group 3"/>
          <p:cNvGrpSpPr>
            <a:grpSpLocks/>
          </p:cNvGrpSpPr>
          <p:nvPr/>
        </p:nvGrpSpPr>
        <p:grpSpPr bwMode="auto">
          <a:xfrm>
            <a:off x="1403350" y="1484313"/>
            <a:ext cx="2212975" cy="569912"/>
            <a:chOff x="567" y="1016"/>
            <a:chExt cx="1394" cy="359"/>
          </a:xfrm>
        </p:grpSpPr>
        <p:sp>
          <p:nvSpPr>
            <p:cNvPr id="100381" name="Oval 4"/>
            <p:cNvSpPr>
              <a:spLocks noChangeArrowheads="1"/>
            </p:cNvSpPr>
            <p:nvPr/>
          </p:nvSpPr>
          <p:spPr bwMode="auto">
            <a:xfrm>
              <a:off x="884" y="1117"/>
              <a:ext cx="46" cy="45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800">
                <a:solidFill>
                  <a:srgbClr val="000099"/>
                </a:solidFill>
              </a:endParaRPr>
            </a:p>
          </p:txBody>
        </p:sp>
        <p:sp>
          <p:nvSpPr>
            <p:cNvPr id="100382" name="Oval 5"/>
            <p:cNvSpPr>
              <a:spLocks noChangeArrowheads="1"/>
            </p:cNvSpPr>
            <p:nvPr/>
          </p:nvSpPr>
          <p:spPr bwMode="auto">
            <a:xfrm>
              <a:off x="1610" y="1117"/>
              <a:ext cx="46" cy="45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800">
                <a:solidFill>
                  <a:srgbClr val="000099"/>
                </a:solidFill>
              </a:endParaRPr>
            </a:p>
          </p:txBody>
        </p:sp>
        <p:sp>
          <p:nvSpPr>
            <p:cNvPr id="100383" name="Line 6"/>
            <p:cNvSpPr>
              <a:spLocks noChangeShapeType="1"/>
            </p:cNvSpPr>
            <p:nvPr/>
          </p:nvSpPr>
          <p:spPr bwMode="auto">
            <a:xfrm>
              <a:off x="884" y="1125"/>
              <a:ext cx="747" cy="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384" name="Oval 7"/>
            <p:cNvSpPr>
              <a:spLocks noChangeArrowheads="1"/>
            </p:cNvSpPr>
            <p:nvPr/>
          </p:nvSpPr>
          <p:spPr bwMode="auto">
            <a:xfrm>
              <a:off x="567" y="1026"/>
              <a:ext cx="317" cy="272"/>
            </a:xfrm>
            <a:prstGeom prst="ellips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800">
                <a:solidFill>
                  <a:srgbClr val="000099"/>
                </a:solidFill>
              </a:endParaRPr>
            </a:p>
          </p:txBody>
        </p:sp>
        <p:sp>
          <p:nvSpPr>
            <p:cNvPr id="100385" name="Line 8"/>
            <p:cNvSpPr>
              <a:spLocks noChangeShapeType="1"/>
            </p:cNvSpPr>
            <p:nvPr/>
          </p:nvSpPr>
          <p:spPr bwMode="auto">
            <a:xfrm flipV="1">
              <a:off x="748" y="1253"/>
              <a:ext cx="91" cy="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386" name="Oval 9"/>
            <p:cNvSpPr>
              <a:spLocks noChangeArrowheads="1"/>
            </p:cNvSpPr>
            <p:nvPr/>
          </p:nvSpPr>
          <p:spPr bwMode="auto">
            <a:xfrm>
              <a:off x="1644" y="1016"/>
              <a:ext cx="317" cy="272"/>
            </a:xfrm>
            <a:prstGeom prst="ellips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800">
                <a:solidFill>
                  <a:srgbClr val="000099"/>
                </a:solidFill>
              </a:endParaRPr>
            </a:p>
          </p:txBody>
        </p:sp>
        <p:sp>
          <p:nvSpPr>
            <p:cNvPr id="100387" name="Line 10"/>
            <p:cNvSpPr>
              <a:spLocks noChangeShapeType="1"/>
            </p:cNvSpPr>
            <p:nvPr/>
          </p:nvSpPr>
          <p:spPr bwMode="auto">
            <a:xfrm flipV="1">
              <a:off x="1837" y="1231"/>
              <a:ext cx="91" cy="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388" name="Text Box 11"/>
            <p:cNvSpPr txBox="1">
              <a:spLocks noChangeArrowheads="1"/>
            </p:cNvSpPr>
            <p:nvPr/>
          </p:nvSpPr>
          <p:spPr bwMode="auto">
            <a:xfrm>
              <a:off x="780" y="1087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99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0389" name="Text Box 12"/>
            <p:cNvSpPr txBox="1">
              <a:spLocks noChangeArrowheads="1"/>
            </p:cNvSpPr>
            <p:nvPr/>
          </p:nvSpPr>
          <p:spPr bwMode="auto">
            <a:xfrm>
              <a:off x="1363" y="1084"/>
              <a:ext cx="33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100357" name="Text Box 13"/>
          <p:cNvSpPr txBox="1">
            <a:spLocks noChangeArrowheads="1"/>
          </p:cNvSpPr>
          <p:nvPr/>
        </p:nvSpPr>
        <p:spPr bwMode="auto">
          <a:xfrm>
            <a:off x="468313" y="1484313"/>
            <a:ext cx="720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</a:rPr>
              <a:t>1)</a:t>
            </a:r>
          </a:p>
        </p:txBody>
      </p:sp>
      <p:sp>
        <p:nvSpPr>
          <p:cNvPr id="100358" name="Text Box 14"/>
          <p:cNvSpPr txBox="1">
            <a:spLocks noChangeArrowheads="1"/>
          </p:cNvSpPr>
          <p:nvPr/>
        </p:nvSpPr>
        <p:spPr bwMode="auto">
          <a:xfrm>
            <a:off x="4500563" y="1557338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  <a:latin typeface="Times New Roman" panose="02020603050405020304" pitchFamily="18" charset="0"/>
              </a:rPr>
              <a:t>2)</a:t>
            </a:r>
          </a:p>
        </p:txBody>
      </p:sp>
      <p:grpSp>
        <p:nvGrpSpPr>
          <p:cNvPr id="100359" name="Group 15"/>
          <p:cNvGrpSpPr>
            <a:grpSpLocks/>
          </p:cNvGrpSpPr>
          <p:nvPr/>
        </p:nvGrpSpPr>
        <p:grpSpPr bwMode="auto">
          <a:xfrm>
            <a:off x="5364163" y="1484313"/>
            <a:ext cx="3024187" cy="903287"/>
            <a:chOff x="3152" y="965"/>
            <a:chExt cx="1905" cy="569"/>
          </a:xfrm>
        </p:grpSpPr>
        <p:grpSp>
          <p:nvGrpSpPr>
            <p:cNvPr id="100362" name="Group 16"/>
            <p:cNvGrpSpPr>
              <a:grpSpLocks/>
            </p:cNvGrpSpPr>
            <p:nvPr/>
          </p:nvGrpSpPr>
          <p:grpSpPr bwMode="auto">
            <a:xfrm>
              <a:off x="3187" y="965"/>
              <a:ext cx="1828" cy="379"/>
              <a:chOff x="3187" y="965"/>
              <a:chExt cx="1828" cy="379"/>
            </a:xfrm>
          </p:grpSpPr>
          <p:sp>
            <p:nvSpPr>
              <p:cNvPr id="100367" name="Oval 17"/>
              <p:cNvSpPr>
                <a:spLocks noChangeArrowheads="1"/>
              </p:cNvSpPr>
              <p:nvPr/>
            </p:nvSpPr>
            <p:spPr bwMode="auto">
              <a:xfrm>
                <a:off x="4332" y="1220"/>
                <a:ext cx="45" cy="45"/>
              </a:xfrm>
              <a:prstGeom prst="ellipse">
                <a:avLst/>
              </a:prstGeom>
              <a:solidFill>
                <a:srgbClr val="000000"/>
              </a:solidFill>
              <a:ln w="254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solidFill>
                    <a:srgbClr val="000099"/>
                  </a:solidFill>
                </a:endParaRPr>
              </a:p>
            </p:txBody>
          </p:sp>
          <p:sp>
            <p:nvSpPr>
              <p:cNvPr id="100368" name="Oval 18"/>
              <p:cNvSpPr>
                <a:spLocks noChangeArrowheads="1"/>
              </p:cNvSpPr>
              <p:nvPr/>
            </p:nvSpPr>
            <p:spPr bwMode="auto">
              <a:xfrm>
                <a:off x="3787" y="1207"/>
                <a:ext cx="45" cy="45"/>
              </a:xfrm>
              <a:prstGeom prst="ellipse">
                <a:avLst/>
              </a:prstGeom>
              <a:solidFill>
                <a:srgbClr val="000000"/>
              </a:solidFill>
              <a:ln w="254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solidFill>
                    <a:srgbClr val="000099"/>
                  </a:solidFill>
                </a:endParaRPr>
              </a:p>
            </p:txBody>
          </p:sp>
          <p:grpSp>
            <p:nvGrpSpPr>
              <p:cNvPr id="100369" name="Group 19"/>
              <p:cNvGrpSpPr>
                <a:grpSpLocks/>
              </p:cNvGrpSpPr>
              <p:nvPr/>
            </p:nvGrpSpPr>
            <p:grpSpPr bwMode="auto">
              <a:xfrm>
                <a:off x="3187" y="965"/>
                <a:ext cx="284" cy="287"/>
                <a:chOff x="3187" y="965"/>
                <a:chExt cx="284" cy="287"/>
              </a:xfrm>
            </p:grpSpPr>
            <p:sp>
              <p:nvSpPr>
                <p:cNvPr id="100378" name="Oval 20"/>
                <p:cNvSpPr>
                  <a:spLocks noChangeArrowheads="1"/>
                </p:cNvSpPr>
                <p:nvPr/>
              </p:nvSpPr>
              <p:spPr bwMode="auto">
                <a:xfrm>
                  <a:off x="3334" y="1207"/>
                  <a:ext cx="45" cy="45"/>
                </a:xfrm>
                <a:prstGeom prst="ellipse">
                  <a:avLst/>
                </a:prstGeom>
                <a:solidFill>
                  <a:srgbClr val="000000"/>
                </a:solidFill>
                <a:ln w="254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800">
                    <a:solidFill>
                      <a:srgbClr val="000099"/>
                    </a:solidFill>
                  </a:endParaRPr>
                </a:p>
              </p:txBody>
            </p:sp>
            <p:sp>
              <p:nvSpPr>
                <p:cNvPr id="100379" name="Oval 21"/>
                <p:cNvSpPr>
                  <a:spLocks noChangeArrowheads="1"/>
                </p:cNvSpPr>
                <p:nvPr/>
              </p:nvSpPr>
              <p:spPr bwMode="auto">
                <a:xfrm>
                  <a:off x="3198" y="981"/>
                  <a:ext cx="273" cy="227"/>
                </a:xfrm>
                <a:prstGeom prst="ellipse">
                  <a:avLst/>
                </a:prstGeom>
                <a:noFill/>
                <a:ln w="254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800">
                    <a:solidFill>
                      <a:srgbClr val="000099"/>
                    </a:solidFill>
                  </a:endParaRPr>
                </a:p>
              </p:txBody>
            </p:sp>
            <p:sp>
              <p:nvSpPr>
                <p:cNvPr id="100380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3187" y="965"/>
                  <a:ext cx="110" cy="12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0370" name="Group 23"/>
              <p:cNvGrpSpPr>
                <a:grpSpLocks/>
              </p:cNvGrpSpPr>
              <p:nvPr/>
            </p:nvGrpSpPr>
            <p:grpSpPr bwMode="auto">
              <a:xfrm>
                <a:off x="4731" y="978"/>
                <a:ext cx="284" cy="287"/>
                <a:chOff x="3187" y="965"/>
                <a:chExt cx="284" cy="287"/>
              </a:xfrm>
            </p:grpSpPr>
            <p:sp>
              <p:nvSpPr>
                <p:cNvPr id="100375" name="Oval 24"/>
                <p:cNvSpPr>
                  <a:spLocks noChangeArrowheads="1"/>
                </p:cNvSpPr>
                <p:nvPr/>
              </p:nvSpPr>
              <p:spPr bwMode="auto">
                <a:xfrm>
                  <a:off x="3334" y="1207"/>
                  <a:ext cx="45" cy="45"/>
                </a:xfrm>
                <a:prstGeom prst="ellipse">
                  <a:avLst/>
                </a:prstGeom>
                <a:solidFill>
                  <a:srgbClr val="000000"/>
                </a:solidFill>
                <a:ln w="254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800">
                    <a:solidFill>
                      <a:srgbClr val="000099"/>
                    </a:solidFill>
                  </a:endParaRPr>
                </a:p>
              </p:txBody>
            </p:sp>
            <p:sp>
              <p:nvSpPr>
                <p:cNvPr id="100376" name="Oval 25"/>
                <p:cNvSpPr>
                  <a:spLocks noChangeArrowheads="1"/>
                </p:cNvSpPr>
                <p:nvPr/>
              </p:nvSpPr>
              <p:spPr bwMode="auto">
                <a:xfrm>
                  <a:off x="3198" y="981"/>
                  <a:ext cx="273" cy="227"/>
                </a:xfrm>
                <a:prstGeom prst="ellipse">
                  <a:avLst/>
                </a:prstGeom>
                <a:noFill/>
                <a:ln w="254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800">
                    <a:solidFill>
                      <a:srgbClr val="000099"/>
                    </a:solidFill>
                  </a:endParaRPr>
                </a:p>
              </p:txBody>
            </p:sp>
            <p:sp>
              <p:nvSpPr>
                <p:cNvPr id="100377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3187" y="965"/>
                  <a:ext cx="110" cy="12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00371" name="Freeform 27"/>
              <p:cNvSpPr>
                <a:spLocks/>
              </p:cNvSpPr>
              <p:nvPr/>
            </p:nvSpPr>
            <p:spPr bwMode="auto">
              <a:xfrm>
                <a:off x="3833" y="1071"/>
                <a:ext cx="499" cy="136"/>
              </a:xfrm>
              <a:custGeom>
                <a:avLst/>
                <a:gdLst>
                  <a:gd name="T0" fmla="*/ 0 w 499"/>
                  <a:gd name="T1" fmla="*/ 136 h 136"/>
                  <a:gd name="T2" fmla="*/ 226 w 499"/>
                  <a:gd name="T3" fmla="*/ 0 h 136"/>
                  <a:gd name="T4" fmla="*/ 499 w 499"/>
                  <a:gd name="T5" fmla="*/ 136 h 136"/>
                  <a:gd name="T6" fmla="*/ 0 60000 65536"/>
                  <a:gd name="T7" fmla="*/ 0 60000 65536"/>
                  <a:gd name="T8" fmla="*/ 0 60000 65536"/>
                  <a:gd name="T9" fmla="*/ 0 w 499"/>
                  <a:gd name="T10" fmla="*/ 0 h 136"/>
                  <a:gd name="T11" fmla="*/ 499 w 499"/>
                  <a:gd name="T12" fmla="*/ 136 h 1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99" h="136">
                    <a:moveTo>
                      <a:pt x="0" y="136"/>
                    </a:moveTo>
                    <a:cubicBezTo>
                      <a:pt x="71" y="68"/>
                      <a:pt x="143" y="0"/>
                      <a:pt x="226" y="0"/>
                    </a:cubicBezTo>
                    <a:cubicBezTo>
                      <a:pt x="309" y="0"/>
                      <a:pt x="453" y="113"/>
                      <a:pt x="499" y="136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372" name="Freeform 28"/>
              <p:cNvSpPr>
                <a:spLocks/>
              </p:cNvSpPr>
              <p:nvPr/>
            </p:nvSpPr>
            <p:spPr bwMode="auto">
              <a:xfrm>
                <a:off x="3833" y="1253"/>
                <a:ext cx="499" cy="91"/>
              </a:xfrm>
              <a:custGeom>
                <a:avLst/>
                <a:gdLst>
                  <a:gd name="T0" fmla="*/ 0 w 499"/>
                  <a:gd name="T1" fmla="*/ 0 h 91"/>
                  <a:gd name="T2" fmla="*/ 272 w 499"/>
                  <a:gd name="T3" fmla="*/ 91 h 91"/>
                  <a:gd name="T4" fmla="*/ 499 w 499"/>
                  <a:gd name="T5" fmla="*/ 0 h 91"/>
                  <a:gd name="T6" fmla="*/ 0 60000 65536"/>
                  <a:gd name="T7" fmla="*/ 0 60000 65536"/>
                  <a:gd name="T8" fmla="*/ 0 60000 65536"/>
                  <a:gd name="T9" fmla="*/ 0 w 499"/>
                  <a:gd name="T10" fmla="*/ 0 h 91"/>
                  <a:gd name="T11" fmla="*/ 499 w 499"/>
                  <a:gd name="T12" fmla="*/ 91 h 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99" h="91">
                    <a:moveTo>
                      <a:pt x="0" y="0"/>
                    </a:moveTo>
                    <a:cubicBezTo>
                      <a:pt x="94" y="45"/>
                      <a:pt x="189" y="91"/>
                      <a:pt x="272" y="91"/>
                    </a:cubicBezTo>
                    <a:cubicBezTo>
                      <a:pt x="355" y="91"/>
                      <a:pt x="461" y="15"/>
                      <a:pt x="499" y="0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373" name="Line 29"/>
              <p:cNvSpPr>
                <a:spLocks noChangeShapeType="1"/>
              </p:cNvSpPr>
              <p:nvPr/>
            </p:nvSpPr>
            <p:spPr bwMode="auto">
              <a:xfrm>
                <a:off x="4208" y="1133"/>
                <a:ext cx="124" cy="7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374" name="Line 30"/>
              <p:cNvSpPr>
                <a:spLocks noChangeShapeType="1"/>
              </p:cNvSpPr>
              <p:nvPr/>
            </p:nvSpPr>
            <p:spPr bwMode="auto">
              <a:xfrm flipH="1" flipV="1">
                <a:off x="3923" y="1298"/>
                <a:ext cx="91" cy="4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0363" name="Text Box 31"/>
            <p:cNvSpPr txBox="1">
              <a:spLocks noChangeArrowheads="1"/>
            </p:cNvSpPr>
            <p:nvPr/>
          </p:nvSpPr>
          <p:spPr bwMode="auto">
            <a:xfrm>
              <a:off x="3152" y="1207"/>
              <a:ext cx="36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0364" name="Text Box 32"/>
            <p:cNvSpPr txBox="1">
              <a:spLocks noChangeArrowheads="1"/>
            </p:cNvSpPr>
            <p:nvPr/>
          </p:nvSpPr>
          <p:spPr bwMode="auto">
            <a:xfrm>
              <a:off x="3606" y="1207"/>
              <a:ext cx="3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0365" name="Text Box 33"/>
            <p:cNvSpPr txBox="1">
              <a:spLocks noChangeArrowheads="1"/>
            </p:cNvSpPr>
            <p:nvPr/>
          </p:nvSpPr>
          <p:spPr bwMode="auto">
            <a:xfrm>
              <a:off x="4195" y="1207"/>
              <a:ext cx="3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00366" name="Text Box 34"/>
            <p:cNvSpPr txBox="1">
              <a:spLocks noChangeArrowheads="1"/>
            </p:cNvSpPr>
            <p:nvPr/>
          </p:nvSpPr>
          <p:spPr bwMode="auto">
            <a:xfrm>
              <a:off x="4694" y="1207"/>
              <a:ext cx="3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98019" name="Text Box 35"/>
          <p:cNvSpPr txBox="1">
            <a:spLocks noChangeArrowheads="1"/>
          </p:cNvSpPr>
          <p:nvPr/>
        </p:nvSpPr>
        <p:spPr bwMode="auto">
          <a:xfrm>
            <a:off x="900113" y="2492375"/>
            <a:ext cx="2879725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99"/>
                </a:solidFill>
              </a:rPr>
              <a:t>自反，不反自反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99"/>
                </a:solidFill>
              </a:rPr>
              <a:t>不对称，反对称</a:t>
            </a:r>
            <a:endParaRPr lang="en-US" altLang="zh-CN" sz="2800" b="1" dirty="0">
              <a:solidFill>
                <a:srgbClr val="000099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99"/>
                </a:solidFill>
              </a:rPr>
              <a:t>传递</a:t>
            </a:r>
          </a:p>
        </p:txBody>
      </p:sp>
      <p:sp>
        <p:nvSpPr>
          <p:cNvPr id="298020" name="Text Box 36"/>
          <p:cNvSpPr txBox="1">
            <a:spLocks noChangeArrowheads="1"/>
          </p:cNvSpPr>
          <p:nvPr/>
        </p:nvSpPr>
        <p:spPr bwMode="auto">
          <a:xfrm>
            <a:off x="5292725" y="2708275"/>
            <a:ext cx="3311525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rgbClr val="000099"/>
                </a:solidFill>
              </a:rPr>
              <a:t>不自反，不反自反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rgbClr val="000099"/>
                </a:solidFill>
              </a:rPr>
              <a:t>对称，不反对称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rgbClr val="000099"/>
                </a:solidFill>
              </a:rPr>
              <a:t>不传递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8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8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019" grpId="0"/>
      <p:bldP spid="298020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8379407-EA4B-48C2-8514-66C60F9D583E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199431"/>
            <a:ext cx="8002588" cy="1100138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4.4 </a:t>
            </a:r>
            <a:r>
              <a:rPr lang="zh-CN" altLang="en-US" b="1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关系的闭包</a:t>
            </a:r>
          </a:p>
        </p:txBody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35337"/>
            <a:ext cx="8229600" cy="3886200"/>
          </a:xfrm>
        </p:spPr>
        <p:txBody>
          <a:bodyPr/>
          <a:lstStyle/>
          <a:p>
            <a:r>
              <a:rPr lang="zh-CN" altLang="en-US" b="1" dirty="0">
                <a:latin typeface="宋体" panose="02010600030101010101" pitchFamily="2" charset="-122"/>
              </a:rPr>
              <a:t>闭包定义</a:t>
            </a:r>
          </a:p>
          <a:p>
            <a:r>
              <a:rPr lang="zh-CN" altLang="en-US" b="1" dirty="0">
                <a:latin typeface="宋体" panose="02010600030101010101" pitchFamily="2" charset="-122"/>
              </a:rPr>
              <a:t>闭包的构造方法</a:t>
            </a:r>
          </a:p>
          <a:p>
            <a:pPr lvl="1"/>
            <a:r>
              <a:rPr lang="zh-CN" altLang="en-US" b="1" dirty="0">
                <a:latin typeface="宋体" panose="02010600030101010101" pitchFamily="2" charset="-122"/>
              </a:rPr>
              <a:t> 集合表示</a:t>
            </a:r>
          </a:p>
          <a:p>
            <a:pPr lvl="1"/>
            <a:r>
              <a:rPr lang="zh-CN" altLang="en-US" b="1" dirty="0">
                <a:latin typeface="宋体" panose="02010600030101010101" pitchFamily="2" charset="-122"/>
              </a:rPr>
              <a:t> 矩阵表示</a:t>
            </a:r>
          </a:p>
          <a:p>
            <a:pPr lvl="1"/>
            <a:r>
              <a:rPr lang="zh-CN" altLang="en-US" b="1" dirty="0">
                <a:latin typeface="宋体" panose="02010600030101010101" pitchFamily="2" charset="-122"/>
              </a:rPr>
              <a:t> 图表示</a:t>
            </a:r>
          </a:p>
          <a:p>
            <a:r>
              <a:rPr lang="zh-CN" altLang="en-US" b="1" dirty="0">
                <a:latin typeface="宋体" panose="02010600030101010101" pitchFamily="2" charset="-122"/>
              </a:rPr>
              <a:t>闭包的性质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F3300E-0D8E-4638-AE7D-A906E22916F0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88639"/>
            <a:ext cx="8207375" cy="1081088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闭包定义</a:t>
            </a:r>
          </a:p>
        </p:txBody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385751"/>
            <a:ext cx="8290024" cy="2763329"/>
          </a:xfrm>
        </p:spPr>
        <p:txBody>
          <a:bodyPr/>
          <a:lstStyle/>
          <a:p>
            <a:pPr marL="0" indent="0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b="1" dirty="0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是非空集合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上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的关系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自反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（对称</a:t>
            </a:r>
            <a:r>
              <a:rPr lang="zh-CN" altLang="en-US" sz="2800" b="1" dirty="0">
                <a:latin typeface="Times New Roman" panose="02020603050405020304" pitchFamily="18" charset="0"/>
              </a:rPr>
              <a:t>或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传递）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闭包</a:t>
            </a:r>
            <a:r>
              <a:rPr lang="zh-CN" altLang="en-US" sz="2800" b="1" dirty="0">
                <a:latin typeface="Times New Roman" panose="02020603050405020304" pitchFamily="18" charset="0"/>
              </a:rPr>
              <a:t>是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上的关系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使得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800" b="1" dirty="0">
                <a:latin typeface="Times New Roman" panose="02020603050405020304" pitchFamily="18" charset="0"/>
              </a:rPr>
              <a:t>满足以下条件：</a:t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800" b="1" dirty="0">
                <a:latin typeface="Times New Roman" panose="02020603050405020304" pitchFamily="18" charset="0"/>
              </a:rPr>
              <a:t>是自反的（对称的或传递的）</a:t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 dirty="0"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</a:rPr>
              <a:t>）对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上任何包含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的自反（对称或传递）关系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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有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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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78185" y="4365104"/>
            <a:ext cx="8473479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800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     一般将 </a:t>
            </a:r>
            <a:r>
              <a:rPr lang="en-US" altLang="zh-CN" sz="2800" b="1" i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sz="2800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的自反闭包记作 </a:t>
            </a:r>
            <a:r>
              <a:rPr lang="en-US" altLang="zh-CN" sz="2800" b="1" i="1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sz="2800" b="1" i="1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对称闭包记作 </a:t>
            </a:r>
            <a:r>
              <a:rPr lang="en-US" altLang="zh-CN" sz="2800" b="1" i="1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800" b="1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sz="2800" b="1" i="1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en-US" altLang="zh-CN" sz="2800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传递闭包记作 </a:t>
            </a:r>
            <a:r>
              <a:rPr lang="en-US" altLang="zh-CN" sz="2800" b="1" i="1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</a:t>
            </a:r>
            <a:r>
              <a:rPr lang="en-US" altLang="zh-CN" sz="2800" b="1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sz="2800" b="1" i="1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zh-CN" altLang="en-US" sz="2800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b="1" kern="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4CDF2D1-2737-4DBE-9FB3-7ED2CE1F0D8E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422920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闭包的构造方法</a:t>
            </a:r>
          </a:p>
        </p:txBody>
      </p:sp>
      <p:sp>
        <p:nvSpPr>
          <p:cNvPr id="105476" name="Text Box 3"/>
          <p:cNvSpPr txBox="1">
            <a:spLocks noChangeArrowheads="1"/>
          </p:cNvSpPr>
          <p:nvPr/>
        </p:nvSpPr>
        <p:spPr bwMode="auto">
          <a:xfrm>
            <a:off x="808038" y="16335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800" b="1"/>
          </a:p>
        </p:txBody>
      </p:sp>
      <p:sp>
        <p:nvSpPr>
          <p:cNvPr id="234500" name="Text Box 4"/>
          <p:cNvSpPr txBox="1">
            <a:spLocks noChangeArrowheads="1"/>
          </p:cNvSpPr>
          <p:nvPr/>
        </p:nvSpPr>
        <p:spPr bwMode="auto">
          <a:xfrm>
            <a:off x="359222" y="1196752"/>
            <a:ext cx="8784778" cy="3053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Clr>
                <a:schemeClr val="bg2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用关系表达式构造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定理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1  </a:t>
            </a:r>
            <a:r>
              <a:rPr lang="zh-CN" altLang="en-US" b="1" dirty="0">
                <a:ea typeface="宋体" charset="-122"/>
              </a:rPr>
              <a:t>设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zh-CN" altLang="en-US" b="1" dirty="0">
                <a:ea typeface="宋体" charset="-122"/>
              </a:rPr>
              <a:t>为</a:t>
            </a:r>
            <a:r>
              <a:rPr lang="en-US" altLang="zh-CN" b="1" i="1" dirty="0">
                <a:ea typeface="宋体" charset="-122"/>
              </a:rPr>
              <a:t>A</a:t>
            </a:r>
            <a:r>
              <a:rPr lang="zh-CN" altLang="en-US" b="1" dirty="0">
                <a:ea typeface="宋体" charset="-122"/>
              </a:rPr>
              <a:t>上的关系</a:t>
            </a:r>
            <a:r>
              <a:rPr lang="en-US" altLang="zh-CN" b="1" dirty="0">
                <a:ea typeface="宋体" charset="-122"/>
              </a:rPr>
              <a:t>, </a:t>
            </a:r>
            <a:r>
              <a:rPr lang="zh-CN" altLang="en-US" b="1" dirty="0">
                <a:ea typeface="宋体" charset="-122"/>
              </a:rPr>
              <a:t>则有      </a:t>
            </a:r>
            <a:br>
              <a:rPr lang="zh-CN" altLang="en-US" b="1" dirty="0">
                <a:ea typeface="宋体" charset="-122"/>
              </a:rPr>
            </a:br>
            <a:r>
              <a:rPr lang="en-US" altLang="zh-CN" b="1" dirty="0">
                <a:ea typeface="宋体" charset="-122"/>
              </a:rPr>
              <a:t>(1) 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dirty="0">
                <a:ea typeface="宋体" charset="-122"/>
              </a:rPr>
              <a:t>(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dirty="0">
                <a:ea typeface="宋体" charset="-122"/>
              </a:rPr>
              <a:t>) = 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dirty="0">
                <a:ea typeface="宋体" charset="-122"/>
              </a:rPr>
              <a:t>∪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baseline="30000" dirty="0">
                <a:ea typeface="宋体" charset="-122"/>
              </a:rPr>
              <a:t>0</a:t>
            </a:r>
            <a:r>
              <a:rPr lang="en-US" altLang="zh-CN" b="1" dirty="0">
                <a:ea typeface="宋体" charset="-122"/>
              </a:rPr>
              <a:t/>
            </a:r>
            <a:br>
              <a:rPr lang="en-US" altLang="zh-CN" b="1" dirty="0">
                <a:ea typeface="宋体" charset="-122"/>
              </a:rPr>
            </a:br>
            <a:r>
              <a:rPr lang="en-US" altLang="zh-CN" b="1" dirty="0">
                <a:ea typeface="宋体" charset="-122"/>
              </a:rPr>
              <a:t>(2) </a:t>
            </a:r>
            <a:r>
              <a:rPr lang="en-US" altLang="zh-CN" b="1" i="1" dirty="0">
                <a:ea typeface="宋体" charset="-122"/>
              </a:rPr>
              <a:t>s</a:t>
            </a:r>
            <a:r>
              <a:rPr lang="en-US" altLang="zh-CN" b="1" dirty="0">
                <a:ea typeface="宋体" charset="-122"/>
              </a:rPr>
              <a:t>(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dirty="0">
                <a:ea typeface="宋体" charset="-122"/>
              </a:rPr>
              <a:t>) = 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dirty="0">
                <a:ea typeface="宋体" charset="-122"/>
              </a:rPr>
              <a:t>∪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baseline="30000" dirty="0">
                <a:ea typeface="宋体" charset="-122"/>
                <a:sym typeface="Symbol" pitchFamily="18" charset="2"/>
              </a:rPr>
              <a:t></a:t>
            </a:r>
            <a:r>
              <a:rPr lang="en-US" altLang="zh-CN" b="1" baseline="30000" dirty="0">
                <a:ea typeface="宋体" charset="-122"/>
              </a:rPr>
              <a:t>1</a:t>
            </a:r>
            <a:r>
              <a:rPr lang="en-US" altLang="zh-CN" b="1" dirty="0">
                <a:ea typeface="宋体" charset="-122"/>
              </a:rPr>
              <a:t/>
            </a:r>
            <a:br>
              <a:rPr lang="en-US" altLang="zh-CN" b="1" dirty="0">
                <a:ea typeface="宋体" charset="-122"/>
              </a:rPr>
            </a:br>
            <a:r>
              <a:rPr lang="en-US" altLang="zh-CN" b="1" dirty="0">
                <a:ea typeface="宋体" charset="-122"/>
              </a:rPr>
              <a:t>(3) </a:t>
            </a:r>
            <a:r>
              <a:rPr lang="en-US" altLang="zh-CN" b="1" i="1" dirty="0">
                <a:ea typeface="宋体" charset="-122"/>
              </a:rPr>
              <a:t>t</a:t>
            </a:r>
            <a:r>
              <a:rPr lang="en-US" altLang="zh-CN" b="1" dirty="0">
                <a:ea typeface="宋体" charset="-122"/>
              </a:rPr>
              <a:t>(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dirty="0">
                <a:ea typeface="宋体" charset="-122"/>
              </a:rPr>
              <a:t>) = 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dirty="0">
                <a:ea typeface="宋体" charset="-122"/>
              </a:rPr>
              <a:t>∪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baseline="30000" dirty="0">
                <a:ea typeface="宋体" charset="-122"/>
              </a:rPr>
              <a:t>2</a:t>
            </a:r>
            <a:r>
              <a:rPr lang="en-US" altLang="zh-CN" b="1" dirty="0">
                <a:ea typeface="宋体" charset="-122"/>
              </a:rPr>
              <a:t>∪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baseline="30000" dirty="0">
                <a:ea typeface="宋体" charset="-122"/>
              </a:rPr>
              <a:t>3</a:t>
            </a:r>
            <a:r>
              <a:rPr lang="en-US" altLang="zh-CN" b="1" dirty="0">
                <a:ea typeface="宋体" charset="-122"/>
              </a:rPr>
              <a:t>∪…</a:t>
            </a:r>
            <a:br>
              <a:rPr lang="en-US" altLang="zh-CN" b="1" dirty="0">
                <a:ea typeface="宋体" charset="-122"/>
              </a:rPr>
            </a:br>
            <a:endParaRPr lang="en-US" altLang="zh-CN" b="1" dirty="0">
              <a:ea typeface="宋体" charset="-12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59222" y="3998754"/>
            <a:ext cx="8784778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buClr>
                <a:schemeClr val="bg2"/>
              </a:buClr>
              <a:buSzPct val="70000"/>
              <a:defRPr/>
            </a:pPr>
            <a:r>
              <a:rPr lang="zh-CN" altLang="en-US" b="1" dirty="0">
                <a:solidFill>
                  <a:srgbClr val="0033CC"/>
                </a:solidFill>
                <a:ea typeface="宋体" charset="-122"/>
              </a:rPr>
              <a:t>说明：</a:t>
            </a:r>
          </a:p>
          <a:p>
            <a:pPr marL="457200" indent="-457200" eaLnBrk="1" hangingPunct="1">
              <a:lnSpc>
                <a:spcPct val="11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ea typeface="宋体" charset="-122"/>
              </a:rPr>
              <a:t>对于有穷集合</a:t>
            </a:r>
            <a:r>
              <a:rPr lang="en-US" altLang="zh-CN" b="1" i="1" dirty="0">
                <a:ea typeface="宋体" charset="-122"/>
              </a:rPr>
              <a:t>A </a:t>
            </a:r>
            <a:r>
              <a:rPr lang="en-US" altLang="zh-CN" b="1" dirty="0">
                <a:ea typeface="宋体" charset="-122"/>
              </a:rPr>
              <a:t>(|</a:t>
            </a:r>
            <a:r>
              <a:rPr lang="en-US" altLang="zh-CN" b="1" i="1" dirty="0">
                <a:ea typeface="宋体" charset="-122"/>
              </a:rPr>
              <a:t>A</a:t>
            </a:r>
            <a:r>
              <a:rPr lang="en-US" altLang="zh-CN" b="1" dirty="0">
                <a:ea typeface="宋体" charset="-122"/>
              </a:rPr>
              <a:t>|=</a:t>
            </a:r>
            <a:r>
              <a:rPr lang="en-US" altLang="zh-CN" b="1" i="1" dirty="0">
                <a:ea typeface="宋体" charset="-122"/>
              </a:rPr>
              <a:t>n</a:t>
            </a:r>
            <a:r>
              <a:rPr lang="en-US" altLang="zh-CN" b="1" dirty="0">
                <a:ea typeface="宋体" charset="-122"/>
              </a:rPr>
              <a:t>) </a:t>
            </a:r>
            <a:r>
              <a:rPr lang="zh-CN" altLang="en-US" b="1" dirty="0">
                <a:ea typeface="宋体" charset="-122"/>
              </a:rPr>
              <a:t>上的关系</a:t>
            </a:r>
            <a:r>
              <a:rPr lang="en-US" altLang="zh-CN" b="1" dirty="0">
                <a:ea typeface="宋体" charset="-122"/>
              </a:rPr>
              <a:t>, (3)</a:t>
            </a:r>
            <a:r>
              <a:rPr lang="zh-CN" altLang="en-US" b="1" dirty="0">
                <a:ea typeface="宋体" charset="-122"/>
              </a:rPr>
              <a:t>中的并是有限的。</a:t>
            </a:r>
            <a:r>
              <a:rPr lang="en-US" altLang="zh-CN" b="1" dirty="0">
                <a:ea typeface="宋体" charset="-122"/>
              </a:rPr>
              <a:t> </a:t>
            </a:r>
          </a:p>
          <a:p>
            <a:pPr marL="457200" indent="-457200" eaLnBrk="1" hangingPunct="1">
              <a:lnSpc>
                <a:spcPct val="11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ea typeface="宋体" charset="-122"/>
              </a:rPr>
              <a:t>若 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zh-CN" altLang="en-US" b="1" dirty="0">
                <a:ea typeface="宋体" charset="-122"/>
              </a:rPr>
              <a:t>是自反的，则 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dirty="0">
                <a:ea typeface="宋体" charset="-122"/>
              </a:rPr>
              <a:t>(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dirty="0">
                <a:ea typeface="宋体" charset="-122"/>
              </a:rPr>
              <a:t>)=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dirty="0">
                <a:ea typeface="宋体" charset="-122"/>
              </a:rPr>
              <a:t>; </a:t>
            </a:r>
            <a:r>
              <a:rPr lang="zh-CN" altLang="en-US" b="1" dirty="0">
                <a:ea typeface="宋体" charset="-122"/>
              </a:rPr>
              <a:t>若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zh-CN" altLang="en-US" b="1" dirty="0">
                <a:ea typeface="宋体" charset="-122"/>
              </a:rPr>
              <a:t>是对称的，则 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b="1" dirty="0">
                <a:ea typeface="宋体" charset="-122"/>
              </a:rPr>
              <a:t>    </a:t>
            </a:r>
            <a:r>
              <a:rPr lang="en-US" altLang="zh-CN" b="1" i="1" dirty="0">
                <a:ea typeface="宋体" charset="-122"/>
              </a:rPr>
              <a:t>s</a:t>
            </a:r>
            <a:r>
              <a:rPr lang="en-US" altLang="zh-CN" b="1" dirty="0">
                <a:ea typeface="宋体" charset="-122"/>
              </a:rPr>
              <a:t>(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dirty="0">
                <a:ea typeface="宋体" charset="-122"/>
              </a:rPr>
              <a:t>)=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dirty="0">
                <a:ea typeface="宋体" charset="-122"/>
              </a:rPr>
              <a:t>;  </a:t>
            </a:r>
            <a:r>
              <a:rPr lang="zh-CN" altLang="en-US" b="1" dirty="0">
                <a:ea typeface="宋体" charset="-122"/>
              </a:rPr>
              <a:t>若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zh-CN" altLang="en-US" b="1" dirty="0">
                <a:ea typeface="宋体" charset="-122"/>
              </a:rPr>
              <a:t>是传递的，则 </a:t>
            </a:r>
            <a:r>
              <a:rPr lang="en-US" altLang="zh-CN" b="1" i="1" dirty="0">
                <a:ea typeface="宋体" charset="-122"/>
              </a:rPr>
              <a:t>t</a:t>
            </a:r>
            <a:r>
              <a:rPr lang="en-US" altLang="zh-CN" b="1" dirty="0">
                <a:ea typeface="宋体" charset="-122"/>
              </a:rPr>
              <a:t>(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dirty="0">
                <a:ea typeface="宋体" charset="-122"/>
              </a:rPr>
              <a:t>)=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zh-CN" altLang="en-US" b="1" i="1" dirty="0">
                <a:ea typeface="宋体" charset="-122"/>
              </a:rPr>
              <a:t>。</a:t>
            </a:r>
            <a:r>
              <a:rPr lang="en-US" altLang="zh-CN" b="1" dirty="0">
                <a:ea typeface="宋体" charset="-122"/>
              </a:rPr>
              <a:t>  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64D94E0-5BC6-4D87-BB6E-7F8816E356DE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313" y="331578"/>
            <a:ext cx="8064500" cy="863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闭包的构造方法（续）</a:t>
            </a:r>
          </a:p>
        </p:txBody>
      </p:sp>
      <p:sp>
        <p:nvSpPr>
          <p:cNvPr id="107528" name="Text Box 2"/>
          <p:cNvSpPr txBox="1">
            <a:spLocks noChangeArrowheads="1"/>
          </p:cNvSpPr>
          <p:nvPr/>
        </p:nvSpPr>
        <p:spPr bwMode="auto">
          <a:xfrm>
            <a:off x="678967" y="1858384"/>
            <a:ext cx="8007833" cy="1212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设关系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),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),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的关系矩阵分别为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07525" name="Text Box 6"/>
          <p:cNvSpPr txBox="1">
            <a:spLocks noChangeArrowheads="1"/>
          </p:cNvSpPr>
          <p:nvPr/>
        </p:nvSpPr>
        <p:spPr bwMode="auto">
          <a:xfrm>
            <a:off x="755650" y="1484313"/>
            <a:ext cx="3816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>
              <a:solidFill>
                <a:srgbClr val="000099"/>
              </a:solidFill>
            </a:endParaRPr>
          </a:p>
        </p:txBody>
      </p:sp>
      <p:sp>
        <p:nvSpPr>
          <p:cNvPr id="235527" name="Text Box 7"/>
          <p:cNvSpPr txBox="1">
            <a:spLocks noChangeArrowheads="1"/>
          </p:cNvSpPr>
          <p:nvPr/>
        </p:nvSpPr>
        <p:spPr bwMode="auto">
          <a:xfrm>
            <a:off x="563563" y="1291556"/>
            <a:ext cx="4321175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用关系矩阵构造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259632" y="3071024"/>
            <a:ext cx="4886523" cy="1772793"/>
          </a:xfrm>
          <a:prstGeom prst="rect">
            <a:avLst/>
          </a:prstGeom>
          <a:solidFill>
            <a:srgbClr val="D9FFFF"/>
          </a:solidFill>
          <a:ln w="25400">
            <a:solidFill>
              <a:srgbClr val="003366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    M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r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 </a:t>
            </a:r>
            <a:r>
              <a:rPr lang="en-US" altLang="zh-CN" sz="2800" b="1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   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   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 </a:t>
            </a:r>
            <a:r>
              <a:rPr lang="en-US" altLang="zh-CN" sz="2800" b="1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 </a:t>
            </a:r>
            <a:r>
              <a:rPr lang="en-US" altLang="zh-CN" sz="2800" b="1" dirty="0">
                <a:latin typeface="Times New Roman" panose="02020603050405020304" pitchFamily="18" charset="0"/>
              </a:rPr>
              <a:t>’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 </a:t>
            </a:r>
            <a:r>
              <a:rPr lang="en-US" altLang="zh-CN" sz="2800" b="1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2 </a:t>
            </a:r>
            <a:r>
              <a:rPr lang="en-US" altLang="zh-CN" sz="2800" b="1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3 </a:t>
            </a:r>
            <a:r>
              <a:rPr lang="en-US" altLang="zh-CN" sz="2800" b="1" dirty="0">
                <a:latin typeface="Times New Roman" panose="02020603050405020304" pitchFamily="18" charset="0"/>
              </a:rPr>
              <a:t>+ …</a:t>
            </a: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563563" y="5035760"/>
            <a:ext cx="7920037" cy="1152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E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是和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 </a:t>
            </a:r>
            <a:r>
              <a:rPr lang="zh-CN" altLang="en-US" sz="2800" b="1" dirty="0">
                <a:latin typeface="Times New Roman" panose="02020603050405020304" pitchFamily="18" charset="0"/>
              </a:rPr>
              <a:t>同阶的单位矩阵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 </a:t>
            </a:r>
            <a:r>
              <a:rPr lang="en-US" altLang="zh-CN" sz="2800" b="1" dirty="0">
                <a:latin typeface="Times New Roman" panose="02020603050405020304" pitchFamily="18" charset="0"/>
              </a:rPr>
              <a:t>’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的转置矩阵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注意在上述等式中矩阵的元素相加时使用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逻辑加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AC7ACDB-4036-4BCA-9BF9-8E90DA5A215E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481980" y="-93662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闭包的构造方法（续）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81980" y="1277938"/>
            <a:ext cx="838835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Clr>
                <a:schemeClr val="bg2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lang="zh-CN" altLang="en-US" sz="32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用关系图构造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b="1" dirty="0">
                <a:ea typeface="宋体" charset="-122"/>
              </a:rPr>
              <a:t>     设关系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dirty="0">
                <a:ea typeface="宋体" charset="-122"/>
              </a:rPr>
              <a:t>, 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dirty="0">
                <a:ea typeface="宋体" charset="-122"/>
              </a:rPr>
              <a:t>(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dirty="0">
                <a:ea typeface="宋体" charset="-122"/>
              </a:rPr>
              <a:t>), </a:t>
            </a:r>
            <a:r>
              <a:rPr lang="en-US" altLang="zh-CN" b="1" i="1" dirty="0">
                <a:ea typeface="宋体" charset="-122"/>
              </a:rPr>
              <a:t>s</a:t>
            </a:r>
            <a:r>
              <a:rPr lang="en-US" altLang="zh-CN" b="1" dirty="0">
                <a:ea typeface="宋体" charset="-122"/>
              </a:rPr>
              <a:t>(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dirty="0">
                <a:ea typeface="宋体" charset="-122"/>
              </a:rPr>
              <a:t>), </a:t>
            </a:r>
            <a:r>
              <a:rPr lang="en-US" altLang="zh-CN" b="1" i="1" dirty="0">
                <a:ea typeface="宋体" charset="-122"/>
              </a:rPr>
              <a:t>t</a:t>
            </a:r>
            <a:r>
              <a:rPr lang="en-US" altLang="zh-CN" b="1" dirty="0">
                <a:ea typeface="宋体" charset="-122"/>
              </a:rPr>
              <a:t>(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dirty="0">
                <a:ea typeface="宋体" charset="-122"/>
              </a:rPr>
              <a:t>)</a:t>
            </a:r>
            <a:r>
              <a:rPr lang="zh-CN" altLang="en-US" b="1" dirty="0">
                <a:ea typeface="宋体" charset="-122"/>
              </a:rPr>
              <a:t>的关系图分别记为</a:t>
            </a:r>
            <a:r>
              <a:rPr lang="en-US" altLang="zh-CN" b="1" i="1" dirty="0">
                <a:ea typeface="宋体" charset="-122"/>
              </a:rPr>
              <a:t>G</a:t>
            </a:r>
            <a:r>
              <a:rPr lang="en-US" altLang="zh-CN" b="1" dirty="0">
                <a:ea typeface="宋体" charset="-122"/>
              </a:rPr>
              <a:t>, </a:t>
            </a:r>
            <a:r>
              <a:rPr lang="en-US" altLang="zh-CN" b="1" i="1" dirty="0">
                <a:ea typeface="宋体" charset="-122"/>
              </a:rPr>
              <a:t>G</a:t>
            </a:r>
            <a:r>
              <a:rPr lang="en-US" altLang="zh-CN" b="1" i="1" baseline="-25000" dirty="0">
                <a:ea typeface="宋体" charset="-122"/>
              </a:rPr>
              <a:t>r</a:t>
            </a:r>
            <a:r>
              <a:rPr lang="en-US" altLang="zh-CN" b="1" dirty="0">
                <a:ea typeface="宋体" charset="-122"/>
              </a:rPr>
              <a:t>, </a:t>
            </a:r>
            <a:r>
              <a:rPr lang="en-US" altLang="zh-CN" b="1" i="1" dirty="0" err="1">
                <a:ea typeface="宋体" charset="-122"/>
              </a:rPr>
              <a:t>G</a:t>
            </a:r>
            <a:r>
              <a:rPr lang="en-US" altLang="zh-CN" b="1" i="1" baseline="-25000" dirty="0" err="1">
                <a:ea typeface="宋体" charset="-122"/>
              </a:rPr>
              <a:t>s</a:t>
            </a:r>
            <a:r>
              <a:rPr lang="en-US" altLang="zh-CN" b="1" dirty="0">
                <a:ea typeface="宋体" charset="-122"/>
              </a:rPr>
              <a:t>, </a:t>
            </a:r>
            <a:r>
              <a:rPr lang="en-US" altLang="zh-CN" b="1" i="1" dirty="0">
                <a:ea typeface="宋体" charset="-122"/>
              </a:rPr>
              <a:t>G</a:t>
            </a:r>
            <a:r>
              <a:rPr lang="en-US" altLang="zh-CN" b="1" i="1" baseline="-25000" dirty="0">
                <a:ea typeface="宋体" charset="-122"/>
              </a:rPr>
              <a:t>t </a:t>
            </a:r>
            <a:r>
              <a:rPr lang="en-US" altLang="zh-CN" b="1" dirty="0">
                <a:ea typeface="宋体" charset="-122"/>
              </a:rPr>
              <a:t>, </a:t>
            </a:r>
            <a:r>
              <a:rPr lang="zh-CN" altLang="en-US" b="1" dirty="0">
                <a:ea typeface="宋体" charset="-122"/>
              </a:rPr>
              <a:t>则</a:t>
            </a:r>
            <a:r>
              <a:rPr lang="en-US" altLang="zh-CN" b="1" i="1" dirty="0">
                <a:ea typeface="宋体" charset="-122"/>
              </a:rPr>
              <a:t>G</a:t>
            </a:r>
            <a:r>
              <a:rPr lang="en-US" altLang="zh-CN" b="1" i="1" baseline="-25000" dirty="0">
                <a:ea typeface="宋体" charset="-122"/>
              </a:rPr>
              <a:t>r</a:t>
            </a:r>
            <a:r>
              <a:rPr lang="en-US" altLang="zh-CN" b="1" dirty="0">
                <a:ea typeface="宋体" charset="-122"/>
              </a:rPr>
              <a:t>, </a:t>
            </a:r>
            <a:r>
              <a:rPr lang="en-US" altLang="zh-CN" b="1" i="1" dirty="0" err="1">
                <a:ea typeface="宋体" charset="-122"/>
              </a:rPr>
              <a:t>G</a:t>
            </a:r>
            <a:r>
              <a:rPr lang="en-US" altLang="zh-CN" b="1" i="1" baseline="-25000" dirty="0" err="1">
                <a:ea typeface="宋体" charset="-122"/>
              </a:rPr>
              <a:t>s</a:t>
            </a:r>
            <a:r>
              <a:rPr lang="en-US" altLang="zh-CN" b="1" dirty="0">
                <a:ea typeface="宋体" charset="-122"/>
              </a:rPr>
              <a:t>, </a:t>
            </a:r>
            <a:r>
              <a:rPr lang="en-US" altLang="zh-CN" b="1" i="1" dirty="0">
                <a:ea typeface="宋体" charset="-122"/>
              </a:rPr>
              <a:t>G</a:t>
            </a:r>
            <a:r>
              <a:rPr lang="en-US" altLang="zh-CN" b="1" i="1" baseline="-25000" dirty="0">
                <a:ea typeface="宋体" charset="-122"/>
              </a:rPr>
              <a:t>t </a:t>
            </a:r>
            <a:r>
              <a:rPr lang="zh-CN" altLang="en-US" b="1" dirty="0">
                <a:ea typeface="宋体" charset="-122"/>
              </a:rPr>
              <a:t>的顶点集与</a:t>
            </a:r>
            <a:r>
              <a:rPr lang="en-US" altLang="zh-CN" b="1" i="1" dirty="0">
                <a:ea typeface="宋体" charset="-122"/>
              </a:rPr>
              <a:t>G </a:t>
            </a:r>
            <a:r>
              <a:rPr lang="zh-CN" altLang="en-US" b="1" dirty="0">
                <a:ea typeface="宋体" charset="-122"/>
              </a:rPr>
              <a:t>的顶点集相等</a:t>
            </a:r>
            <a:r>
              <a:rPr lang="en-US" altLang="zh-CN" b="1" dirty="0">
                <a:ea typeface="宋体" charset="-122"/>
              </a:rPr>
              <a:t>. </a:t>
            </a:r>
            <a:r>
              <a:rPr lang="zh-CN" altLang="en-US" b="1" dirty="0">
                <a:ea typeface="宋体" charset="-122"/>
              </a:rPr>
              <a:t>除了</a:t>
            </a:r>
            <a:r>
              <a:rPr lang="en-US" altLang="zh-CN" b="1" i="1" dirty="0">
                <a:ea typeface="宋体" charset="-122"/>
              </a:rPr>
              <a:t>G </a:t>
            </a:r>
            <a:r>
              <a:rPr lang="zh-CN" altLang="en-US" b="1" dirty="0">
                <a:ea typeface="宋体" charset="-122"/>
              </a:rPr>
              <a:t>的边以外</a:t>
            </a:r>
            <a:r>
              <a:rPr lang="en-US" altLang="zh-CN" b="1" dirty="0">
                <a:ea typeface="宋体" charset="-122"/>
              </a:rPr>
              <a:t>, </a:t>
            </a:r>
            <a:r>
              <a:rPr lang="zh-CN" altLang="en-US" b="1" dirty="0">
                <a:ea typeface="宋体" charset="-122"/>
              </a:rPr>
              <a:t>以下述方法添加新边： </a:t>
            </a:r>
            <a:endParaRPr lang="en-US" altLang="zh-CN" sz="2400" b="1" dirty="0">
              <a:ea typeface="宋体" charset="-122"/>
            </a:endParaRPr>
          </a:p>
          <a:p>
            <a:pPr marL="342900" indent="-34290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考察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G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的每个顶点</a:t>
            </a:r>
            <a:r>
              <a:rPr lang="en-US" altLang="zh-CN" sz="2400" b="1" dirty="0">
                <a:ea typeface="宋体" charset="-122"/>
              </a:rPr>
              <a:t>, </a:t>
            </a:r>
            <a:r>
              <a:rPr lang="zh-CN" altLang="en-US" sz="2400" b="1" dirty="0">
                <a:ea typeface="宋体" charset="-122"/>
              </a:rPr>
              <a:t>如果没有环就加上一个环，最终得到</a:t>
            </a:r>
            <a:r>
              <a:rPr lang="en-US" altLang="zh-CN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G</a:t>
            </a:r>
            <a:r>
              <a:rPr lang="en-US" altLang="zh-CN" sz="2400" b="1" i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r</a:t>
            </a:r>
            <a:r>
              <a:rPr lang="en-US" altLang="zh-CN" sz="2400" b="1" i="1" baseline="-25000" dirty="0">
                <a:ea typeface="宋体" charset="-122"/>
              </a:rPr>
              <a:t> .</a:t>
            </a:r>
            <a:r>
              <a:rPr lang="en-US" altLang="zh-CN" sz="2400" b="1" dirty="0">
                <a:ea typeface="宋体" charset="-122"/>
              </a:rPr>
              <a:t> </a:t>
            </a:r>
          </a:p>
          <a:p>
            <a:pPr marL="342900" indent="-34290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考察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G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的每条边</a:t>
            </a:r>
            <a:r>
              <a:rPr lang="en-US" altLang="zh-CN" sz="2400" b="1" dirty="0">
                <a:ea typeface="宋体" charset="-122"/>
              </a:rPr>
              <a:t>, </a:t>
            </a:r>
            <a:r>
              <a:rPr lang="zh-CN" altLang="en-US" sz="2400" b="1" dirty="0">
                <a:ea typeface="宋体" charset="-122"/>
              </a:rPr>
              <a:t>如果有一条 </a:t>
            </a:r>
            <a:r>
              <a:rPr lang="en-US" altLang="zh-CN" sz="2400" b="1" i="1" dirty="0">
                <a:ea typeface="宋体" charset="-122"/>
              </a:rPr>
              <a:t>x</a:t>
            </a:r>
            <a:r>
              <a:rPr lang="en-US" altLang="zh-CN" sz="2400" b="1" i="1" baseline="-25000" dirty="0">
                <a:ea typeface="宋体" charset="-122"/>
              </a:rPr>
              <a:t>i </a:t>
            </a:r>
            <a:r>
              <a:rPr lang="zh-CN" altLang="en-US" sz="2400" b="1" dirty="0">
                <a:ea typeface="宋体" charset="-122"/>
              </a:rPr>
              <a:t>到 </a:t>
            </a:r>
            <a:r>
              <a:rPr lang="en-US" altLang="zh-CN" sz="2400" b="1" i="1" dirty="0" err="1">
                <a:ea typeface="宋体" charset="-122"/>
              </a:rPr>
              <a:t>x</a:t>
            </a:r>
            <a:r>
              <a:rPr lang="en-US" altLang="zh-CN" sz="2400" b="1" i="1" baseline="-25000" dirty="0" err="1">
                <a:ea typeface="宋体" charset="-122"/>
              </a:rPr>
              <a:t>j</a:t>
            </a:r>
            <a:r>
              <a:rPr lang="en-US" altLang="zh-CN" sz="2400" b="1" i="1" baseline="-25000" dirty="0">
                <a:ea typeface="宋体" charset="-122"/>
              </a:rPr>
              <a:t> </a:t>
            </a:r>
            <a:r>
              <a:rPr lang="zh-CN" altLang="en-US" sz="2400" b="1" dirty="0">
                <a:ea typeface="宋体" charset="-122"/>
              </a:rPr>
              <a:t>的单向边</a:t>
            </a:r>
            <a:r>
              <a:rPr lang="en-US" altLang="zh-CN" sz="2400" b="1" dirty="0">
                <a:ea typeface="宋体" charset="-122"/>
              </a:rPr>
              <a:t>, </a:t>
            </a:r>
            <a:r>
              <a:rPr lang="en-US" altLang="zh-CN" sz="2400" b="1" i="1" dirty="0" err="1">
                <a:ea typeface="宋体" charset="-122"/>
              </a:rPr>
              <a:t>i</a:t>
            </a:r>
            <a:r>
              <a:rPr lang="en-US" altLang="zh-CN" sz="2400" b="1" dirty="0" err="1">
                <a:ea typeface="宋体" charset="-122"/>
              </a:rPr>
              <a:t>≠</a:t>
            </a:r>
            <a:r>
              <a:rPr lang="en-US" altLang="zh-CN" sz="2400" b="1" i="1" dirty="0" err="1">
                <a:ea typeface="宋体" charset="-122"/>
              </a:rPr>
              <a:t>j</a:t>
            </a:r>
            <a:r>
              <a:rPr lang="en-US" altLang="zh-CN" sz="2400" b="1" dirty="0">
                <a:ea typeface="宋体" charset="-122"/>
              </a:rPr>
              <a:t>, </a:t>
            </a:r>
            <a:r>
              <a:rPr lang="zh-CN" altLang="en-US" sz="2400" b="1" dirty="0">
                <a:ea typeface="宋体" charset="-122"/>
              </a:rPr>
              <a:t>则在</a:t>
            </a:r>
            <a:r>
              <a:rPr lang="en-US" altLang="zh-CN" sz="2400" b="1" i="1" dirty="0">
                <a:ea typeface="宋体" charset="-122"/>
              </a:rPr>
              <a:t>G</a:t>
            </a:r>
            <a:r>
              <a:rPr lang="zh-CN" altLang="en-US" sz="2400" b="1" dirty="0">
                <a:ea typeface="宋体" charset="-122"/>
              </a:rPr>
              <a:t>中加一条 </a:t>
            </a:r>
            <a:r>
              <a:rPr lang="en-US" altLang="zh-CN" sz="2400" b="1" i="1" dirty="0" err="1">
                <a:ea typeface="宋体" charset="-122"/>
              </a:rPr>
              <a:t>x</a:t>
            </a:r>
            <a:r>
              <a:rPr lang="en-US" altLang="zh-CN" sz="2400" b="1" i="1" baseline="-25000" dirty="0" err="1">
                <a:ea typeface="宋体" charset="-122"/>
              </a:rPr>
              <a:t>j</a:t>
            </a:r>
            <a:r>
              <a:rPr lang="en-US" altLang="zh-CN" sz="2400" b="1" i="1" baseline="-25000" dirty="0">
                <a:ea typeface="宋体" charset="-122"/>
              </a:rPr>
              <a:t> </a:t>
            </a:r>
            <a:r>
              <a:rPr lang="zh-CN" altLang="en-US" sz="2400" b="1" dirty="0">
                <a:ea typeface="宋体" charset="-122"/>
              </a:rPr>
              <a:t>到 </a:t>
            </a:r>
            <a:r>
              <a:rPr lang="en-US" altLang="zh-CN" sz="2400" b="1" i="1" dirty="0">
                <a:ea typeface="宋体" charset="-122"/>
              </a:rPr>
              <a:t>x</a:t>
            </a:r>
            <a:r>
              <a:rPr lang="en-US" altLang="zh-CN" sz="2400" b="1" i="1" baseline="-25000" dirty="0">
                <a:ea typeface="宋体" charset="-122"/>
              </a:rPr>
              <a:t>i </a:t>
            </a:r>
            <a:r>
              <a:rPr lang="zh-CN" altLang="en-US" sz="2400" b="1" dirty="0">
                <a:ea typeface="宋体" charset="-122"/>
              </a:rPr>
              <a:t>的反方向边，最终得到</a:t>
            </a:r>
            <a:r>
              <a:rPr lang="en-US" altLang="zh-CN" sz="2400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G</a:t>
            </a:r>
            <a:r>
              <a:rPr lang="en-US" altLang="zh-CN" sz="2400" b="1" i="1" baseline="-250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s</a:t>
            </a:r>
            <a:r>
              <a:rPr lang="en-US" altLang="zh-CN" sz="2400" b="1" dirty="0">
                <a:ea typeface="宋体" charset="-122"/>
              </a:rPr>
              <a:t>.  </a:t>
            </a:r>
          </a:p>
          <a:p>
            <a:pPr marL="342900" indent="-34290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考察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G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的每个顶点 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x</a:t>
            </a:r>
            <a:r>
              <a:rPr lang="en-US" altLang="zh-CN" sz="24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i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,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找从 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x</a:t>
            </a:r>
            <a:r>
              <a:rPr lang="en-US" altLang="zh-CN" sz="24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i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出发的每一条路径</a:t>
            </a:r>
            <a:r>
              <a:rPr lang="zh-CN" altLang="en-US" sz="2400" b="1" dirty="0">
                <a:ea typeface="宋体" charset="-122"/>
              </a:rPr>
              <a:t>，如果从 </a:t>
            </a:r>
            <a:r>
              <a:rPr lang="en-US" altLang="zh-CN" sz="2400" b="1" i="1" dirty="0">
                <a:ea typeface="宋体" charset="-122"/>
              </a:rPr>
              <a:t>x</a:t>
            </a:r>
            <a:r>
              <a:rPr lang="en-US" altLang="zh-CN" sz="2400" b="1" i="1" baseline="-25000" dirty="0">
                <a:ea typeface="宋体" charset="-122"/>
              </a:rPr>
              <a:t>i </a:t>
            </a:r>
            <a:r>
              <a:rPr lang="zh-CN" altLang="en-US" sz="2400" b="1" dirty="0">
                <a:ea typeface="宋体" charset="-122"/>
              </a:rPr>
              <a:t>可到达路径中的任何结点 </a:t>
            </a:r>
            <a:r>
              <a:rPr lang="en-US" altLang="zh-CN" sz="2400" b="1" i="1" dirty="0" err="1">
                <a:ea typeface="宋体" charset="-122"/>
              </a:rPr>
              <a:t>x</a:t>
            </a:r>
            <a:r>
              <a:rPr lang="en-US" altLang="zh-CN" sz="2400" b="1" i="1" baseline="-25000" dirty="0" err="1">
                <a:ea typeface="宋体" charset="-122"/>
              </a:rPr>
              <a:t>j</a:t>
            </a:r>
            <a:r>
              <a:rPr lang="en-US" altLang="zh-CN" sz="2400" b="1" i="1" baseline="-25000" dirty="0">
                <a:ea typeface="宋体" charset="-122"/>
              </a:rPr>
              <a:t> </a:t>
            </a:r>
            <a:r>
              <a:rPr lang="zh-CN" altLang="en-US" sz="2400" b="1" i="1" baseline="-25000" dirty="0">
                <a:ea typeface="宋体" charset="-122"/>
              </a:rPr>
              <a:t>，</a:t>
            </a:r>
            <a:r>
              <a:rPr lang="zh-CN" altLang="en-US" sz="2400" b="1" dirty="0">
                <a:ea typeface="宋体" charset="-122"/>
              </a:rPr>
              <a:t>但</a:t>
            </a:r>
            <a:r>
              <a:rPr lang="en-US" altLang="zh-CN" sz="2400" b="1" i="1" dirty="0">
                <a:ea typeface="宋体" charset="-122"/>
              </a:rPr>
              <a:t>x</a:t>
            </a:r>
            <a:r>
              <a:rPr lang="en-US" altLang="zh-CN" sz="2400" b="1" i="1" baseline="-25000" dirty="0">
                <a:ea typeface="宋体" charset="-122"/>
              </a:rPr>
              <a:t>i</a:t>
            </a:r>
            <a:r>
              <a:rPr lang="zh-CN" altLang="en-US" sz="2400" b="1" dirty="0">
                <a:ea typeface="宋体" charset="-122"/>
              </a:rPr>
              <a:t>到</a:t>
            </a:r>
            <a:r>
              <a:rPr lang="en-US" altLang="zh-CN" sz="2400" b="1" i="1" dirty="0" err="1">
                <a:ea typeface="宋体" charset="-122"/>
              </a:rPr>
              <a:t>x</a:t>
            </a:r>
            <a:r>
              <a:rPr lang="en-US" altLang="zh-CN" sz="2400" b="1" i="1" baseline="-25000" dirty="0" err="1">
                <a:ea typeface="宋体" charset="-122"/>
              </a:rPr>
              <a:t>j</a:t>
            </a:r>
            <a:r>
              <a:rPr lang="zh-CN" altLang="en-US" sz="2400" b="1" dirty="0">
                <a:ea typeface="宋体" charset="-122"/>
              </a:rPr>
              <a:t>没有边，就加上这条边</a:t>
            </a:r>
            <a:r>
              <a:rPr lang="en-US" altLang="zh-CN" sz="2400" b="1" dirty="0">
                <a:ea typeface="宋体" charset="-122"/>
              </a:rPr>
              <a:t>. </a:t>
            </a:r>
            <a:r>
              <a:rPr lang="zh-CN" altLang="en-US" sz="2400" b="1" dirty="0">
                <a:ea typeface="宋体" charset="-122"/>
              </a:rPr>
              <a:t>当检查完所有的顶点后就得到图</a:t>
            </a:r>
            <a:r>
              <a:rPr lang="en-US" altLang="zh-CN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G</a:t>
            </a:r>
            <a:r>
              <a:rPr lang="en-US" altLang="zh-CN" sz="2400" b="1" i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t</a:t>
            </a:r>
            <a:r>
              <a:rPr lang="en-US" altLang="zh-CN" sz="2400" b="1" i="1" baseline="-25000" dirty="0">
                <a:ea typeface="宋体" charset="-122"/>
              </a:rPr>
              <a:t> </a:t>
            </a:r>
            <a:r>
              <a:rPr lang="en-US" altLang="zh-CN" sz="2400" b="1" dirty="0">
                <a:ea typeface="宋体" charset="-122"/>
              </a:rPr>
              <a:t>.  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E09772-C245-46CB-804E-6E55D150967F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pic>
        <p:nvPicPr>
          <p:cNvPr id="11059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b="4350"/>
          <a:stretch>
            <a:fillRect/>
          </a:stretch>
        </p:blipFill>
        <p:spPr bwMode="auto">
          <a:xfrm>
            <a:off x="539750" y="2736169"/>
            <a:ext cx="7416800" cy="345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596" name="Rectangle 2"/>
          <p:cNvSpPr>
            <a:spLocks noGrp="1" noChangeArrowheads="1"/>
          </p:cNvSpPr>
          <p:nvPr>
            <p:ph type="title"/>
          </p:nvPr>
        </p:nvSpPr>
        <p:spPr>
          <a:xfrm>
            <a:off x="509066" y="203448"/>
            <a:ext cx="7993063" cy="863600"/>
          </a:xfrm>
        </p:spPr>
        <p:txBody>
          <a:bodyPr/>
          <a:lstStyle/>
          <a:p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110597" name="Text Box 3"/>
          <p:cNvSpPr txBox="1">
            <a:spLocks noChangeArrowheads="1"/>
          </p:cNvSpPr>
          <p:nvPr/>
        </p:nvSpPr>
        <p:spPr bwMode="auto">
          <a:xfrm>
            <a:off x="510654" y="1372642"/>
            <a:ext cx="7991475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&gt;},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的关系图如下图所示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110598" name="Text Box 5"/>
          <p:cNvSpPr txBox="1">
            <a:spLocks noChangeArrowheads="1"/>
          </p:cNvSpPr>
          <p:nvPr/>
        </p:nvSpPr>
        <p:spPr bwMode="auto">
          <a:xfrm>
            <a:off x="2339975" y="3933825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10599" name="Text Box 6"/>
          <p:cNvSpPr txBox="1">
            <a:spLocks noChangeArrowheads="1"/>
          </p:cNvSpPr>
          <p:nvPr/>
        </p:nvSpPr>
        <p:spPr bwMode="auto">
          <a:xfrm>
            <a:off x="6047581" y="3679416"/>
            <a:ext cx="620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000" b="1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10600" name="Text Box 7"/>
          <p:cNvSpPr txBox="1">
            <a:spLocks noChangeArrowheads="1"/>
          </p:cNvSpPr>
          <p:nvPr/>
        </p:nvSpPr>
        <p:spPr bwMode="auto">
          <a:xfrm>
            <a:off x="2339975" y="5805488"/>
            <a:ext cx="620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>
                <a:latin typeface="Times New Roman" panose="02020603050405020304" pitchFamily="18" charset="0"/>
              </a:rPr>
              <a:t>s</a:t>
            </a:r>
            <a:r>
              <a:rPr lang="en-US" altLang="zh-CN" sz="2000" b="1">
                <a:latin typeface="Times New Roman" panose="02020603050405020304" pitchFamily="18" charset="0"/>
              </a:rPr>
              <a:t>(</a:t>
            </a:r>
            <a:r>
              <a:rPr lang="en-US" altLang="zh-CN" sz="2000" b="1" i="1">
                <a:latin typeface="Times New Roman" panose="02020603050405020304" pitchFamily="18" charset="0"/>
              </a:rPr>
              <a:t>R</a:t>
            </a:r>
            <a:r>
              <a:rPr lang="en-US" altLang="zh-CN" sz="20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10601" name="Text Box 8"/>
          <p:cNvSpPr txBox="1">
            <a:spLocks noChangeArrowheads="1"/>
          </p:cNvSpPr>
          <p:nvPr/>
        </p:nvSpPr>
        <p:spPr bwMode="auto">
          <a:xfrm>
            <a:off x="6085904" y="5851525"/>
            <a:ext cx="592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000" b="1" dirty="0"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A104318-091A-42C6-B01D-2E7FB8DB575E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11619" name="Text Box 4"/>
          <p:cNvSpPr txBox="1">
            <a:spLocks noChangeArrowheads="1"/>
          </p:cNvSpPr>
          <p:nvPr/>
        </p:nvSpPr>
        <p:spPr bwMode="auto">
          <a:xfrm>
            <a:off x="323528" y="332656"/>
            <a:ext cx="87487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课堂练习：给出关系</a:t>
            </a:r>
            <a:r>
              <a:rPr lang="en-US" altLang="zh-CN" sz="36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zh-CN" altLang="en-US" sz="36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的</a:t>
            </a:r>
            <a:r>
              <a:rPr lang="en-US" altLang="zh-CN" sz="36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36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sz="36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36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), </a:t>
            </a:r>
            <a:r>
              <a:rPr lang="en-US" altLang="zh-CN" sz="36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36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sz="36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36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), </a:t>
            </a:r>
            <a:r>
              <a:rPr lang="en-US" altLang="zh-CN" sz="36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</a:t>
            </a:r>
            <a:r>
              <a:rPr lang="en-US" altLang="zh-CN" sz="36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sz="36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36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</a:p>
        </p:txBody>
      </p:sp>
      <p:pic>
        <p:nvPicPr>
          <p:cNvPr id="111620" name="Picture 3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772816"/>
            <a:ext cx="40481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A104318-091A-42C6-B01D-2E7FB8DB575E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11619" name="Text Box 4"/>
          <p:cNvSpPr txBox="1">
            <a:spLocks noChangeArrowheads="1"/>
          </p:cNvSpPr>
          <p:nvPr/>
        </p:nvSpPr>
        <p:spPr bwMode="auto">
          <a:xfrm>
            <a:off x="452509" y="434017"/>
            <a:ext cx="87487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解；</a:t>
            </a:r>
            <a:endParaRPr lang="en-US" altLang="zh-CN" sz="3600" b="1" dirty="0">
              <a:solidFill>
                <a:srgbClr val="3366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grpSp>
        <p:nvGrpSpPr>
          <p:cNvPr id="111655" name="组合 111654"/>
          <p:cNvGrpSpPr/>
          <p:nvPr/>
        </p:nvGrpSpPr>
        <p:grpSpPr>
          <a:xfrm>
            <a:off x="2228937" y="1497527"/>
            <a:ext cx="3095908" cy="1086214"/>
            <a:chOff x="762990" y="1323192"/>
            <a:chExt cx="3095908" cy="1086214"/>
          </a:xfrm>
        </p:grpSpPr>
        <p:grpSp>
          <p:nvGrpSpPr>
            <p:cNvPr id="30" name="组合 29"/>
            <p:cNvGrpSpPr/>
            <p:nvPr/>
          </p:nvGrpSpPr>
          <p:grpSpPr>
            <a:xfrm>
              <a:off x="832997" y="1772816"/>
              <a:ext cx="3024187" cy="636590"/>
              <a:chOff x="827584" y="3666780"/>
              <a:chExt cx="3024187" cy="636590"/>
            </a:xfrm>
          </p:grpSpPr>
          <p:grpSp>
            <p:nvGrpSpPr>
              <p:cNvPr id="6" name="Group 16"/>
              <p:cNvGrpSpPr>
                <a:grpSpLocks/>
              </p:cNvGrpSpPr>
              <p:nvPr/>
            </p:nvGrpSpPr>
            <p:grpSpPr bwMode="auto">
              <a:xfrm>
                <a:off x="1085885" y="3712820"/>
                <a:ext cx="2522538" cy="92075"/>
                <a:chOff x="3334" y="1207"/>
                <a:chExt cx="1589" cy="58"/>
              </a:xfrm>
            </p:grpSpPr>
            <p:sp>
              <p:nvSpPr>
                <p:cNvPr id="11" name="Oval 17"/>
                <p:cNvSpPr>
                  <a:spLocks noChangeArrowheads="1"/>
                </p:cNvSpPr>
                <p:nvPr/>
              </p:nvSpPr>
              <p:spPr bwMode="auto">
                <a:xfrm>
                  <a:off x="4332" y="1220"/>
                  <a:ext cx="45" cy="45"/>
                </a:xfrm>
                <a:prstGeom prst="ellipse">
                  <a:avLst/>
                </a:prstGeom>
                <a:solidFill>
                  <a:srgbClr val="000000"/>
                </a:solidFill>
                <a:ln w="254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800">
                    <a:solidFill>
                      <a:srgbClr val="000099"/>
                    </a:solidFill>
                  </a:endParaRPr>
                </a:p>
              </p:txBody>
            </p:sp>
            <p:sp>
              <p:nvSpPr>
                <p:cNvPr id="12" name="Oval 18"/>
                <p:cNvSpPr>
                  <a:spLocks noChangeArrowheads="1"/>
                </p:cNvSpPr>
                <p:nvPr/>
              </p:nvSpPr>
              <p:spPr bwMode="auto">
                <a:xfrm>
                  <a:off x="3787" y="1207"/>
                  <a:ext cx="45" cy="45"/>
                </a:xfrm>
                <a:prstGeom prst="ellipse">
                  <a:avLst/>
                </a:prstGeom>
                <a:solidFill>
                  <a:srgbClr val="000000"/>
                </a:solidFill>
                <a:ln w="254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800">
                    <a:solidFill>
                      <a:srgbClr val="000099"/>
                    </a:solidFill>
                  </a:endParaRPr>
                </a:p>
              </p:txBody>
            </p:sp>
            <p:sp>
              <p:nvSpPr>
                <p:cNvPr id="22" name="Oval 20"/>
                <p:cNvSpPr>
                  <a:spLocks noChangeArrowheads="1"/>
                </p:cNvSpPr>
                <p:nvPr/>
              </p:nvSpPr>
              <p:spPr bwMode="auto">
                <a:xfrm>
                  <a:off x="3334" y="1207"/>
                  <a:ext cx="45" cy="45"/>
                </a:xfrm>
                <a:prstGeom prst="ellipse">
                  <a:avLst/>
                </a:prstGeom>
                <a:solidFill>
                  <a:srgbClr val="000000"/>
                </a:solidFill>
                <a:ln w="254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800">
                    <a:solidFill>
                      <a:srgbClr val="000099"/>
                    </a:solidFill>
                  </a:endParaRPr>
                </a:p>
              </p:txBody>
            </p:sp>
            <p:sp>
              <p:nvSpPr>
                <p:cNvPr id="19" name="Oval 24"/>
                <p:cNvSpPr>
                  <a:spLocks noChangeArrowheads="1"/>
                </p:cNvSpPr>
                <p:nvPr/>
              </p:nvSpPr>
              <p:spPr bwMode="auto">
                <a:xfrm>
                  <a:off x="4878" y="1220"/>
                  <a:ext cx="45" cy="45"/>
                </a:xfrm>
                <a:prstGeom prst="ellipse">
                  <a:avLst/>
                </a:prstGeom>
                <a:solidFill>
                  <a:srgbClr val="000000"/>
                </a:solidFill>
                <a:ln w="254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800">
                    <a:solidFill>
                      <a:srgbClr val="000099"/>
                    </a:solidFill>
                  </a:endParaRPr>
                </a:p>
              </p:txBody>
            </p:sp>
          </p:grpSp>
          <p:sp>
            <p:nvSpPr>
              <p:cNvPr id="7" name="Text Box 31"/>
              <p:cNvSpPr txBox="1">
                <a:spLocks noChangeArrowheads="1"/>
              </p:cNvSpPr>
              <p:nvPr/>
            </p:nvSpPr>
            <p:spPr bwMode="auto">
              <a:xfrm>
                <a:off x="827584" y="3724153"/>
                <a:ext cx="475333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 b="1" i="1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8" name="Text Box 32"/>
              <p:cNvSpPr txBox="1">
                <a:spLocks noChangeArrowheads="1"/>
              </p:cNvSpPr>
              <p:nvPr/>
            </p:nvSpPr>
            <p:spPr bwMode="auto">
              <a:xfrm>
                <a:off x="1525521" y="3784258"/>
                <a:ext cx="576262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 b="1" i="1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9" name="Text Box 33"/>
              <p:cNvSpPr txBox="1">
                <a:spLocks noChangeArrowheads="1"/>
              </p:cNvSpPr>
              <p:nvPr/>
            </p:nvSpPr>
            <p:spPr bwMode="auto">
              <a:xfrm>
                <a:off x="2483346" y="3712820"/>
                <a:ext cx="576262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 b="1" i="1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10" name="Text Box 34"/>
              <p:cNvSpPr txBox="1">
                <a:spLocks noChangeArrowheads="1"/>
              </p:cNvSpPr>
              <p:nvPr/>
            </p:nvSpPr>
            <p:spPr bwMode="auto">
              <a:xfrm>
                <a:off x="3275509" y="3712820"/>
                <a:ext cx="576262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 b="1" i="1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3" name="连接符: 曲线 2"/>
              <p:cNvCxnSpPr>
                <a:cxnSpLocks/>
              </p:cNvCxnSpPr>
              <p:nvPr/>
            </p:nvCxnSpPr>
            <p:spPr bwMode="auto">
              <a:xfrm rot="5400000" flipH="1" flipV="1">
                <a:off x="3131379" y="3277048"/>
                <a:ext cx="12700" cy="792163"/>
              </a:xfrm>
              <a:prstGeom prst="curvedConnector3">
                <a:avLst>
                  <a:gd name="adj1" fmla="val 1800000"/>
                </a:avLst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31" name="连接符: 曲线 30"/>
              <p:cNvCxnSpPr>
                <a:cxnSpLocks/>
              </p:cNvCxnSpPr>
              <p:nvPr/>
            </p:nvCxnSpPr>
            <p:spPr bwMode="auto">
              <a:xfrm rot="5400000" flipH="1" flipV="1">
                <a:off x="2303498" y="3306418"/>
                <a:ext cx="12700" cy="792163"/>
              </a:xfrm>
              <a:prstGeom prst="curvedConnector3">
                <a:avLst>
                  <a:gd name="adj1" fmla="val 1800000"/>
                </a:avLst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32" name="连接符: 曲线 31"/>
              <p:cNvCxnSpPr>
                <a:cxnSpLocks/>
              </p:cNvCxnSpPr>
              <p:nvPr/>
            </p:nvCxnSpPr>
            <p:spPr bwMode="auto">
              <a:xfrm rot="5400000" flipH="1" flipV="1">
                <a:off x="1475617" y="3293718"/>
                <a:ext cx="12700" cy="792163"/>
              </a:xfrm>
              <a:prstGeom prst="curvedConnector3">
                <a:avLst>
                  <a:gd name="adj1" fmla="val 1800000"/>
                </a:avLst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33" name="连接符: 曲线 32"/>
              <p:cNvCxnSpPr>
                <a:cxnSpLocks/>
              </p:cNvCxnSpPr>
              <p:nvPr/>
            </p:nvCxnSpPr>
            <p:spPr bwMode="auto">
              <a:xfrm rot="5400000" flipH="1" flipV="1">
                <a:off x="2278579" y="3412784"/>
                <a:ext cx="12700" cy="792163"/>
              </a:xfrm>
              <a:prstGeom prst="curvedConnector3">
                <a:avLst>
                  <a:gd name="adj1" fmla="val -1454819"/>
                </a:avLst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none"/>
              </a:ln>
              <a:effectLst/>
            </p:spPr>
          </p:cxnSp>
        </p:grpSp>
        <p:grpSp>
          <p:nvGrpSpPr>
            <p:cNvPr id="46" name="组合 45"/>
            <p:cNvGrpSpPr/>
            <p:nvPr/>
          </p:nvGrpSpPr>
          <p:grpSpPr>
            <a:xfrm>
              <a:off x="3498858" y="1397202"/>
              <a:ext cx="360040" cy="360040"/>
              <a:chOff x="6660232" y="4437112"/>
              <a:chExt cx="370384" cy="432048"/>
            </a:xfrm>
          </p:grpSpPr>
          <p:sp>
            <p:nvSpPr>
              <p:cNvPr id="34" name="流程图: 接点 33"/>
              <p:cNvSpPr/>
              <p:nvPr/>
            </p:nvSpPr>
            <p:spPr bwMode="auto">
              <a:xfrm>
                <a:off x="6660232" y="4437112"/>
                <a:ext cx="370384" cy="432048"/>
              </a:xfrm>
              <a:prstGeom prst="flowChartConnector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cxnSp>
            <p:nvCxnSpPr>
              <p:cNvPr id="36" name="直接箭头连接符 35"/>
              <p:cNvCxnSpPr>
                <a:cxnSpLocks/>
                <a:endCxn id="34" idx="2"/>
              </p:cNvCxnSpPr>
              <p:nvPr/>
            </p:nvCxnSpPr>
            <p:spPr bwMode="auto">
              <a:xfrm flipH="1">
                <a:off x="6660232" y="4545124"/>
                <a:ext cx="33964" cy="10801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78" name="组合 77"/>
            <p:cNvGrpSpPr/>
            <p:nvPr/>
          </p:nvGrpSpPr>
          <p:grpSpPr>
            <a:xfrm>
              <a:off x="2589520" y="1350637"/>
              <a:ext cx="360040" cy="360040"/>
              <a:chOff x="6660232" y="4437112"/>
              <a:chExt cx="370384" cy="432048"/>
            </a:xfrm>
          </p:grpSpPr>
          <p:sp>
            <p:nvSpPr>
              <p:cNvPr id="79" name="流程图: 接点 78"/>
              <p:cNvSpPr/>
              <p:nvPr/>
            </p:nvSpPr>
            <p:spPr bwMode="auto">
              <a:xfrm>
                <a:off x="6660232" y="4437112"/>
                <a:ext cx="370384" cy="432048"/>
              </a:xfrm>
              <a:prstGeom prst="flowChartConnector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cxnSp>
            <p:nvCxnSpPr>
              <p:cNvPr id="80" name="直接箭头连接符 79"/>
              <p:cNvCxnSpPr>
                <a:cxnSpLocks/>
                <a:endCxn id="79" idx="2"/>
              </p:cNvCxnSpPr>
              <p:nvPr/>
            </p:nvCxnSpPr>
            <p:spPr bwMode="auto">
              <a:xfrm flipH="1">
                <a:off x="6660232" y="4545124"/>
                <a:ext cx="33964" cy="10801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81" name="组合 80"/>
            <p:cNvGrpSpPr/>
            <p:nvPr/>
          </p:nvGrpSpPr>
          <p:grpSpPr>
            <a:xfrm>
              <a:off x="1766896" y="1323192"/>
              <a:ext cx="360040" cy="360040"/>
              <a:chOff x="6660232" y="4437112"/>
              <a:chExt cx="370384" cy="432048"/>
            </a:xfrm>
          </p:grpSpPr>
          <p:sp>
            <p:nvSpPr>
              <p:cNvPr id="82" name="流程图: 接点 81"/>
              <p:cNvSpPr/>
              <p:nvPr/>
            </p:nvSpPr>
            <p:spPr bwMode="auto">
              <a:xfrm>
                <a:off x="6660232" y="4437112"/>
                <a:ext cx="370384" cy="432048"/>
              </a:xfrm>
              <a:prstGeom prst="flowChartConnector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cxnSp>
            <p:nvCxnSpPr>
              <p:cNvPr id="83" name="直接箭头连接符 82"/>
              <p:cNvCxnSpPr>
                <a:cxnSpLocks/>
                <a:endCxn id="82" idx="2"/>
              </p:cNvCxnSpPr>
              <p:nvPr/>
            </p:nvCxnSpPr>
            <p:spPr bwMode="auto">
              <a:xfrm flipH="1">
                <a:off x="6660232" y="4545124"/>
                <a:ext cx="33964" cy="10801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84" name="组合 83"/>
            <p:cNvGrpSpPr/>
            <p:nvPr/>
          </p:nvGrpSpPr>
          <p:grpSpPr>
            <a:xfrm>
              <a:off x="762990" y="1470149"/>
              <a:ext cx="360040" cy="360040"/>
              <a:chOff x="6660232" y="4437112"/>
              <a:chExt cx="370384" cy="432048"/>
            </a:xfrm>
          </p:grpSpPr>
          <p:sp>
            <p:nvSpPr>
              <p:cNvPr id="85" name="流程图: 接点 84"/>
              <p:cNvSpPr/>
              <p:nvPr/>
            </p:nvSpPr>
            <p:spPr bwMode="auto">
              <a:xfrm>
                <a:off x="6660232" y="4437112"/>
                <a:ext cx="370384" cy="432048"/>
              </a:xfrm>
              <a:prstGeom prst="flowChartConnector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cxnSp>
            <p:nvCxnSpPr>
              <p:cNvPr id="86" name="直接箭头连接符 85"/>
              <p:cNvCxnSpPr>
                <a:cxnSpLocks/>
                <a:endCxn id="85" idx="2"/>
              </p:cNvCxnSpPr>
              <p:nvPr/>
            </p:nvCxnSpPr>
            <p:spPr bwMode="auto">
              <a:xfrm flipH="1">
                <a:off x="6660232" y="4545124"/>
                <a:ext cx="33964" cy="10801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</p:grpSp>
      <p:grpSp>
        <p:nvGrpSpPr>
          <p:cNvPr id="48" name="组合 47"/>
          <p:cNvGrpSpPr/>
          <p:nvPr/>
        </p:nvGrpSpPr>
        <p:grpSpPr>
          <a:xfrm>
            <a:off x="2120638" y="3352911"/>
            <a:ext cx="3024187" cy="636590"/>
            <a:chOff x="976665" y="3297804"/>
            <a:chExt cx="3024187" cy="636590"/>
          </a:xfrm>
        </p:grpSpPr>
        <p:grpSp>
          <p:nvGrpSpPr>
            <p:cNvPr id="51" name="Group 16"/>
            <p:cNvGrpSpPr>
              <a:grpSpLocks/>
            </p:cNvGrpSpPr>
            <p:nvPr/>
          </p:nvGrpSpPr>
          <p:grpSpPr bwMode="auto">
            <a:xfrm>
              <a:off x="1234966" y="3343844"/>
              <a:ext cx="2522538" cy="92075"/>
              <a:chOff x="3334" y="1207"/>
              <a:chExt cx="1589" cy="58"/>
            </a:xfrm>
          </p:grpSpPr>
          <p:sp>
            <p:nvSpPr>
              <p:cNvPr id="60" name="Oval 17"/>
              <p:cNvSpPr>
                <a:spLocks noChangeArrowheads="1"/>
              </p:cNvSpPr>
              <p:nvPr/>
            </p:nvSpPr>
            <p:spPr bwMode="auto">
              <a:xfrm>
                <a:off x="4332" y="1220"/>
                <a:ext cx="45" cy="45"/>
              </a:xfrm>
              <a:prstGeom prst="ellipse">
                <a:avLst/>
              </a:prstGeom>
              <a:solidFill>
                <a:srgbClr val="000000"/>
              </a:solidFill>
              <a:ln w="254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solidFill>
                    <a:srgbClr val="000099"/>
                  </a:solidFill>
                </a:endParaRPr>
              </a:p>
            </p:txBody>
          </p:sp>
          <p:sp>
            <p:nvSpPr>
              <p:cNvPr id="61" name="Oval 18"/>
              <p:cNvSpPr>
                <a:spLocks noChangeArrowheads="1"/>
              </p:cNvSpPr>
              <p:nvPr/>
            </p:nvSpPr>
            <p:spPr bwMode="auto">
              <a:xfrm>
                <a:off x="3787" y="1207"/>
                <a:ext cx="45" cy="45"/>
              </a:xfrm>
              <a:prstGeom prst="ellipse">
                <a:avLst/>
              </a:prstGeom>
              <a:solidFill>
                <a:srgbClr val="000000"/>
              </a:solidFill>
              <a:ln w="254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solidFill>
                    <a:srgbClr val="000099"/>
                  </a:solidFill>
                </a:endParaRPr>
              </a:p>
            </p:txBody>
          </p:sp>
          <p:sp>
            <p:nvSpPr>
              <p:cNvPr id="62" name="Oval 20"/>
              <p:cNvSpPr>
                <a:spLocks noChangeArrowheads="1"/>
              </p:cNvSpPr>
              <p:nvPr/>
            </p:nvSpPr>
            <p:spPr bwMode="auto">
              <a:xfrm>
                <a:off x="3334" y="1207"/>
                <a:ext cx="45" cy="45"/>
              </a:xfrm>
              <a:prstGeom prst="ellipse">
                <a:avLst/>
              </a:prstGeom>
              <a:solidFill>
                <a:srgbClr val="000000"/>
              </a:solidFill>
              <a:ln w="254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solidFill>
                    <a:srgbClr val="000099"/>
                  </a:solidFill>
                </a:endParaRPr>
              </a:p>
            </p:txBody>
          </p:sp>
          <p:sp>
            <p:nvSpPr>
              <p:cNvPr id="63" name="Oval 24"/>
              <p:cNvSpPr>
                <a:spLocks noChangeArrowheads="1"/>
              </p:cNvSpPr>
              <p:nvPr/>
            </p:nvSpPr>
            <p:spPr bwMode="auto">
              <a:xfrm>
                <a:off x="4878" y="1220"/>
                <a:ext cx="45" cy="45"/>
              </a:xfrm>
              <a:prstGeom prst="ellipse">
                <a:avLst/>
              </a:prstGeom>
              <a:solidFill>
                <a:srgbClr val="000000"/>
              </a:solidFill>
              <a:ln w="254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>
                  <a:solidFill>
                    <a:srgbClr val="000099"/>
                  </a:solidFill>
                </a:endParaRPr>
              </a:p>
            </p:txBody>
          </p:sp>
        </p:grpSp>
        <p:sp>
          <p:nvSpPr>
            <p:cNvPr id="52" name="Text Box 31"/>
            <p:cNvSpPr txBox="1">
              <a:spLocks noChangeArrowheads="1"/>
            </p:cNvSpPr>
            <p:nvPr/>
          </p:nvSpPr>
          <p:spPr bwMode="auto">
            <a:xfrm>
              <a:off x="976665" y="3355177"/>
              <a:ext cx="47533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3" name="Text Box 32"/>
            <p:cNvSpPr txBox="1">
              <a:spLocks noChangeArrowheads="1"/>
            </p:cNvSpPr>
            <p:nvPr/>
          </p:nvSpPr>
          <p:spPr bwMode="auto">
            <a:xfrm>
              <a:off x="1674602" y="3415282"/>
              <a:ext cx="576262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54" name="Text Box 33"/>
            <p:cNvSpPr txBox="1">
              <a:spLocks noChangeArrowheads="1"/>
            </p:cNvSpPr>
            <p:nvPr/>
          </p:nvSpPr>
          <p:spPr bwMode="auto">
            <a:xfrm>
              <a:off x="2632427" y="3343844"/>
              <a:ext cx="576262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5" name="Text Box 34"/>
            <p:cNvSpPr txBox="1">
              <a:spLocks noChangeArrowheads="1"/>
            </p:cNvSpPr>
            <p:nvPr/>
          </p:nvSpPr>
          <p:spPr bwMode="auto">
            <a:xfrm>
              <a:off x="3424590" y="3343844"/>
              <a:ext cx="576262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cxnSp>
          <p:nvCxnSpPr>
            <p:cNvPr id="56" name="连接符: 曲线 55"/>
            <p:cNvCxnSpPr>
              <a:cxnSpLocks/>
            </p:cNvCxnSpPr>
            <p:nvPr/>
          </p:nvCxnSpPr>
          <p:spPr bwMode="auto">
            <a:xfrm rot="5400000" flipH="1" flipV="1">
              <a:off x="3280460" y="2908072"/>
              <a:ext cx="12700" cy="792163"/>
            </a:xfrm>
            <a:prstGeom prst="curvedConnector3">
              <a:avLst>
                <a:gd name="adj1" fmla="val 180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" name="连接符: 曲线 56"/>
            <p:cNvCxnSpPr>
              <a:cxnSpLocks/>
            </p:cNvCxnSpPr>
            <p:nvPr/>
          </p:nvCxnSpPr>
          <p:spPr bwMode="auto">
            <a:xfrm rot="5400000" flipH="1" flipV="1">
              <a:off x="2452579" y="2937442"/>
              <a:ext cx="12700" cy="792163"/>
            </a:xfrm>
            <a:prstGeom prst="curvedConnector3">
              <a:avLst>
                <a:gd name="adj1" fmla="val 180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8" name="连接符: 曲线 57"/>
            <p:cNvCxnSpPr>
              <a:cxnSpLocks/>
            </p:cNvCxnSpPr>
            <p:nvPr/>
          </p:nvCxnSpPr>
          <p:spPr bwMode="auto">
            <a:xfrm rot="5400000" flipH="1" flipV="1">
              <a:off x="1624698" y="2924742"/>
              <a:ext cx="12700" cy="792163"/>
            </a:xfrm>
            <a:prstGeom prst="curvedConnector3">
              <a:avLst>
                <a:gd name="adj1" fmla="val 180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" name="连接符: 曲线 58"/>
            <p:cNvCxnSpPr>
              <a:cxnSpLocks/>
            </p:cNvCxnSpPr>
            <p:nvPr/>
          </p:nvCxnSpPr>
          <p:spPr bwMode="auto">
            <a:xfrm rot="5400000" flipH="1" flipV="1">
              <a:off x="2427660" y="3043808"/>
              <a:ext cx="12700" cy="792163"/>
            </a:xfrm>
            <a:prstGeom prst="curvedConnector3">
              <a:avLst>
                <a:gd name="adj1" fmla="val -1454819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88" name="连接符: 曲线 87"/>
            <p:cNvCxnSpPr>
              <a:cxnSpLocks/>
            </p:cNvCxnSpPr>
            <p:nvPr/>
          </p:nvCxnSpPr>
          <p:spPr bwMode="auto">
            <a:xfrm rot="5400000" flipH="1" flipV="1">
              <a:off x="1604063" y="3058866"/>
              <a:ext cx="12700" cy="792163"/>
            </a:xfrm>
            <a:prstGeom prst="curvedConnector3">
              <a:avLst>
                <a:gd name="adj1" fmla="val -1454819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89" name="连接符: 曲线 88"/>
            <p:cNvCxnSpPr>
              <a:cxnSpLocks/>
            </p:cNvCxnSpPr>
            <p:nvPr/>
          </p:nvCxnSpPr>
          <p:spPr bwMode="auto">
            <a:xfrm rot="5400000" flipH="1" flipV="1">
              <a:off x="3310290" y="3010469"/>
              <a:ext cx="12700" cy="792163"/>
            </a:xfrm>
            <a:prstGeom prst="curvedConnector3">
              <a:avLst>
                <a:gd name="adj1" fmla="val -1454819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</p:grpSp>
      <p:grpSp>
        <p:nvGrpSpPr>
          <p:cNvPr id="111654" name="组合 111653"/>
          <p:cNvGrpSpPr/>
          <p:nvPr/>
        </p:nvGrpSpPr>
        <p:grpSpPr>
          <a:xfrm>
            <a:off x="2298944" y="4235588"/>
            <a:ext cx="3024187" cy="1437854"/>
            <a:chOff x="650917" y="4301050"/>
            <a:chExt cx="3024187" cy="1437854"/>
          </a:xfrm>
        </p:grpSpPr>
        <p:grpSp>
          <p:nvGrpSpPr>
            <p:cNvPr id="111650" name="组合 111649"/>
            <p:cNvGrpSpPr/>
            <p:nvPr/>
          </p:nvGrpSpPr>
          <p:grpSpPr>
            <a:xfrm>
              <a:off x="650917" y="5102314"/>
              <a:ext cx="3024187" cy="636590"/>
              <a:chOff x="933758" y="4865367"/>
              <a:chExt cx="3024187" cy="636590"/>
            </a:xfrm>
          </p:grpSpPr>
          <p:grpSp>
            <p:nvGrpSpPr>
              <p:cNvPr id="65" name="Group 16"/>
              <p:cNvGrpSpPr>
                <a:grpSpLocks/>
              </p:cNvGrpSpPr>
              <p:nvPr/>
            </p:nvGrpSpPr>
            <p:grpSpPr bwMode="auto">
              <a:xfrm>
                <a:off x="1192059" y="4911407"/>
                <a:ext cx="2522538" cy="92075"/>
                <a:chOff x="3334" y="1207"/>
                <a:chExt cx="1589" cy="58"/>
              </a:xfrm>
            </p:grpSpPr>
            <p:sp>
              <p:nvSpPr>
                <p:cNvPr id="74" name="Oval 17"/>
                <p:cNvSpPr>
                  <a:spLocks noChangeArrowheads="1"/>
                </p:cNvSpPr>
                <p:nvPr/>
              </p:nvSpPr>
              <p:spPr bwMode="auto">
                <a:xfrm>
                  <a:off x="4332" y="1220"/>
                  <a:ext cx="45" cy="45"/>
                </a:xfrm>
                <a:prstGeom prst="ellipse">
                  <a:avLst/>
                </a:prstGeom>
                <a:solidFill>
                  <a:srgbClr val="000000"/>
                </a:solidFill>
                <a:ln w="254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800">
                    <a:solidFill>
                      <a:srgbClr val="000099"/>
                    </a:solidFill>
                  </a:endParaRPr>
                </a:p>
              </p:txBody>
            </p:sp>
            <p:sp>
              <p:nvSpPr>
                <p:cNvPr id="75" name="Oval 18"/>
                <p:cNvSpPr>
                  <a:spLocks noChangeArrowheads="1"/>
                </p:cNvSpPr>
                <p:nvPr/>
              </p:nvSpPr>
              <p:spPr bwMode="auto">
                <a:xfrm>
                  <a:off x="3787" y="1207"/>
                  <a:ext cx="45" cy="45"/>
                </a:xfrm>
                <a:prstGeom prst="ellipse">
                  <a:avLst/>
                </a:prstGeom>
                <a:solidFill>
                  <a:srgbClr val="000000"/>
                </a:solidFill>
                <a:ln w="254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800">
                    <a:solidFill>
                      <a:srgbClr val="000099"/>
                    </a:solidFill>
                  </a:endParaRPr>
                </a:p>
              </p:txBody>
            </p:sp>
            <p:sp>
              <p:nvSpPr>
                <p:cNvPr id="76" name="Oval 20"/>
                <p:cNvSpPr>
                  <a:spLocks noChangeArrowheads="1"/>
                </p:cNvSpPr>
                <p:nvPr/>
              </p:nvSpPr>
              <p:spPr bwMode="auto">
                <a:xfrm>
                  <a:off x="3334" y="1207"/>
                  <a:ext cx="45" cy="45"/>
                </a:xfrm>
                <a:prstGeom prst="ellipse">
                  <a:avLst/>
                </a:prstGeom>
                <a:solidFill>
                  <a:srgbClr val="000000"/>
                </a:solidFill>
                <a:ln w="254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800">
                    <a:solidFill>
                      <a:srgbClr val="000099"/>
                    </a:solidFill>
                  </a:endParaRPr>
                </a:p>
              </p:txBody>
            </p:sp>
            <p:sp>
              <p:nvSpPr>
                <p:cNvPr id="77" name="Oval 24"/>
                <p:cNvSpPr>
                  <a:spLocks noChangeArrowheads="1"/>
                </p:cNvSpPr>
                <p:nvPr/>
              </p:nvSpPr>
              <p:spPr bwMode="auto">
                <a:xfrm>
                  <a:off x="4878" y="1220"/>
                  <a:ext cx="45" cy="45"/>
                </a:xfrm>
                <a:prstGeom prst="ellipse">
                  <a:avLst/>
                </a:prstGeom>
                <a:solidFill>
                  <a:srgbClr val="000000"/>
                </a:solidFill>
                <a:ln w="254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800">
                    <a:solidFill>
                      <a:srgbClr val="000099"/>
                    </a:solidFill>
                  </a:endParaRPr>
                </a:p>
              </p:txBody>
            </p:sp>
          </p:grpSp>
          <p:sp>
            <p:nvSpPr>
              <p:cNvPr id="66" name="Text Box 31"/>
              <p:cNvSpPr txBox="1">
                <a:spLocks noChangeArrowheads="1"/>
              </p:cNvSpPr>
              <p:nvPr/>
            </p:nvSpPr>
            <p:spPr bwMode="auto">
              <a:xfrm>
                <a:off x="933758" y="4922740"/>
                <a:ext cx="475333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 b="1" i="1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67" name="Text Box 32"/>
              <p:cNvSpPr txBox="1">
                <a:spLocks noChangeArrowheads="1"/>
              </p:cNvSpPr>
              <p:nvPr/>
            </p:nvSpPr>
            <p:spPr bwMode="auto">
              <a:xfrm>
                <a:off x="1631695" y="4982845"/>
                <a:ext cx="576262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 b="1" i="1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68" name="Text Box 33"/>
              <p:cNvSpPr txBox="1">
                <a:spLocks noChangeArrowheads="1"/>
              </p:cNvSpPr>
              <p:nvPr/>
            </p:nvSpPr>
            <p:spPr bwMode="auto">
              <a:xfrm>
                <a:off x="2589520" y="4911407"/>
                <a:ext cx="576262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 b="1" i="1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69" name="Text Box 34"/>
              <p:cNvSpPr txBox="1">
                <a:spLocks noChangeArrowheads="1"/>
              </p:cNvSpPr>
              <p:nvPr/>
            </p:nvSpPr>
            <p:spPr bwMode="auto">
              <a:xfrm>
                <a:off x="3381683" y="4911407"/>
                <a:ext cx="576262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 b="1" i="1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70" name="连接符: 曲线 69"/>
              <p:cNvCxnSpPr>
                <a:cxnSpLocks/>
              </p:cNvCxnSpPr>
              <p:nvPr/>
            </p:nvCxnSpPr>
            <p:spPr bwMode="auto">
              <a:xfrm rot="5400000" flipH="1" flipV="1">
                <a:off x="3237553" y="4475635"/>
                <a:ext cx="12700" cy="792163"/>
              </a:xfrm>
              <a:prstGeom prst="curvedConnector3">
                <a:avLst>
                  <a:gd name="adj1" fmla="val 1800000"/>
                </a:avLst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71" name="连接符: 曲线 70"/>
              <p:cNvCxnSpPr>
                <a:cxnSpLocks/>
              </p:cNvCxnSpPr>
              <p:nvPr/>
            </p:nvCxnSpPr>
            <p:spPr bwMode="auto">
              <a:xfrm rot="5400000" flipH="1" flipV="1">
                <a:off x="2409672" y="4505005"/>
                <a:ext cx="12700" cy="792163"/>
              </a:xfrm>
              <a:prstGeom prst="curvedConnector3">
                <a:avLst>
                  <a:gd name="adj1" fmla="val 1800000"/>
                </a:avLst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72" name="连接符: 曲线 71"/>
              <p:cNvCxnSpPr>
                <a:cxnSpLocks/>
              </p:cNvCxnSpPr>
              <p:nvPr/>
            </p:nvCxnSpPr>
            <p:spPr bwMode="auto">
              <a:xfrm rot="5400000" flipH="1" flipV="1">
                <a:off x="1581791" y="4492305"/>
                <a:ext cx="12700" cy="792163"/>
              </a:xfrm>
              <a:prstGeom prst="curvedConnector3">
                <a:avLst>
                  <a:gd name="adj1" fmla="val 1800000"/>
                </a:avLst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73" name="连接符: 曲线 72"/>
              <p:cNvCxnSpPr>
                <a:cxnSpLocks/>
              </p:cNvCxnSpPr>
              <p:nvPr/>
            </p:nvCxnSpPr>
            <p:spPr bwMode="auto">
              <a:xfrm rot="5400000" flipH="1" flipV="1">
                <a:off x="2384753" y="4611371"/>
                <a:ext cx="12700" cy="792163"/>
              </a:xfrm>
              <a:prstGeom prst="curvedConnector3">
                <a:avLst>
                  <a:gd name="adj1" fmla="val -1454819"/>
                </a:avLst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none"/>
              </a:ln>
              <a:effectLst/>
            </p:spPr>
          </p:cxnSp>
        </p:grpSp>
        <p:sp>
          <p:nvSpPr>
            <p:cNvPr id="111651" name="任意多边形: 形状 111650"/>
            <p:cNvSpPr/>
            <p:nvPr/>
          </p:nvSpPr>
          <p:spPr bwMode="auto">
            <a:xfrm>
              <a:off x="863300" y="4524463"/>
              <a:ext cx="1665962" cy="598682"/>
            </a:xfrm>
            <a:custGeom>
              <a:avLst/>
              <a:gdLst>
                <a:gd name="connsiteX0" fmla="*/ 0 w 1665962"/>
                <a:gd name="connsiteY0" fmla="*/ 638922 h 638922"/>
                <a:gd name="connsiteX1" fmla="*/ 851770 w 1665962"/>
                <a:gd name="connsiteY1" fmla="*/ 95 h 638922"/>
                <a:gd name="connsiteX2" fmla="*/ 1665962 w 1665962"/>
                <a:gd name="connsiteY2" fmla="*/ 601344 h 638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65962" h="638922">
                  <a:moveTo>
                    <a:pt x="0" y="638922"/>
                  </a:moveTo>
                  <a:cubicBezTo>
                    <a:pt x="287055" y="322640"/>
                    <a:pt x="574110" y="6358"/>
                    <a:pt x="851770" y="95"/>
                  </a:cubicBezTo>
                  <a:cubicBezTo>
                    <a:pt x="1129430" y="-6168"/>
                    <a:pt x="1397696" y="297588"/>
                    <a:pt x="1665962" y="601344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1652" name="任意多边形: 形状 111651"/>
            <p:cNvSpPr/>
            <p:nvPr/>
          </p:nvSpPr>
          <p:spPr bwMode="auto">
            <a:xfrm>
              <a:off x="864971" y="4301050"/>
              <a:ext cx="2467627" cy="734391"/>
            </a:xfrm>
            <a:custGeom>
              <a:avLst/>
              <a:gdLst>
                <a:gd name="connsiteX0" fmla="*/ 0 w 2467627"/>
                <a:gd name="connsiteY0" fmla="*/ 1052721 h 1052721"/>
                <a:gd name="connsiteX1" fmla="*/ 1365337 w 2467627"/>
                <a:gd name="connsiteY1" fmla="*/ 535 h 1052721"/>
                <a:gd name="connsiteX2" fmla="*/ 2467627 w 2467627"/>
                <a:gd name="connsiteY2" fmla="*/ 939987 h 105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67627" h="1052721">
                  <a:moveTo>
                    <a:pt x="0" y="1052721"/>
                  </a:moveTo>
                  <a:cubicBezTo>
                    <a:pt x="477033" y="536022"/>
                    <a:pt x="954066" y="19324"/>
                    <a:pt x="1365337" y="535"/>
                  </a:cubicBezTo>
                  <a:cubicBezTo>
                    <a:pt x="1776608" y="-18254"/>
                    <a:pt x="2122117" y="460866"/>
                    <a:pt x="2467627" y="939987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33" name="组合 132"/>
            <p:cNvGrpSpPr/>
            <p:nvPr/>
          </p:nvGrpSpPr>
          <p:grpSpPr>
            <a:xfrm>
              <a:off x="1551383" y="4656209"/>
              <a:ext cx="360040" cy="360040"/>
              <a:chOff x="6660232" y="4437112"/>
              <a:chExt cx="370384" cy="432048"/>
            </a:xfrm>
          </p:grpSpPr>
          <p:sp>
            <p:nvSpPr>
              <p:cNvPr id="134" name="流程图: 接点 133"/>
              <p:cNvSpPr/>
              <p:nvPr/>
            </p:nvSpPr>
            <p:spPr bwMode="auto">
              <a:xfrm>
                <a:off x="6660232" y="4437112"/>
                <a:ext cx="370384" cy="432048"/>
              </a:xfrm>
              <a:prstGeom prst="flowChartConnector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cxnSp>
            <p:nvCxnSpPr>
              <p:cNvPr id="135" name="直接箭头连接符 134"/>
              <p:cNvCxnSpPr>
                <a:cxnSpLocks/>
                <a:endCxn id="134" idx="2"/>
              </p:cNvCxnSpPr>
              <p:nvPr/>
            </p:nvCxnSpPr>
            <p:spPr bwMode="auto">
              <a:xfrm flipH="1">
                <a:off x="6660232" y="4545124"/>
                <a:ext cx="33964" cy="10801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sp>
          <p:nvSpPr>
            <p:cNvPr id="111653" name="任意多边形: 形状 111652"/>
            <p:cNvSpPr/>
            <p:nvPr/>
          </p:nvSpPr>
          <p:spPr bwMode="auto">
            <a:xfrm>
              <a:off x="1753644" y="4632490"/>
              <a:ext cx="1427967" cy="428025"/>
            </a:xfrm>
            <a:custGeom>
              <a:avLst/>
              <a:gdLst>
                <a:gd name="connsiteX0" fmla="*/ 0 w 1427967"/>
                <a:gd name="connsiteY0" fmla="*/ 428025 h 428025"/>
                <a:gd name="connsiteX1" fmla="*/ 676405 w 1427967"/>
                <a:gd name="connsiteY1" fmla="*/ 2140 h 428025"/>
                <a:gd name="connsiteX2" fmla="*/ 1427967 w 1427967"/>
                <a:gd name="connsiteY2" fmla="*/ 252661 h 428025"/>
                <a:gd name="connsiteX3" fmla="*/ 1427967 w 1427967"/>
                <a:gd name="connsiteY3" fmla="*/ 252661 h 42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7967" h="428025">
                  <a:moveTo>
                    <a:pt x="0" y="428025"/>
                  </a:moveTo>
                  <a:cubicBezTo>
                    <a:pt x="219205" y="229696"/>
                    <a:pt x="438411" y="31367"/>
                    <a:pt x="676405" y="2140"/>
                  </a:cubicBezTo>
                  <a:cubicBezTo>
                    <a:pt x="914400" y="-27087"/>
                    <a:pt x="1427967" y="252661"/>
                    <a:pt x="1427967" y="252661"/>
                  </a:cubicBezTo>
                  <a:lnTo>
                    <a:pt x="1427967" y="252661"/>
                  </a:ln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37" name="组合 136"/>
            <p:cNvGrpSpPr/>
            <p:nvPr/>
          </p:nvGrpSpPr>
          <p:grpSpPr>
            <a:xfrm>
              <a:off x="2353999" y="4630567"/>
              <a:ext cx="360040" cy="360040"/>
              <a:chOff x="6660232" y="4437112"/>
              <a:chExt cx="370384" cy="432048"/>
            </a:xfrm>
          </p:grpSpPr>
          <p:sp>
            <p:nvSpPr>
              <p:cNvPr id="138" name="流程图: 接点 137"/>
              <p:cNvSpPr/>
              <p:nvPr/>
            </p:nvSpPr>
            <p:spPr bwMode="auto">
              <a:xfrm>
                <a:off x="6660232" y="4437112"/>
                <a:ext cx="370384" cy="432048"/>
              </a:xfrm>
              <a:prstGeom prst="flowChartConnector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cxnSp>
            <p:nvCxnSpPr>
              <p:cNvPr id="139" name="直接箭头连接符 138"/>
              <p:cNvCxnSpPr>
                <a:cxnSpLocks/>
                <a:endCxn id="138" idx="2"/>
              </p:cNvCxnSpPr>
              <p:nvPr/>
            </p:nvCxnSpPr>
            <p:spPr bwMode="auto">
              <a:xfrm flipH="1">
                <a:off x="6660232" y="4545124"/>
                <a:ext cx="33964" cy="10801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</p:grpSp>
      <p:sp>
        <p:nvSpPr>
          <p:cNvPr id="111656" name="矩形 111655"/>
          <p:cNvSpPr/>
          <p:nvPr/>
        </p:nvSpPr>
        <p:spPr>
          <a:xfrm>
            <a:off x="1018698" y="1762125"/>
            <a:ext cx="11641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zh-CN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endParaRPr lang="zh-CN" altLang="en-US" dirty="0"/>
          </a:p>
        </p:txBody>
      </p:sp>
      <p:sp>
        <p:nvSpPr>
          <p:cNvPr id="111657" name="矩形 111656"/>
          <p:cNvSpPr/>
          <p:nvPr/>
        </p:nvSpPr>
        <p:spPr>
          <a:xfrm>
            <a:off x="1048966" y="3194477"/>
            <a:ext cx="12129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zh-CN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endParaRPr lang="zh-CN" altLang="en-US" dirty="0"/>
          </a:p>
        </p:txBody>
      </p:sp>
      <p:sp>
        <p:nvSpPr>
          <p:cNvPr id="111658" name="矩形 111657"/>
          <p:cNvSpPr/>
          <p:nvPr/>
        </p:nvSpPr>
        <p:spPr>
          <a:xfrm>
            <a:off x="1081511" y="4693225"/>
            <a:ext cx="11240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zh-CN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314156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64" name="AutoShape 12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633413" y="476250"/>
            <a:ext cx="915987" cy="450850"/>
          </a:xfrm>
          <a:prstGeom prst="actionButtonBlank">
            <a:avLst/>
          </a:prstGeom>
          <a:solidFill>
            <a:srgbClr val="00990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6800" rIns="50400" anchor="ctr" anchorCtr="1">
            <a:spAutoFit/>
          </a:bodyPr>
          <a:lstStyle/>
          <a:p>
            <a:pPr eaLnBrk="1" hangingPunct="1">
              <a:defRPr/>
            </a:pPr>
            <a:r>
              <a:rPr lang="zh-CN" altLang="en-US" sz="2000" b="1" dirty="0">
                <a:solidFill>
                  <a:schemeClr val="bg1"/>
                </a:solidFill>
                <a:ea typeface="幼圆" panose="02010509060101010101" pitchFamily="49" charset="-122"/>
              </a:rPr>
              <a:t>作 业</a:t>
            </a:r>
            <a:endParaRPr lang="zh-CN" altLang="en-US" sz="2000" dirty="0">
              <a:solidFill>
                <a:srgbClr val="009900"/>
              </a:solidFill>
              <a:effectDag name="">
                <a:cont type="tree" name="">
                  <a:effect ref="fillLine"/>
                  <a:outerShdw dist="38100" dir="13500000" algn="br">
                    <a:srgbClr val="4CE54C"/>
                  </a:outerShdw>
                </a:cont>
                <a:cont type="tree" name="">
                  <a:effect ref="fillLine"/>
                  <a:outerShdw dist="38100" dir="2700000" algn="tl">
                    <a:srgbClr val="005B00"/>
                  </a:outerShdw>
                </a:cont>
                <a:effect ref="fillLine"/>
              </a:effectDag>
              <a:ea typeface="隶书" panose="02010509060101010101" pitchFamily="49" charset="-122"/>
            </a:endParaRPr>
          </a:p>
        </p:txBody>
      </p:sp>
      <p:sp>
        <p:nvSpPr>
          <p:cNvPr id="112643" name="Rectangle 13"/>
          <p:cNvSpPr>
            <a:spLocks noChangeArrowheads="1"/>
          </p:cNvSpPr>
          <p:nvPr/>
        </p:nvSpPr>
        <p:spPr bwMode="auto">
          <a:xfrm>
            <a:off x="633413" y="1484313"/>
            <a:ext cx="5827712" cy="203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4.4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4.14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endParaRPr lang="en-US" altLang="zh-CN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C26542-29F1-4B59-9088-64BB62686EFC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116632"/>
            <a:ext cx="8002588" cy="1100138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4.5 </a:t>
            </a:r>
            <a:r>
              <a:rPr lang="zh-CN" altLang="en-US" b="1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等价关系与偏序关系</a:t>
            </a:r>
          </a:p>
        </p:txBody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784"/>
            <a:ext cx="8229600" cy="3886200"/>
          </a:xfrm>
        </p:spPr>
        <p:txBody>
          <a:bodyPr/>
          <a:lstStyle/>
          <a:p>
            <a:r>
              <a:rPr lang="zh-CN" altLang="en-US" sz="2800" b="1" dirty="0"/>
              <a:t>等价关系的定义与实例</a:t>
            </a:r>
          </a:p>
          <a:p>
            <a:r>
              <a:rPr lang="zh-CN" altLang="en-US" sz="2800" b="1" dirty="0"/>
              <a:t>等价类及其性质</a:t>
            </a:r>
          </a:p>
          <a:p>
            <a:r>
              <a:rPr lang="zh-CN" altLang="en-US" sz="2800" b="1" dirty="0"/>
              <a:t>商集与集合的划分</a:t>
            </a:r>
          </a:p>
          <a:p>
            <a:r>
              <a:rPr lang="zh-CN" altLang="en-US" sz="2800" b="1" dirty="0"/>
              <a:t>等价关系与划分的一一对应</a:t>
            </a:r>
          </a:p>
          <a:p>
            <a:r>
              <a:rPr lang="zh-CN" altLang="en-US" sz="2800" b="1" dirty="0"/>
              <a:t>偏序关系</a:t>
            </a:r>
          </a:p>
          <a:p>
            <a:r>
              <a:rPr lang="zh-CN" altLang="en-US" sz="2800" b="1" dirty="0"/>
              <a:t>偏序集与哈斯图</a:t>
            </a:r>
          </a:p>
          <a:p>
            <a:r>
              <a:rPr lang="zh-CN" altLang="en-US" sz="2800" b="1" dirty="0"/>
              <a:t>偏序集中的特定元素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521265-EC7F-404B-99B7-F2C25BFB2664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196850"/>
            <a:ext cx="8002588" cy="1100138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等价关系的定义与实例</a:t>
            </a:r>
          </a:p>
        </p:txBody>
      </p:sp>
      <p:sp>
        <p:nvSpPr>
          <p:cNvPr id="239619" name="Text Box 3"/>
          <p:cNvSpPr txBox="1">
            <a:spLocks noChangeArrowheads="1"/>
          </p:cNvSpPr>
          <p:nvPr/>
        </p:nvSpPr>
        <p:spPr bwMode="auto">
          <a:xfrm>
            <a:off x="395536" y="1404010"/>
            <a:ext cx="8002588" cy="2055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定义</a:t>
            </a:r>
            <a:r>
              <a:rPr lang="zh-CN" altLang="en-US" b="1" dirty="0">
                <a:solidFill>
                  <a:srgbClr val="FF3300"/>
                </a:solidFill>
                <a:ea typeface="宋体" charset="-122"/>
              </a:rPr>
              <a:t>  </a:t>
            </a:r>
            <a:r>
              <a:rPr lang="zh-CN" altLang="en-US" b="1" dirty="0">
                <a:ea typeface="宋体" charset="-122"/>
              </a:rPr>
              <a:t>设 </a:t>
            </a:r>
            <a:r>
              <a:rPr lang="en-US" altLang="zh-CN" b="1" i="1" dirty="0">
                <a:ea typeface="宋体" charset="-122"/>
              </a:rPr>
              <a:t>R </a:t>
            </a:r>
            <a:r>
              <a:rPr lang="zh-CN" altLang="en-US" b="1" dirty="0">
                <a:ea typeface="宋体" charset="-122"/>
              </a:rPr>
              <a:t>为非空集合</a:t>
            </a:r>
            <a:r>
              <a:rPr lang="en-US" altLang="zh-CN" b="1" dirty="0">
                <a:ea typeface="宋体" charset="-122"/>
              </a:rPr>
              <a:t>A</a:t>
            </a:r>
            <a:r>
              <a:rPr lang="zh-CN" altLang="en-US" b="1" dirty="0">
                <a:ea typeface="宋体" charset="-122"/>
              </a:rPr>
              <a:t>上的关系。如果 </a:t>
            </a:r>
            <a:r>
              <a:rPr lang="en-US" altLang="zh-CN" b="1" i="1" dirty="0">
                <a:ea typeface="宋体" charset="-122"/>
              </a:rPr>
              <a:t>R </a:t>
            </a:r>
            <a:r>
              <a:rPr lang="zh-CN" altLang="en-US" b="1" dirty="0">
                <a:ea typeface="宋体" charset="-122"/>
              </a:rPr>
              <a:t>是</a:t>
            </a:r>
            <a:r>
              <a:rPr lang="zh-CN" altLang="en-US" b="1" u="sng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自反的</a:t>
            </a:r>
            <a:r>
              <a:rPr lang="zh-CN" altLang="en-US" b="1" dirty="0">
                <a:ea typeface="宋体" charset="-122"/>
              </a:rPr>
              <a:t>、</a:t>
            </a:r>
            <a:r>
              <a:rPr lang="zh-CN" altLang="en-US" b="1" u="sng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对称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的</a:t>
            </a:r>
            <a:r>
              <a:rPr lang="zh-CN" altLang="en-US" b="1" dirty="0">
                <a:ea typeface="宋体" charset="-122"/>
              </a:rPr>
              <a:t>和</a:t>
            </a:r>
            <a:r>
              <a:rPr lang="zh-CN" altLang="en-US" b="1" u="sng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传递的</a:t>
            </a:r>
            <a:r>
              <a:rPr lang="en-US" altLang="zh-CN" b="1" dirty="0">
                <a:solidFill>
                  <a:srgbClr val="3366CC"/>
                </a:solidFill>
                <a:ea typeface="宋体" charset="-122"/>
              </a:rPr>
              <a:t>,</a:t>
            </a:r>
            <a:r>
              <a:rPr lang="en-US" altLang="zh-CN" b="1" dirty="0">
                <a:ea typeface="宋体" charset="-122"/>
              </a:rPr>
              <a:t> </a:t>
            </a:r>
            <a:r>
              <a:rPr lang="zh-CN" altLang="en-US" b="1" dirty="0">
                <a:ea typeface="宋体" charset="-122"/>
              </a:rPr>
              <a:t>则称 </a:t>
            </a:r>
            <a:r>
              <a:rPr lang="en-US" altLang="zh-CN" b="1" i="1" dirty="0">
                <a:ea typeface="宋体" charset="-122"/>
              </a:rPr>
              <a:t>R </a:t>
            </a:r>
            <a:r>
              <a:rPr lang="zh-CN" altLang="en-US" b="1" dirty="0">
                <a:ea typeface="宋体" charset="-122"/>
              </a:rPr>
              <a:t>为 </a:t>
            </a:r>
            <a:r>
              <a:rPr lang="en-US" altLang="zh-CN" b="1" i="1" dirty="0">
                <a:ea typeface="宋体" charset="-122"/>
              </a:rPr>
              <a:t>A </a:t>
            </a:r>
            <a:r>
              <a:rPr lang="zh-CN" altLang="en-US" b="1" dirty="0">
                <a:ea typeface="宋体" charset="-122"/>
              </a:rPr>
              <a:t>上的</a:t>
            </a: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等价关系</a:t>
            </a:r>
            <a:r>
              <a:rPr lang="zh-CN" altLang="en-US" b="1" dirty="0">
                <a:ea typeface="宋体" charset="-122"/>
              </a:rPr>
              <a:t>。</a:t>
            </a:r>
            <a:endParaRPr lang="en-US" altLang="zh-CN" b="1" dirty="0">
              <a:ea typeface="宋体" charset="-122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b="1" dirty="0">
                <a:ea typeface="宋体" charset="-122"/>
              </a:rPr>
              <a:t>设 </a:t>
            </a:r>
            <a:r>
              <a:rPr lang="en-US" altLang="zh-CN" b="1" i="1" dirty="0">
                <a:ea typeface="宋体" charset="-122"/>
              </a:rPr>
              <a:t>R </a:t>
            </a:r>
            <a:r>
              <a:rPr lang="zh-CN" altLang="en-US" b="1" dirty="0">
                <a:ea typeface="宋体" charset="-122"/>
              </a:rPr>
              <a:t>是一个等价关系</a:t>
            </a:r>
            <a:r>
              <a:rPr lang="en-US" altLang="zh-CN" b="1" dirty="0">
                <a:ea typeface="宋体" charset="-122"/>
              </a:rPr>
              <a:t>, </a:t>
            </a:r>
            <a:r>
              <a:rPr lang="zh-CN" altLang="en-US" b="1" dirty="0">
                <a:ea typeface="宋体" charset="-122"/>
              </a:rPr>
              <a:t>若</a:t>
            </a:r>
            <a:r>
              <a:rPr lang="en-US" altLang="zh-CN" b="1" dirty="0">
                <a:ea typeface="宋体" charset="-122"/>
              </a:rPr>
              <a:t>&lt;</a:t>
            </a:r>
            <a:r>
              <a:rPr lang="en-US" altLang="zh-CN" b="1" i="1" dirty="0" err="1">
                <a:ea typeface="宋体" charset="-122"/>
              </a:rPr>
              <a:t>x</a:t>
            </a:r>
            <a:r>
              <a:rPr lang="en-US" altLang="zh-CN" b="1" dirty="0" err="1">
                <a:ea typeface="宋体" charset="-122"/>
              </a:rPr>
              <a:t>,</a:t>
            </a:r>
            <a:r>
              <a:rPr lang="en-US" altLang="zh-CN" b="1" i="1" dirty="0" err="1">
                <a:ea typeface="宋体" charset="-122"/>
              </a:rPr>
              <a:t>y</a:t>
            </a:r>
            <a:r>
              <a:rPr lang="en-US" altLang="zh-CN" b="1" dirty="0">
                <a:ea typeface="宋体" charset="-122"/>
              </a:rPr>
              <a:t>&gt;∈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en-US" altLang="zh-CN" b="1" dirty="0">
                <a:ea typeface="宋体" charset="-122"/>
              </a:rPr>
              <a:t>, </a:t>
            </a:r>
            <a:r>
              <a:rPr lang="zh-CN" altLang="en-US" b="1" dirty="0">
                <a:ea typeface="宋体" charset="-122"/>
              </a:rPr>
              <a:t>称 </a:t>
            </a:r>
            <a:r>
              <a:rPr lang="en-US" altLang="zh-CN" b="1" i="1" dirty="0">
                <a:ea typeface="宋体" charset="-122"/>
              </a:rPr>
              <a:t>x </a:t>
            </a:r>
            <a:r>
              <a:rPr lang="zh-CN" altLang="en-US" b="1" dirty="0">
                <a:ea typeface="宋体" charset="-122"/>
              </a:rPr>
              <a:t>等价于</a:t>
            </a:r>
            <a:r>
              <a:rPr lang="en-US" altLang="zh-CN" b="1" i="1" dirty="0">
                <a:ea typeface="宋体" charset="-122"/>
              </a:rPr>
              <a:t>y</a:t>
            </a:r>
            <a:r>
              <a:rPr lang="en-US" altLang="zh-CN" b="1" dirty="0">
                <a:ea typeface="宋体" charset="-122"/>
              </a:rPr>
              <a:t>, </a:t>
            </a:r>
            <a:r>
              <a:rPr lang="zh-CN" altLang="en-US" b="1" dirty="0">
                <a:ea typeface="宋体" charset="-122"/>
              </a:rPr>
              <a:t>记做 </a:t>
            </a:r>
            <a:r>
              <a:rPr lang="en-US" altLang="zh-CN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x</a:t>
            </a: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～</a:t>
            </a:r>
            <a:r>
              <a:rPr lang="en-US" altLang="zh-CN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y</a:t>
            </a:r>
            <a:r>
              <a:rPr lang="zh-CN" altLang="en-US" b="1" dirty="0">
                <a:ea typeface="宋体" charset="-122"/>
              </a:rPr>
              <a:t>。</a:t>
            </a:r>
            <a:endParaRPr lang="en-US" altLang="zh-CN" b="1" dirty="0">
              <a:ea typeface="宋体" charset="-122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67544" y="3645024"/>
            <a:ext cx="8002588" cy="2055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实例</a:t>
            </a:r>
            <a:r>
              <a:rPr lang="en-US" altLang="zh-CN" sz="3200" b="1" dirty="0">
                <a:solidFill>
                  <a:schemeClr val="bg2"/>
                </a:solidFill>
                <a:ea typeface="宋体" charset="-122"/>
              </a:rPr>
              <a:t>:</a:t>
            </a:r>
            <a:r>
              <a:rPr lang="en-US" altLang="zh-CN" b="1" dirty="0">
                <a:solidFill>
                  <a:schemeClr val="bg2"/>
                </a:solidFill>
                <a:ea typeface="宋体" charset="-122"/>
              </a:rPr>
              <a:t>  </a:t>
            </a:r>
            <a:r>
              <a:rPr lang="zh-CN" altLang="en-US" b="1" dirty="0">
                <a:solidFill>
                  <a:schemeClr val="bg2"/>
                </a:solidFill>
                <a:ea typeface="宋体" charset="-122"/>
              </a:rPr>
              <a:t>设 </a:t>
            </a:r>
            <a:r>
              <a:rPr lang="en-US" altLang="zh-CN" b="1" i="1" dirty="0">
                <a:solidFill>
                  <a:schemeClr val="bg2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bg2"/>
                </a:solidFill>
                <a:ea typeface="宋体" charset="-122"/>
              </a:rPr>
              <a:t>={1,2,…,8}, </a:t>
            </a:r>
            <a:r>
              <a:rPr lang="zh-CN" altLang="en-US" b="1" dirty="0">
                <a:solidFill>
                  <a:schemeClr val="bg2"/>
                </a:solidFill>
                <a:ea typeface="宋体" charset="-122"/>
              </a:rPr>
              <a:t>如下定义</a:t>
            </a:r>
            <a:r>
              <a:rPr lang="en-US" altLang="zh-CN" b="1" i="1" dirty="0">
                <a:solidFill>
                  <a:schemeClr val="bg2"/>
                </a:solidFill>
                <a:ea typeface="宋体" charset="-122"/>
              </a:rPr>
              <a:t>A</a:t>
            </a:r>
            <a:r>
              <a:rPr lang="zh-CN" altLang="en-US" b="1" dirty="0">
                <a:solidFill>
                  <a:schemeClr val="bg2"/>
                </a:solidFill>
                <a:ea typeface="宋体" charset="-122"/>
              </a:rPr>
              <a:t>上的关系 </a:t>
            </a:r>
            <a:r>
              <a:rPr lang="en-US" altLang="zh-CN" b="1" i="1" dirty="0">
                <a:solidFill>
                  <a:schemeClr val="bg2"/>
                </a:solidFill>
                <a:ea typeface="宋体" charset="-122"/>
              </a:rPr>
              <a:t>R</a:t>
            </a:r>
            <a:r>
              <a:rPr lang="zh-CN" altLang="en-US" b="1" dirty="0">
                <a:solidFill>
                  <a:schemeClr val="bg2"/>
                </a:solidFill>
                <a:ea typeface="宋体" charset="-122"/>
              </a:rPr>
              <a:t>：</a:t>
            </a:r>
            <a:br>
              <a:rPr lang="zh-CN" altLang="en-US" b="1" dirty="0">
                <a:solidFill>
                  <a:schemeClr val="bg2"/>
                </a:solidFill>
                <a:ea typeface="宋体" charset="-122"/>
              </a:rPr>
            </a:br>
            <a:r>
              <a:rPr lang="zh-CN" altLang="en-US" b="1" dirty="0">
                <a:solidFill>
                  <a:schemeClr val="bg2"/>
                </a:solidFill>
                <a:ea typeface="宋体" charset="-122"/>
              </a:rPr>
              <a:t>           </a:t>
            </a:r>
            <a:r>
              <a:rPr lang="en-US" altLang="zh-CN" b="1" i="1" dirty="0">
                <a:solidFill>
                  <a:schemeClr val="bg2"/>
                </a:solidFill>
                <a:ea typeface="宋体" charset="-122"/>
              </a:rPr>
              <a:t>R </a:t>
            </a:r>
            <a:r>
              <a:rPr lang="en-US" altLang="zh-CN" b="1" dirty="0">
                <a:solidFill>
                  <a:schemeClr val="bg2"/>
                </a:solidFill>
                <a:ea typeface="宋体" charset="-122"/>
              </a:rPr>
              <a:t>= { &lt;</a:t>
            </a:r>
            <a:r>
              <a:rPr lang="en-US" altLang="zh-CN" b="1" i="1" dirty="0" err="1">
                <a:solidFill>
                  <a:schemeClr val="bg2"/>
                </a:solidFill>
                <a:ea typeface="宋体" charset="-122"/>
              </a:rPr>
              <a:t>x</a:t>
            </a:r>
            <a:r>
              <a:rPr lang="en-US" altLang="zh-CN" b="1" dirty="0" err="1">
                <a:solidFill>
                  <a:schemeClr val="bg2"/>
                </a:solidFill>
                <a:ea typeface="宋体" charset="-122"/>
              </a:rPr>
              <a:t>,</a:t>
            </a:r>
            <a:r>
              <a:rPr lang="en-US" altLang="zh-CN" b="1" i="1" dirty="0" err="1">
                <a:solidFill>
                  <a:schemeClr val="bg2"/>
                </a:solidFill>
                <a:ea typeface="宋体" charset="-122"/>
              </a:rPr>
              <a:t>y</a:t>
            </a:r>
            <a:r>
              <a:rPr lang="en-US" altLang="zh-CN" b="1" dirty="0">
                <a:solidFill>
                  <a:schemeClr val="bg2"/>
                </a:solidFill>
                <a:ea typeface="宋体" charset="-122"/>
              </a:rPr>
              <a:t>&gt; | </a:t>
            </a:r>
            <a:r>
              <a:rPr lang="en-US" altLang="zh-CN" b="1" i="1" dirty="0" err="1">
                <a:solidFill>
                  <a:schemeClr val="bg2"/>
                </a:solidFill>
                <a:ea typeface="宋体" charset="-122"/>
              </a:rPr>
              <a:t>x</a:t>
            </a:r>
            <a:r>
              <a:rPr lang="en-US" altLang="zh-CN" b="1" dirty="0" err="1">
                <a:solidFill>
                  <a:schemeClr val="bg2"/>
                </a:solidFill>
                <a:ea typeface="宋体" charset="-122"/>
              </a:rPr>
              <a:t>,</a:t>
            </a:r>
            <a:r>
              <a:rPr lang="en-US" altLang="zh-CN" b="1" i="1" dirty="0" err="1">
                <a:solidFill>
                  <a:schemeClr val="bg2"/>
                </a:solidFill>
                <a:ea typeface="宋体" charset="-122"/>
              </a:rPr>
              <a:t>y</a:t>
            </a:r>
            <a:r>
              <a:rPr lang="en-US" altLang="zh-CN" b="1" dirty="0" err="1">
                <a:solidFill>
                  <a:schemeClr val="bg2"/>
                </a:solidFill>
                <a:ea typeface="宋体" charset="-122"/>
              </a:rPr>
              <a:t>∈</a:t>
            </a:r>
            <a:r>
              <a:rPr lang="en-US" altLang="zh-CN" b="1" i="1" dirty="0" err="1">
                <a:solidFill>
                  <a:schemeClr val="bg2"/>
                </a:solidFill>
                <a:ea typeface="宋体" charset="-122"/>
              </a:rPr>
              <a:t>A</a:t>
            </a:r>
            <a:r>
              <a:rPr lang="en-US" altLang="zh-CN" b="1" dirty="0" err="1">
                <a:solidFill>
                  <a:schemeClr val="bg2"/>
                </a:solidFill>
                <a:ea typeface="宋体" charset="-122"/>
              </a:rPr>
              <a:t>∧</a:t>
            </a:r>
            <a:r>
              <a:rPr lang="en-US" altLang="zh-CN" b="1" i="1" dirty="0" err="1">
                <a:solidFill>
                  <a:schemeClr val="bg2"/>
                </a:solidFill>
                <a:ea typeface="宋体" charset="-122"/>
              </a:rPr>
              <a:t>x</a:t>
            </a:r>
            <a:r>
              <a:rPr lang="en-US" altLang="zh-CN" b="1" dirty="0" err="1">
                <a:solidFill>
                  <a:schemeClr val="bg2"/>
                </a:solidFill>
                <a:ea typeface="宋体" charset="-122"/>
              </a:rPr>
              <a:t>≡</a:t>
            </a:r>
            <a:r>
              <a:rPr lang="en-US" altLang="zh-CN" b="1" i="1" dirty="0" err="1">
                <a:solidFill>
                  <a:schemeClr val="bg2"/>
                </a:solidFill>
                <a:ea typeface="宋体" charset="-122"/>
              </a:rPr>
              <a:t>y</a:t>
            </a:r>
            <a:r>
              <a:rPr lang="en-US" altLang="zh-CN" b="1" dirty="0">
                <a:solidFill>
                  <a:schemeClr val="bg2"/>
                </a:solidFill>
                <a:ea typeface="宋体" charset="-122"/>
              </a:rPr>
              <a:t>(mod 3) }</a:t>
            </a:r>
            <a:br>
              <a:rPr lang="en-US" altLang="zh-CN" b="1" dirty="0">
                <a:solidFill>
                  <a:schemeClr val="bg2"/>
                </a:solidFill>
                <a:ea typeface="宋体" charset="-122"/>
              </a:rPr>
            </a:br>
            <a:r>
              <a:rPr lang="zh-CN" altLang="en-US" b="1" dirty="0">
                <a:solidFill>
                  <a:schemeClr val="bg2"/>
                </a:solidFill>
                <a:ea typeface="宋体" charset="-122"/>
              </a:rPr>
              <a:t>其中 </a:t>
            </a:r>
            <a:r>
              <a:rPr lang="en-US" altLang="zh-CN" b="1" i="1" dirty="0" err="1">
                <a:solidFill>
                  <a:schemeClr val="bg2"/>
                </a:solidFill>
                <a:ea typeface="宋体" charset="-122"/>
              </a:rPr>
              <a:t>x</a:t>
            </a:r>
            <a:r>
              <a:rPr lang="en-US" altLang="zh-CN" b="1" dirty="0" err="1">
                <a:solidFill>
                  <a:schemeClr val="bg2"/>
                </a:solidFill>
                <a:ea typeface="宋体" charset="-122"/>
              </a:rPr>
              <a:t>≡</a:t>
            </a:r>
            <a:r>
              <a:rPr lang="en-US" altLang="zh-CN" b="1" i="1" dirty="0" err="1">
                <a:solidFill>
                  <a:schemeClr val="bg2"/>
                </a:solidFill>
                <a:ea typeface="宋体" charset="-122"/>
              </a:rPr>
              <a:t>y</a:t>
            </a:r>
            <a:r>
              <a:rPr lang="en-US" altLang="zh-CN" b="1" dirty="0">
                <a:solidFill>
                  <a:schemeClr val="bg2"/>
                </a:solidFill>
                <a:ea typeface="宋体" charset="-122"/>
              </a:rPr>
              <a:t>(mod 3) </a:t>
            </a:r>
            <a:r>
              <a:rPr lang="zh-CN" altLang="en-US" b="1" dirty="0">
                <a:solidFill>
                  <a:schemeClr val="bg2"/>
                </a:solidFill>
                <a:ea typeface="宋体" charset="-122"/>
              </a:rPr>
              <a:t>叫做 </a:t>
            </a:r>
            <a:r>
              <a:rPr lang="en-US" altLang="zh-CN" b="1" i="1" dirty="0">
                <a:solidFill>
                  <a:schemeClr val="bg2"/>
                </a:solidFill>
                <a:ea typeface="宋体" charset="-122"/>
              </a:rPr>
              <a:t>x </a:t>
            </a:r>
            <a:r>
              <a:rPr lang="zh-CN" altLang="en-US" b="1" dirty="0">
                <a:solidFill>
                  <a:schemeClr val="bg2"/>
                </a:solidFill>
                <a:ea typeface="宋体" charset="-122"/>
              </a:rPr>
              <a:t>与 </a:t>
            </a:r>
            <a:r>
              <a:rPr lang="en-US" altLang="zh-CN" b="1" i="1" dirty="0">
                <a:solidFill>
                  <a:schemeClr val="bg2"/>
                </a:solidFill>
                <a:ea typeface="宋体" charset="-122"/>
              </a:rPr>
              <a:t>y</a:t>
            </a:r>
            <a:r>
              <a:rPr lang="en-US" altLang="zh-CN" b="1" i="1" dirty="0">
                <a:ea typeface="宋体" charset="-122"/>
              </a:rPr>
              <a:t> </a:t>
            </a:r>
            <a:r>
              <a:rPr lang="zh-CN" altLang="en-US" b="1" dirty="0">
                <a:solidFill>
                  <a:srgbClr val="FF3300"/>
                </a:solidFill>
                <a:ea typeface="宋体" charset="-122"/>
              </a:rPr>
              <a:t>模</a:t>
            </a:r>
            <a:r>
              <a:rPr lang="en-US" altLang="zh-CN" b="1" dirty="0">
                <a:solidFill>
                  <a:srgbClr val="FF3300"/>
                </a:solidFill>
                <a:ea typeface="宋体" charset="-122"/>
              </a:rPr>
              <a:t>3</a:t>
            </a:r>
            <a:r>
              <a:rPr lang="zh-CN" altLang="en-US" b="1" dirty="0">
                <a:solidFill>
                  <a:srgbClr val="FF3300"/>
                </a:solidFill>
                <a:ea typeface="宋体" charset="-122"/>
              </a:rPr>
              <a:t>相等</a:t>
            </a:r>
            <a:r>
              <a:rPr lang="en-US" altLang="zh-CN" b="1" dirty="0">
                <a:ea typeface="宋体" charset="-122"/>
              </a:rPr>
              <a:t>, </a:t>
            </a:r>
            <a:r>
              <a:rPr lang="zh-CN" altLang="en-US" b="1" dirty="0">
                <a:solidFill>
                  <a:schemeClr val="bg2"/>
                </a:solidFill>
                <a:ea typeface="宋体" charset="-122"/>
              </a:rPr>
              <a:t>即 </a:t>
            </a:r>
            <a:r>
              <a:rPr lang="en-US" altLang="zh-CN" b="1" i="1" dirty="0">
                <a:solidFill>
                  <a:schemeClr val="bg2"/>
                </a:solidFill>
                <a:ea typeface="宋体" charset="-122"/>
              </a:rPr>
              <a:t>x-y</a:t>
            </a:r>
            <a:r>
              <a:rPr lang="zh-CN" altLang="en-US" b="1" dirty="0">
                <a:solidFill>
                  <a:schemeClr val="bg2"/>
                </a:solidFill>
                <a:ea typeface="宋体" charset="-122"/>
              </a:rPr>
              <a:t>可以被</a:t>
            </a:r>
            <a:r>
              <a:rPr lang="en-US" altLang="zh-CN" b="1" dirty="0">
                <a:solidFill>
                  <a:schemeClr val="bg2"/>
                </a:solidFill>
                <a:ea typeface="宋体" charset="-122"/>
              </a:rPr>
              <a:t>3</a:t>
            </a:r>
            <a:r>
              <a:rPr lang="zh-CN" altLang="en-US" b="1" dirty="0">
                <a:solidFill>
                  <a:schemeClr val="bg2"/>
                </a:solidFill>
                <a:ea typeface="宋体" charset="-122"/>
              </a:rPr>
              <a:t>整除。</a:t>
            </a:r>
            <a:endParaRPr lang="en-US" altLang="zh-CN" b="1" dirty="0">
              <a:solidFill>
                <a:schemeClr val="bg2"/>
              </a:solidFill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709B36-4345-43B2-AB7F-EEB878E1FCAC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7993062" cy="10795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等价关系的验证</a:t>
            </a:r>
          </a:p>
        </p:txBody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412776"/>
            <a:ext cx="7776864" cy="3886200"/>
          </a:xfrm>
        </p:spPr>
        <p:txBody>
          <a:bodyPr/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验证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模 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3 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相等关系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上的等价关系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因为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,  </a:t>
            </a:r>
            <a:r>
              <a:rPr lang="zh-CN" altLang="en-US" sz="2800" b="1" dirty="0">
                <a:latin typeface="Times New Roman" panose="02020603050405020304" pitchFamily="18" charset="0"/>
              </a:rPr>
              <a:t>有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≡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(mod 3)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≡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(mod 3),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则有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≡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(mod 3)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z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≡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(mod 3),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≡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latin typeface="Times New Roman" panose="02020603050405020304" pitchFamily="18" charset="0"/>
              </a:rPr>
              <a:t>(mod 3), 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则有 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≡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latin typeface="Times New Roman" panose="02020603050405020304" pitchFamily="18" charset="0"/>
              </a:rPr>
              <a:t>(mod 3)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自反性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对称性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传递性</a:t>
            </a:r>
            <a:r>
              <a:rPr lang="zh-CN" altLang="en-US" sz="2800" b="1" dirty="0">
                <a:latin typeface="Times New Roman" panose="02020603050405020304" pitchFamily="18" charset="0"/>
              </a:rPr>
              <a:t>得到验证。</a:t>
            </a:r>
          </a:p>
          <a:p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CFAC73-E92F-4B1B-8AE8-2D5AF9C5C76A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20835" name="Rectangle 2"/>
          <p:cNvSpPr>
            <a:spLocks noGrp="1" noChangeArrowheads="1"/>
          </p:cNvSpPr>
          <p:nvPr>
            <p:ph type="title"/>
          </p:nvPr>
        </p:nvSpPr>
        <p:spPr>
          <a:xfrm>
            <a:off x="527918" y="275828"/>
            <a:ext cx="7848600" cy="1008063"/>
          </a:xfrm>
        </p:spPr>
        <p:txBody>
          <a:bodyPr/>
          <a:lstStyle/>
          <a:p>
            <a:r>
              <a:rPr lang="en-US" altLang="zh-CN" sz="3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zh-CN" altLang="en-US" sz="3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上模</a:t>
            </a:r>
            <a:r>
              <a:rPr lang="en-US" altLang="zh-CN" sz="3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3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等价关系的关系图</a:t>
            </a:r>
          </a:p>
        </p:txBody>
      </p:sp>
      <p:pic>
        <p:nvPicPr>
          <p:cNvPr id="12083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506"/>
          <a:stretch>
            <a:fillRect/>
          </a:stretch>
        </p:blipFill>
        <p:spPr bwMode="auto">
          <a:xfrm>
            <a:off x="647700" y="2955132"/>
            <a:ext cx="763270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37" name="Text Box 4"/>
          <p:cNvSpPr txBox="1">
            <a:spLocks noChangeArrowheads="1"/>
          </p:cNvSpPr>
          <p:nvPr/>
        </p:nvSpPr>
        <p:spPr bwMode="auto">
          <a:xfrm>
            <a:off x="1455738" y="1851025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800" b="1"/>
          </a:p>
        </p:txBody>
      </p:sp>
      <p:sp>
        <p:nvSpPr>
          <p:cNvPr id="120838" name="Text Box 5"/>
          <p:cNvSpPr txBox="1">
            <a:spLocks noChangeArrowheads="1"/>
          </p:cNvSpPr>
          <p:nvPr/>
        </p:nvSpPr>
        <p:spPr bwMode="auto">
          <a:xfrm>
            <a:off x="1166813" y="17780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800" b="1"/>
          </a:p>
        </p:txBody>
      </p:sp>
      <p:sp>
        <p:nvSpPr>
          <p:cNvPr id="120839" name="Text Box 6"/>
          <p:cNvSpPr txBox="1">
            <a:spLocks noChangeArrowheads="1"/>
          </p:cNvSpPr>
          <p:nvPr/>
        </p:nvSpPr>
        <p:spPr bwMode="auto">
          <a:xfrm>
            <a:off x="539750" y="1324770"/>
            <a:ext cx="7292975" cy="18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设 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={1,2,…,8}, </a:t>
            </a:r>
            <a:br>
              <a:rPr lang="en-US" altLang="zh-CN" b="1" dirty="0">
                <a:latin typeface="Times New Roman" panose="02020603050405020304" pitchFamily="18" charset="0"/>
              </a:rPr>
            </a:br>
            <a:r>
              <a:rPr lang="en-US" altLang="zh-CN" b="1" dirty="0">
                <a:latin typeface="Times New Roman" panose="02020603050405020304" pitchFamily="18" charset="0"/>
              </a:rPr>
              <a:t>      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={ &lt;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b="1" dirty="0" err="1"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&gt;|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b="1" dirty="0" err="1"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b="1" dirty="0" err="1">
                <a:latin typeface="Times New Roman" panose="02020603050405020304" pitchFamily="18" charset="0"/>
              </a:rPr>
              <a:t>∈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dirty="0" err="1">
                <a:latin typeface="Times New Roman" panose="02020603050405020304" pitchFamily="18" charset="0"/>
              </a:rPr>
              <a:t>∧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b="1" dirty="0" err="1">
                <a:latin typeface="Times New Roman" panose="02020603050405020304" pitchFamily="18" charset="0"/>
              </a:rPr>
              <a:t>≡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(mod 3) }</a:t>
            </a:r>
            <a:br>
              <a:rPr lang="en-US" altLang="zh-CN" b="1" dirty="0">
                <a:latin typeface="Times New Roman" panose="02020603050405020304" pitchFamily="18" charset="0"/>
              </a:rPr>
            </a:b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600075" y="1309688"/>
            <a:ext cx="7859713" cy="1347787"/>
            <a:chOff x="0" y="0"/>
            <a:chExt cx="4951" cy="849"/>
          </a:xfrm>
        </p:grpSpPr>
        <p:sp>
          <p:nvSpPr>
            <p:cNvPr id="13339" name="Text Box 3"/>
            <p:cNvSpPr txBox="1">
              <a:spLocks noChangeArrowheads="1"/>
            </p:cNvSpPr>
            <p:nvPr/>
          </p:nvSpPr>
          <p:spPr bwMode="auto">
            <a:xfrm>
              <a:off x="0" y="0"/>
              <a:ext cx="152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推广</a:t>
              </a:r>
              <a:r>
                <a:rPr lang="zh-CN" altLang="en-US" sz="2800" b="1">
                  <a:latin typeface="Times New Roman" pitchFamily="18" charset="0"/>
                </a:rPr>
                <a:t> </a:t>
              </a:r>
              <a:r>
                <a:rPr lang="zh-CN" altLang="en-US" sz="2800" b="1"/>
                <a:t>：整数集</a:t>
              </a:r>
            </a:p>
          </p:txBody>
        </p:sp>
        <p:graphicFrame>
          <p:nvGraphicFramePr>
            <p:cNvPr id="13340" name="Object 4"/>
            <p:cNvGraphicFramePr>
              <a:graphicFrameLocks noChangeAspect="1"/>
            </p:cNvGraphicFramePr>
            <p:nvPr/>
          </p:nvGraphicFramePr>
          <p:xfrm>
            <a:off x="1488" y="39"/>
            <a:ext cx="24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99" r:id="rId3" imgW="152864" imgH="165603" progId="Equation.DSMT4">
                    <p:embed/>
                  </p:oleObj>
                </mc:Choice>
                <mc:Fallback>
                  <p:oleObj r:id="rId3" imgW="152864" imgH="16560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39"/>
                          <a:ext cx="24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1" name="Object 5"/>
            <p:cNvGraphicFramePr>
              <a:graphicFrameLocks noChangeAspect="1"/>
            </p:cNvGraphicFramePr>
            <p:nvPr/>
          </p:nvGraphicFramePr>
          <p:xfrm>
            <a:off x="2140" y="110"/>
            <a:ext cx="260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00" r:id="rId5" imgW="165603" imgH="140126" progId="Equation.DSMT4">
                    <p:embed/>
                  </p:oleObj>
                </mc:Choice>
                <mc:Fallback>
                  <p:oleObj r:id="rId5" imgW="165603" imgH="14012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0" y="110"/>
                          <a:ext cx="260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2" name="Object 6"/>
            <p:cNvGraphicFramePr>
              <a:graphicFrameLocks noChangeAspect="1"/>
            </p:cNvGraphicFramePr>
            <p:nvPr/>
          </p:nvGraphicFramePr>
          <p:xfrm>
            <a:off x="464" y="375"/>
            <a:ext cx="3520" cy="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01" r:id="rId7" imgW="2235200" imgH="304800" progId="Equation.DSMT4">
                    <p:embed/>
                  </p:oleObj>
                </mc:Choice>
                <mc:Fallback>
                  <p:oleObj r:id="rId7" imgW="2235200" imgH="304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" y="375"/>
                          <a:ext cx="3520" cy="4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3" name="Rectangle 7"/>
            <p:cNvSpPr>
              <a:spLocks noChangeArrowheads="1"/>
            </p:cNvSpPr>
            <p:nvPr/>
          </p:nvSpPr>
          <p:spPr bwMode="auto">
            <a:xfrm>
              <a:off x="2304" y="0"/>
              <a:ext cx="264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的同余关系是等价关系：</a:t>
              </a:r>
              <a:r>
                <a:rPr lang="zh-CN" altLang="en-US" sz="2800">
                  <a:latin typeface="Times New Roman" pitchFamily="18" charset="0"/>
                </a:rPr>
                <a:t> </a:t>
              </a:r>
            </a:p>
          </p:txBody>
        </p:sp>
        <p:sp>
          <p:nvSpPr>
            <p:cNvPr id="13344" name="Rectangle 8"/>
            <p:cNvSpPr>
              <a:spLocks noChangeArrowheads="1"/>
            </p:cNvSpPr>
            <p:nvPr/>
          </p:nvSpPr>
          <p:spPr bwMode="auto">
            <a:xfrm>
              <a:off x="1632" y="0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上模</a:t>
              </a:r>
            </a:p>
          </p:txBody>
        </p:sp>
      </p:grpSp>
      <p:grpSp>
        <p:nvGrpSpPr>
          <p:cNvPr id="16393" name="Group 9"/>
          <p:cNvGrpSpPr>
            <a:grpSpLocks/>
          </p:cNvGrpSpPr>
          <p:nvPr/>
        </p:nvGrpSpPr>
        <p:grpSpPr bwMode="auto">
          <a:xfrm>
            <a:off x="457200" y="2663825"/>
            <a:ext cx="6484938" cy="1239838"/>
            <a:chOff x="0" y="0"/>
            <a:chExt cx="4085" cy="781"/>
          </a:xfrm>
        </p:grpSpPr>
        <p:sp>
          <p:nvSpPr>
            <p:cNvPr id="13330" name="Text Box 10"/>
            <p:cNvSpPr txBox="1">
              <a:spLocks noChangeArrowheads="1"/>
            </p:cNvSpPr>
            <p:nvPr/>
          </p:nvSpPr>
          <p:spPr bwMode="auto">
            <a:xfrm>
              <a:off x="0" y="2"/>
              <a:ext cx="212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事实上：</a:t>
              </a:r>
              <a:r>
                <a:rPr lang="en-US" altLang="zh-CN" sz="2800" b="1">
                  <a:latin typeface="Times New Roman" pitchFamily="18" charset="0"/>
                </a:rPr>
                <a:t>(1) </a:t>
              </a:r>
              <a:r>
                <a:rPr lang="zh-CN" altLang="en-US" sz="2800" b="1">
                  <a:latin typeface="Times New Roman" pitchFamily="18" charset="0"/>
                </a:rPr>
                <a:t>若</a:t>
              </a:r>
              <a:r>
                <a:rPr lang="en-US" altLang="zh-CN" sz="2800" b="1">
                  <a:latin typeface="Times New Roman" pitchFamily="18" charset="0"/>
                </a:rPr>
                <a:t>x ∈Z</a:t>
              </a:r>
            </a:p>
          </p:txBody>
        </p:sp>
        <p:sp>
          <p:nvSpPr>
            <p:cNvPr id="13331" name="Text Box 11"/>
            <p:cNvSpPr txBox="1">
              <a:spLocks noChangeArrowheads="1"/>
            </p:cNvSpPr>
            <p:nvPr/>
          </p:nvSpPr>
          <p:spPr bwMode="auto">
            <a:xfrm>
              <a:off x="1248" y="386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故</a:t>
              </a:r>
            </a:p>
          </p:txBody>
        </p:sp>
        <p:graphicFrame>
          <p:nvGraphicFramePr>
            <p:cNvPr id="13332" name="Object 13"/>
            <p:cNvGraphicFramePr>
              <a:graphicFrameLocks noChangeAspect="1"/>
            </p:cNvGraphicFramePr>
            <p:nvPr/>
          </p:nvGraphicFramePr>
          <p:xfrm>
            <a:off x="2160" y="22"/>
            <a:ext cx="100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02" r:id="rId9" imgW="635552" imgH="203377" progId="Equation.DSMT4">
                    <p:embed/>
                  </p:oleObj>
                </mc:Choice>
                <mc:Fallback>
                  <p:oleObj r:id="rId9" imgW="635552" imgH="20337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22"/>
                          <a:ext cx="100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3" name="Object 14"/>
            <p:cNvGraphicFramePr>
              <a:graphicFrameLocks noChangeAspect="1"/>
            </p:cNvGraphicFramePr>
            <p:nvPr/>
          </p:nvGraphicFramePr>
          <p:xfrm>
            <a:off x="1536" y="386"/>
            <a:ext cx="98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03" r:id="rId11" imgW="622841" imgH="254221" progId="Equation.DSMT4">
                    <p:embed/>
                  </p:oleObj>
                </mc:Choice>
                <mc:Fallback>
                  <p:oleObj r:id="rId11" imgW="622841" imgH="25422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386"/>
                          <a:ext cx="980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4" name="Object 15"/>
            <p:cNvGraphicFramePr>
              <a:graphicFrameLocks noChangeAspect="1"/>
            </p:cNvGraphicFramePr>
            <p:nvPr/>
          </p:nvGraphicFramePr>
          <p:xfrm>
            <a:off x="2688" y="434"/>
            <a:ext cx="24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04" r:id="rId13" imgW="152864" imgH="165603" progId="Equation.DSMT4">
                    <p:embed/>
                  </p:oleObj>
                </mc:Choice>
                <mc:Fallback>
                  <p:oleObj r:id="rId13" imgW="152864" imgH="16560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434"/>
                          <a:ext cx="24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5" name="Rectangle 16"/>
            <p:cNvSpPr>
              <a:spLocks noChangeArrowheads="1"/>
            </p:cNvSpPr>
            <p:nvPr/>
          </p:nvSpPr>
          <p:spPr bwMode="auto">
            <a:xfrm>
              <a:off x="2844" y="395"/>
              <a:ext cx="1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是自反的。</a:t>
              </a:r>
            </a:p>
          </p:txBody>
        </p:sp>
        <p:sp>
          <p:nvSpPr>
            <p:cNvPr id="13336" name="Rectangle 17"/>
            <p:cNvSpPr>
              <a:spLocks noChangeArrowheads="1"/>
            </p:cNvSpPr>
            <p:nvPr/>
          </p:nvSpPr>
          <p:spPr bwMode="auto">
            <a:xfrm>
              <a:off x="2467" y="376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/>
                <a:t>，</a:t>
              </a:r>
            </a:p>
          </p:txBody>
        </p:sp>
        <p:sp>
          <p:nvSpPr>
            <p:cNvPr id="13337" name="Rectangle 18"/>
            <p:cNvSpPr>
              <a:spLocks noChangeArrowheads="1"/>
            </p:cNvSpPr>
            <p:nvPr/>
          </p:nvSpPr>
          <p:spPr bwMode="auto">
            <a:xfrm>
              <a:off x="3072" y="0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/>
                <a:t>，</a:t>
              </a:r>
            </a:p>
          </p:txBody>
        </p:sp>
        <p:sp>
          <p:nvSpPr>
            <p:cNvPr id="13338" name="Rectangle 19"/>
            <p:cNvSpPr>
              <a:spLocks noChangeArrowheads="1"/>
            </p:cNvSpPr>
            <p:nvPr/>
          </p:nvSpPr>
          <p:spPr bwMode="auto">
            <a:xfrm>
              <a:off x="1964" y="11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/>
                <a:t>，</a:t>
              </a:r>
            </a:p>
          </p:txBody>
        </p:sp>
      </p:grpSp>
      <p:grpSp>
        <p:nvGrpSpPr>
          <p:cNvPr id="16404" name="Group 20"/>
          <p:cNvGrpSpPr>
            <a:grpSpLocks/>
          </p:cNvGrpSpPr>
          <p:nvPr/>
        </p:nvGrpSpPr>
        <p:grpSpPr bwMode="auto">
          <a:xfrm>
            <a:off x="1905000" y="3962400"/>
            <a:ext cx="5264150" cy="1966913"/>
            <a:chOff x="0" y="0"/>
            <a:chExt cx="3316" cy="1239"/>
          </a:xfrm>
        </p:grpSpPr>
        <p:sp>
          <p:nvSpPr>
            <p:cNvPr id="13318" name="Text Box 21"/>
            <p:cNvSpPr txBox="1">
              <a:spLocks noChangeArrowheads="1"/>
            </p:cNvSpPr>
            <p:nvPr/>
          </p:nvSpPr>
          <p:spPr bwMode="auto">
            <a:xfrm>
              <a:off x="0" y="9"/>
              <a:ext cx="65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latin typeface="Times New Roman" pitchFamily="18" charset="0"/>
                </a:rPr>
                <a:t>(2) </a:t>
              </a:r>
              <a:r>
                <a:rPr lang="zh-CN" altLang="en-US" sz="2800" b="1"/>
                <a:t>若</a:t>
              </a:r>
            </a:p>
          </p:txBody>
        </p:sp>
        <p:graphicFrame>
          <p:nvGraphicFramePr>
            <p:cNvPr id="13319" name="Object 22"/>
            <p:cNvGraphicFramePr>
              <a:graphicFrameLocks noChangeAspect="1"/>
            </p:cNvGraphicFramePr>
            <p:nvPr/>
          </p:nvGraphicFramePr>
          <p:xfrm>
            <a:off x="576" y="0"/>
            <a:ext cx="98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05" r:id="rId15" imgW="622841" imgH="254221" progId="Equation.DSMT4">
                    <p:embed/>
                  </p:oleObj>
                </mc:Choice>
                <mc:Fallback>
                  <p:oleObj r:id="rId15" imgW="622841" imgH="25422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0"/>
                          <a:ext cx="980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0" name="Object 23"/>
            <p:cNvGraphicFramePr>
              <a:graphicFrameLocks noChangeAspect="1"/>
            </p:cNvGraphicFramePr>
            <p:nvPr/>
          </p:nvGraphicFramePr>
          <p:xfrm>
            <a:off x="2016" y="48"/>
            <a:ext cx="102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06" r:id="rId17" imgW="648263" imgH="203377" progId="Equation.DSMT4">
                    <p:embed/>
                  </p:oleObj>
                </mc:Choice>
                <mc:Fallback>
                  <p:oleObj r:id="rId17" imgW="648263" imgH="20337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48"/>
                          <a:ext cx="102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1" name="Text Box 24"/>
            <p:cNvSpPr txBox="1">
              <a:spLocks noChangeArrowheads="1"/>
            </p:cNvSpPr>
            <p:nvPr/>
          </p:nvSpPr>
          <p:spPr bwMode="auto">
            <a:xfrm>
              <a:off x="288" y="418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则</a:t>
              </a:r>
            </a:p>
          </p:txBody>
        </p:sp>
        <p:graphicFrame>
          <p:nvGraphicFramePr>
            <p:cNvPr id="13322" name="Object 25"/>
            <p:cNvGraphicFramePr>
              <a:graphicFrameLocks noChangeAspect="1"/>
            </p:cNvGraphicFramePr>
            <p:nvPr/>
          </p:nvGraphicFramePr>
          <p:xfrm>
            <a:off x="576" y="480"/>
            <a:ext cx="102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07" r:id="rId19" imgW="648263" imgH="203377" progId="Equation.DSMT4">
                    <p:embed/>
                  </p:oleObj>
                </mc:Choice>
                <mc:Fallback>
                  <p:oleObj r:id="rId19" imgW="648263" imgH="20337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480"/>
                          <a:ext cx="102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3" name="Object 26"/>
            <p:cNvGraphicFramePr>
              <a:graphicFrameLocks noChangeAspect="1"/>
            </p:cNvGraphicFramePr>
            <p:nvPr/>
          </p:nvGraphicFramePr>
          <p:xfrm>
            <a:off x="2044" y="421"/>
            <a:ext cx="98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08" r:id="rId21" imgW="622841" imgH="254221" progId="Equation.DSMT4">
                    <p:embed/>
                  </p:oleObj>
                </mc:Choice>
                <mc:Fallback>
                  <p:oleObj r:id="rId21" imgW="622841" imgH="25422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4" y="421"/>
                          <a:ext cx="980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4" name="Text Box 27"/>
            <p:cNvSpPr txBox="1">
              <a:spLocks noChangeArrowheads="1"/>
            </p:cNvSpPr>
            <p:nvPr/>
          </p:nvSpPr>
          <p:spPr bwMode="auto">
            <a:xfrm>
              <a:off x="484" y="912"/>
              <a:ext cx="129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是对称的。</a:t>
              </a:r>
              <a:r>
                <a:rPr lang="zh-CN" altLang="en-US" sz="2800">
                  <a:latin typeface="Times New Roman" pitchFamily="18" charset="0"/>
                </a:rPr>
                <a:t> </a:t>
              </a:r>
            </a:p>
          </p:txBody>
        </p:sp>
        <p:graphicFrame>
          <p:nvGraphicFramePr>
            <p:cNvPr id="13325" name="Object 28"/>
            <p:cNvGraphicFramePr>
              <a:graphicFrameLocks noChangeAspect="1"/>
            </p:cNvGraphicFramePr>
            <p:nvPr/>
          </p:nvGraphicFramePr>
          <p:xfrm>
            <a:off x="336" y="943"/>
            <a:ext cx="24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09" r:id="rId23" imgW="152864" imgH="165603" progId="Equation.DSMT4">
                    <p:embed/>
                  </p:oleObj>
                </mc:Choice>
                <mc:Fallback>
                  <p:oleObj r:id="rId23" imgW="152864" imgH="16560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943"/>
                          <a:ext cx="24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6" name="Rectangle 29"/>
            <p:cNvSpPr>
              <a:spLocks noChangeArrowheads="1"/>
            </p:cNvSpPr>
            <p:nvPr/>
          </p:nvSpPr>
          <p:spPr bwMode="auto">
            <a:xfrm>
              <a:off x="2976" y="432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/>
                <a:t>，</a:t>
              </a:r>
            </a:p>
          </p:txBody>
        </p:sp>
        <p:sp>
          <p:nvSpPr>
            <p:cNvPr id="13327" name="Rectangle 30"/>
            <p:cNvSpPr>
              <a:spLocks noChangeArrowheads="1"/>
            </p:cNvSpPr>
            <p:nvPr/>
          </p:nvSpPr>
          <p:spPr bwMode="auto">
            <a:xfrm>
              <a:off x="1500" y="432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/>
                <a:t>，</a:t>
              </a:r>
              <a:r>
                <a:rPr lang="zh-CN" altLang="en-US" sz="2800" b="1"/>
                <a:t>故</a:t>
              </a:r>
            </a:p>
          </p:txBody>
        </p:sp>
        <p:sp>
          <p:nvSpPr>
            <p:cNvPr id="13328" name="Rectangle 31"/>
            <p:cNvSpPr>
              <a:spLocks noChangeArrowheads="1"/>
            </p:cNvSpPr>
            <p:nvPr/>
          </p:nvSpPr>
          <p:spPr bwMode="auto">
            <a:xfrm>
              <a:off x="2976" y="48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/>
                <a:t>，</a:t>
              </a:r>
            </a:p>
          </p:txBody>
        </p:sp>
        <p:sp>
          <p:nvSpPr>
            <p:cNvPr id="13329" name="Rectangle 32"/>
            <p:cNvSpPr>
              <a:spLocks noChangeArrowheads="1"/>
            </p:cNvSpPr>
            <p:nvPr/>
          </p:nvSpPr>
          <p:spPr bwMode="auto">
            <a:xfrm>
              <a:off x="1488" y="9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/>
                <a:t>，</a:t>
              </a:r>
              <a:r>
                <a:rPr lang="zh-CN" altLang="en-US" sz="2800" b="1"/>
                <a:t>即</a:t>
              </a:r>
            </a:p>
          </p:txBody>
        </p:sp>
      </p:grpSp>
      <p:sp>
        <p:nvSpPr>
          <p:cNvPr id="13317" name="Rectangle 33"/>
          <p:cNvSpPr>
            <a:spLocks noChangeArrowheads="1"/>
          </p:cNvSpPr>
          <p:nvPr/>
        </p:nvSpPr>
        <p:spPr bwMode="auto">
          <a:xfrm>
            <a:off x="87313" y="41275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4200" b="1">
                <a:solidFill>
                  <a:schemeClr val="tx2"/>
                </a:solidFill>
              </a:rPr>
              <a:t>A</a:t>
            </a:r>
            <a:r>
              <a:rPr lang="zh-CN" altLang="en-US" sz="4200" b="1">
                <a:solidFill>
                  <a:schemeClr val="tx2"/>
                </a:solidFill>
              </a:rPr>
              <a:t>上模</a:t>
            </a:r>
            <a:r>
              <a:rPr lang="en-US" altLang="zh-CN" sz="4200" b="1">
                <a:solidFill>
                  <a:schemeClr val="tx2"/>
                </a:solidFill>
              </a:rPr>
              <a:t>n</a:t>
            </a:r>
            <a:r>
              <a:rPr lang="zh-CN" altLang="en-US" sz="4200" b="1">
                <a:solidFill>
                  <a:schemeClr val="tx2"/>
                </a:solidFill>
              </a:rPr>
              <a:t>等价关系</a:t>
            </a:r>
          </a:p>
        </p:txBody>
      </p:sp>
    </p:spTree>
    <p:extLst>
      <p:ext uri="{BB962C8B-B14F-4D97-AF65-F5344CB8AC3E}">
        <p14:creationId xmlns:p14="http://schemas.microsoft.com/office/powerpoint/2010/main" val="38368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539750" y="1412875"/>
            <a:ext cx="6940550" cy="3200400"/>
            <a:chOff x="0" y="0"/>
            <a:chExt cx="4372" cy="2016"/>
          </a:xfrm>
        </p:grpSpPr>
        <p:sp>
          <p:nvSpPr>
            <p:cNvPr id="14345" name="Text Box 10"/>
            <p:cNvSpPr txBox="1">
              <a:spLocks noChangeArrowheads="1"/>
            </p:cNvSpPr>
            <p:nvPr/>
          </p:nvSpPr>
          <p:spPr bwMode="auto">
            <a:xfrm>
              <a:off x="0" y="0"/>
              <a:ext cx="15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latin typeface="Times New Roman" pitchFamily="18" charset="0"/>
                </a:rPr>
                <a:t>                (3) </a:t>
              </a:r>
              <a:r>
                <a:rPr lang="zh-CN" altLang="en-US" sz="2800"/>
                <a:t>若</a:t>
              </a:r>
            </a:p>
          </p:txBody>
        </p:sp>
        <p:graphicFrame>
          <p:nvGraphicFramePr>
            <p:cNvPr id="14346" name="Object 4"/>
            <p:cNvGraphicFramePr>
              <a:graphicFrameLocks noChangeAspect="1"/>
            </p:cNvGraphicFramePr>
            <p:nvPr/>
          </p:nvGraphicFramePr>
          <p:xfrm>
            <a:off x="1488" y="0"/>
            <a:ext cx="98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609" r:id="rId3" imgW="622841" imgH="254221" progId="Equation.DSMT4">
                    <p:embed/>
                  </p:oleObj>
                </mc:Choice>
                <mc:Fallback>
                  <p:oleObj r:id="rId3" imgW="622841" imgH="25422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0"/>
                          <a:ext cx="980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7" name="Object 5"/>
            <p:cNvGraphicFramePr>
              <a:graphicFrameLocks noChangeAspect="1"/>
            </p:cNvGraphicFramePr>
            <p:nvPr/>
          </p:nvGraphicFramePr>
          <p:xfrm>
            <a:off x="2640" y="0"/>
            <a:ext cx="98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610" r:id="rId5" imgW="622841" imgH="254221" progId="Equation.DSMT4">
                    <p:embed/>
                  </p:oleObj>
                </mc:Choice>
                <mc:Fallback>
                  <p:oleObj r:id="rId5" imgW="622841" imgH="25422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0"/>
                          <a:ext cx="980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48" name="Text Box 13"/>
            <p:cNvSpPr txBox="1">
              <a:spLocks noChangeArrowheads="1"/>
            </p:cNvSpPr>
            <p:nvPr/>
          </p:nvSpPr>
          <p:spPr bwMode="auto">
            <a:xfrm>
              <a:off x="1200" y="418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/>
                <a:t>即</a:t>
              </a:r>
            </a:p>
          </p:txBody>
        </p:sp>
        <p:graphicFrame>
          <p:nvGraphicFramePr>
            <p:cNvPr id="14349" name="Object 7"/>
            <p:cNvGraphicFramePr>
              <a:graphicFrameLocks noChangeAspect="1"/>
            </p:cNvGraphicFramePr>
            <p:nvPr/>
          </p:nvGraphicFramePr>
          <p:xfrm>
            <a:off x="1524" y="452"/>
            <a:ext cx="102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611" r:id="rId7" imgW="648263" imgH="203377" progId="Equation.DSMT4">
                    <p:embed/>
                  </p:oleObj>
                </mc:Choice>
                <mc:Fallback>
                  <p:oleObj r:id="rId7" imgW="648263" imgH="20337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4" y="452"/>
                          <a:ext cx="102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0" name="Object 8"/>
            <p:cNvGraphicFramePr>
              <a:graphicFrameLocks noChangeAspect="1"/>
            </p:cNvGraphicFramePr>
            <p:nvPr/>
          </p:nvGraphicFramePr>
          <p:xfrm>
            <a:off x="2688" y="452"/>
            <a:ext cx="102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612" r:id="rId9" imgW="648263" imgH="203377" progId="Equation.DSMT4">
                    <p:embed/>
                  </p:oleObj>
                </mc:Choice>
                <mc:Fallback>
                  <p:oleObj r:id="rId9" imgW="648263" imgH="20337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452"/>
                          <a:ext cx="102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1" name="Object 9"/>
            <p:cNvGraphicFramePr>
              <a:graphicFrameLocks noChangeAspect="1"/>
            </p:cNvGraphicFramePr>
            <p:nvPr/>
          </p:nvGraphicFramePr>
          <p:xfrm>
            <a:off x="1488" y="912"/>
            <a:ext cx="224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613" r:id="rId11" imgW="1423636" imgH="203377" progId="Equation.DSMT4">
                    <p:embed/>
                  </p:oleObj>
                </mc:Choice>
                <mc:Fallback>
                  <p:oleObj r:id="rId11" imgW="1423636" imgH="20337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912"/>
                          <a:ext cx="224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2" name="Text Box 17"/>
            <p:cNvSpPr txBox="1">
              <a:spLocks noChangeArrowheads="1"/>
            </p:cNvSpPr>
            <p:nvPr/>
          </p:nvSpPr>
          <p:spPr bwMode="auto">
            <a:xfrm>
              <a:off x="1200" y="859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/>
                <a:t>因</a:t>
              </a:r>
            </a:p>
          </p:txBody>
        </p:sp>
        <p:sp>
          <p:nvSpPr>
            <p:cNvPr id="14353" name="Text Box 18"/>
            <p:cNvSpPr txBox="1">
              <a:spLocks noChangeArrowheads="1"/>
            </p:cNvSpPr>
            <p:nvPr/>
          </p:nvSpPr>
          <p:spPr bwMode="auto">
            <a:xfrm>
              <a:off x="1200" y="1291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/>
                <a:t>所以</a:t>
              </a:r>
            </a:p>
          </p:txBody>
        </p:sp>
        <p:graphicFrame>
          <p:nvGraphicFramePr>
            <p:cNvPr id="14354" name="Object 12"/>
            <p:cNvGraphicFramePr>
              <a:graphicFrameLocks noChangeAspect="1"/>
            </p:cNvGraphicFramePr>
            <p:nvPr/>
          </p:nvGraphicFramePr>
          <p:xfrm>
            <a:off x="1728" y="1344"/>
            <a:ext cx="100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614" r:id="rId13" imgW="635552" imgH="203377" progId="Equation.DSMT4">
                    <p:embed/>
                  </p:oleObj>
                </mc:Choice>
                <mc:Fallback>
                  <p:oleObj r:id="rId13" imgW="635552" imgH="20337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1344"/>
                          <a:ext cx="100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5" name="Object 13"/>
            <p:cNvGraphicFramePr>
              <a:graphicFrameLocks noChangeAspect="1"/>
            </p:cNvGraphicFramePr>
            <p:nvPr/>
          </p:nvGraphicFramePr>
          <p:xfrm>
            <a:off x="3168" y="1296"/>
            <a:ext cx="96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615" r:id="rId15" imgW="610130" imgH="254221" progId="Equation.DSMT4">
                    <p:embed/>
                  </p:oleObj>
                </mc:Choice>
                <mc:Fallback>
                  <p:oleObj r:id="rId15" imgW="610130" imgH="25422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296"/>
                          <a:ext cx="960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6" name="Text Box 21"/>
            <p:cNvSpPr txBox="1">
              <a:spLocks noChangeArrowheads="1"/>
            </p:cNvSpPr>
            <p:nvPr/>
          </p:nvSpPr>
          <p:spPr bwMode="auto">
            <a:xfrm>
              <a:off x="1440" y="1689"/>
              <a:ext cx="12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/>
                <a:t>是传递的。</a:t>
              </a:r>
              <a:r>
                <a:rPr lang="zh-CN" altLang="en-US" sz="2800">
                  <a:latin typeface="Times New Roman" pitchFamily="18" charset="0"/>
                </a:rPr>
                <a:t> </a:t>
              </a:r>
            </a:p>
          </p:txBody>
        </p:sp>
        <p:graphicFrame>
          <p:nvGraphicFramePr>
            <p:cNvPr id="14357" name="Object 15"/>
            <p:cNvGraphicFramePr>
              <a:graphicFrameLocks noChangeAspect="1"/>
            </p:cNvGraphicFramePr>
            <p:nvPr/>
          </p:nvGraphicFramePr>
          <p:xfrm>
            <a:off x="1248" y="1728"/>
            <a:ext cx="24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616" r:id="rId17" imgW="152864" imgH="165603" progId="Equation.DSMT4">
                    <p:embed/>
                  </p:oleObj>
                </mc:Choice>
                <mc:Fallback>
                  <p:oleObj r:id="rId17" imgW="152864" imgH="16560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1728"/>
                          <a:ext cx="24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8" name="Rectangle 23"/>
            <p:cNvSpPr>
              <a:spLocks noChangeArrowheads="1"/>
            </p:cNvSpPr>
            <p:nvPr/>
          </p:nvSpPr>
          <p:spPr bwMode="auto">
            <a:xfrm>
              <a:off x="4032" y="1305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/>
                <a:t>，</a:t>
              </a:r>
            </a:p>
          </p:txBody>
        </p:sp>
        <p:sp>
          <p:nvSpPr>
            <p:cNvPr id="14359" name="Rectangle 24"/>
            <p:cNvSpPr>
              <a:spLocks noChangeArrowheads="1"/>
            </p:cNvSpPr>
            <p:nvPr/>
          </p:nvSpPr>
          <p:spPr bwMode="auto">
            <a:xfrm>
              <a:off x="2640" y="1305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/>
                <a:t>，故</a:t>
              </a:r>
            </a:p>
          </p:txBody>
        </p:sp>
        <p:sp>
          <p:nvSpPr>
            <p:cNvPr id="14360" name="Rectangle 25"/>
            <p:cNvSpPr>
              <a:spLocks noChangeArrowheads="1"/>
            </p:cNvSpPr>
            <p:nvPr/>
          </p:nvSpPr>
          <p:spPr bwMode="auto">
            <a:xfrm>
              <a:off x="3648" y="921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/>
                <a:t>，</a:t>
              </a:r>
            </a:p>
          </p:txBody>
        </p:sp>
        <p:sp>
          <p:nvSpPr>
            <p:cNvPr id="14361" name="Rectangle 26"/>
            <p:cNvSpPr>
              <a:spLocks noChangeArrowheads="1"/>
            </p:cNvSpPr>
            <p:nvPr/>
          </p:nvSpPr>
          <p:spPr bwMode="auto">
            <a:xfrm>
              <a:off x="3644" y="432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/>
                <a:t>，</a:t>
              </a:r>
            </a:p>
          </p:txBody>
        </p:sp>
        <p:sp>
          <p:nvSpPr>
            <p:cNvPr id="14362" name="Rectangle 27"/>
            <p:cNvSpPr>
              <a:spLocks noChangeArrowheads="1"/>
            </p:cNvSpPr>
            <p:nvPr/>
          </p:nvSpPr>
          <p:spPr bwMode="auto">
            <a:xfrm>
              <a:off x="2492" y="432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/>
                <a:t>，</a:t>
              </a:r>
            </a:p>
          </p:txBody>
        </p:sp>
        <p:sp>
          <p:nvSpPr>
            <p:cNvPr id="14363" name="Rectangle 28"/>
            <p:cNvSpPr>
              <a:spLocks noChangeArrowheads="1"/>
            </p:cNvSpPr>
            <p:nvPr/>
          </p:nvSpPr>
          <p:spPr bwMode="auto">
            <a:xfrm>
              <a:off x="3552" y="23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/>
                <a:t>，</a:t>
              </a:r>
            </a:p>
          </p:txBody>
        </p:sp>
        <p:sp>
          <p:nvSpPr>
            <p:cNvPr id="14364" name="Rectangle 29"/>
            <p:cNvSpPr>
              <a:spLocks noChangeArrowheads="1"/>
            </p:cNvSpPr>
            <p:nvPr/>
          </p:nvSpPr>
          <p:spPr bwMode="auto">
            <a:xfrm>
              <a:off x="2422" y="0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/>
                <a:t>，</a:t>
              </a:r>
            </a:p>
          </p:txBody>
        </p:sp>
      </p:grpSp>
      <p:grpSp>
        <p:nvGrpSpPr>
          <p:cNvPr id="17431" name="Group 23"/>
          <p:cNvGrpSpPr>
            <a:grpSpLocks/>
          </p:cNvGrpSpPr>
          <p:nvPr/>
        </p:nvGrpSpPr>
        <p:grpSpPr bwMode="auto">
          <a:xfrm>
            <a:off x="611188" y="4797425"/>
            <a:ext cx="5346700" cy="542925"/>
            <a:chOff x="0" y="0"/>
            <a:chExt cx="3368" cy="342"/>
          </a:xfrm>
        </p:grpSpPr>
        <p:grpSp>
          <p:nvGrpSpPr>
            <p:cNvPr id="14341" name="Group 24"/>
            <p:cNvGrpSpPr>
              <a:grpSpLocks/>
            </p:cNvGrpSpPr>
            <p:nvPr/>
          </p:nvGrpSpPr>
          <p:grpSpPr bwMode="auto">
            <a:xfrm>
              <a:off x="0" y="0"/>
              <a:ext cx="1978" cy="327"/>
              <a:chOff x="0" y="0"/>
              <a:chExt cx="1978" cy="327"/>
            </a:xfrm>
          </p:grpSpPr>
          <p:sp>
            <p:nvSpPr>
              <p:cNvPr id="14343" name="Text Box 32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180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由</a:t>
                </a:r>
                <a:r>
                  <a:rPr lang="en-US" altLang="zh-CN" sz="2800" b="1">
                    <a:latin typeface="Times New Roman" pitchFamily="18" charset="0"/>
                  </a:rPr>
                  <a:t>(1)</a:t>
                </a:r>
                <a:r>
                  <a:rPr lang="zh-CN" altLang="en-US" sz="2800" b="1"/>
                  <a:t>，</a:t>
                </a:r>
                <a:r>
                  <a:rPr lang="en-US" altLang="zh-CN" sz="2800" b="1">
                    <a:latin typeface="Times New Roman" pitchFamily="18" charset="0"/>
                  </a:rPr>
                  <a:t>(2)</a:t>
                </a:r>
                <a:r>
                  <a:rPr lang="zh-CN" altLang="en-US" sz="2800" b="1"/>
                  <a:t>，</a:t>
                </a:r>
                <a:r>
                  <a:rPr lang="en-US" altLang="zh-CN" sz="2800" b="1">
                    <a:latin typeface="Times New Roman" pitchFamily="18" charset="0"/>
                  </a:rPr>
                  <a:t>(3)</a:t>
                </a:r>
                <a:r>
                  <a:rPr lang="zh-CN" altLang="en-US" sz="2800" b="1"/>
                  <a:t>，</a:t>
                </a:r>
              </a:p>
            </p:txBody>
          </p:sp>
          <p:graphicFrame>
            <p:nvGraphicFramePr>
              <p:cNvPr id="14344" name="Object 26"/>
              <p:cNvGraphicFramePr>
                <a:graphicFrameLocks noChangeAspect="1"/>
              </p:cNvGraphicFramePr>
              <p:nvPr/>
            </p:nvGraphicFramePr>
            <p:xfrm>
              <a:off x="1738" y="37"/>
              <a:ext cx="240" cy="2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6617" r:id="rId19" imgW="152864" imgH="165603" progId="Equation.DSMT4">
                      <p:embed/>
                    </p:oleObj>
                  </mc:Choice>
                  <mc:Fallback>
                    <p:oleObj r:id="rId19" imgW="152864" imgH="165603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38" y="37"/>
                            <a:ext cx="240" cy="2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4342" name="Rectangle 34"/>
            <p:cNvSpPr>
              <a:spLocks noChangeArrowheads="1"/>
            </p:cNvSpPr>
            <p:nvPr/>
          </p:nvSpPr>
          <p:spPr bwMode="auto">
            <a:xfrm>
              <a:off x="1902" y="15"/>
              <a:ext cx="14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是等价关系。</a:t>
              </a:r>
            </a:p>
          </p:txBody>
        </p:sp>
      </p:grpSp>
      <p:sp>
        <p:nvSpPr>
          <p:cNvPr id="14340" name="Rectangle 35"/>
          <p:cNvSpPr>
            <a:spLocks noChangeArrowheads="1"/>
          </p:cNvSpPr>
          <p:nvPr/>
        </p:nvSpPr>
        <p:spPr bwMode="auto">
          <a:xfrm>
            <a:off x="87313" y="41275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4200" b="1">
                <a:solidFill>
                  <a:schemeClr val="tx2"/>
                </a:solidFill>
              </a:rPr>
              <a:t>A</a:t>
            </a:r>
            <a:r>
              <a:rPr lang="zh-CN" altLang="en-US" sz="4200" b="1">
                <a:solidFill>
                  <a:schemeClr val="tx2"/>
                </a:solidFill>
              </a:rPr>
              <a:t>上模</a:t>
            </a:r>
            <a:r>
              <a:rPr lang="en-US" altLang="zh-CN" sz="4200" b="1">
                <a:solidFill>
                  <a:schemeClr val="tx2"/>
                </a:solidFill>
              </a:rPr>
              <a:t>n</a:t>
            </a:r>
            <a:r>
              <a:rPr lang="zh-CN" altLang="en-US" sz="4200" b="1">
                <a:solidFill>
                  <a:schemeClr val="tx2"/>
                </a:solidFill>
              </a:rPr>
              <a:t>等价关系</a:t>
            </a:r>
          </a:p>
        </p:txBody>
      </p:sp>
    </p:spTree>
    <p:extLst>
      <p:ext uri="{BB962C8B-B14F-4D97-AF65-F5344CB8AC3E}">
        <p14:creationId xmlns:p14="http://schemas.microsoft.com/office/powerpoint/2010/main" val="211636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460500"/>
            <a:ext cx="8137525" cy="2232025"/>
          </a:xfrm>
        </p:spPr>
        <p:txBody>
          <a:bodyPr/>
          <a:lstStyle/>
          <a:p>
            <a:pPr marL="476250" indent="-476250" eaLnBrk="1" hangingPunct="1">
              <a:lnSpc>
                <a:spcPct val="120000"/>
              </a:lnSpc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1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:</a:t>
            </a:r>
            <a:r>
              <a:rPr lang="zh-CN" altLang="en-US" sz="2800" b="1" dirty="0" smtClean="0">
                <a:solidFill>
                  <a:schemeClr val="bg2"/>
                </a:solidFill>
              </a:rPr>
              <a:t>  </a:t>
            </a:r>
            <a:r>
              <a:rPr lang="zh-CN" altLang="en-US" sz="2800" b="1" dirty="0" smtClean="0"/>
              <a:t>设集合A={a，b，c，d，}，R={&lt;a，a&gt;，&lt;a，d&gt;，&lt;d，a&gt;，&lt;d，d&gt;，&lt;b，b&gt;，&lt;b，c&gt;，&lt;c，b&gt;，&lt;c，c&gt;}。验证R是A上的等价关系。</a:t>
            </a:r>
          </a:p>
          <a:p>
            <a:pPr marL="476250" indent="-476250" eaLnBrk="1" hangingPunct="1">
              <a:lnSpc>
                <a:spcPct val="90000"/>
              </a:lnSpc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endParaRPr lang="zh-CN" altLang="en-US" sz="2800" b="1" dirty="0" smtClean="0"/>
          </a:p>
          <a:p>
            <a:pPr marL="476250" indent="-476250" eaLnBrk="1" hangingPunct="1">
              <a:lnSpc>
                <a:spcPct val="90000"/>
              </a:lnSpc>
              <a:buFont typeface="Wingdings" pitchFamily="2" charset="2"/>
              <a:buNone/>
              <a:tabLst>
                <a:tab pos="374650" algn="l"/>
                <a:tab pos="476250" algn="l"/>
              </a:tabLst>
            </a:pPr>
            <a:r>
              <a:rPr lang="zh-CN" altLang="en-US" sz="2800" b="1" dirty="0" smtClean="0">
                <a:solidFill>
                  <a:srgbClr val="FF0000"/>
                </a:solidFill>
              </a:rPr>
              <a:t>证明:</a:t>
            </a:r>
            <a:r>
              <a:rPr lang="zh-CN" altLang="en-US" sz="2800" b="1" dirty="0" smtClean="0"/>
              <a:t>  写出R的关系矩阵</a:t>
            </a:r>
          </a:p>
        </p:txBody>
      </p:sp>
      <p:graphicFrame>
        <p:nvGraphicFramePr>
          <p:cNvPr id="18435" name="Object 3"/>
          <p:cNvGraphicFramePr>
            <a:graphicFrameLocks noGrp="1" noChangeAspect="1"/>
          </p:cNvGraphicFramePr>
          <p:nvPr>
            <p:ph idx="4294967295"/>
          </p:nvPr>
        </p:nvGraphicFramePr>
        <p:xfrm>
          <a:off x="6445250" y="3068638"/>
          <a:ext cx="2374900" cy="224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77" r:id="rId3" imgW="902483" imgH="915194" progId="Equation.3">
                  <p:embed/>
                </p:oleObj>
              </mc:Choice>
              <mc:Fallback>
                <p:oleObj r:id="rId3" imgW="902483" imgH="91519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0" y="3068638"/>
                        <a:ext cx="2374900" cy="224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1476375" y="4629150"/>
            <a:ext cx="5383213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800" b="1"/>
              <a:t>从关系矩阵主对角线元素都是</a:t>
            </a:r>
            <a:r>
              <a:rPr lang="en-US" altLang="zh-CN" sz="2800" b="1"/>
              <a:t>1</a:t>
            </a:r>
            <a:r>
              <a:rPr lang="zh-CN" altLang="en-US" sz="2800" b="1"/>
              <a:t>，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/>
              <a:t>可知</a:t>
            </a:r>
            <a:r>
              <a:rPr lang="en-US" altLang="zh-CN" sz="2800" b="1"/>
              <a:t>R</a:t>
            </a:r>
            <a:r>
              <a:rPr lang="zh-CN" altLang="en-US" sz="2800" b="1"/>
              <a:t>是</a:t>
            </a:r>
            <a:r>
              <a:rPr lang="zh-CN" altLang="en-US" sz="2800" b="1">
                <a:solidFill>
                  <a:srgbClr val="FF3300"/>
                </a:solidFill>
              </a:rPr>
              <a:t>自反</a:t>
            </a:r>
            <a:r>
              <a:rPr lang="zh-CN" altLang="en-US" sz="2800" b="1"/>
              <a:t>的。</a:t>
            </a:r>
          </a:p>
        </p:txBody>
      </p:sp>
      <p:sp>
        <p:nvSpPr>
          <p:cNvPr id="18437" name="Rectangle 6"/>
          <p:cNvSpPr>
            <a:spLocks noChangeArrowheads="1"/>
          </p:cNvSpPr>
          <p:nvPr/>
        </p:nvSpPr>
        <p:spPr bwMode="auto">
          <a:xfrm>
            <a:off x="1403350" y="5684838"/>
            <a:ext cx="57991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关系矩阵是对称的，故</a:t>
            </a:r>
            <a:r>
              <a:rPr lang="en-US" altLang="zh-CN" sz="2800" b="1"/>
              <a:t>R</a:t>
            </a:r>
            <a:r>
              <a:rPr lang="zh-CN" altLang="en-US" sz="2800" b="1"/>
              <a:t>是</a:t>
            </a:r>
            <a:r>
              <a:rPr lang="zh-CN" altLang="en-US" sz="2800" b="1">
                <a:solidFill>
                  <a:srgbClr val="FF3300"/>
                </a:solidFill>
              </a:rPr>
              <a:t>对称</a:t>
            </a:r>
            <a:r>
              <a:rPr lang="zh-CN" altLang="en-US" sz="2800" b="1"/>
              <a:t>的。</a:t>
            </a:r>
          </a:p>
        </p:txBody>
      </p:sp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87313" y="41275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200" b="1">
                <a:solidFill>
                  <a:schemeClr val="tx2"/>
                </a:solidFill>
              </a:rPr>
              <a:t>等价关系例</a:t>
            </a:r>
          </a:p>
        </p:txBody>
      </p:sp>
    </p:spTree>
    <p:extLst>
      <p:ext uri="{BB962C8B-B14F-4D97-AF65-F5344CB8AC3E}">
        <p14:creationId xmlns:p14="http://schemas.microsoft.com/office/powerpoint/2010/main" val="2091541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7" dur="20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utoUpdateAnimBg="0"/>
      <p:bldP spid="18437" grpId="0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ChangeArrowheads="1"/>
          </p:cNvSpPr>
          <p:nvPr/>
        </p:nvSpPr>
        <p:spPr bwMode="auto">
          <a:xfrm>
            <a:off x="466725" y="1412875"/>
            <a:ext cx="7777163" cy="254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zh-CN" altLang="en-US" sz="2800" b="1"/>
              <a:t>逐个检查序偶，如</a:t>
            </a:r>
            <a:r>
              <a:rPr lang="en-US" altLang="zh-CN" sz="2800" b="1"/>
              <a:t>&lt;a</a:t>
            </a:r>
            <a:r>
              <a:rPr lang="zh-CN" altLang="en-US" sz="2800" b="1"/>
              <a:t>，</a:t>
            </a:r>
            <a:r>
              <a:rPr lang="en-US" altLang="zh-CN" sz="2800" b="1"/>
              <a:t>a&gt;</a:t>
            </a:r>
            <a:r>
              <a:rPr lang="zh-CN" altLang="en-US" sz="2800" b="1"/>
              <a:t>，</a:t>
            </a:r>
            <a:r>
              <a:rPr lang="en-US" altLang="zh-CN" sz="2800" b="1"/>
              <a:t>&lt;a</a:t>
            </a:r>
            <a:r>
              <a:rPr lang="zh-CN" altLang="en-US" sz="2800" b="1"/>
              <a:t>，</a:t>
            </a:r>
            <a:r>
              <a:rPr lang="en-US" altLang="zh-CN" sz="2800" b="1"/>
              <a:t>d&gt;∈R</a:t>
            </a:r>
            <a:r>
              <a:rPr lang="zh-CN" altLang="en-US" sz="2800" b="1"/>
              <a:t>，有</a:t>
            </a:r>
            <a:r>
              <a:rPr lang="en-US" altLang="zh-CN" sz="2800" b="1"/>
              <a:t>&lt;a</a:t>
            </a:r>
            <a:r>
              <a:rPr lang="zh-CN" altLang="en-US" sz="2800" b="1"/>
              <a:t>，</a:t>
            </a:r>
            <a:r>
              <a:rPr lang="en-US" altLang="zh-CN" sz="2800" b="1"/>
              <a:t>d&gt;∈R</a:t>
            </a:r>
            <a:r>
              <a:rPr lang="zh-CN" altLang="en-US" sz="2800" b="1"/>
              <a:t>。</a:t>
            </a:r>
            <a:r>
              <a:rPr lang="en-US" altLang="zh-CN" sz="2800" b="1"/>
              <a:t>&lt;a</a:t>
            </a:r>
            <a:r>
              <a:rPr lang="zh-CN" altLang="en-US" sz="2800" b="1"/>
              <a:t>，</a:t>
            </a:r>
            <a:r>
              <a:rPr lang="en-US" altLang="zh-CN" sz="2800" b="1"/>
              <a:t>d&gt;</a:t>
            </a:r>
            <a:r>
              <a:rPr lang="zh-CN" altLang="en-US" sz="2800" b="1"/>
              <a:t>，</a:t>
            </a:r>
            <a:r>
              <a:rPr lang="en-US" altLang="zh-CN" sz="2800" b="1"/>
              <a:t>&lt;d</a:t>
            </a:r>
            <a:r>
              <a:rPr lang="zh-CN" altLang="en-US" sz="2800" b="1"/>
              <a:t>，</a:t>
            </a:r>
            <a:r>
              <a:rPr lang="en-US" altLang="zh-CN" sz="2800" b="1"/>
              <a:t>a&gt;∈R</a:t>
            </a:r>
            <a:r>
              <a:rPr lang="zh-CN" altLang="en-US" sz="2800" b="1"/>
              <a:t>，有</a:t>
            </a:r>
            <a:r>
              <a:rPr lang="en-US" altLang="zh-CN" sz="2800" b="1"/>
              <a:t>&lt;a</a:t>
            </a:r>
            <a:r>
              <a:rPr lang="zh-CN" altLang="en-US" sz="2800" b="1"/>
              <a:t>，</a:t>
            </a:r>
            <a:r>
              <a:rPr lang="en-US" altLang="zh-CN" sz="2800" b="1"/>
              <a:t>a&gt;∈R</a:t>
            </a:r>
            <a:r>
              <a:rPr lang="zh-CN" altLang="en-US" sz="2800" b="1"/>
              <a:t>，</a:t>
            </a:r>
            <a:r>
              <a:rPr lang="en-US" altLang="zh-CN" sz="2800" b="1"/>
              <a:t>&lt;d</a:t>
            </a:r>
            <a:r>
              <a:rPr lang="zh-CN" altLang="en-US" sz="2800" b="1"/>
              <a:t>，</a:t>
            </a:r>
            <a:r>
              <a:rPr lang="en-US" altLang="zh-CN" sz="2800" b="1"/>
              <a:t>a&gt;</a:t>
            </a:r>
            <a:r>
              <a:rPr lang="zh-CN" altLang="en-US" sz="2800" b="1"/>
              <a:t>，</a:t>
            </a:r>
            <a:r>
              <a:rPr lang="en-US" altLang="zh-CN" sz="2800" b="1"/>
              <a:t>&lt;a</a:t>
            </a:r>
            <a:r>
              <a:rPr lang="zh-CN" altLang="en-US" sz="2800" b="1"/>
              <a:t>，</a:t>
            </a:r>
            <a:r>
              <a:rPr lang="en-US" altLang="zh-CN" sz="2800" b="1"/>
              <a:t>d&gt;∈R</a:t>
            </a:r>
            <a:r>
              <a:rPr lang="zh-CN" altLang="en-US" sz="2800" b="1"/>
              <a:t>，有</a:t>
            </a:r>
            <a:r>
              <a:rPr lang="en-US" altLang="zh-CN" sz="2800" b="1"/>
              <a:t>&lt;d</a:t>
            </a:r>
            <a:r>
              <a:rPr lang="zh-CN" altLang="en-US" sz="2800" b="1"/>
              <a:t>，</a:t>
            </a:r>
            <a:r>
              <a:rPr lang="en-US" altLang="zh-CN" sz="2800" b="1"/>
              <a:t>d&gt;∈R</a:t>
            </a:r>
            <a:r>
              <a:rPr lang="zh-CN" altLang="en-US" sz="2800" b="1"/>
              <a:t>，</a:t>
            </a:r>
            <a:r>
              <a:rPr lang="en-US" altLang="zh-CN" sz="2800" b="1"/>
              <a:t>…</a:t>
            </a:r>
            <a:r>
              <a:rPr lang="zh-CN" altLang="en-US" sz="2800" b="1"/>
              <a:t>。故</a:t>
            </a:r>
            <a:r>
              <a:rPr lang="en-US" altLang="zh-CN" sz="2800" b="1"/>
              <a:t>R</a:t>
            </a:r>
            <a:r>
              <a:rPr lang="zh-CN" altLang="en-US" sz="2800" b="1"/>
              <a:t>是</a:t>
            </a:r>
            <a:r>
              <a:rPr lang="zh-CN" altLang="en-US" sz="2800" b="1">
                <a:solidFill>
                  <a:srgbClr val="FF3300"/>
                </a:solidFill>
              </a:rPr>
              <a:t>传递</a:t>
            </a:r>
            <a:r>
              <a:rPr lang="zh-CN" altLang="en-US" sz="2800" b="1"/>
              <a:t>的。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zh-CN" altLang="en-US" sz="2800" b="1"/>
              <a:t>所以，</a:t>
            </a:r>
            <a:r>
              <a:rPr lang="en-US" altLang="zh-CN" sz="2800" b="1"/>
              <a:t>R</a:t>
            </a:r>
            <a:r>
              <a:rPr lang="zh-CN" altLang="en-US" sz="2800" b="1"/>
              <a:t>是</a:t>
            </a:r>
            <a:r>
              <a:rPr lang="en-US" altLang="zh-CN" sz="2800" b="1"/>
              <a:t>A</a:t>
            </a:r>
            <a:r>
              <a:rPr lang="zh-CN" altLang="en-US" sz="2800" b="1"/>
              <a:t>上的等价关系。</a:t>
            </a:r>
          </a:p>
        </p:txBody>
      </p:sp>
    </p:spTree>
    <p:extLst>
      <p:ext uri="{BB962C8B-B14F-4D97-AF65-F5344CB8AC3E}">
        <p14:creationId xmlns:p14="http://schemas.microsoft.com/office/powerpoint/2010/main" val="161773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"/>
          <p:cNvSpPr txBox="1">
            <a:spLocks noChangeArrowheads="1"/>
          </p:cNvSpPr>
          <p:nvPr/>
        </p:nvSpPr>
        <p:spPr bwMode="auto">
          <a:xfrm>
            <a:off x="250825" y="482600"/>
            <a:ext cx="2520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smtClean="0">
                <a:solidFill>
                  <a:srgbClr val="FF0000"/>
                </a:solidFill>
              </a:rPr>
              <a:t>2</a:t>
            </a:r>
            <a:r>
              <a:rPr lang="zh-CN" altLang="en-US" sz="2800" b="1" smtClean="0">
                <a:solidFill>
                  <a:srgbClr val="FF0000"/>
                </a:solidFill>
              </a:rPr>
              <a:t>：</a:t>
            </a:r>
            <a:r>
              <a:rPr lang="zh-CN" altLang="en-US" sz="2800" b="1" dirty="0"/>
              <a:t>设  </a:t>
            </a:r>
            <a:r>
              <a:rPr lang="zh-CN" altLang="en-US" sz="2800" dirty="0"/>
              <a:t>  是</a:t>
            </a:r>
          </a:p>
        </p:txBody>
      </p:sp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1908175" y="549275"/>
          <a:ext cx="40322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48" r:id="rId3" imgW="152864" imgH="165603" progId="Equation.DSMT4">
                  <p:embed/>
                </p:oleObj>
              </mc:Choice>
              <mc:Fallback>
                <p:oleObj r:id="rId3" imgW="152864" imgH="16560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49275"/>
                        <a:ext cx="403225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2444750" y="544513"/>
          <a:ext cx="40163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49" r:id="rId5" imgW="152864" imgH="165603" progId="Equation.DSMT4">
                  <p:embed/>
                </p:oleObj>
              </mc:Choice>
              <mc:Fallback>
                <p:oleObj r:id="rId5" imgW="152864" imgH="16560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0" y="544513"/>
                        <a:ext cx="401638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6149975" y="476250"/>
          <a:ext cx="164465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50" r:id="rId7" imgW="622841" imgH="254221" progId="Equation.DSMT4">
                  <p:embed/>
                </p:oleObj>
              </mc:Choice>
              <mc:Fallback>
                <p:oleObj r:id="rId7" imgW="622841" imgH="25422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9975" y="476250"/>
                        <a:ext cx="1644650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6"/>
          <p:cNvGraphicFramePr>
            <a:graphicFrameLocks noChangeAspect="1"/>
          </p:cNvGraphicFramePr>
          <p:nvPr/>
        </p:nvGraphicFramePr>
        <p:xfrm>
          <a:off x="306388" y="1036638"/>
          <a:ext cx="1611312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51" r:id="rId9" imgW="610130" imgH="254221" progId="Equation.DSMT4">
                  <p:embed/>
                </p:oleObj>
              </mc:Choice>
              <mc:Fallback>
                <p:oleObj r:id="rId9" imgW="610130" imgH="25422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88" y="1036638"/>
                        <a:ext cx="1611312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8"/>
          <p:cNvSpPr txBox="1">
            <a:spLocks noChangeArrowheads="1"/>
          </p:cNvSpPr>
          <p:nvPr/>
        </p:nvSpPr>
        <p:spPr bwMode="auto">
          <a:xfrm>
            <a:off x="288925" y="1027113"/>
            <a:ext cx="1606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itchFamily="18" charset="0"/>
              </a:rPr>
              <a:t>                </a:t>
            </a:r>
          </a:p>
        </p:txBody>
      </p:sp>
      <p:graphicFrame>
        <p:nvGraphicFramePr>
          <p:cNvPr id="17416" name="Object 8"/>
          <p:cNvGraphicFramePr>
            <a:graphicFrameLocks noChangeAspect="1"/>
          </p:cNvGraphicFramePr>
          <p:nvPr/>
        </p:nvGraphicFramePr>
        <p:xfrm>
          <a:off x="3044825" y="1036638"/>
          <a:ext cx="1611313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52" r:id="rId11" imgW="610130" imgH="254221" progId="Equation.DSMT4">
                  <p:embed/>
                </p:oleObj>
              </mc:Choice>
              <mc:Fallback>
                <p:oleObj r:id="rId11" imgW="610130" imgH="25422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25" y="1036638"/>
                        <a:ext cx="1611313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5746750" y="1112838"/>
          <a:ext cx="40322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53" r:id="rId13" imgW="152864" imgH="165603" progId="Equation.DSMT4">
                  <p:embed/>
                </p:oleObj>
              </mc:Choice>
              <mc:Fallback>
                <p:oleObj r:id="rId13" imgW="152864" imgH="16560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50" y="1112838"/>
                        <a:ext cx="403225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8" name="Rectangle 11"/>
          <p:cNvSpPr>
            <a:spLocks noChangeArrowheads="1"/>
          </p:cNvSpPr>
          <p:nvPr/>
        </p:nvSpPr>
        <p:spPr bwMode="auto">
          <a:xfrm>
            <a:off x="7643813" y="490538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/>
              <a:t>，</a:t>
            </a:r>
          </a:p>
        </p:txBody>
      </p:sp>
      <p:sp>
        <p:nvSpPr>
          <p:cNvPr id="17419" name="Rectangle 12"/>
          <p:cNvSpPr>
            <a:spLocks noChangeArrowheads="1"/>
          </p:cNvSpPr>
          <p:nvPr/>
        </p:nvSpPr>
        <p:spPr bwMode="auto">
          <a:xfrm>
            <a:off x="2686050" y="476250"/>
            <a:ext cx="3398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上的自反关系，且当</a:t>
            </a:r>
          </a:p>
        </p:txBody>
      </p:sp>
      <p:sp>
        <p:nvSpPr>
          <p:cNvPr id="17420" name="Rectangle 14"/>
          <p:cNvSpPr>
            <a:spLocks noChangeArrowheads="1"/>
          </p:cNvSpPr>
          <p:nvPr/>
        </p:nvSpPr>
        <p:spPr bwMode="auto">
          <a:xfrm>
            <a:off x="5988050" y="1023938"/>
            <a:ext cx="2416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是等价关系。</a:t>
            </a:r>
            <a:r>
              <a:rPr lang="zh-CN" altLang="en-US" sz="2800">
                <a:latin typeface="Times New Roman" pitchFamily="18" charset="0"/>
              </a:rPr>
              <a:t> </a:t>
            </a:r>
          </a:p>
        </p:txBody>
      </p:sp>
      <p:sp>
        <p:nvSpPr>
          <p:cNvPr id="17421" name="Rectangle 15"/>
          <p:cNvSpPr>
            <a:spLocks noChangeArrowheads="1"/>
          </p:cNvSpPr>
          <p:nvPr/>
        </p:nvSpPr>
        <p:spPr bwMode="auto">
          <a:xfrm>
            <a:off x="4538663" y="1023938"/>
            <a:ext cx="1254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/>
              <a:t>，</a:t>
            </a:r>
            <a:r>
              <a:rPr lang="zh-CN" altLang="en-US" sz="2800" b="1"/>
              <a:t>证明</a:t>
            </a:r>
          </a:p>
        </p:txBody>
      </p:sp>
      <p:sp>
        <p:nvSpPr>
          <p:cNvPr id="17422" name="Rectangle 16"/>
          <p:cNvSpPr>
            <a:spLocks noChangeArrowheads="1"/>
          </p:cNvSpPr>
          <p:nvPr/>
        </p:nvSpPr>
        <p:spPr bwMode="auto">
          <a:xfrm>
            <a:off x="1879600" y="1023938"/>
            <a:ext cx="12557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时，有</a:t>
            </a:r>
          </a:p>
        </p:txBody>
      </p:sp>
      <p:sp>
        <p:nvSpPr>
          <p:cNvPr id="19471" name="Rectangle 23"/>
          <p:cNvSpPr>
            <a:spLocks noChangeArrowheads="1"/>
          </p:cNvSpPr>
          <p:nvPr/>
        </p:nvSpPr>
        <p:spPr bwMode="auto">
          <a:xfrm>
            <a:off x="2424113" y="1757363"/>
            <a:ext cx="6719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是自反的，只需证</a:t>
            </a:r>
            <a:r>
              <a:rPr lang="en-US" altLang="zh-CN" sz="2800" b="1"/>
              <a:t>R</a:t>
            </a:r>
            <a:r>
              <a:rPr lang="zh-CN" altLang="en-US" sz="2800" b="1"/>
              <a:t>是对称和传递关系。</a:t>
            </a:r>
          </a:p>
        </p:txBody>
      </p:sp>
      <p:sp>
        <p:nvSpPr>
          <p:cNvPr id="19472" name="Rectangle 34"/>
          <p:cNvSpPr>
            <a:spLocks noChangeArrowheads="1"/>
          </p:cNvSpPr>
          <p:nvPr/>
        </p:nvSpPr>
        <p:spPr bwMode="auto">
          <a:xfrm>
            <a:off x="6659563" y="2492375"/>
            <a:ext cx="2266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是自反的</a:t>
            </a:r>
            <a:r>
              <a:rPr lang="en-US" altLang="zh-CN" sz="2800" b="1">
                <a:latin typeface="Times New Roman" pitchFamily="18" charset="0"/>
              </a:rPr>
              <a:t>)</a:t>
            </a:r>
            <a:r>
              <a:rPr lang="zh-CN" altLang="en-US" sz="2800" b="1"/>
              <a:t>，</a:t>
            </a:r>
            <a:r>
              <a:rPr lang="zh-CN" altLang="en-US" sz="2800">
                <a:latin typeface="Times New Roman" pitchFamily="18" charset="0"/>
              </a:rPr>
              <a:t>  </a:t>
            </a:r>
          </a:p>
        </p:txBody>
      </p:sp>
      <p:grpSp>
        <p:nvGrpSpPr>
          <p:cNvPr id="19473" name="Group 17"/>
          <p:cNvGrpSpPr>
            <a:grpSpLocks/>
          </p:cNvGrpSpPr>
          <p:nvPr/>
        </p:nvGrpSpPr>
        <p:grpSpPr bwMode="auto">
          <a:xfrm>
            <a:off x="250825" y="1757363"/>
            <a:ext cx="8147050" cy="4445000"/>
            <a:chOff x="0" y="0"/>
            <a:chExt cx="5132" cy="2800"/>
          </a:xfrm>
        </p:grpSpPr>
        <p:sp>
          <p:nvSpPr>
            <p:cNvPr id="17426" name="Text Box 17"/>
            <p:cNvSpPr txBox="1">
              <a:spLocks noChangeArrowheads="1"/>
            </p:cNvSpPr>
            <p:nvPr/>
          </p:nvSpPr>
          <p:spPr bwMode="auto">
            <a:xfrm>
              <a:off x="32" y="0"/>
              <a:ext cx="1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FF0000"/>
                  </a:solidFill>
                </a:rPr>
                <a:t>证明：</a:t>
              </a:r>
              <a:r>
                <a:rPr lang="zh-CN" altLang="en-US" sz="2800" b="1"/>
                <a:t>已知</a:t>
              </a:r>
            </a:p>
          </p:txBody>
        </p:sp>
        <p:graphicFrame>
          <p:nvGraphicFramePr>
            <p:cNvPr id="17427" name="Object 19"/>
            <p:cNvGraphicFramePr>
              <a:graphicFrameLocks noChangeAspect="1"/>
            </p:cNvGraphicFramePr>
            <p:nvPr/>
          </p:nvGraphicFramePr>
          <p:xfrm>
            <a:off x="1225" y="39"/>
            <a:ext cx="24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754" r:id="rId14" imgW="152864" imgH="165603" progId="Equation.DSMT4">
                    <p:embed/>
                  </p:oleObj>
                </mc:Choice>
                <mc:Fallback>
                  <p:oleObj r:id="rId14" imgW="152864" imgH="16560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5" y="39"/>
                          <a:ext cx="24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8" name="Text Box 25"/>
            <p:cNvSpPr txBox="1">
              <a:spLocks noChangeArrowheads="1"/>
            </p:cNvSpPr>
            <p:nvPr/>
          </p:nvSpPr>
          <p:spPr bwMode="auto">
            <a:xfrm>
              <a:off x="36" y="418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若</a:t>
              </a:r>
            </a:p>
          </p:txBody>
        </p:sp>
        <p:graphicFrame>
          <p:nvGraphicFramePr>
            <p:cNvPr id="17429" name="Object 21"/>
            <p:cNvGraphicFramePr>
              <a:graphicFrameLocks noChangeAspect="1"/>
            </p:cNvGraphicFramePr>
            <p:nvPr/>
          </p:nvGraphicFramePr>
          <p:xfrm>
            <a:off x="286" y="423"/>
            <a:ext cx="98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755" r:id="rId15" imgW="622841" imgH="254221" progId="Equation.DSMT4">
                    <p:embed/>
                  </p:oleObj>
                </mc:Choice>
                <mc:Fallback>
                  <p:oleObj r:id="rId15" imgW="622841" imgH="25422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" y="423"/>
                          <a:ext cx="980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0" name="Object 22"/>
            <p:cNvGraphicFramePr>
              <a:graphicFrameLocks noChangeAspect="1"/>
            </p:cNvGraphicFramePr>
            <p:nvPr/>
          </p:nvGraphicFramePr>
          <p:xfrm>
            <a:off x="1630" y="423"/>
            <a:ext cx="98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756" r:id="rId16" imgW="622841" imgH="254221" progId="Equation.DSMT4">
                    <p:embed/>
                  </p:oleObj>
                </mc:Choice>
                <mc:Fallback>
                  <p:oleObj r:id="rId16" imgW="622841" imgH="25422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0" y="423"/>
                          <a:ext cx="980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1" name="Object 23"/>
            <p:cNvGraphicFramePr>
              <a:graphicFrameLocks noChangeAspect="1"/>
            </p:cNvGraphicFramePr>
            <p:nvPr/>
          </p:nvGraphicFramePr>
          <p:xfrm>
            <a:off x="2782" y="423"/>
            <a:ext cx="98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757" r:id="rId17" imgW="622841" imgH="254221" progId="Equation.DSMT4">
                    <p:embed/>
                  </p:oleObj>
                </mc:Choice>
                <mc:Fallback>
                  <p:oleObj r:id="rId17" imgW="622841" imgH="25422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2" y="423"/>
                          <a:ext cx="980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2" name="Object 24"/>
            <p:cNvGraphicFramePr>
              <a:graphicFrameLocks noChangeAspect="1"/>
            </p:cNvGraphicFramePr>
            <p:nvPr/>
          </p:nvGraphicFramePr>
          <p:xfrm>
            <a:off x="3828" y="471"/>
            <a:ext cx="24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758" r:id="rId19" imgW="152864" imgH="165603" progId="Equation.DSMT4">
                    <p:embed/>
                  </p:oleObj>
                </mc:Choice>
                <mc:Fallback>
                  <p:oleObj r:id="rId19" imgW="152864" imgH="16560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8" y="471"/>
                          <a:ext cx="24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3" name="Object 25"/>
            <p:cNvGraphicFramePr>
              <a:graphicFrameLocks noChangeAspect="1"/>
            </p:cNvGraphicFramePr>
            <p:nvPr/>
          </p:nvGraphicFramePr>
          <p:xfrm>
            <a:off x="1996" y="827"/>
            <a:ext cx="98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759" r:id="rId20" imgW="622841" imgH="254221" progId="Equation.DSMT4">
                    <p:embed/>
                  </p:oleObj>
                </mc:Choice>
                <mc:Fallback>
                  <p:oleObj r:id="rId20" imgW="622841" imgH="25422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6" y="827"/>
                          <a:ext cx="980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4" name="Object 26"/>
            <p:cNvGraphicFramePr>
              <a:graphicFrameLocks noChangeAspect="1"/>
            </p:cNvGraphicFramePr>
            <p:nvPr/>
          </p:nvGraphicFramePr>
          <p:xfrm>
            <a:off x="3579" y="866"/>
            <a:ext cx="24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760" r:id="rId22" imgW="152864" imgH="165603" progId="Equation.DSMT4">
                    <p:embed/>
                  </p:oleObj>
                </mc:Choice>
                <mc:Fallback>
                  <p:oleObj r:id="rId22" imgW="152864" imgH="16560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9" y="866"/>
                          <a:ext cx="24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5" name="Rectangle 32"/>
            <p:cNvSpPr>
              <a:spLocks noChangeArrowheads="1"/>
            </p:cNvSpPr>
            <p:nvPr/>
          </p:nvSpPr>
          <p:spPr bwMode="auto">
            <a:xfrm>
              <a:off x="3735" y="818"/>
              <a:ext cx="1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是对称的。</a:t>
              </a:r>
            </a:p>
          </p:txBody>
        </p:sp>
        <p:sp>
          <p:nvSpPr>
            <p:cNvPr id="17436" name="Rectangle 33"/>
            <p:cNvSpPr>
              <a:spLocks noChangeArrowheads="1"/>
            </p:cNvSpPr>
            <p:nvPr/>
          </p:nvSpPr>
          <p:spPr bwMode="auto">
            <a:xfrm>
              <a:off x="2857" y="827"/>
              <a:ext cx="7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/>
                <a:t>，</a:t>
              </a:r>
              <a:r>
                <a:rPr lang="zh-CN" altLang="en-US" sz="2800" b="1"/>
                <a:t>所以</a:t>
              </a:r>
            </a:p>
          </p:txBody>
        </p:sp>
        <p:sp>
          <p:nvSpPr>
            <p:cNvPr id="17437" name="Rectangle 35"/>
            <p:cNvSpPr>
              <a:spLocks noChangeArrowheads="1"/>
            </p:cNvSpPr>
            <p:nvPr/>
          </p:nvSpPr>
          <p:spPr bwMode="auto">
            <a:xfrm>
              <a:off x="3685" y="432"/>
              <a:ext cx="1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latin typeface="Times New Roman" pitchFamily="18" charset="0"/>
                </a:rPr>
                <a:t>(</a:t>
              </a:r>
            </a:p>
          </p:txBody>
        </p:sp>
        <p:sp>
          <p:nvSpPr>
            <p:cNvPr id="17438" name="Rectangle 36"/>
            <p:cNvSpPr>
              <a:spLocks noChangeArrowheads="1"/>
            </p:cNvSpPr>
            <p:nvPr/>
          </p:nvSpPr>
          <p:spPr bwMode="auto">
            <a:xfrm>
              <a:off x="2506" y="432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及</a:t>
              </a:r>
            </a:p>
          </p:txBody>
        </p:sp>
        <p:sp>
          <p:nvSpPr>
            <p:cNvPr id="17439" name="Rectangle 37"/>
            <p:cNvSpPr>
              <a:spLocks noChangeArrowheads="1"/>
            </p:cNvSpPr>
            <p:nvPr/>
          </p:nvSpPr>
          <p:spPr bwMode="auto">
            <a:xfrm>
              <a:off x="1152" y="441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/>
                <a:t>，</a:t>
              </a:r>
              <a:r>
                <a:rPr lang="zh-CN" altLang="en-US" sz="2800" b="1"/>
                <a:t>由</a:t>
              </a:r>
            </a:p>
          </p:txBody>
        </p:sp>
        <p:sp>
          <p:nvSpPr>
            <p:cNvPr id="17440" name="Text Box 38"/>
            <p:cNvSpPr txBox="1">
              <a:spLocks noChangeArrowheads="1"/>
            </p:cNvSpPr>
            <p:nvPr/>
          </p:nvSpPr>
          <p:spPr bwMode="auto">
            <a:xfrm>
              <a:off x="35" y="827"/>
              <a:ext cx="19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根据已知条件，有</a:t>
              </a:r>
            </a:p>
          </p:txBody>
        </p:sp>
        <p:grpSp>
          <p:nvGrpSpPr>
            <p:cNvPr id="17441" name="Group 33"/>
            <p:cNvGrpSpPr>
              <a:grpSpLocks/>
            </p:cNvGrpSpPr>
            <p:nvPr/>
          </p:nvGrpSpPr>
          <p:grpSpPr bwMode="auto">
            <a:xfrm>
              <a:off x="0" y="1166"/>
              <a:ext cx="4444" cy="1248"/>
              <a:chOff x="0" y="0"/>
              <a:chExt cx="4444" cy="1248"/>
            </a:xfrm>
          </p:grpSpPr>
          <p:sp>
            <p:nvSpPr>
              <p:cNvPr id="17448" name="Text Box 40"/>
              <p:cNvSpPr txBox="1">
                <a:spLocks noChangeArrowheads="1"/>
              </p:cNvSpPr>
              <p:nvPr/>
            </p:nvSpPr>
            <p:spPr bwMode="auto">
              <a:xfrm>
                <a:off x="0" y="427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有</a:t>
                </a:r>
              </a:p>
            </p:txBody>
          </p:sp>
          <p:sp>
            <p:nvSpPr>
              <p:cNvPr id="17449" name="Text Box 41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若</a:t>
                </a:r>
              </a:p>
            </p:txBody>
          </p:sp>
          <p:graphicFrame>
            <p:nvGraphicFramePr>
              <p:cNvPr id="17450" name="Object 36"/>
              <p:cNvGraphicFramePr>
                <a:graphicFrameLocks noChangeAspect="1"/>
              </p:cNvGraphicFramePr>
              <p:nvPr/>
            </p:nvGraphicFramePr>
            <p:xfrm>
              <a:off x="240" y="9"/>
              <a:ext cx="980" cy="3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761" r:id="rId23" imgW="622841" imgH="254221" progId="Equation.DSMT4">
                      <p:embed/>
                    </p:oleObj>
                  </mc:Choice>
                  <mc:Fallback>
                    <p:oleObj r:id="rId23" imgW="622841" imgH="254221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" y="9"/>
                            <a:ext cx="980" cy="39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51" name="Object 37"/>
              <p:cNvGraphicFramePr>
                <a:graphicFrameLocks noChangeAspect="1"/>
              </p:cNvGraphicFramePr>
              <p:nvPr/>
            </p:nvGraphicFramePr>
            <p:xfrm>
              <a:off x="1344" y="20"/>
              <a:ext cx="960" cy="3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762" r:id="rId24" imgW="610130" imgH="254221" progId="Equation.DSMT4">
                      <p:embed/>
                    </p:oleObj>
                  </mc:Choice>
                  <mc:Fallback>
                    <p:oleObj r:id="rId24" imgW="610130" imgH="254221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44" y="20"/>
                            <a:ext cx="960" cy="39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52" name="Object 38"/>
              <p:cNvGraphicFramePr>
                <a:graphicFrameLocks noChangeAspect="1"/>
              </p:cNvGraphicFramePr>
              <p:nvPr/>
            </p:nvGraphicFramePr>
            <p:xfrm>
              <a:off x="2688" y="51"/>
              <a:ext cx="240" cy="2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763" r:id="rId25" imgW="152864" imgH="165603" progId="Equation.DSMT4">
                      <p:embed/>
                    </p:oleObj>
                  </mc:Choice>
                  <mc:Fallback>
                    <p:oleObj r:id="rId25" imgW="152864" imgH="165603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8" y="51"/>
                            <a:ext cx="240" cy="2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53" name="Object 39"/>
              <p:cNvGraphicFramePr>
                <a:graphicFrameLocks noChangeAspect="1"/>
              </p:cNvGraphicFramePr>
              <p:nvPr/>
            </p:nvGraphicFramePr>
            <p:xfrm>
              <a:off x="268" y="441"/>
              <a:ext cx="980" cy="3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764" r:id="rId26" imgW="622841" imgH="254221" progId="Equation.DSMT4">
                      <p:embed/>
                    </p:oleObj>
                  </mc:Choice>
                  <mc:Fallback>
                    <p:oleObj r:id="rId26" imgW="622841" imgH="254221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" y="441"/>
                            <a:ext cx="980" cy="39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54" name="Object 40"/>
              <p:cNvGraphicFramePr>
                <a:graphicFrameLocks noChangeAspect="1"/>
              </p:cNvGraphicFramePr>
              <p:nvPr/>
            </p:nvGraphicFramePr>
            <p:xfrm>
              <a:off x="1680" y="441"/>
              <a:ext cx="960" cy="3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765" r:id="rId27" imgW="610130" imgH="254221" progId="Equation.DSMT4">
                      <p:embed/>
                    </p:oleObj>
                  </mc:Choice>
                  <mc:Fallback>
                    <p:oleObj r:id="rId27" imgW="610130" imgH="254221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80" y="441"/>
                            <a:ext cx="960" cy="39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55" name="Object 41"/>
              <p:cNvGraphicFramePr>
                <a:graphicFrameLocks noChangeAspect="1"/>
              </p:cNvGraphicFramePr>
              <p:nvPr/>
            </p:nvGraphicFramePr>
            <p:xfrm>
              <a:off x="3216" y="441"/>
              <a:ext cx="960" cy="3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766" r:id="rId28" imgW="610130" imgH="254221" progId="Equation.DSMT4">
                      <p:embed/>
                    </p:oleObj>
                  </mc:Choice>
                  <mc:Fallback>
                    <p:oleObj r:id="rId28" imgW="610130" imgH="254221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16" y="441"/>
                            <a:ext cx="960" cy="39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456" name="Text Box 48"/>
              <p:cNvSpPr txBox="1">
                <a:spLocks noChangeArrowheads="1"/>
              </p:cNvSpPr>
              <p:nvPr/>
            </p:nvSpPr>
            <p:spPr bwMode="auto">
              <a:xfrm>
                <a:off x="0" y="870"/>
                <a:ext cx="56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所以</a:t>
                </a:r>
              </a:p>
            </p:txBody>
          </p:sp>
          <p:graphicFrame>
            <p:nvGraphicFramePr>
              <p:cNvPr id="17457" name="Object 43"/>
              <p:cNvGraphicFramePr>
                <a:graphicFrameLocks noChangeAspect="1"/>
              </p:cNvGraphicFramePr>
              <p:nvPr/>
            </p:nvGraphicFramePr>
            <p:xfrm>
              <a:off x="528" y="932"/>
              <a:ext cx="240" cy="2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767" r:id="rId29" imgW="152864" imgH="165603" progId="Equation.DSMT4">
                      <p:embed/>
                    </p:oleObj>
                  </mc:Choice>
                  <mc:Fallback>
                    <p:oleObj r:id="rId29" imgW="152864" imgH="165603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" y="932"/>
                            <a:ext cx="240" cy="2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458" name="Rectangle 50"/>
              <p:cNvSpPr>
                <a:spLocks noChangeArrowheads="1"/>
              </p:cNvSpPr>
              <p:nvPr/>
            </p:nvSpPr>
            <p:spPr bwMode="auto">
              <a:xfrm>
                <a:off x="2872" y="18"/>
                <a:ext cx="124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的对称性，</a:t>
                </a:r>
              </a:p>
            </p:txBody>
          </p:sp>
          <p:sp>
            <p:nvSpPr>
              <p:cNvPr id="17459" name="Rectangle 51"/>
              <p:cNvSpPr>
                <a:spLocks noChangeArrowheads="1"/>
              </p:cNvSpPr>
              <p:nvPr/>
            </p:nvSpPr>
            <p:spPr bwMode="auto">
              <a:xfrm>
                <a:off x="2236" y="9"/>
                <a:ext cx="56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/>
                  <a:t>，</a:t>
                </a:r>
                <a:r>
                  <a:rPr lang="zh-CN" altLang="en-US" sz="2800" b="1"/>
                  <a:t>由</a:t>
                </a:r>
              </a:p>
            </p:txBody>
          </p:sp>
          <p:sp>
            <p:nvSpPr>
              <p:cNvPr id="17460" name="Rectangle 52"/>
              <p:cNvSpPr>
                <a:spLocks noChangeArrowheads="1"/>
              </p:cNvSpPr>
              <p:nvPr/>
            </p:nvSpPr>
            <p:spPr bwMode="auto">
              <a:xfrm>
                <a:off x="1176" y="9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/>
                  <a:t>，</a:t>
                </a:r>
              </a:p>
            </p:txBody>
          </p:sp>
          <p:sp>
            <p:nvSpPr>
              <p:cNvPr id="17461" name="Rectangle 53"/>
              <p:cNvSpPr>
                <a:spLocks noChangeArrowheads="1"/>
              </p:cNvSpPr>
              <p:nvPr/>
            </p:nvSpPr>
            <p:spPr bwMode="auto">
              <a:xfrm>
                <a:off x="4048" y="450"/>
                <a:ext cx="39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>
                    <a:latin typeface="Times New Roman" pitchFamily="18" charset="0"/>
                  </a:rPr>
                  <a:t> </a:t>
                </a:r>
                <a:r>
                  <a:rPr lang="zh-CN" altLang="en-US" sz="2800"/>
                  <a:t>，</a:t>
                </a:r>
              </a:p>
            </p:txBody>
          </p:sp>
          <p:sp>
            <p:nvSpPr>
              <p:cNvPr id="17462" name="Rectangle 54"/>
              <p:cNvSpPr>
                <a:spLocks noChangeArrowheads="1"/>
              </p:cNvSpPr>
              <p:nvPr/>
            </p:nvSpPr>
            <p:spPr bwMode="auto">
              <a:xfrm>
                <a:off x="2552" y="450"/>
                <a:ext cx="7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/>
                  <a:t>，所以</a:t>
                </a:r>
              </a:p>
            </p:txBody>
          </p:sp>
          <p:sp>
            <p:nvSpPr>
              <p:cNvPr id="17463" name="Rectangle 55"/>
              <p:cNvSpPr>
                <a:spLocks noChangeArrowheads="1"/>
              </p:cNvSpPr>
              <p:nvPr/>
            </p:nvSpPr>
            <p:spPr bwMode="auto">
              <a:xfrm>
                <a:off x="1167" y="450"/>
                <a:ext cx="56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/>
                  <a:t>，</a:t>
                </a:r>
                <a:r>
                  <a:rPr lang="zh-CN" altLang="en-US" sz="2800" b="1"/>
                  <a:t>又</a:t>
                </a:r>
              </a:p>
            </p:txBody>
          </p:sp>
          <p:sp>
            <p:nvSpPr>
              <p:cNvPr id="17464" name="Rectangle 56"/>
              <p:cNvSpPr>
                <a:spLocks noChangeArrowheads="1"/>
              </p:cNvSpPr>
              <p:nvPr/>
            </p:nvSpPr>
            <p:spPr bwMode="auto">
              <a:xfrm>
                <a:off x="700" y="921"/>
                <a:ext cx="1297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是传递的。</a:t>
                </a:r>
                <a:r>
                  <a:rPr lang="zh-CN" altLang="en-US" sz="2800">
                    <a:latin typeface="Times New Roman" pitchFamily="18" charset="0"/>
                  </a:rPr>
                  <a:t> </a:t>
                </a:r>
              </a:p>
            </p:txBody>
          </p:sp>
        </p:grpSp>
        <p:grpSp>
          <p:nvGrpSpPr>
            <p:cNvPr id="17442" name="Group 51"/>
            <p:cNvGrpSpPr>
              <a:grpSpLocks/>
            </p:cNvGrpSpPr>
            <p:nvPr/>
          </p:nvGrpSpPr>
          <p:grpSpPr bwMode="auto">
            <a:xfrm>
              <a:off x="46" y="2459"/>
              <a:ext cx="5086" cy="341"/>
              <a:chOff x="0" y="0"/>
              <a:chExt cx="5086" cy="341"/>
            </a:xfrm>
          </p:grpSpPr>
          <p:sp>
            <p:nvSpPr>
              <p:cNvPr id="17443" name="Text Box 58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56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由于</a:t>
                </a:r>
              </a:p>
            </p:txBody>
          </p:sp>
          <p:graphicFrame>
            <p:nvGraphicFramePr>
              <p:cNvPr id="17444" name="Object 53"/>
              <p:cNvGraphicFramePr>
                <a:graphicFrameLocks noChangeAspect="1"/>
              </p:cNvGraphicFramePr>
              <p:nvPr/>
            </p:nvGraphicFramePr>
            <p:xfrm>
              <a:off x="3408" y="53"/>
              <a:ext cx="240" cy="2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768" r:id="rId30" imgW="152864" imgH="165603" progId="Equation.DSMT4">
                      <p:embed/>
                    </p:oleObj>
                  </mc:Choice>
                  <mc:Fallback>
                    <p:oleObj r:id="rId30" imgW="152864" imgH="165603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8" y="53"/>
                            <a:ext cx="240" cy="2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45" name="Object 54"/>
              <p:cNvGraphicFramePr>
                <a:graphicFrameLocks noChangeAspect="1"/>
              </p:cNvGraphicFramePr>
              <p:nvPr/>
            </p:nvGraphicFramePr>
            <p:xfrm>
              <a:off x="480" y="53"/>
              <a:ext cx="240" cy="2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769" r:id="rId31" imgW="152864" imgH="165603" progId="Equation.DSMT4">
                      <p:embed/>
                    </p:oleObj>
                  </mc:Choice>
                  <mc:Fallback>
                    <p:oleObj r:id="rId31" imgW="152864" imgH="165603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" y="53"/>
                            <a:ext cx="240" cy="2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446" name="Rectangle 61"/>
              <p:cNvSpPr>
                <a:spLocks noChangeArrowheads="1"/>
              </p:cNvSpPr>
              <p:nvPr/>
            </p:nvSpPr>
            <p:spPr bwMode="auto">
              <a:xfrm>
                <a:off x="3564" y="14"/>
                <a:ext cx="152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是等价关系。</a:t>
                </a:r>
                <a:r>
                  <a:rPr lang="zh-CN" altLang="en-US" sz="2800">
                    <a:latin typeface="Times New Roman" pitchFamily="18" charset="0"/>
                  </a:rPr>
                  <a:t> </a:t>
                </a:r>
              </a:p>
            </p:txBody>
          </p:sp>
          <p:sp>
            <p:nvSpPr>
              <p:cNvPr id="17447" name="Rectangle 62"/>
              <p:cNvSpPr>
                <a:spLocks noChangeArrowheads="1"/>
              </p:cNvSpPr>
              <p:nvPr/>
            </p:nvSpPr>
            <p:spPr bwMode="auto">
              <a:xfrm>
                <a:off x="636" y="14"/>
                <a:ext cx="2815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/>
                  <a:t>是</a:t>
                </a:r>
                <a:r>
                  <a:rPr lang="zh-CN" altLang="en-US" sz="2800" b="1"/>
                  <a:t>自反，对称，传递的，故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7683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1" grpId="0"/>
      <p:bldP spid="19472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00E100C-512E-4ACF-8E82-785F80D239AD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84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434281" y="116632"/>
            <a:ext cx="8064500" cy="1223963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等价类</a:t>
            </a:r>
          </a:p>
        </p:txBody>
      </p:sp>
      <p:sp>
        <p:nvSpPr>
          <p:cNvPr id="241667" name="Text Box 3"/>
          <p:cNvSpPr txBox="1">
            <a:spLocks noChangeArrowheads="1"/>
          </p:cNvSpPr>
          <p:nvPr/>
        </p:nvSpPr>
        <p:spPr bwMode="auto">
          <a:xfrm>
            <a:off x="434281" y="3736181"/>
            <a:ext cx="8280400" cy="2412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30000"/>
              </a:lnSpc>
              <a:defRPr/>
            </a:pPr>
            <a:r>
              <a:rPr lang="zh-CN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实例</a:t>
            </a:r>
            <a:r>
              <a:rPr lang="zh-CN" altLang="en-US" b="1" dirty="0">
                <a:solidFill>
                  <a:schemeClr val="bg2"/>
                </a:solidFill>
                <a:ea typeface="宋体" charset="-122"/>
              </a:rPr>
              <a:t>  </a:t>
            </a:r>
            <a:r>
              <a:rPr lang="en-US" altLang="zh-CN" b="1" dirty="0">
                <a:solidFill>
                  <a:schemeClr val="bg2"/>
                </a:solidFill>
                <a:ea typeface="宋体" charset="-122"/>
              </a:rPr>
              <a:t>A={ 1, 2, … , 8 }</a:t>
            </a:r>
            <a:r>
              <a:rPr lang="zh-CN" altLang="en-US" b="1" dirty="0">
                <a:solidFill>
                  <a:schemeClr val="bg2"/>
                </a:solidFill>
                <a:ea typeface="宋体" charset="-122"/>
              </a:rPr>
              <a:t>上模 </a:t>
            </a:r>
            <a:r>
              <a:rPr lang="en-US" altLang="zh-CN" b="1" dirty="0">
                <a:solidFill>
                  <a:schemeClr val="bg2"/>
                </a:solidFill>
                <a:ea typeface="宋体" charset="-122"/>
              </a:rPr>
              <a:t>3 </a:t>
            </a:r>
            <a:r>
              <a:rPr lang="zh-CN" altLang="en-US" b="1" dirty="0">
                <a:solidFill>
                  <a:schemeClr val="bg2"/>
                </a:solidFill>
                <a:ea typeface="宋体" charset="-122"/>
              </a:rPr>
              <a:t>等价关系的等价类：   </a:t>
            </a:r>
            <a:endParaRPr lang="en-US" altLang="zh-CN" b="1" dirty="0">
              <a:solidFill>
                <a:schemeClr val="bg2"/>
              </a:solidFill>
              <a:ea typeface="宋体" charset="-122"/>
            </a:endParaRPr>
          </a:p>
          <a:p>
            <a:pPr marL="342900" indent="-342900" eaLnBrk="1" hangingPunct="1">
              <a:lnSpc>
                <a:spcPct val="130000"/>
              </a:lnSpc>
              <a:defRPr/>
            </a:pPr>
            <a:r>
              <a:rPr lang="en-US" altLang="zh-CN" b="1" dirty="0">
                <a:solidFill>
                  <a:schemeClr val="bg2"/>
                </a:solidFill>
                <a:ea typeface="宋体" charset="-122"/>
              </a:rPr>
              <a:t>                 [1]=[4]=[7]={1,4,7}</a:t>
            </a:r>
            <a:br>
              <a:rPr lang="en-US" altLang="zh-CN" b="1" dirty="0">
                <a:solidFill>
                  <a:schemeClr val="bg2"/>
                </a:solidFill>
                <a:ea typeface="宋体" charset="-122"/>
              </a:rPr>
            </a:br>
            <a:r>
              <a:rPr lang="en-US" altLang="zh-CN" b="1" dirty="0">
                <a:solidFill>
                  <a:schemeClr val="bg2"/>
                </a:solidFill>
                <a:ea typeface="宋体" charset="-122"/>
              </a:rPr>
              <a:t>             [2]=[5]=[8]={2,5,8}</a:t>
            </a:r>
            <a:br>
              <a:rPr lang="en-US" altLang="zh-CN" b="1" dirty="0">
                <a:solidFill>
                  <a:schemeClr val="bg2"/>
                </a:solidFill>
                <a:ea typeface="宋体" charset="-122"/>
              </a:rPr>
            </a:br>
            <a:r>
              <a:rPr lang="en-US" altLang="zh-CN" b="1" dirty="0">
                <a:solidFill>
                  <a:schemeClr val="bg2"/>
                </a:solidFill>
                <a:ea typeface="宋体" charset="-122"/>
              </a:rPr>
              <a:t>             [3]=[6]={3,6}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34281" y="1223963"/>
            <a:ext cx="8280400" cy="2412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30000"/>
              </a:lnSpc>
              <a:defRPr/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定义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 </a:t>
            </a:r>
            <a:r>
              <a:rPr lang="zh-CN" altLang="en-US" b="1" dirty="0">
                <a:ea typeface="宋体" charset="-122"/>
              </a:rPr>
              <a:t> 设</a:t>
            </a:r>
            <a:r>
              <a:rPr lang="en-US" altLang="zh-CN" b="1" i="1" dirty="0">
                <a:ea typeface="宋体" charset="-122"/>
              </a:rPr>
              <a:t>R</a:t>
            </a:r>
            <a:r>
              <a:rPr lang="zh-CN" altLang="en-US" b="1" dirty="0">
                <a:ea typeface="宋体" charset="-122"/>
              </a:rPr>
              <a:t>为非空集合</a:t>
            </a:r>
            <a:r>
              <a:rPr lang="en-US" altLang="zh-CN" b="1" i="1" dirty="0">
                <a:ea typeface="宋体" charset="-122"/>
              </a:rPr>
              <a:t>A</a:t>
            </a:r>
            <a:r>
              <a:rPr lang="zh-CN" altLang="en-US" b="1" dirty="0">
                <a:ea typeface="宋体" charset="-122"/>
              </a:rPr>
              <a:t>上的等价关系</a:t>
            </a:r>
            <a:r>
              <a:rPr lang="en-US" altLang="zh-CN" b="1" dirty="0">
                <a:ea typeface="宋体" charset="-122"/>
              </a:rPr>
              <a:t>, </a:t>
            </a:r>
            <a:r>
              <a:rPr lang="en-US" altLang="zh-CN" b="1" dirty="0">
                <a:ea typeface="宋体" charset="-122"/>
                <a:sym typeface="Symbol" pitchFamily="18" charset="2"/>
              </a:rPr>
              <a:t></a:t>
            </a:r>
            <a:r>
              <a:rPr lang="en-US" altLang="zh-CN" b="1" i="1" dirty="0" err="1">
                <a:ea typeface="宋体" charset="-122"/>
              </a:rPr>
              <a:t>x</a:t>
            </a:r>
            <a:r>
              <a:rPr lang="en-US" altLang="zh-CN" b="1" dirty="0" err="1">
                <a:ea typeface="宋体" charset="-122"/>
              </a:rPr>
              <a:t>∈</a:t>
            </a:r>
            <a:r>
              <a:rPr lang="en-US" altLang="zh-CN" b="1" i="1" dirty="0" err="1">
                <a:ea typeface="宋体" charset="-122"/>
              </a:rPr>
              <a:t>A</a:t>
            </a:r>
            <a:r>
              <a:rPr lang="zh-CN" altLang="en-US" b="1" dirty="0">
                <a:ea typeface="宋体" charset="-122"/>
              </a:rPr>
              <a:t>，令</a:t>
            </a:r>
            <a:br>
              <a:rPr lang="zh-CN" altLang="en-US" b="1" dirty="0">
                <a:ea typeface="宋体" charset="-122"/>
              </a:rPr>
            </a:br>
            <a:r>
              <a:rPr lang="zh-CN" altLang="en-US" b="1" dirty="0">
                <a:ea typeface="宋体" charset="-122"/>
              </a:rPr>
              <a:t>        </a:t>
            </a:r>
            <a:r>
              <a:rPr lang="en-US" altLang="zh-CN" b="1" dirty="0">
                <a:ea typeface="宋体" charset="-122"/>
              </a:rPr>
              <a:t>[</a:t>
            </a:r>
            <a:r>
              <a:rPr lang="en-US" altLang="zh-CN" b="1" i="1" dirty="0">
                <a:ea typeface="宋体" charset="-122"/>
              </a:rPr>
              <a:t>x</a:t>
            </a:r>
            <a:r>
              <a:rPr lang="en-US" altLang="zh-CN" b="1" dirty="0">
                <a:ea typeface="宋体" charset="-122"/>
              </a:rPr>
              <a:t>]</a:t>
            </a:r>
            <a:r>
              <a:rPr lang="en-US" altLang="zh-CN" b="1" i="1" baseline="-25000" dirty="0">
                <a:ea typeface="宋体" charset="-122"/>
              </a:rPr>
              <a:t>R </a:t>
            </a:r>
            <a:r>
              <a:rPr lang="en-US" altLang="zh-CN" b="1" dirty="0">
                <a:ea typeface="宋体" charset="-122"/>
              </a:rPr>
              <a:t>= { </a:t>
            </a:r>
            <a:r>
              <a:rPr lang="en-US" altLang="zh-CN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y</a:t>
            </a:r>
            <a:r>
              <a:rPr lang="en-US" altLang="zh-CN" b="1" i="1" dirty="0">
                <a:ea typeface="宋体" charset="-122"/>
              </a:rPr>
              <a:t> </a:t>
            </a:r>
            <a:r>
              <a:rPr lang="en-US" altLang="zh-CN" b="1" dirty="0">
                <a:ea typeface="宋体" charset="-122"/>
              </a:rPr>
              <a:t>| 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y</a:t>
            </a:r>
            <a:r>
              <a:rPr lang="en-US" altLang="zh-CN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∈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A</a:t>
            </a:r>
            <a:r>
              <a:rPr lang="en-US" altLang="zh-CN" b="1" dirty="0" err="1">
                <a:ea typeface="宋体" charset="-122"/>
              </a:rPr>
              <a:t>∧</a:t>
            </a:r>
            <a:r>
              <a:rPr lang="en-US" altLang="zh-CN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xRy</a:t>
            </a:r>
            <a:r>
              <a:rPr lang="en-US" altLang="zh-CN" b="1" i="1" dirty="0">
                <a:ea typeface="宋体" charset="-122"/>
              </a:rPr>
              <a:t> </a:t>
            </a:r>
            <a:r>
              <a:rPr lang="en-US" altLang="zh-CN" b="1" dirty="0">
                <a:ea typeface="宋体" charset="-122"/>
              </a:rPr>
              <a:t>}</a:t>
            </a:r>
          </a:p>
          <a:p>
            <a:pPr marL="342900" indent="-342900" eaLnBrk="1" hangingPunct="1">
              <a:lnSpc>
                <a:spcPct val="130000"/>
              </a:lnSpc>
              <a:defRPr/>
            </a:pPr>
            <a:r>
              <a:rPr lang="zh-CN" altLang="en-US" b="1" dirty="0">
                <a:ea typeface="宋体" charset="-122"/>
              </a:rPr>
              <a:t>称 </a:t>
            </a:r>
            <a:r>
              <a:rPr lang="en-US" altLang="zh-CN" b="1" dirty="0">
                <a:ea typeface="宋体" charset="-122"/>
              </a:rPr>
              <a:t>[</a:t>
            </a:r>
            <a:r>
              <a:rPr lang="en-US" altLang="zh-CN" b="1" i="1" dirty="0">
                <a:ea typeface="宋体" charset="-122"/>
              </a:rPr>
              <a:t>x</a:t>
            </a:r>
            <a:r>
              <a:rPr lang="en-US" altLang="zh-CN" b="1" dirty="0">
                <a:ea typeface="宋体" charset="-122"/>
              </a:rPr>
              <a:t>]</a:t>
            </a:r>
            <a:r>
              <a:rPr lang="en-US" altLang="zh-CN" b="1" i="1" baseline="-25000" dirty="0">
                <a:ea typeface="宋体" charset="-122"/>
              </a:rPr>
              <a:t>R </a:t>
            </a:r>
            <a:r>
              <a:rPr lang="zh-CN" altLang="en-US" b="1" dirty="0">
                <a:ea typeface="宋体" charset="-122"/>
              </a:rPr>
              <a:t>为 </a:t>
            </a:r>
            <a:r>
              <a:rPr lang="en-US" altLang="zh-CN" b="1" i="1" dirty="0">
                <a:ea typeface="宋体" charset="-122"/>
              </a:rPr>
              <a:t>x </a:t>
            </a:r>
            <a:r>
              <a:rPr lang="zh-CN" altLang="en-US" b="1" dirty="0">
                <a:ea typeface="宋体" charset="-122"/>
              </a:rPr>
              <a:t>关于</a:t>
            </a:r>
            <a:r>
              <a:rPr lang="en-US" altLang="zh-CN" b="1" i="1" dirty="0">
                <a:ea typeface="宋体" charset="-122"/>
              </a:rPr>
              <a:t>R </a:t>
            </a:r>
            <a:r>
              <a:rPr lang="zh-CN" altLang="en-US" b="1" dirty="0">
                <a:ea typeface="宋体" charset="-122"/>
              </a:rPr>
              <a:t>的</a:t>
            </a:r>
            <a:r>
              <a:rPr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等价类</a:t>
            </a:r>
            <a:r>
              <a:rPr lang="en-US" altLang="zh-CN" b="1" dirty="0">
                <a:ea typeface="宋体" charset="-122"/>
              </a:rPr>
              <a:t>, </a:t>
            </a:r>
            <a:r>
              <a:rPr lang="zh-CN" altLang="en-US" b="1" dirty="0">
                <a:ea typeface="宋体" charset="-122"/>
              </a:rPr>
              <a:t>简称为 </a:t>
            </a:r>
            <a:r>
              <a:rPr lang="en-US" altLang="zh-CN" b="1" i="1" dirty="0">
                <a:ea typeface="宋体" charset="-122"/>
              </a:rPr>
              <a:t>x </a:t>
            </a:r>
            <a:r>
              <a:rPr lang="zh-CN" altLang="en-US" b="1" dirty="0">
                <a:ea typeface="宋体" charset="-122"/>
              </a:rPr>
              <a:t>的等价类</a:t>
            </a:r>
            <a:r>
              <a:rPr lang="en-US" altLang="zh-CN" b="1" dirty="0">
                <a:ea typeface="宋体" charset="-122"/>
              </a:rPr>
              <a:t>, </a:t>
            </a:r>
            <a:r>
              <a:rPr lang="zh-CN" altLang="en-US" b="1" dirty="0">
                <a:ea typeface="宋体" charset="-122"/>
              </a:rPr>
              <a:t>简</a:t>
            </a:r>
          </a:p>
          <a:p>
            <a:pPr marL="342900" indent="-342900" eaLnBrk="1" hangingPunct="1">
              <a:lnSpc>
                <a:spcPct val="130000"/>
              </a:lnSpc>
              <a:defRPr/>
            </a:pPr>
            <a:r>
              <a:rPr lang="zh-CN" altLang="en-US" b="1" dirty="0">
                <a:ea typeface="宋体" charset="-122"/>
              </a:rPr>
              <a:t>记为</a:t>
            </a:r>
            <a:r>
              <a:rPr lang="en-US" altLang="zh-CN" b="1" dirty="0">
                <a:ea typeface="宋体" charset="-122"/>
              </a:rPr>
              <a:t>[</a:t>
            </a:r>
            <a:r>
              <a:rPr lang="en-US" altLang="zh-CN" b="1" i="1" dirty="0">
                <a:ea typeface="宋体" charset="-122"/>
              </a:rPr>
              <a:t>x</a:t>
            </a:r>
            <a:r>
              <a:rPr lang="en-US" altLang="zh-CN" b="1" dirty="0">
                <a:ea typeface="宋体" charset="-122"/>
              </a:rPr>
              <a:t>]</a:t>
            </a:r>
            <a:r>
              <a:rPr lang="zh-CN" altLang="en-US" b="1" dirty="0">
                <a:ea typeface="宋体" charset="-122"/>
              </a:rPr>
              <a:t>。</a:t>
            </a:r>
            <a:endParaRPr lang="en-US" altLang="zh-CN" b="1" dirty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67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804248" y="6165304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08EF592-3931-42EF-AA4E-8B1400D1FC14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85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41028"/>
            <a:ext cx="7848600" cy="935037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等价类的性质</a:t>
            </a:r>
          </a:p>
        </p:txBody>
      </p:sp>
      <p:grpSp>
        <p:nvGrpSpPr>
          <p:cNvPr id="124932" name="Group 6"/>
          <p:cNvGrpSpPr>
            <a:grpSpLocks/>
          </p:cNvGrpSpPr>
          <p:nvPr/>
        </p:nvGrpSpPr>
        <p:grpSpPr bwMode="auto">
          <a:xfrm>
            <a:off x="323529" y="1412776"/>
            <a:ext cx="8438334" cy="3182938"/>
            <a:chOff x="341" y="1028"/>
            <a:chExt cx="4789" cy="2005"/>
          </a:xfrm>
        </p:grpSpPr>
        <p:sp>
          <p:nvSpPr>
            <p:cNvPr id="124933" name="Text Box 3"/>
            <p:cNvSpPr txBox="1">
              <a:spLocks noChangeArrowheads="1"/>
            </p:cNvSpPr>
            <p:nvPr/>
          </p:nvSpPr>
          <p:spPr bwMode="auto">
            <a:xfrm>
              <a:off x="341" y="1028"/>
              <a:ext cx="4789" cy="20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定理</a:t>
              </a:r>
              <a:r>
                <a:rPr lang="en-US" altLang="zh-CN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1   </a:t>
              </a:r>
              <a:r>
                <a:rPr lang="zh-CN" altLang="en-US" b="1" dirty="0">
                  <a:latin typeface="Times New Roman" panose="02020603050405020304" pitchFamily="18" charset="0"/>
                </a:rPr>
                <a:t>设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R</a:t>
              </a:r>
              <a:r>
                <a:rPr lang="zh-CN" altLang="en-US" b="1" dirty="0">
                  <a:latin typeface="Times New Roman" panose="02020603050405020304" pitchFamily="18" charset="0"/>
                </a:rPr>
                <a:t>是非空集合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A</a:t>
              </a:r>
              <a:r>
                <a:rPr lang="zh-CN" altLang="en-US" b="1" dirty="0">
                  <a:latin typeface="Times New Roman" panose="02020603050405020304" pitchFamily="18" charset="0"/>
                </a:rPr>
                <a:t>上的等价关系</a:t>
              </a:r>
              <a:r>
                <a:rPr lang="en-US" altLang="zh-CN" b="1" dirty="0">
                  <a:latin typeface="Times New Roman" panose="02020603050405020304" pitchFamily="18" charset="0"/>
                </a:rPr>
                <a:t>, </a:t>
              </a:r>
              <a:r>
                <a:rPr lang="zh-CN" altLang="en-US" b="1" dirty="0">
                  <a:latin typeface="Times New Roman" panose="02020603050405020304" pitchFamily="18" charset="0"/>
                </a:rPr>
                <a:t>则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marL="457200" indent="-457200" eaLnBrk="1" hangingPunct="1">
                <a:lnSpc>
                  <a:spcPct val="120000"/>
                </a:lnSpc>
                <a:spcBef>
                  <a:spcPct val="0"/>
                </a:spcBef>
                <a:buSzPct val="70000"/>
                <a:buFont typeface="Wingdings" panose="05000000000000000000" pitchFamily="2" charset="2"/>
                <a:buChar char="u"/>
              </a:pP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</a:t>
              </a:r>
              <a:r>
                <a:rPr lang="en-US" altLang="zh-CN" sz="2800" b="1" i="1" dirty="0" err="1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 err="1">
                  <a:latin typeface="Times New Roman" panose="02020603050405020304" pitchFamily="18" charset="0"/>
                </a:rPr>
                <a:t>∈</a:t>
              </a:r>
              <a:r>
                <a:rPr lang="en-US" altLang="zh-CN" sz="2800" b="1" i="1" dirty="0" err="1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 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是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A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的非空子集。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  <a:p>
              <a:pPr marL="457200" indent="-457200" eaLnBrk="1" hangingPunct="1">
                <a:lnSpc>
                  <a:spcPct val="120000"/>
                </a:lnSpc>
                <a:spcBef>
                  <a:spcPct val="0"/>
                </a:spcBef>
                <a:buSzPct val="70000"/>
                <a:buFont typeface="Wingdings" panose="05000000000000000000" pitchFamily="2" charset="2"/>
                <a:buChar char="u"/>
              </a:pP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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 </a:t>
              </a:r>
              <a:r>
                <a:rPr lang="en-US" altLang="zh-CN" sz="2800" b="1" i="1" dirty="0" err="1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 err="1">
                  <a:latin typeface="Times New Roman" panose="02020603050405020304" pitchFamily="18" charset="0"/>
                </a:rPr>
                <a:t>∈</a:t>
              </a:r>
              <a:r>
                <a:rPr lang="en-US" altLang="zh-CN" sz="2800" b="1" i="1" dirty="0" err="1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如果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 R y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则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]=[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。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  <a:p>
              <a:pPr marL="457200" indent="-457200" eaLnBrk="1" hangingPunct="1">
                <a:lnSpc>
                  <a:spcPct val="120000"/>
                </a:lnSpc>
                <a:spcBef>
                  <a:spcPct val="0"/>
                </a:spcBef>
                <a:buSzPct val="70000"/>
                <a:buFont typeface="Wingdings" panose="05000000000000000000" pitchFamily="2" charset="2"/>
                <a:buChar char="u"/>
              </a:pP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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∈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如果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    y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则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与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不交。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  <a:p>
              <a:pPr marL="457200" indent="-457200" eaLnBrk="1" hangingPunct="1">
                <a:lnSpc>
                  <a:spcPct val="120000"/>
                </a:lnSpc>
                <a:spcBef>
                  <a:spcPct val="0"/>
                </a:spcBef>
                <a:buSzPct val="70000"/>
                <a:buFont typeface="Wingdings" panose="05000000000000000000" pitchFamily="2" charset="2"/>
                <a:buChar char="u"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∪{ [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] | </a:t>
              </a:r>
              <a:r>
                <a:rPr lang="en-US" altLang="zh-CN" sz="2800" b="1" i="1" dirty="0" err="1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 err="1">
                  <a:latin typeface="Times New Roman" panose="02020603050405020304" pitchFamily="18" charset="0"/>
                </a:rPr>
                <a:t>∈</a:t>
              </a:r>
              <a:r>
                <a:rPr lang="en-US" altLang="zh-CN" sz="2800" b="1" i="1" dirty="0" err="1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}=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A</a:t>
              </a:r>
              <a:r>
                <a:rPr lang="zh-CN" altLang="en-US" sz="2800" b="1" i="1" dirty="0">
                  <a:latin typeface="Times New Roman" panose="02020603050405020304" pitchFamily="18" charset="0"/>
                </a:rPr>
                <a:t>，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即所有等价类的并集就是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A</a:t>
              </a:r>
              <a:r>
                <a:rPr lang="zh-CN" altLang="en-US" sz="2800" b="1" i="1" dirty="0">
                  <a:latin typeface="Times New Roman" panose="02020603050405020304" pitchFamily="18" charset="0"/>
                </a:rPr>
                <a:t>。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 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</p:txBody>
        </p:sp>
        <p:pic>
          <p:nvPicPr>
            <p:cNvPr id="124934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" y="2117"/>
              <a:ext cx="18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804248" y="6093296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6F710B1-79A6-4B1B-96A4-C45AD130DBAD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86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188640"/>
            <a:ext cx="7991475" cy="1008063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实例</a:t>
            </a:r>
          </a:p>
        </p:txBody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484784"/>
            <a:ext cx="8229600" cy="3886200"/>
          </a:xfrm>
        </p:spPr>
        <p:txBody>
          <a:bodyPr/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A={ 1, 2, … , 8 }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上模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3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等价关系的等价类：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[1]=[4]=[7]={1,4,7}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[2]=[5]=[8]={2,5,8}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[3]=[6]={3,6}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以上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3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类两两不交  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{1,4,7}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{2,5,8}{3,6} = {1,2, … ,8}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2B87F30-A4C3-428A-A58A-5C4B6B048CB9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87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3540"/>
            <a:ext cx="8135938" cy="11525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商集</a:t>
            </a:r>
          </a:p>
        </p:txBody>
      </p:sp>
      <p:sp>
        <p:nvSpPr>
          <p:cNvPr id="243715" name="Text Box 3"/>
          <p:cNvSpPr txBox="1">
            <a:spLocks noChangeArrowheads="1"/>
          </p:cNvSpPr>
          <p:nvPr/>
        </p:nvSpPr>
        <p:spPr bwMode="auto">
          <a:xfrm>
            <a:off x="179512" y="3356992"/>
            <a:ext cx="8208962" cy="2751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实例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={1,2,…,8}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关于模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等价关系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的商集为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A/R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 [ 1 ], [2], [ 3 ] }= { {1,4,7}, {2,5,8}, {3,6} }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A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关于恒等关系和全域关系的商集为：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A/I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 {1},{2}, … ,{8}}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A/E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 {1, 2, … ,8} }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17848" y="1340768"/>
            <a:ext cx="8208962" cy="1667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为非空集合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上的等价关系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以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所有等价类作为元素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集合</a:t>
            </a:r>
            <a:r>
              <a:rPr lang="zh-CN" altLang="en-US" sz="2800" b="1" dirty="0">
                <a:latin typeface="Times New Roman" panose="02020603050405020304" pitchFamily="18" charset="0"/>
              </a:rPr>
              <a:t>称为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关于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商集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记做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/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,  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R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= { [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]</a:t>
            </a:r>
            <a:r>
              <a:rPr lang="en-US" altLang="zh-CN" sz="2800" b="1" i="1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| 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3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3145700-E8D9-4E1A-BFAE-AD4058844867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88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30051" name="Rectangle 4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371600"/>
          </a:xfrm>
        </p:spPr>
        <p:txBody>
          <a:bodyPr/>
          <a:lstStyle/>
          <a:p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续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8950" y="1268760"/>
            <a:ext cx="8208963" cy="5329237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zh-CN" altLang="en-US" b="1" dirty="0">
                <a:latin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</a:rPr>
              <a:t>是整数集合</a:t>
            </a:r>
            <a:r>
              <a:rPr lang="en-US" altLang="zh-CN" b="1" i="1" dirty="0">
                <a:latin typeface="Times New Roman" panose="02020603050405020304" pitchFamily="18" charset="0"/>
              </a:rPr>
              <a:t>Z</a:t>
            </a:r>
            <a:r>
              <a:rPr lang="zh-CN" altLang="en-US" b="1" dirty="0">
                <a:latin typeface="Times New Roman" panose="02020603050405020304" pitchFamily="18" charset="0"/>
              </a:rPr>
              <a:t>上模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的等价关系，那么其等价类为：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  </a:t>
            </a:r>
            <a:r>
              <a:rPr lang="en-US" altLang="zh-CN" b="1" dirty="0">
                <a:latin typeface="Times New Roman" panose="02020603050405020304" pitchFamily="18" charset="0"/>
              </a:rPr>
              <a:t>[0]={</a:t>
            </a:r>
            <a:r>
              <a:rPr lang="en-US" altLang="zh-CN" b="1" dirty="0" err="1">
                <a:latin typeface="Times New Roman" panose="02020603050405020304" pitchFamily="18" charset="0"/>
              </a:rPr>
              <a:t>nk|k∈Z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  [1]={nk+1|k∈Z}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  [2]={nk+2|k∈Z}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   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  [n-1]={nk+n-1|k∈Z}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商集：</a:t>
            </a:r>
            <a:r>
              <a:rPr lang="en-US" altLang="zh-CN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Z/R</a:t>
            </a:r>
            <a:r>
              <a:rPr lang="en-US" altLang="zh-CN" b="1" dirty="0">
                <a:solidFill>
                  <a:srgbClr val="0033CC"/>
                </a:solidFill>
                <a:latin typeface="Times New Roman" panose="02020603050405020304" pitchFamily="18" charset="0"/>
              </a:rPr>
              <a:t>={[0],[1],[2],…,[n-1]}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804248" y="62484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35318AB-986B-4526-B4B6-17A437A8D955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89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31075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-19050"/>
            <a:ext cx="8229600" cy="1371600"/>
          </a:xfrm>
        </p:spPr>
        <p:txBody>
          <a:bodyPr/>
          <a:lstStyle/>
          <a:p>
            <a:r>
              <a:rPr lang="zh-CN" altLang="en-US" sz="40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课堂练习</a:t>
            </a:r>
          </a:p>
        </p:txBody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52550"/>
            <a:ext cx="8229600" cy="4895850"/>
          </a:xfrm>
        </p:spPr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zh-CN" altLang="en-US" b="1" dirty="0">
                <a:latin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={0,1,2,3,4}</a:t>
            </a:r>
            <a:r>
              <a:rPr lang="zh-CN" altLang="en-US" b="1" dirty="0">
                <a:latin typeface="Times New Roman" panose="02020603050405020304" pitchFamily="18" charset="0"/>
              </a:rPr>
              <a:t>上的二元等价关系，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={&lt;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b="1" dirty="0">
                <a:latin typeface="Times New Roman" panose="02020603050405020304" pitchFamily="18" charset="0"/>
              </a:rPr>
              <a:t>&gt;|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b="1" dirty="0" err="1">
                <a:latin typeface="Times New Roman" panose="02020603050405020304" pitchFamily="18" charset="0"/>
              </a:rPr>
              <a:t>∈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x-y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)/2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∈</a:t>
            </a:r>
            <a:r>
              <a:rPr lang="en-US" altLang="zh-CN" b="1" i="1" dirty="0">
                <a:latin typeface="Times New Roman" panose="02020603050405020304" pitchFamily="18" charset="0"/>
              </a:rPr>
              <a:t>Z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  <a:r>
              <a:rPr lang="zh-CN" altLang="en-US" b="1" dirty="0">
                <a:latin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（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）给出</a:t>
            </a:r>
            <a:r>
              <a:rPr lang="en-US" altLang="zh-CN" b="1" dirty="0"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</a:rPr>
              <a:t>的关系矩阵；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（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）画出关系图；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（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）求出等价类；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（</a:t>
            </a:r>
            <a:r>
              <a:rPr lang="en-US" altLang="zh-CN" b="1" dirty="0"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</a:rPr>
              <a:t>）给出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关于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zh-CN" altLang="en-US" b="1" dirty="0"/>
              <a:t>的商集。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6781800" y="6178808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988B63-CEE8-4114-963B-9EAFF3F0A9D8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90</a:t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33123" name="Text Box 4"/>
          <p:cNvSpPr txBox="1">
            <a:spLocks noChangeArrowheads="1"/>
          </p:cNvSpPr>
          <p:nvPr/>
        </p:nvSpPr>
        <p:spPr bwMode="auto">
          <a:xfrm>
            <a:off x="144463" y="324931"/>
            <a:ext cx="7704137" cy="64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"/>
              </a:spcBef>
              <a:buClrTx/>
              <a:buSzTx/>
              <a:buFontTx/>
              <a:buNone/>
            </a:pPr>
            <a:r>
              <a:rPr lang="zh-CN" altLang="en-US" b="1" dirty="0"/>
              <a:t>     </a:t>
            </a:r>
            <a:r>
              <a:rPr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解：</a:t>
            </a:r>
            <a:endParaRPr lang="en-US" altLang="zh-CN" sz="3600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3124" name="Text Box 5"/>
          <p:cNvSpPr txBox="1">
            <a:spLocks noChangeArrowheads="1"/>
          </p:cNvSpPr>
          <p:nvPr/>
        </p:nvSpPr>
        <p:spPr bwMode="auto">
          <a:xfrm>
            <a:off x="396082" y="4973638"/>
            <a:ext cx="7704137" cy="107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(3) </a:t>
            </a:r>
            <a:r>
              <a:rPr lang="zh-CN" altLang="en-US" sz="2800" b="1" dirty="0">
                <a:latin typeface="Times New Roman" panose="02020603050405020304" pitchFamily="18" charset="0"/>
              </a:rPr>
              <a:t>等价类： </a:t>
            </a:r>
            <a:r>
              <a:rPr lang="en-US" altLang="zh-CN" sz="2800" b="1" dirty="0">
                <a:latin typeface="Times New Roman" panose="02020603050405020304" pitchFamily="18" charset="0"/>
              </a:rPr>
              <a:t>[0]=[2]=[4]={0,2,4}, [1]=[3]={1,3}   </a:t>
            </a: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(4) </a:t>
            </a:r>
            <a:r>
              <a:rPr lang="zh-CN" altLang="en-US" sz="2800" b="1" dirty="0">
                <a:latin typeface="Times New Roman" panose="02020603050405020304" pitchFamily="18" charset="0"/>
              </a:rPr>
              <a:t>商集：</a:t>
            </a:r>
            <a:r>
              <a:rPr lang="en-US" altLang="zh-CN" sz="2800" b="1" dirty="0">
                <a:latin typeface="Times New Roman" panose="02020603050405020304" pitchFamily="18" charset="0"/>
              </a:rPr>
              <a:t>A/R</a:t>
            </a:r>
            <a:r>
              <a:rPr lang="zh-CN" altLang="en-US" sz="2800" b="1" dirty="0">
                <a:latin typeface="Times New Roman" panose="02020603050405020304" pitchFamily="18" charset="0"/>
              </a:rPr>
              <a:t>＝</a:t>
            </a:r>
            <a:r>
              <a:rPr lang="en-US" altLang="zh-CN" sz="2800" b="1" dirty="0">
                <a:latin typeface="Times New Roman" panose="02020603050405020304" pitchFamily="18" charset="0"/>
              </a:rPr>
              <a:t>{[0],[1]}={{0,2,4},{1,3}}</a:t>
            </a:r>
          </a:p>
        </p:txBody>
      </p:sp>
      <p:graphicFrame>
        <p:nvGraphicFramePr>
          <p:cNvPr id="133125" name="Object 9"/>
          <p:cNvGraphicFramePr>
            <a:graphicFrameLocks noChangeAspect="1"/>
          </p:cNvGraphicFramePr>
          <p:nvPr/>
        </p:nvGraphicFramePr>
        <p:xfrm>
          <a:off x="900113" y="1844675"/>
          <a:ext cx="2881312" cy="270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07" name="公式" r:id="rId3" imgW="1231900" imgH="1155700" progId="Equation.3">
                  <p:embed/>
                </p:oleObj>
              </mc:Choice>
              <mc:Fallback>
                <p:oleObj name="公式" r:id="rId3" imgW="1231900" imgH="1155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844675"/>
                        <a:ext cx="2881312" cy="2703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126" name="Group 56"/>
          <p:cNvGrpSpPr>
            <a:grpSpLocks/>
          </p:cNvGrpSpPr>
          <p:nvPr/>
        </p:nvGrpSpPr>
        <p:grpSpPr bwMode="auto">
          <a:xfrm>
            <a:off x="4716463" y="1989138"/>
            <a:ext cx="4103687" cy="2689225"/>
            <a:chOff x="2744" y="981"/>
            <a:chExt cx="2585" cy="1694"/>
          </a:xfrm>
        </p:grpSpPr>
        <p:sp>
          <p:nvSpPr>
            <p:cNvPr id="133127" name="Oval 13"/>
            <p:cNvSpPr>
              <a:spLocks noChangeArrowheads="1"/>
            </p:cNvSpPr>
            <p:nvPr/>
          </p:nvSpPr>
          <p:spPr bwMode="auto">
            <a:xfrm>
              <a:off x="3742" y="2160"/>
              <a:ext cx="136" cy="1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800"/>
            </a:p>
          </p:txBody>
        </p:sp>
        <p:grpSp>
          <p:nvGrpSpPr>
            <p:cNvPr id="133128" name="Group 18"/>
            <p:cNvGrpSpPr>
              <a:grpSpLocks/>
            </p:cNvGrpSpPr>
            <p:nvPr/>
          </p:nvGrpSpPr>
          <p:grpSpPr bwMode="auto">
            <a:xfrm>
              <a:off x="2744" y="1933"/>
              <a:ext cx="362" cy="408"/>
              <a:chOff x="3198" y="981"/>
              <a:chExt cx="362" cy="408"/>
            </a:xfrm>
          </p:grpSpPr>
          <p:sp>
            <p:nvSpPr>
              <p:cNvPr id="133164" name="Oval 10"/>
              <p:cNvSpPr>
                <a:spLocks noChangeArrowheads="1"/>
              </p:cNvSpPr>
              <p:nvPr/>
            </p:nvSpPr>
            <p:spPr bwMode="auto">
              <a:xfrm>
                <a:off x="3424" y="1253"/>
                <a:ext cx="136" cy="1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33165" name="Oval 15"/>
              <p:cNvSpPr>
                <a:spLocks noChangeArrowheads="1"/>
              </p:cNvSpPr>
              <p:nvPr/>
            </p:nvSpPr>
            <p:spPr bwMode="auto">
              <a:xfrm>
                <a:off x="3198" y="981"/>
                <a:ext cx="318" cy="31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33166" name="Line 16"/>
              <p:cNvSpPr>
                <a:spLocks noChangeShapeType="1"/>
              </p:cNvSpPr>
              <p:nvPr/>
            </p:nvSpPr>
            <p:spPr bwMode="auto">
              <a:xfrm flipH="1">
                <a:off x="3198" y="1026"/>
                <a:ext cx="45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3129" name="Group 19"/>
            <p:cNvGrpSpPr>
              <a:grpSpLocks/>
            </p:cNvGrpSpPr>
            <p:nvPr/>
          </p:nvGrpSpPr>
          <p:grpSpPr bwMode="auto">
            <a:xfrm>
              <a:off x="4513" y="1933"/>
              <a:ext cx="362" cy="408"/>
              <a:chOff x="3198" y="981"/>
              <a:chExt cx="362" cy="408"/>
            </a:xfrm>
          </p:grpSpPr>
          <p:sp>
            <p:nvSpPr>
              <p:cNvPr id="133161" name="Oval 20"/>
              <p:cNvSpPr>
                <a:spLocks noChangeArrowheads="1"/>
              </p:cNvSpPr>
              <p:nvPr/>
            </p:nvSpPr>
            <p:spPr bwMode="auto">
              <a:xfrm>
                <a:off x="3424" y="1253"/>
                <a:ext cx="136" cy="1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33162" name="Oval 21"/>
              <p:cNvSpPr>
                <a:spLocks noChangeArrowheads="1"/>
              </p:cNvSpPr>
              <p:nvPr/>
            </p:nvSpPr>
            <p:spPr bwMode="auto">
              <a:xfrm>
                <a:off x="3198" y="981"/>
                <a:ext cx="318" cy="31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33163" name="Line 22"/>
              <p:cNvSpPr>
                <a:spLocks noChangeShapeType="1"/>
              </p:cNvSpPr>
              <p:nvPr/>
            </p:nvSpPr>
            <p:spPr bwMode="auto">
              <a:xfrm flipH="1">
                <a:off x="3198" y="1026"/>
                <a:ext cx="45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3130" name="Group 23"/>
            <p:cNvGrpSpPr>
              <a:grpSpLocks/>
            </p:cNvGrpSpPr>
            <p:nvPr/>
          </p:nvGrpSpPr>
          <p:grpSpPr bwMode="auto">
            <a:xfrm>
              <a:off x="4558" y="1071"/>
              <a:ext cx="362" cy="408"/>
              <a:chOff x="3198" y="981"/>
              <a:chExt cx="362" cy="408"/>
            </a:xfrm>
          </p:grpSpPr>
          <p:sp>
            <p:nvSpPr>
              <p:cNvPr id="133158" name="Oval 24"/>
              <p:cNvSpPr>
                <a:spLocks noChangeArrowheads="1"/>
              </p:cNvSpPr>
              <p:nvPr/>
            </p:nvSpPr>
            <p:spPr bwMode="auto">
              <a:xfrm>
                <a:off x="3424" y="1253"/>
                <a:ext cx="136" cy="1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33159" name="Oval 25"/>
              <p:cNvSpPr>
                <a:spLocks noChangeArrowheads="1"/>
              </p:cNvSpPr>
              <p:nvPr/>
            </p:nvSpPr>
            <p:spPr bwMode="auto">
              <a:xfrm>
                <a:off x="3198" y="981"/>
                <a:ext cx="318" cy="31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33160" name="Line 26"/>
              <p:cNvSpPr>
                <a:spLocks noChangeShapeType="1"/>
              </p:cNvSpPr>
              <p:nvPr/>
            </p:nvSpPr>
            <p:spPr bwMode="auto">
              <a:xfrm flipH="1">
                <a:off x="3198" y="1026"/>
                <a:ext cx="45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3131" name="Group 27"/>
            <p:cNvGrpSpPr>
              <a:grpSpLocks/>
            </p:cNvGrpSpPr>
            <p:nvPr/>
          </p:nvGrpSpPr>
          <p:grpSpPr bwMode="auto">
            <a:xfrm>
              <a:off x="3198" y="981"/>
              <a:ext cx="362" cy="408"/>
              <a:chOff x="3198" y="981"/>
              <a:chExt cx="362" cy="408"/>
            </a:xfrm>
          </p:grpSpPr>
          <p:sp>
            <p:nvSpPr>
              <p:cNvPr id="133155" name="Oval 28"/>
              <p:cNvSpPr>
                <a:spLocks noChangeArrowheads="1"/>
              </p:cNvSpPr>
              <p:nvPr/>
            </p:nvSpPr>
            <p:spPr bwMode="auto">
              <a:xfrm>
                <a:off x="3424" y="1253"/>
                <a:ext cx="136" cy="1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33156" name="Oval 29"/>
              <p:cNvSpPr>
                <a:spLocks noChangeArrowheads="1"/>
              </p:cNvSpPr>
              <p:nvPr/>
            </p:nvSpPr>
            <p:spPr bwMode="auto">
              <a:xfrm>
                <a:off x="3198" y="981"/>
                <a:ext cx="318" cy="31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33157" name="Line 30"/>
              <p:cNvSpPr>
                <a:spLocks noChangeShapeType="1"/>
              </p:cNvSpPr>
              <p:nvPr/>
            </p:nvSpPr>
            <p:spPr bwMode="auto">
              <a:xfrm flipH="1">
                <a:off x="3198" y="1026"/>
                <a:ext cx="45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132" name="Oval 31"/>
            <p:cNvSpPr>
              <a:spLocks noChangeArrowheads="1"/>
            </p:cNvSpPr>
            <p:nvPr/>
          </p:nvSpPr>
          <p:spPr bwMode="auto">
            <a:xfrm>
              <a:off x="3852" y="1970"/>
              <a:ext cx="317" cy="31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800"/>
            </a:p>
          </p:txBody>
        </p:sp>
        <p:sp>
          <p:nvSpPr>
            <p:cNvPr id="133133" name="Line 32"/>
            <p:cNvSpPr>
              <a:spLocks noChangeShapeType="1"/>
            </p:cNvSpPr>
            <p:nvPr/>
          </p:nvSpPr>
          <p:spPr bwMode="auto">
            <a:xfrm>
              <a:off x="4105" y="1979"/>
              <a:ext cx="9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34" name="Text Box 33"/>
            <p:cNvSpPr txBox="1">
              <a:spLocks noChangeArrowheads="1"/>
            </p:cNvSpPr>
            <p:nvPr/>
          </p:nvSpPr>
          <p:spPr bwMode="auto">
            <a:xfrm>
              <a:off x="3606" y="1071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/>
                <a:t>0</a:t>
              </a:r>
            </a:p>
          </p:txBody>
        </p:sp>
        <p:sp>
          <p:nvSpPr>
            <p:cNvPr id="133135" name="Text Box 34"/>
            <p:cNvSpPr txBox="1">
              <a:spLocks noChangeArrowheads="1"/>
            </p:cNvSpPr>
            <p:nvPr/>
          </p:nvSpPr>
          <p:spPr bwMode="auto">
            <a:xfrm>
              <a:off x="2835" y="2387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/>
                <a:t>2</a:t>
              </a:r>
            </a:p>
          </p:txBody>
        </p:sp>
        <p:sp>
          <p:nvSpPr>
            <p:cNvPr id="133136" name="Text Box 35"/>
            <p:cNvSpPr txBox="1">
              <a:spLocks noChangeArrowheads="1"/>
            </p:cNvSpPr>
            <p:nvPr/>
          </p:nvSpPr>
          <p:spPr bwMode="auto">
            <a:xfrm>
              <a:off x="3833" y="2341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/>
                <a:t>4</a:t>
              </a:r>
            </a:p>
          </p:txBody>
        </p:sp>
        <p:sp>
          <p:nvSpPr>
            <p:cNvPr id="133137" name="Text Box 36"/>
            <p:cNvSpPr txBox="1">
              <a:spLocks noChangeArrowheads="1"/>
            </p:cNvSpPr>
            <p:nvPr/>
          </p:nvSpPr>
          <p:spPr bwMode="auto">
            <a:xfrm>
              <a:off x="5012" y="1117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/>
                <a:t>1</a:t>
              </a:r>
            </a:p>
          </p:txBody>
        </p:sp>
        <p:sp>
          <p:nvSpPr>
            <p:cNvPr id="133138" name="Text Box 37"/>
            <p:cNvSpPr txBox="1">
              <a:spLocks noChangeArrowheads="1"/>
            </p:cNvSpPr>
            <p:nvPr/>
          </p:nvSpPr>
          <p:spPr bwMode="auto">
            <a:xfrm>
              <a:off x="4967" y="2251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/>
                <a:t>3</a:t>
              </a:r>
            </a:p>
          </p:txBody>
        </p:sp>
        <p:sp>
          <p:nvSpPr>
            <p:cNvPr id="133139" name="Freeform 38"/>
            <p:cNvSpPr>
              <a:spLocks/>
            </p:cNvSpPr>
            <p:nvPr/>
          </p:nvSpPr>
          <p:spPr bwMode="auto">
            <a:xfrm>
              <a:off x="3016" y="1344"/>
              <a:ext cx="408" cy="861"/>
            </a:xfrm>
            <a:custGeom>
              <a:avLst/>
              <a:gdLst>
                <a:gd name="T0" fmla="*/ 408 w 408"/>
                <a:gd name="T1" fmla="*/ 0 h 861"/>
                <a:gd name="T2" fmla="*/ 182 w 408"/>
                <a:gd name="T3" fmla="*/ 226 h 861"/>
                <a:gd name="T4" fmla="*/ 0 w 408"/>
                <a:gd name="T5" fmla="*/ 861 h 861"/>
                <a:gd name="T6" fmla="*/ 0 60000 65536"/>
                <a:gd name="T7" fmla="*/ 0 60000 65536"/>
                <a:gd name="T8" fmla="*/ 0 60000 65536"/>
                <a:gd name="T9" fmla="*/ 0 w 408"/>
                <a:gd name="T10" fmla="*/ 0 h 861"/>
                <a:gd name="T11" fmla="*/ 408 w 408"/>
                <a:gd name="T12" fmla="*/ 861 h 8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8" h="861">
                  <a:moveTo>
                    <a:pt x="408" y="0"/>
                  </a:moveTo>
                  <a:cubicBezTo>
                    <a:pt x="329" y="41"/>
                    <a:pt x="250" y="83"/>
                    <a:pt x="182" y="226"/>
                  </a:cubicBezTo>
                  <a:cubicBezTo>
                    <a:pt x="114" y="369"/>
                    <a:pt x="30" y="755"/>
                    <a:pt x="0" y="86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40" name="Freeform 39"/>
            <p:cNvSpPr>
              <a:spLocks/>
            </p:cNvSpPr>
            <p:nvPr/>
          </p:nvSpPr>
          <p:spPr bwMode="auto">
            <a:xfrm>
              <a:off x="3107" y="1389"/>
              <a:ext cx="378" cy="862"/>
            </a:xfrm>
            <a:custGeom>
              <a:avLst/>
              <a:gdLst>
                <a:gd name="T0" fmla="*/ 0 w 378"/>
                <a:gd name="T1" fmla="*/ 862 h 862"/>
                <a:gd name="T2" fmla="*/ 317 w 378"/>
                <a:gd name="T3" fmla="*/ 499 h 862"/>
                <a:gd name="T4" fmla="*/ 363 w 378"/>
                <a:gd name="T5" fmla="*/ 0 h 862"/>
                <a:gd name="T6" fmla="*/ 0 60000 65536"/>
                <a:gd name="T7" fmla="*/ 0 60000 65536"/>
                <a:gd name="T8" fmla="*/ 0 60000 65536"/>
                <a:gd name="T9" fmla="*/ 0 w 378"/>
                <a:gd name="T10" fmla="*/ 0 h 862"/>
                <a:gd name="T11" fmla="*/ 378 w 378"/>
                <a:gd name="T12" fmla="*/ 862 h 8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8" h="862">
                  <a:moveTo>
                    <a:pt x="0" y="862"/>
                  </a:moveTo>
                  <a:cubicBezTo>
                    <a:pt x="128" y="752"/>
                    <a:pt x="256" y="643"/>
                    <a:pt x="317" y="499"/>
                  </a:cubicBezTo>
                  <a:cubicBezTo>
                    <a:pt x="378" y="355"/>
                    <a:pt x="370" y="177"/>
                    <a:pt x="363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41" name="Line 40"/>
            <p:cNvSpPr>
              <a:spLocks noChangeShapeType="1"/>
            </p:cNvSpPr>
            <p:nvPr/>
          </p:nvSpPr>
          <p:spPr bwMode="auto">
            <a:xfrm flipH="1">
              <a:off x="3107" y="1570"/>
              <a:ext cx="91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42" name="Line 41"/>
            <p:cNvSpPr>
              <a:spLocks noChangeShapeType="1"/>
            </p:cNvSpPr>
            <p:nvPr/>
          </p:nvSpPr>
          <p:spPr bwMode="auto">
            <a:xfrm flipV="1">
              <a:off x="3424" y="1752"/>
              <a:ext cx="46" cy="1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43" name="Freeform 42"/>
            <p:cNvSpPr>
              <a:spLocks/>
            </p:cNvSpPr>
            <p:nvPr/>
          </p:nvSpPr>
          <p:spPr bwMode="auto">
            <a:xfrm>
              <a:off x="3560" y="1344"/>
              <a:ext cx="318" cy="816"/>
            </a:xfrm>
            <a:custGeom>
              <a:avLst/>
              <a:gdLst>
                <a:gd name="T0" fmla="*/ 0 w 318"/>
                <a:gd name="T1" fmla="*/ 0 h 816"/>
                <a:gd name="T2" fmla="*/ 273 w 318"/>
                <a:gd name="T3" fmla="*/ 317 h 816"/>
                <a:gd name="T4" fmla="*/ 273 w 318"/>
                <a:gd name="T5" fmla="*/ 816 h 816"/>
                <a:gd name="T6" fmla="*/ 0 60000 65536"/>
                <a:gd name="T7" fmla="*/ 0 60000 65536"/>
                <a:gd name="T8" fmla="*/ 0 60000 65536"/>
                <a:gd name="T9" fmla="*/ 0 w 318"/>
                <a:gd name="T10" fmla="*/ 0 h 816"/>
                <a:gd name="T11" fmla="*/ 318 w 318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8" h="816">
                  <a:moveTo>
                    <a:pt x="0" y="0"/>
                  </a:moveTo>
                  <a:cubicBezTo>
                    <a:pt x="114" y="90"/>
                    <a:pt x="228" y="181"/>
                    <a:pt x="273" y="317"/>
                  </a:cubicBezTo>
                  <a:cubicBezTo>
                    <a:pt x="318" y="453"/>
                    <a:pt x="273" y="733"/>
                    <a:pt x="273" y="81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44" name="Freeform 43"/>
            <p:cNvSpPr>
              <a:spLocks/>
            </p:cNvSpPr>
            <p:nvPr/>
          </p:nvSpPr>
          <p:spPr bwMode="auto">
            <a:xfrm>
              <a:off x="3515" y="1389"/>
              <a:ext cx="272" cy="816"/>
            </a:xfrm>
            <a:custGeom>
              <a:avLst/>
              <a:gdLst>
                <a:gd name="T0" fmla="*/ 0 w 272"/>
                <a:gd name="T1" fmla="*/ 0 h 816"/>
                <a:gd name="T2" fmla="*/ 45 w 272"/>
                <a:gd name="T3" fmla="*/ 408 h 816"/>
                <a:gd name="T4" fmla="*/ 272 w 272"/>
                <a:gd name="T5" fmla="*/ 816 h 816"/>
                <a:gd name="T6" fmla="*/ 0 60000 65536"/>
                <a:gd name="T7" fmla="*/ 0 60000 65536"/>
                <a:gd name="T8" fmla="*/ 0 60000 65536"/>
                <a:gd name="T9" fmla="*/ 0 w 272"/>
                <a:gd name="T10" fmla="*/ 0 h 816"/>
                <a:gd name="T11" fmla="*/ 272 w 272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816">
                  <a:moveTo>
                    <a:pt x="0" y="0"/>
                  </a:moveTo>
                  <a:cubicBezTo>
                    <a:pt x="0" y="136"/>
                    <a:pt x="0" y="272"/>
                    <a:pt x="45" y="408"/>
                  </a:cubicBezTo>
                  <a:cubicBezTo>
                    <a:pt x="90" y="544"/>
                    <a:pt x="181" y="680"/>
                    <a:pt x="272" y="81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45" name="Freeform 44"/>
            <p:cNvSpPr>
              <a:spLocks/>
            </p:cNvSpPr>
            <p:nvPr/>
          </p:nvSpPr>
          <p:spPr bwMode="auto">
            <a:xfrm>
              <a:off x="3107" y="2107"/>
              <a:ext cx="635" cy="144"/>
            </a:xfrm>
            <a:custGeom>
              <a:avLst/>
              <a:gdLst>
                <a:gd name="T0" fmla="*/ 0 w 635"/>
                <a:gd name="T1" fmla="*/ 144 h 144"/>
                <a:gd name="T2" fmla="*/ 317 w 635"/>
                <a:gd name="T3" fmla="*/ 8 h 144"/>
                <a:gd name="T4" fmla="*/ 635 w 635"/>
                <a:gd name="T5" fmla="*/ 98 h 144"/>
                <a:gd name="T6" fmla="*/ 0 60000 65536"/>
                <a:gd name="T7" fmla="*/ 0 60000 65536"/>
                <a:gd name="T8" fmla="*/ 0 60000 65536"/>
                <a:gd name="T9" fmla="*/ 0 w 635"/>
                <a:gd name="T10" fmla="*/ 0 h 144"/>
                <a:gd name="T11" fmla="*/ 635 w 635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5" h="144">
                  <a:moveTo>
                    <a:pt x="0" y="144"/>
                  </a:moveTo>
                  <a:cubicBezTo>
                    <a:pt x="105" y="80"/>
                    <a:pt x="211" y="16"/>
                    <a:pt x="317" y="8"/>
                  </a:cubicBezTo>
                  <a:cubicBezTo>
                    <a:pt x="423" y="0"/>
                    <a:pt x="529" y="49"/>
                    <a:pt x="635" y="9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46" name="Freeform 45"/>
            <p:cNvSpPr>
              <a:spLocks/>
            </p:cNvSpPr>
            <p:nvPr/>
          </p:nvSpPr>
          <p:spPr bwMode="auto">
            <a:xfrm>
              <a:off x="3107" y="2251"/>
              <a:ext cx="635" cy="97"/>
            </a:xfrm>
            <a:custGeom>
              <a:avLst/>
              <a:gdLst>
                <a:gd name="T0" fmla="*/ 0 w 635"/>
                <a:gd name="T1" fmla="*/ 45 h 97"/>
                <a:gd name="T2" fmla="*/ 363 w 635"/>
                <a:gd name="T3" fmla="*/ 90 h 97"/>
                <a:gd name="T4" fmla="*/ 635 w 635"/>
                <a:gd name="T5" fmla="*/ 0 h 97"/>
                <a:gd name="T6" fmla="*/ 0 60000 65536"/>
                <a:gd name="T7" fmla="*/ 0 60000 65536"/>
                <a:gd name="T8" fmla="*/ 0 60000 65536"/>
                <a:gd name="T9" fmla="*/ 0 w 635"/>
                <a:gd name="T10" fmla="*/ 0 h 97"/>
                <a:gd name="T11" fmla="*/ 635 w 635"/>
                <a:gd name="T12" fmla="*/ 97 h 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5" h="97">
                  <a:moveTo>
                    <a:pt x="0" y="45"/>
                  </a:moveTo>
                  <a:cubicBezTo>
                    <a:pt x="128" y="71"/>
                    <a:pt x="257" y="97"/>
                    <a:pt x="363" y="90"/>
                  </a:cubicBezTo>
                  <a:cubicBezTo>
                    <a:pt x="469" y="83"/>
                    <a:pt x="552" y="41"/>
                    <a:pt x="635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47" name="Line 47"/>
            <p:cNvSpPr>
              <a:spLocks noChangeShapeType="1"/>
            </p:cNvSpPr>
            <p:nvPr/>
          </p:nvSpPr>
          <p:spPr bwMode="auto">
            <a:xfrm>
              <a:off x="3560" y="1797"/>
              <a:ext cx="91" cy="1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48" name="Line 48"/>
            <p:cNvSpPr>
              <a:spLocks noChangeShapeType="1"/>
            </p:cNvSpPr>
            <p:nvPr/>
          </p:nvSpPr>
          <p:spPr bwMode="auto">
            <a:xfrm flipH="1" flipV="1">
              <a:off x="3833" y="1661"/>
              <a:ext cx="16" cy="1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49" name="Line 49"/>
            <p:cNvSpPr>
              <a:spLocks noChangeShapeType="1"/>
            </p:cNvSpPr>
            <p:nvPr/>
          </p:nvSpPr>
          <p:spPr bwMode="auto">
            <a:xfrm flipV="1">
              <a:off x="3288" y="2115"/>
              <a:ext cx="136" cy="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50" name="Line 50"/>
            <p:cNvSpPr>
              <a:spLocks noChangeShapeType="1"/>
            </p:cNvSpPr>
            <p:nvPr/>
          </p:nvSpPr>
          <p:spPr bwMode="auto">
            <a:xfrm flipH="1">
              <a:off x="3515" y="2296"/>
              <a:ext cx="136" cy="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51" name="Freeform 52"/>
            <p:cNvSpPr>
              <a:spLocks/>
            </p:cNvSpPr>
            <p:nvPr/>
          </p:nvSpPr>
          <p:spPr bwMode="auto">
            <a:xfrm>
              <a:off x="4785" y="1480"/>
              <a:ext cx="91" cy="771"/>
            </a:xfrm>
            <a:custGeom>
              <a:avLst/>
              <a:gdLst>
                <a:gd name="T0" fmla="*/ 91 w 91"/>
                <a:gd name="T1" fmla="*/ 0 h 771"/>
                <a:gd name="T2" fmla="*/ 0 w 91"/>
                <a:gd name="T3" fmla="*/ 317 h 771"/>
                <a:gd name="T4" fmla="*/ 91 w 91"/>
                <a:gd name="T5" fmla="*/ 771 h 771"/>
                <a:gd name="T6" fmla="*/ 0 60000 65536"/>
                <a:gd name="T7" fmla="*/ 0 60000 65536"/>
                <a:gd name="T8" fmla="*/ 0 60000 65536"/>
                <a:gd name="T9" fmla="*/ 0 w 91"/>
                <a:gd name="T10" fmla="*/ 0 h 771"/>
                <a:gd name="T11" fmla="*/ 91 w 91"/>
                <a:gd name="T12" fmla="*/ 771 h 7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" h="771">
                  <a:moveTo>
                    <a:pt x="91" y="0"/>
                  </a:moveTo>
                  <a:cubicBezTo>
                    <a:pt x="45" y="94"/>
                    <a:pt x="0" y="189"/>
                    <a:pt x="0" y="317"/>
                  </a:cubicBezTo>
                  <a:cubicBezTo>
                    <a:pt x="0" y="445"/>
                    <a:pt x="45" y="608"/>
                    <a:pt x="91" y="77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52" name="Freeform 53"/>
            <p:cNvSpPr>
              <a:spLocks/>
            </p:cNvSpPr>
            <p:nvPr/>
          </p:nvSpPr>
          <p:spPr bwMode="auto">
            <a:xfrm>
              <a:off x="4876" y="1434"/>
              <a:ext cx="188" cy="862"/>
            </a:xfrm>
            <a:custGeom>
              <a:avLst/>
              <a:gdLst>
                <a:gd name="T0" fmla="*/ 45 w 188"/>
                <a:gd name="T1" fmla="*/ 0 h 862"/>
                <a:gd name="T2" fmla="*/ 181 w 188"/>
                <a:gd name="T3" fmla="*/ 408 h 862"/>
                <a:gd name="T4" fmla="*/ 0 w 188"/>
                <a:gd name="T5" fmla="*/ 862 h 862"/>
                <a:gd name="T6" fmla="*/ 0 60000 65536"/>
                <a:gd name="T7" fmla="*/ 0 60000 65536"/>
                <a:gd name="T8" fmla="*/ 0 60000 65536"/>
                <a:gd name="T9" fmla="*/ 0 w 188"/>
                <a:gd name="T10" fmla="*/ 0 h 862"/>
                <a:gd name="T11" fmla="*/ 188 w 188"/>
                <a:gd name="T12" fmla="*/ 862 h 8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8" h="862">
                  <a:moveTo>
                    <a:pt x="45" y="0"/>
                  </a:moveTo>
                  <a:cubicBezTo>
                    <a:pt x="116" y="132"/>
                    <a:pt x="188" y="264"/>
                    <a:pt x="181" y="408"/>
                  </a:cubicBezTo>
                  <a:cubicBezTo>
                    <a:pt x="174" y="552"/>
                    <a:pt x="87" y="707"/>
                    <a:pt x="0" y="862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53" name="Line 54"/>
            <p:cNvSpPr>
              <a:spLocks noChangeShapeType="1"/>
            </p:cNvSpPr>
            <p:nvPr/>
          </p:nvSpPr>
          <p:spPr bwMode="auto">
            <a:xfrm flipH="1">
              <a:off x="4785" y="1570"/>
              <a:ext cx="45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54" name="Line 55"/>
            <p:cNvSpPr>
              <a:spLocks noChangeShapeType="1"/>
            </p:cNvSpPr>
            <p:nvPr/>
          </p:nvSpPr>
          <p:spPr bwMode="auto">
            <a:xfrm flipV="1">
              <a:off x="4967" y="1933"/>
              <a:ext cx="90" cy="1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" name="Text Box 4"/>
          <p:cNvSpPr txBox="1">
            <a:spLocks noChangeArrowheads="1"/>
          </p:cNvSpPr>
          <p:nvPr/>
        </p:nvSpPr>
        <p:spPr bwMode="auto">
          <a:xfrm>
            <a:off x="663277" y="1288793"/>
            <a:ext cx="7704137" cy="525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5000"/>
              </a:spcBef>
              <a:buClrTx/>
              <a:buSzTx/>
              <a:buFontTx/>
              <a:buNone/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）关系矩阵                     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）关系图  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52CB6C3-7CC5-45A3-8211-8FC765D6C70B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91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437729" y="84932"/>
            <a:ext cx="7920037" cy="11525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集合的划分</a:t>
            </a:r>
          </a:p>
        </p:txBody>
      </p:sp>
      <p:sp>
        <p:nvSpPr>
          <p:cNvPr id="134148" name="Text Box 3"/>
          <p:cNvSpPr txBox="1">
            <a:spLocks noChangeArrowheads="1"/>
          </p:cNvSpPr>
          <p:nvPr/>
        </p:nvSpPr>
        <p:spPr bwMode="auto">
          <a:xfrm>
            <a:off x="437729" y="1412776"/>
            <a:ext cx="7848600" cy="326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设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为非空集合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若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子集族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π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))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满足下面条件：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(1)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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π 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(2)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∧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≠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∩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b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(3)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π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中所有元素的并集等于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则称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π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的一个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划分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称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π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中的元素为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划分块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ECDEF8-D0D0-4505-9BFE-3D49DCC164FD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92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36195" name="Rectangle 2"/>
          <p:cNvSpPr>
            <a:spLocks noGrp="1" noChangeArrowheads="1"/>
          </p:cNvSpPr>
          <p:nvPr>
            <p:ph type="title"/>
          </p:nvPr>
        </p:nvSpPr>
        <p:spPr>
          <a:xfrm>
            <a:off x="484456" y="188640"/>
            <a:ext cx="8002587" cy="1100138"/>
          </a:xfrm>
        </p:spPr>
        <p:txBody>
          <a:bodyPr/>
          <a:lstStyle/>
          <a:p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例题</a:t>
            </a:r>
          </a:p>
        </p:txBody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3192" y="1412776"/>
            <a:ext cx="8229600" cy="4319588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}, 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给定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如下：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 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}, 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 }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 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}, 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}, 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 }</a:t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 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}, 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 },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 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}, 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 }</a:t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}, 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 },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 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}}, 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 }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则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的划分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其他都不是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的划分。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为什么？</a:t>
            </a:r>
            <a:endParaRPr lang="zh-CN" altLang="en-US" sz="28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7D78F0-D61D-43E1-813B-D3CC5427180B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93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120650"/>
            <a:ext cx="8229600" cy="11525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等价关系与划分的一一对应</a:t>
            </a:r>
          </a:p>
        </p:txBody>
      </p:sp>
      <p:sp>
        <p:nvSpPr>
          <p:cNvPr id="138244" name="Text Box 3"/>
          <p:cNvSpPr txBox="1">
            <a:spLocks noChangeArrowheads="1"/>
          </p:cNvSpPr>
          <p:nvPr/>
        </p:nvSpPr>
        <p:spPr bwMode="auto">
          <a:xfrm>
            <a:off x="879475" y="16335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800" b="1"/>
          </a:p>
        </p:txBody>
      </p:sp>
      <p:sp>
        <p:nvSpPr>
          <p:cNvPr id="138245" name="Text Box 4"/>
          <p:cNvSpPr txBox="1">
            <a:spLocks noChangeArrowheads="1"/>
          </p:cNvSpPr>
          <p:nvPr/>
        </p:nvSpPr>
        <p:spPr bwMode="auto">
          <a:xfrm>
            <a:off x="457200" y="1273175"/>
            <a:ext cx="8424862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0033CC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商集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/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 </a:t>
            </a:r>
            <a:r>
              <a:rPr lang="zh-CN" altLang="en-US" sz="2800" b="1" dirty="0">
                <a:latin typeface="Times New Roman" panose="02020603050405020304" pitchFamily="18" charset="0"/>
              </a:rPr>
              <a:t>就是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的一个划分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</a:rPr>
              <a:t>由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所诱导的划分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。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0033CC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</a:rPr>
              <a:t> 不同的商集对应于不同的划分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0033CC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</a:rPr>
              <a:t> 任给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的一个划分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π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如下定义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上的关系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     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 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 {&lt;</a:t>
            </a:r>
            <a:r>
              <a:rPr lang="en-US" altLang="zh-CN" sz="2800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&gt; | </a:t>
            </a:r>
            <a:r>
              <a:rPr lang="en-US" altLang="zh-CN" sz="2800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∧</a:t>
            </a:r>
            <a:r>
              <a:rPr lang="en-US" altLang="zh-CN" sz="2800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与 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 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在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π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的同一划分块中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}</a:t>
            </a:r>
            <a:b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则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上的等价关系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</a:rPr>
              <a:t>由</a:t>
            </a:r>
            <a:r>
              <a:rPr lang="en-US" altLang="zh-CN" sz="2800" b="1" i="1" dirty="0"/>
              <a:t>π</a:t>
            </a:r>
            <a:r>
              <a:rPr lang="zh-CN" altLang="en-US" sz="2800" b="1" dirty="0"/>
              <a:t>所诱导的等价关系</a:t>
            </a:r>
            <a:r>
              <a:rPr lang="en-US" altLang="zh-CN" sz="2800" b="1" dirty="0">
                <a:latin typeface="Times New Roman" panose="02020603050405020304" pitchFamily="18" charset="0"/>
              </a:rPr>
              <a:t>), </a:t>
            </a:r>
            <a:r>
              <a:rPr lang="zh-CN" altLang="en-US" sz="2800" b="1" dirty="0">
                <a:latin typeface="Times New Roman" panose="02020603050405020304" pitchFamily="18" charset="0"/>
              </a:rPr>
              <a:t>且该等价关系确定的商集就是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π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38246" name="Rectangle 5"/>
          <p:cNvSpPr>
            <a:spLocks noChangeArrowheads="1"/>
          </p:cNvSpPr>
          <p:nvPr/>
        </p:nvSpPr>
        <p:spPr bwMode="auto">
          <a:xfrm>
            <a:off x="468313" y="4564063"/>
            <a:ext cx="8280400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给出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{1,2,3}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上所有的等价关系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求解思路：先做出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的所有划分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然后根据划分写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出对应的等价关系。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275E43-4C58-489E-834B-DB75117AC59C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94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40291" name="Rectangle 2"/>
          <p:cNvSpPr>
            <a:spLocks noGrp="1" noChangeArrowheads="1"/>
          </p:cNvSpPr>
          <p:nvPr>
            <p:ph type="title"/>
          </p:nvPr>
        </p:nvSpPr>
        <p:spPr>
          <a:xfrm>
            <a:off x="456357" y="260350"/>
            <a:ext cx="8135937" cy="1152525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等价关系与划分之间的对应</a:t>
            </a:r>
          </a:p>
        </p:txBody>
      </p:sp>
      <p:sp>
        <p:nvSpPr>
          <p:cNvPr id="140292" name="Text Box 3"/>
          <p:cNvSpPr txBox="1">
            <a:spLocks noChangeArrowheads="1"/>
          </p:cNvSpPr>
          <p:nvPr/>
        </p:nvSpPr>
        <p:spPr bwMode="auto">
          <a:xfrm>
            <a:off x="612775" y="5045075"/>
            <a:ext cx="7559675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>
                <a:solidFill>
                  <a:schemeClr val="bg2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sz="2800" b="1" baseline="-2500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>
                <a:solidFill>
                  <a:schemeClr val="bg2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sz="2800" b="1" baseline="-2500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chemeClr val="bg2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800" b="1" i="1">
                <a:solidFill>
                  <a:schemeClr val="bg2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sz="2800" b="1" baseline="-2500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b="1">
                <a:solidFill>
                  <a:schemeClr val="bg2"/>
                </a:solidFill>
                <a:latin typeface="Times New Roman" panose="02020603050405020304" pitchFamily="18" charset="0"/>
              </a:rPr>
              <a:t>分别对应等价关系 </a:t>
            </a:r>
            <a:r>
              <a:rPr lang="en-US" altLang="zh-CN" sz="2800" b="1" i="1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solidFill>
                  <a:schemeClr val="bg2"/>
                </a:solidFill>
                <a:latin typeface="Times New Roman" panose="02020603050405020304" pitchFamily="18" charset="0"/>
              </a:rPr>
              <a:t>2 </a:t>
            </a:r>
            <a:r>
              <a:rPr lang="zh-CN" altLang="en-US" sz="2800" b="1">
                <a:solidFill>
                  <a:schemeClr val="bg2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sz="2800" b="1" i="1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>. 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b="1" i="1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>={&lt;2,3&gt;,&lt;3,2&gt;}∪</a:t>
            </a:r>
            <a:r>
              <a:rPr lang="en-US" altLang="zh-CN" sz="2800" b="1" i="1">
                <a:solidFill>
                  <a:schemeClr val="bg2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i="1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>={&lt;1,3&gt;,&lt;3,1&gt;}∪</a:t>
            </a:r>
            <a:r>
              <a:rPr lang="en-US" altLang="zh-CN" sz="2800" b="1" i="1">
                <a:solidFill>
                  <a:schemeClr val="bg2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/>
            </a:r>
            <a:b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b="1" i="1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>={&lt;1,2&gt;,&lt;2,1&gt;}∪</a:t>
            </a:r>
            <a:r>
              <a:rPr lang="en-US" altLang="zh-CN" sz="2800" b="1" i="1">
                <a:solidFill>
                  <a:schemeClr val="bg2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endParaRPr lang="en-US" altLang="zh-CN" sz="2800" b="1" baseline="-2500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0293" name="Text Box 5"/>
          <p:cNvSpPr txBox="1">
            <a:spLocks noChangeArrowheads="1"/>
          </p:cNvSpPr>
          <p:nvPr/>
        </p:nvSpPr>
        <p:spPr bwMode="auto">
          <a:xfrm>
            <a:off x="468313" y="4440238"/>
            <a:ext cx="755173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4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对应于</a:t>
            </a:r>
            <a:r>
              <a:rPr lang="zh-CN" altLang="en-US" sz="2800" b="1" u="sng" dirty="0">
                <a:solidFill>
                  <a:schemeClr val="bg2"/>
                </a:solidFill>
                <a:latin typeface="Times New Roman" panose="02020603050405020304" pitchFamily="18" charset="0"/>
              </a:rPr>
              <a:t>全域关系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5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对应于</a:t>
            </a:r>
            <a:r>
              <a:rPr lang="zh-CN" altLang="en-US" sz="2800" b="1" u="sng" dirty="0">
                <a:solidFill>
                  <a:schemeClr val="bg2"/>
                </a:solidFill>
                <a:latin typeface="Times New Roman" panose="02020603050405020304" pitchFamily="18" charset="0"/>
              </a:rPr>
              <a:t>恒等关系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4029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862" y="1412875"/>
            <a:ext cx="5113338" cy="295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8EDD7C-2B09-4DE1-AF67-BFED50636A0F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95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42339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15875"/>
            <a:ext cx="8064500" cy="1152525"/>
          </a:xfrm>
        </p:spPr>
        <p:txBody>
          <a:bodyPr/>
          <a:lstStyle/>
          <a:p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142340" name="Rectangle 6"/>
          <p:cNvSpPr>
            <a:spLocks noChangeArrowheads="1"/>
          </p:cNvSpPr>
          <p:nvPr/>
        </p:nvSpPr>
        <p:spPr bwMode="auto">
          <a:xfrm>
            <a:off x="427832" y="1341868"/>
            <a:ext cx="8208962" cy="18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3 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设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={1, 2, 3, 4}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，在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上定义二元关系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&lt;&lt;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&gt;&gt;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x+y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u+v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求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导出的划分。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7815" name="Rectangle 7"/>
          <p:cNvSpPr>
            <a:spLocks noChangeArrowheads="1"/>
          </p:cNvSpPr>
          <p:nvPr/>
        </p:nvSpPr>
        <p:spPr bwMode="auto">
          <a:xfrm>
            <a:off x="449536" y="3501008"/>
            <a:ext cx="8066087" cy="1813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解： 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={&lt;1,1&gt;, &lt;1,2&gt;, &lt;1,3&gt;, &lt;1,4&gt;, &lt;2,1&gt;, &lt;2,2&gt;,  &lt;2,3&gt;,&lt;2,4&gt;,&lt;3,1&gt;, &lt;3,2&gt;, &lt;3,3&gt;, &lt;3,4&gt;, &lt;4,1&gt;, &lt;4,2&gt;, &lt;4,3&gt;, &lt;4 ,4&gt;}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7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7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5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1EDA3D-BC0D-4102-99A3-6E8001CA8078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96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44387" name="Rectangle 2"/>
          <p:cNvSpPr>
            <a:spLocks noGrp="1" noChangeArrowheads="1"/>
          </p:cNvSpPr>
          <p:nvPr>
            <p:ph type="title"/>
          </p:nvPr>
        </p:nvSpPr>
        <p:spPr>
          <a:xfrm>
            <a:off x="368772" y="105482"/>
            <a:ext cx="8064500" cy="1081088"/>
          </a:xfrm>
        </p:spPr>
        <p:txBody>
          <a:bodyPr/>
          <a:lstStyle/>
          <a:p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实例（续）</a:t>
            </a:r>
          </a:p>
        </p:txBody>
      </p:sp>
      <p:sp>
        <p:nvSpPr>
          <p:cNvPr id="144388" name="Text Box 4"/>
          <p:cNvSpPr>
            <a:spLocks noGrp="1" noChangeArrowheads="1"/>
          </p:cNvSpPr>
          <p:nvPr>
            <p:ph type="body" idx="1"/>
          </p:nvPr>
        </p:nvSpPr>
        <p:spPr>
          <a:xfrm>
            <a:off x="395288" y="1484784"/>
            <a:ext cx="8229600" cy="4167187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根据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2,3,4,5,6,7,8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将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划分成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个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等价类，商集（即由</a:t>
            </a:r>
            <a:r>
              <a:rPr lang="en-US" altLang="zh-CN" sz="2800" b="1" i="1" dirty="0">
                <a:solidFill>
                  <a:schemeClr val="bg2"/>
                </a:solidFill>
              </a:rPr>
              <a:t>R </a:t>
            </a:r>
            <a:r>
              <a:rPr lang="zh-CN" altLang="en-US" sz="2800" b="1" dirty="0">
                <a:solidFill>
                  <a:schemeClr val="bg2"/>
                </a:solidFill>
              </a:rPr>
              <a:t>导出的划分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）为：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/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 {&lt;1,1&gt;},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      {&lt;1,2&gt;,&lt;2,1&gt;},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      {&lt;1,3&gt;, &lt;2,2&gt;, &lt;3,1&gt;},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      {&lt;1,4&gt;, &lt;2,3&gt;, &lt;3,2&gt;, &lt;4,1&gt;},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      {&lt;2,4&gt;, &lt;3,3&gt;, &lt;4,2&gt;},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      {&lt;3,4&gt;, &lt;4,3&gt;},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      {&lt;4,4&gt;} }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57AE7C1-5DD8-4EA8-B6AD-4FFDC78A5CBB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97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0"/>
            <a:ext cx="8064500" cy="1223963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偏序关系</a:t>
            </a:r>
          </a:p>
        </p:txBody>
      </p:sp>
      <p:sp>
        <p:nvSpPr>
          <p:cNvPr id="146436" name="Text Box 3"/>
          <p:cNvSpPr txBox="1">
            <a:spLocks noChangeArrowheads="1"/>
          </p:cNvSpPr>
          <p:nvPr/>
        </p:nvSpPr>
        <p:spPr bwMode="auto">
          <a:xfrm>
            <a:off x="395536" y="1293570"/>
            <a:ext cx="8291264" cy="2456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b="1" dirty="0">
                <a:latin typeface="Times New Roman" panose="02020603050405020304" pitchFamily="18" charset="0"/>
              </a:rPr>
              <a:t>  非空集合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上的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自反</a:t>
            </a:r>
            <a:r>
              <a:rPr lang="zh-CN" altLang="en-US" b="1" dirty="0">
                <a:solidFill>
                  <a:srgbClr val="3366CC"/>
                </a:solidFill>
                <a:latin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反对称</a:t>
            </a:r>
            <a:r>
              <a:rPr lang="zh-CN" altLang="en-US" b="1" dirty="0">
                <a:solidFill>
                  <a:srgbClr val="3366CC"/>
                </a:solidFill>
                <a:latin typeface="Times New Roman" panose="02020603050405020304" pitchFamily="18" charset="0"/>
              </a:rPr>
              <a:t>和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传递</a:t>
            </a:r>
            <a:r>
              <a:rPr lang="zh-CN" altLang="en-US" b="1" dirty="0">
                <a:latin typeface="Times New Roman" panose="02020603050405020304" pitchFamily="18" charset="0"/>
              </a:rPr>
              <a:t>的关系，称为</a:t>
            </a:r>
            <a:r>
              <a:rPr lang="en-US" altLang="zh-CN" b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上的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偏序关系</a:t>
            </a:r>
            <a:r>
              <a:rPr lang="zh-CN" altLang="en-US" b="1" dirty="0">
                <a:latin typeface="Times New Roman" panose="02020603050405020304" pitchFamily="18" charset="0"/>
              </a:rPr>
              <a:t>，记作≼ 。设≼为偏序关系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如果</a:t>
            </a:r>
            <a:r>
              <a:rPr lang="en-US" altLang="zh-CN" b="1" dirty="0">
                <a:latin typeface="Times New Roman" panose="02020603050405020304" pitchFamily="18" charset="0"/>
              </a:rPr>
              <a:t>&lt;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&gt;∈≼, </a:t>
            </a:r>
            <a:r>
              <a:rPr lang="zh-CN" altLang="en-US" b="1" dirty="0">
                <a:latin typeface="Times New Roman" panose="02020603050405020304" pitchFamily="18" charset="0"/>
              </a:rPr>
              <a:t>则记作 </a:t>
            </a:r>
            <a:r>
              <a:rPr lang="en-US" altLang="zh-CN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≼</a:t>
            </a:r>
            <a:r>
              <a:rPr lang="en-US" altLang="zh-CN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读作 </a:t>
            </a:r>
            <a:r>
              <a:rPr lang="en-US" altLang="zh-CN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 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“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小于等于”</a:t>
            </a:r>
            <a:r>
              <a:rPr lang="en-US" altLang="zh-CN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zh-CN" altLang="en-US" b="1" dirty="0">
                <a:latin typeface="Times New Roman" panose="02020603050405020304" pitchFamily="18" charset="0"/>
              </a:rPr>
              <a:t>。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80294" y="3913400"/>
            <a:ext cx="7993062" cy="2234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实例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集合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</a:t>
            </a:r>
            <a:r>
              <a:rPr lang="zh-CN" altLang="en-US" sz="2800" b="1" u="sng" dirty="0">
                <a:solidFill>
                  <a:schemeClr val="bg2"/>
                </a:solidFill>
                <a:latin typeface="Times New Roman" panose="02020603050405020304" pitchFamily="18" charset="0"/>
              </a:rPr>
              <a:t>恒等关系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上的偏序关系。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小于等于关系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整除关系</a:t>
            </a:r>
            <a:r>
              <a:rPr lang="zh-CN" altLang="en-US" sz="2800" b="1" dirty="0">
                <a:latin typeface="Times New Roman" panose="02020603050405020304" pitchFamily="18" charset="0"/>
              </a:rPr>
              <a:t>和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包含关系</a:t>
            </a:r>
            <a:r>
              <a:rPr lang="zh-CN" altLang="en-US" sz="2800" b="1" dirty="0">
                <a:latin typeface="Times New Roman" panose="02020603050405020304" pitchFamily="18" charset="0"/>
              </a:rPr>
              <a:t>也是相应集合上的偏序关系。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3"/>
          <p:cNvSpPr>
            <a:spLocks noChangeArrowheads="1"/>
          </p:cNvSpPr>
          <p:nvPr/>
        </p:nvSpPr>
        <p:spPr bwMode="auto">
          <a:xfrm>
            <a:off x="481013" y="1920875"/>
            <a:ext cx="76200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4701" name="Oval 13"/>
          <p:cNvSpPr>
            <a:spLocks noChangeArrowheads="1"/>
          </p:cNvSpPr>
          <p:nvPr/>
        </p:nvSpPr>
        <p:spPr bwMode="auto">
          <a:xfrm flipV="1">
            <a:off x="4460875" y="4832350"/>
            <a:ext cx="457200" cy="457200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4702" name="Oval 14"/>
          <p:cNvSpPr>
            <a:spLocks noChangeArrowheads="1"/>
          </p:cNvSpPr>
          <p:nvPr/>
        </p:nvSpPr>
        <p:spPr bwMode="auto">
          <a:xfrm flipV="1">
            <a:off x="6899275" y="4679950"/>
            <a:ext cx="457200" cy="457200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8485" name="Text Box 16"/>
          <p:cNvSpPr txBox="1">
            <a:spLocks noChangeArrowheads="1"/>
          </p:cNvSpPr>
          <p:nvPr/>
        </p:nvSpPr>
        <p:spPr bwMode="auto">
          <a:xfrm>
            <a:off x="1547813" y="1844675"/>
            <a:ext cx="426720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2400" b="1">
              <a:latin typeface="Century Schoolbook" pitchFamily="18" charset="0"/>
            </a:endParaRPr>
          </a:p>
        </p:txBody>
      </p:sp>
      <p:sp>
        <p:nvSpPr>
          <p:cNvPr id="754705" name="Text Box 17"/>
          <p:cNvSpPr txBox="1">
            <a:spLocks noChangeArrowheads="1"/>
          </p:cNvSpPr>
          <p:nvPr/>
        </p:nvSpPr>
        <p:spPr bwMode="auto">
          <a:xfrm>
            <a:off x="116619" y="2563409"/>
            <a:ext cx="9145711" cy="1649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解 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R={ &lt;2, 2&gt;, &lt;3, 3&gt;, &lt;6, 6&gt;, &lt;8, 8&gt;, &lt;2, 6&gt; , 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 dirty="0">
                <a:latin typeface="Times New Roman" panose="02020603050405020304" pitchFamily="18" charset="0"/>
              </a:rPr>
              <a:t>              &lt;2, 8&gt;,&lt;3, 6&gt; }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754706" name="Oval 18"/>
          <p:cNvSpPr>
            <a:spLocks noChangeArrowheads="1"/>
          </p:cNvSpPr>
          <p:nvPr/>
        </p:nvSpPr>
        <p:spPr bwMode="auto">
          <a:xfrm>
            <a:off x="5403850" y="4033838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4707" name="Text Box 19"/>
          <p:cNvSpPr txBox="1">
            <a:spLocks noChangeArrowheads="1"/>
          </p:cNvSpPr>
          <p:nvPr/>
        </p:nvSpPr>
        <p:spPr bwMode="auto">
          <a:xfrm>
            <a:off x="5146675" y="3656013"/>
            <a:ext cx="36195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800000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2400" b="1" i="1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4708" name="Oval 20"/>
          <p:cNvSpPr>
            <a:spLocks noChangeArrowheads="1"/>
          </p:cNvSpPr>
          <p:nvPr/>
        </p:nvSpPr>
        <p:spPr bwMode="auto">
          <a:xfrm>
            <a:off x="4794250" y="5024438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4709" name="Text Box 21"/>
          <p:cNvSpPr txBox="1">
            <a:spLocks noChangeArrowheads="1"/>
          </p:cNvSpPr>
          <p:nvPr/>
        </p:nvSpPr>
        <p:spPr bwMode="auto">
          <a:xfrm>
            <a:off x="4549775" y="4646613"/>
            <a:ext cx="33655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800000"/>
                </a:solidFill>
                <a:latin typeface="Times New Roman" panose="02020603050405020304" pitchFamily="18" charset="0"/>
              </a:rPr>
              <a:t>3</a:t>
            </a:r>
            <a:endParaRPr kumimoji="1" lang="en-US" altLang="zh-CN" sz="2400" b="1" i="1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4710" name="Oval 22"/>
          <p:cNvSpPr>
            <a:spLocks noChangeArrowheads="1"/>
          </p:cNvSpPr>
          <p:nvPr/>
        </p:nvSpPr>
        <p:spPr bwMode="auto">
          <a:xfrm>
            <a:off x="5861050" y="5634038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4711" name="Text Box 23"/>
          <p:cNvSpPr txBox="1">
            <a:spLocks noChangeArrowheads="1"/>
          </p:cNvSpPr>
          <p:nvPr/>
        </p:nvSpPr>
        <p:spPr bwMode="auto">
          <a:xfrm>
            <a:off x="5768975" y="5561013"/>
            <a:ext cx="33655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800000"/>
                </a:solidFill>
                <a:latin typeface="Times New Roman" panose="02020603050405020304" pitchFamily="18" charset="0"/>
              </a:rPr>
              <a:t>6</a:t>
            </a:r>
            <a:endParaRPr kumimoji="1" lang="en-US" altLang="zh-CN" sz="2400" b="1" i="1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4712" name="Oval 24"/>
          <p:cNvSpPr>
            <a:spLocks noChangeArrowheads="1"/>
          </p:cNvSpPr>
          <p:nvPr/>
        </p:nvSpPr>
        <p:spPr bwMode="auto">
          <a:xfrm>
            <a:off x="6899275" y="490855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4713" name="Text Box 25"/>
          <p:cNvSpPr txBox="1">
            <a:spLocks noChangeArrowheads="1"/>
          </p:cNvSpPr>
          <p:nvPr/>
        </p:nvSpPr>
        <p:spPr bwMode="auto">
          <a:xfrm>
            <a:off x="6899275" y="4570413"/>
            <a:ext cx="53340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800000"/>
                </a:solidFill>
                <a:latin typeface="Times New Roman" panose="02020603050405020304" pitchFamily="18" charset="0"/>
              </a:rPr>
              <a:t>8</a:t>
            </a:r>
            <a:endParaRPr kumimoji="1" lang="en-US" altLang="zh-CN" sz="2400" b="1" i="1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4714" name="Line 26"/>
          <p:cNvSpPr>
            <a:spLocks noChangeShapeType="1"/>
          </p:cNvSpPr>
          <p:nvPr/>
        </p:nvSpPr>
        <p:spPr bwMode="auto">
          <a:xfrm flipH="1" flipV="1">
            <a:off x="5451475" y="4146550"/>
            <a:ext cx="485775" cy="14509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48496" name="Text Box 27"/>
          <p:cNvSpPr txBox="1">
            <a:spLocks noChangeArrowheads="1"/>
          </p:cNvSpPr>
          <p:nvPr/>
        </p:nvSpPr>
        <p:spPr bwMode="auto">
          <a:xfrm>
            <a:off x="-8062" y="1254087"/>
            <a:ext cx="9452223" cy="127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 dirty="0">
                <a:solidFill>
                  <a:srgbClr val="8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kumimoji="1"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例：</a:t>
            </a:r>
            <a:r>
              <a:rPr kumimoji="1"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设集合 </a:t>
            </a:r>
            <a:r>
              <a:rPr kumimoji="1" lang="en-US" altLang="zh-CN" b="1" dirty="0">
                <a:latin typeface="Century Schoolbook" pitchFamily="18" charset="0"/>
              </a:rPr>
              <a:t>A</a:t>
            </a:r>
            <a:r>
              <a:rPr kumimoji="1" lang="en-US" altLang="zh-CN" b="1" i="1" dirty="0">
                <a:latin typeface="Century Schoolbook" pitchFamily="18" charset="0"/>
              </a:rPr>
              <a:t>=</a:t>
            </a:r>
            <a:r>
              <a:rPr kumimoji="1" lang="en-US" altLang="zh-CN" b="1" dirty="0">
                <a:latin typeface="Century Schoolbook" pitchFamily="18" charset="0"/>
              </a:rPr>
              <a:t>{ 2, 3, 6, 8 } </a:t>
            </a:r>
            <a:r>
              <a:rPr kumimoji="1" lang="zh-CN" altLang="en-US" b="1" dirty="0">
                <a:latin typeface="Century Schoolbook" pitchFamily="18" charset="0"/>
              </a:rPr>
              <a:t>，</a:t>
            </a:r>
            <a:r>
              <a:rPr kumimoji="1" lang="en-US" altLang="zh-CN" b="1" dirty="0">
                <a:latin typeface="Times New Roman" panose="02020603050405020304" pitchFamily="18" charset="0"/>
              </a:rPr>
              <a:t>R={ &lt; </a:t>
            </a:r>
            <a:r>
              <a:rPr kumimoji="1" lang="en-US" altLang="zh-CN" b="1" i="1" dirty="0">
                <a:latin typeface="Century Schoolbook" pitchFamily="18" charset="0"/>
              </a:rPr>
              <a:t>x, y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&gt;| </a:t>
            </a:r>
            <a:r>
              <a:rPr kumimoji="1" lang="en-US" altLang="zh-CN" b="1" i="1" dirty="0">
                <a:latin typeface="Century Schoolbook" pitchFamily="18" charset="0"/>
              </a:rPr>
              <a:t>x</a:t>
            </a:r>
            <a:r>
              <a:rPr kumimoji="1" lang="zh-CN" altLang="en-US" b="1" dirty="0">
                <a:latin typeface="Century Schoolbook" pitchFamily="18" charset="0"/>
              </a:rPr>
              <a:t>整除</a:t>
            </a:r>
            <a:r>
              <a:rPr kumimoji="1" lang="zh-CN" altLang="en-US" b="1" i="1" dirty="0">
                <a:latin typeface="Century Schoolbook" pitchFamily="18" charset="0"/>
              </a:rPr>
              <a:t> </a:t>
            </a:r>
            <a:r>
              <a:rPr kumimoji="1" lang="en-US" altLang="zh-CN" b="1" i="1" dirty="0">
                <a:latin typeface="Century Schoolbook" pitchFamily="18" charset="0"/>
              </a:rPr>
              <a:t>y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}</a:t>
            </a:r>
            <a:endParaRPr kumimoji="1" lang="en-US" altLang="zh-CN" b="1" dirty="0">
              <a:latin typeface="Century Schoolbook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 dirty="0">
                <a:latin typeface="Times New Roman" panose="02020603050405020304" pitchFamily="18" charset="0"/>
              </a:rPr>
              <a:t> 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验证</a:t>
            </a:r>
            <a:r>
              <a:rPr kumimoji="1" lang="en-US" altLang="zh-CN" b="1" dirty="0">
                <a:latin typeface="Times New Roman" panose="02020603050405020304" pitchFamily="18" charset="0"/>
              </a:rPr>
              <a:t>R</a:t>
            </a:r>
            <a:r>
              <a:rPr kumimoji="1" lang="zh-CN" altLang="en-US" b="1" dirty="0">
                <a:latin typeface="Times New Roman" panose="02020603050405020304" pitchFamily="18" charset="0"/>
              </a:rPr>
              <a:t>是</a:t>
            </a:r>
            <a:r>
              <a:rPr kumimoji="1" lang="zh-CN" altLang="en-US" b="1" dirty="0">
                <a:latin typeface="宋体" panose="02010600030101010101" pitchFamily="2" charset="-122"/>
              </a:rPr>
              <a:t>偏序关系。</a:t>
            </a:r>
            <a:endParaRPr kumimoji="1" lang="zh-CN" altLang="en-US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54716" name="Text Box 28"/>
          <p:cNvSpPr txBox="1">
            <a:spLocks noChangeArrowheads="1"/>
          </p:cNvSpPr>
          <p:nvPr/>
        </p:nvSpPr>
        <p:spPr bwMode="auto">
          <a:xfrm>
            <a:off x="6584950" y="5441950"/>
            <a:ext cx="566738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800000"/>
                </a:solidFill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baseline="-25000">
                <a:solidFill>
                  <a:srgbClr val="800000"/>
                </a:solidFill>
                <a:latin typeface="Times New Roman" panose="02020603050405020304" pitchFamily="18" charset="0"/>
              </a:rPr>
              <a:t>R</a:t>
            </a:r>
            <a:endParaRPr kumimoji="1" lang="en-US" altLang="zh-CN" sz="2400" b="1" i="1">
              <a:latin typeface="Times New Roman" panose="02020603050405020304" pitchFamily="18" charset="0"/>
            </a:endParaRPr>
          </a:p>
        </p:txBody>
      </p:sp>
      <p:sp>
        <p:nvSpPr>
          <p:cNvPr id="754717" name="Oval 29"/>
          <p:cNvSpPr>
            <a:spLocks noChangeArrowheads="1"/>
          </p:cNvSpPr>
          <p:nvPr/>
        </p:nvSpPr>
        <p:spPr bwMode="auto">
          <a:xfrm flipV="1">
            <a:off x="5146675" y="3765550"/>
            <a:ext cx="457200" cy="457200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4718" name="Oval 30"/>
          <p:cNvSpPr>
            <a:spLocks noChangeArrowheads="1"/>
          </p:cNvSpPr>
          <p:nvPr/>
        </p:nvSpPr>
        <p:spPr bwMode="auto">
          <a:xfrm flipV="1">
            <a:off x="5756275" y="5670550"/>
            <a:ext cx="457200" cy="457200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4719" name="Text Box 31"/>
          <p:cNvSpPr txBox="1">
            <a:spLocks noChangeArrowheads="1"/>
          </p:cNvSpPr>
          <p:nvPr/>
        </p:nvSpPr>
        <p:spPr bwMode="auto">
          <a:xfrm>
            <a:off x="1690688" y="3800475"/>
            <a:ext cx="1479550" cy="177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</a:rPr>
              <a:t>1   0   1  1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</a:rPr>
              <a:t>0   1   1  0 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</a:rPr>
              <a:t>0   0   1  0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</a:rPr>
              <a:t>0   0   0  1</a:t>
            </a:r>
          </a:p>
        </p:txBody>
      </p:sp>
      <p:sp>
        <p:nvSpPr>
          <p:cNvPr id="754720" name="AutoShape 32"/>
          <p:cNvSpPr>
            <a:spLocks/>
          </p:cNvSpPr>
          <p:nvPr/>
        </p:nvSpPr>
        <p:spPr bwMode="auto">
          <a:xfrm>
            <a:off x="1538288" y="3905250"/>
            <a:ext cx="76200" cy="1676400"/>
          </a:xfrm>
          <a:prstGeom prst="leftBracket">
            <a:avLst>
              <a:gd name="adj" fmla="val 183333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4721" name="AutoShape 33"/>
          <p:cNvSpPr>
            <a:spLocks/>
          </p:cNvSpPr>
          <p:nvPr/>
        </p:nvSpPr>
        <p:spPr bwMode="auto">
          <a:xfrm>
            <a:off x="3290888" y="3889375"/>
            <a:ext cx="76200" cy="1676400"/>
          </a:xfrm>
          <a:prstGeom prst="rightBracket">
            <a:avLst>
              <a:gd name="adj" fmla="val 183333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4722" name="Rectangle 34"/>
          <p:cNvSpPr>
            <a:spLocks noChangeArrowheads="1"/>
          </p:cNvSpPr>
          <p:nvPr/>
        </p:nvSpPr>
        <p:spPr bwMode="auto">
          <a:xfrm>
            <a:off x="574675" y="4405313"/>
            <a:ext cx="919163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Century Schoolbook" pitchFamily="18" charset="0"/>
              </a:rPr>
              <a:t>M</a:t>
            </a:r>
            <a:r>
              <a:rPr kumimoji="1" lang="en-US" altLang="zh-CN" sz="2400" b="1" baseline="-25000" dirty="0">
                <a:latin typeface="Century Schoolbook" pitchFamily="18" charset="0"/>
              </a:rPr>
              <a:t>R</a:t>
            </a:r>
            <a:r>
              <a:rPr kumimoji="1" lang="en-US" altLang="zh-CN" sz="2400" b="1" dirty="0">
                <a:latin typeface="Century Schoolbook" pitchFamily="18" charset="0"/>
              </a:rPr>
              <a:t> =</a:t>
            </a:r>
          </a:p>
        </p:txBody>
      </p:sp>
      <p:sp>
        <p:nvSpPr>
          <p:cNvPr id="754723" name="Line 35"/>
          <p:cNvSpPr>
            <a:spLocks noChangeShapeType="1"/>
          </p:cNvSpPr>
          <p:nvPr/>
        </p:nvSpPr>
        <p:spPr bwMode="auto">
          <a:xfrm>
            <a:off x="1766888" y="3889375"/>
            <a:ext cx="1524000" cy="1752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4724" name="Line 36"/>
          <p:cNvSpPr>
            <a:spLocks noChangeShapeType="1"/>
          </p:cNvSpPr>
          <p:nvPr/>
        </p:nvSpPr>
        <p:spPr bwMode="auto">
          <a:xfrm>
            <a:off x="5527674" y="4146549"/>
            <a:ext cx="1366837" cy="7588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754725" name="Line 37"/>
          <p:cNvSpPr>
            <a:spLocks noChangeShapeType="1"/>
          </p:cNvSpPr>
          <p:nvPr/>
        </p:nvSpPr>
        <p:spPr bwMode="auto">
          <a:xfrm>
            <a:off x="4918075" y="5137150"/>
            <a:ext cx="896938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46" name="Text Box 17"/>
          <p:cNvSpPr txBox="1">
            <a:spLocks noChangeArrowheads="1"/>
          </p:cNvSpPr>
          <p:nvPr/>
        </p:nvSpPr>
        <p:spPr bwMode="auto">
          <a:xfrm>
            <a:off x="298449" y="6189662"/>
            <a:ext cx="832485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该关系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R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具有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自反性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反对称性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和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传递性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，因此是偏序关系。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4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4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754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754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5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54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54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54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54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54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54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54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54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54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54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54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54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754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75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754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754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4701" grpId="0" animBg="1"/>
      <p:bldP spid="754702" grpId="0" animBg="1"/>
      <p:bldP spid="754705" grpId="0" autoUpdateAnimBg="0"/>
      <p:bldP spid="754706" grpId="0" animBg="1"/>
      <p:bldP spid="754707" grpId="0" autoUpdateAnimBg="0"/>
      <p:bldP spid="754708" grpId="0" animBg="1"/>
      <p:bldP spid="754709" grpId="0" autoUpdateAnimBg="0"/>
      <p:bldP spid="754710" grpId="0" animBg="1"/>
      <p:bldP spid="754711" grpId="0" autoUpdateAnimBg="0"/>
      <p:bldP spid="754712" grpId="0" animBg="1"/>
      <p:bldP spid="754713" grpId="0" autoUpdateAnimBg="0"/>
      <p:bldP spid="754716" grpId="0" autoUpdateAnimBg="0"/>
      <p:bldP spid="754717" grpId="0" animBg="1"/>
      <p:bldP spid="754718" grpId="0" animBg="1"/>
      <p:bldP spid="754719" grpId="0" autoUpdateAnimBg="0"/>
      <p:bldP spid="754720" grpId="0" animBg="1"/>
      <p:bldP spid="754721" grpId="0" animBg="1"/>
      <p:bldP spid="754722" grpId="0" autoUpdateAnimBg="0"/>
      <p:bldP spid="46" grpId="0" autoUpdateAnimBg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DD583D-D10A-4A23-8D3F-CC442A106C20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99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0"/>
            <a:ext cx="8135937" cy="1223962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相关概念</a:t>
            </a:r>
          </a:p>
        </p:txBody>
      </p:sp>
      <p:sp>
        <p:nvSpPr>
          <p:cNvPr id="150532" name="Text Box 3"/>
          <p:cNvSpPr txBox="1">
            <a:spLocks noChangeArrowheads="1"/>
          </p:cNvSpPr>
          <p:nvPr/>
        </p:nvSpPr>
        <p:spPr bwMode="auto">
          <a:xfrm>
            <a:off x="356750" y="1223962"/>
            <a:ext cx="8748464" cy="2733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1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Char char="u"/>
            </a:pP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与 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可比</a:t>
            </a:r>
            <a:r>
              <a:rPr lang="zh-CN" altLang="en-US" b="1" dirty="0">
                <a:latin typeface="Times New Roman" panose="02020603050405020304" pitchFamily="18" charset="0"/>
              </a:rPr>
              <a:t>：设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</a:rPr>
              <a:t>为非空集合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上的偏序关系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br>
              <a:rPr lang="en-US" altLang="zh-CN" b="1" dirty="0">
                <a:latin typeface="Times New Roman" panose="02020603050405020304" pitchFamily="18" charset="0"/>
              </a:rPr>
            </a:b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如果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≼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或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 err="1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y≼x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则称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可比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SzPct val="70000"/>
              <a:buNone/>
            </a:pPr>
            <a:r>
              <a:rPr lang="en-US" altLang="zh-CN" b="1" i="1" dirty="0">
                <a:latin typeface="Times New Roman" panose="02020603050405020304" pitchFamily="18" charset="0"/>
              </a:rPr>
              <a:t>       </a:t>
            </a: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i="1" dirty="0" err="1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b="1" dirty="0" err="1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≺</a:t>
            </a:r>
            <a:r>
              <a:rPr lang="en-US" altLang="zh-CN" b="1" i="1" dirty="0" err="1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≼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≠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y</a:t>
            </a:r>
            <a:r>
              <a:rPr lang="zh-CN" altLang="en-US" b="1" dirty="0">
                <a:latin typeface="Times New Roman" panose="02020603050405020304" pitchFamily="18" charset="0"/>
              </a:rPr>
              <a:t>）。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SzPct val="70000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结论：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任取两个元素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可能有下述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三种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情况：</a:t>
            </a:r>
            <a:b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</a:b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      </a:t>
            </a:r>
            <a:r>
              <a:rPr lang="en-US" altLang="zh-CN" sz="28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≺</a:t>
            </a:r>
            <a:r>
              <a:rPr lang="en-US" altLang="zh-CN" sz="28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或</a:t>
            </a:r>
            <a:r>
              <a:rPr lang="en-US" altLang="zh-CN" sz="28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≺</a:t>
            </a:r>
            <a:r>
              <a:rPr lang="en-US" altLang="zh-CN" sz="28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),  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＝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与</a:t>
            </a:r>
            <a:r>
              <a:rPr lang="en-US" altLang="zh-C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不是可比的。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75007" y="5301208"/>
            <a:ext cx="8711950" cy="1069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实例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800" b="1" dirty="0">
                <a:latin typeface="Times New Roman" panose="02020603050405020304" pitchFamily="18" charset="0"/>
              </a:rPr>
              <a:t>数集上的</a:t>
            </a:r>
            <a:r>
              <a:rPr lang="zh-CN" altLang="en-US" sz="28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小于等于关系</a:t>
            </a:r>
            <a:r>
              <a:rPr lang="zh-CN" altLang="en-US" sz="2800" b="1" dirty="0">
                <a:latin typeface="Times New Roman" panose="02020603050405020304" pitchFamily="18" charset="0"/>
              </a:rPr>
              <a:t>是全序关系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   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整除关系</a:t>
            </a:r>
            <a:r>
              <a:rPr lang="zh-CN" altLang="en-US" sz="2800" b="1" dirty="0">
                <a:latin typeface="Times New Roman" panose="02020603050405020304" pitchFamily="18" charset="0"/>
              </a:rPr>
              <a:t>不是正整数集合上的全序关系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56750" y="3980222"/>
            <a:ext cx="8605466" cy="1175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1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全序关系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</a:rPr>
              <a:t>为非空集合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上的偏序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</a:rPr>
              <a:t>与 </a:t>
            </a:r>
            <a:r>
              <a:rPr lang="en-US" altLang="zh-CN" b="1" i="1" dirty="0">
                <a:latin typeface="Times New Roman" panose="02020603050405020304" pitchFamily="18" charset="0"/>
              </a:rPr>
              <a:t>y </a:t>
            </a:r>
            <a:r>
              <a:rPr lang="zh-CN" altLang="en-US" b="1" dirty="0">
                <a:latin typeface="Times New Roman" panose="02020603050405020304" pitchFamily="18" charset="0"/>
              </a:rPr>
              <a:t>都是可比的，则称 </a:t>
            </a:r>
            <a:r>
              <a:rPr lang="en-US" altLang="zh-CN" b="1" i="1" dirty="0">
                <a:latin typeface="Times New Roman" panose="02020603050405020304" pitchFamily="18" charset="0"/>
              </a:rPr>
              <a:t>R </a:t>
            </a:r>
            <a:r>
              <a:rPr lang="zh-CN" altLang="en-US" b="1" dirty="0">
                <a:latin typeface="Times New Roman" panose="02020603050405020304" pitchFamily="18" charset="0"/>
              </a:rPr>
              <a:t>为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全序关系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0E25FA-3914-404A-A7B6-F58344912E45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100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784"/>
            <a:ext cx="8229600" cy="3886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盖住</a:t>
            </a:r>
            <a:r>
              <a:rPr lang="zh-CN" altLang="en-US" b="1" dirty="0">
                <a:latin typeface="Times New Roman" panose="02020603050405020304" pitchFamily="18" charset="0"/>
              </a:rPr>
              <a:t>：设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</a:rPr>
              <a:t>为非空集合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上的偏序关系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b="1" dirty="0" err="1">
                <a:latin typeface="Times New Roman" panose="02020603050405020304" pitchFamily="18" charset="0"/>
              </a:rPr>
              <a:t>∈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如果 </a:t>
            </a:r>
            <a:r>
              <a:rPr lang="en-US" altLang="zh-CN" b="1" i="1" dirty="0">
                <a:latin typeface="Times New Roman" panose="02020603050405020304" pitchFamily="18" charset="0"/>
              </a:rPr>
              <a:t>x </a:t>
            </a:r>
            <a:r>
              <a:rPr lang="en-US" altLang="zh-CN" b="1" dirty="0">
                <a:latin typeface="Times New Roman" panose="02020603050405020304" pitchFamily="18" charset="0"/>
              </a:rPr>
              <a:t>≺ </a:t>
            </a:r>
            <a:r>
              <a:rPr lang="en-US" altLang="zh-CN" b="1" i="1" dirty="0">
                <a:latin typeface="Times New Roman" panose="02020603050405020304" pitchFamily="18" charset="0"/>
              </a:rPr>
              <a:t>y</a:t>
            </a:r>
            <a:r>
              <a:rPr lang="zh-CN" altLang="en-US" b="1" dirty="0">
                <a:latin typeface="Times New Roman" panose="02020603050405020304" pitchFamily="18" charset="0"/>
              </a:rPr>
              <a:t>且不存在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z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使得 </a:t>
            </a:r>
            <a:r>
              <a:rPr lang="en-US" altLang="zh-CN" b="1" i="1" dirty="0">
                <a:latin typeface="Times New Roman" panose="02020603050405020304" pitchFamily="18" charset="0"/>
              </a:rPr>
              <a:t>x </a:t>
            </a:r>
            <a:r>
              <a:rPr lang="en-US" altLang="zh-CN" b="1" dirty="0">
                <a:latin typeface="Times New Roman" panose="02020603050405020304" pitchFamily="18" charset="0"/>
              </a:rPr>
              <a:t>≺ </a:t>
            </a:r>
            <a:r>
              <a:rPr lang="en-US" altLang="zh-CN" b="1" i="1" dirty="0">
                <a:latin typeface="Times New Roman" panose="02020603050405020304" pitchFamily="18" charset="0"/>
              </a:rPr>
              <a:t>z </a:t>
            </a:r>
            <a:r>
              <a:rPr lang="en-US" altLang="zh-CN" b="1" dirty="0">
                <a:latin typeface="Times New Roman" panose="02020603050405020304" pitchFamily="18" charset="0"/>
              </a:rPr>
              <a:t>≺ </a:t>
            </a:r>
            <a:r>
              <a:rPr lang="en-US" altLang="zh-CN" b="1" i="1" dirty="0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则称 </a:t>
            </a:r>
            <a:r>
              <a:rPr lang="en-US" altLang="zh-CN" b="1" i="1" dirty="0">
                <a:latin typeface="Times New Roman" panose="02020603050405020304" pitchFamily="18" charset="0"/>
              </a:rPr>
              <a:t>y </a:t>
            </a:r>
            <a:r>
              <a:rPr lang="zh-CN" altLang="en-US" b="1" dirty="0">
                <a:latin typeface="Times New Roman" panose="02020603050405020304" pitchFamily="18" charset="0"/>
              </a:rPr>
              <a:t>盖住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zh-CN" altLang="en-US" b="1" i="1" dirty="0">
                <a:latin typeface="Times New Roman" panose="02020603050405020304" pitchFamily="18" charset="0"/>
              </a:rPr>
              <a:t>。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292868" name="Rectangle 4"/>
          <p:cNvSpPr>
            <a:spLocks noGrp="1" noChangeArrowheads="1"/>
          </p:cNvSpPr>
          <p:nvPr>
            <p:ph type="title"/>
          </p:nvPr>
        </p:nvSpPr>
        <p:spPr>
          <a:xfrm>
            <a:off x="395536" y="180975"/>
            <a:ext cx="8135937" cy="1081088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相关概念（续）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95536" y="3374192"/>
            <a:ext cx="8229600" cy="20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实例</a:t>
            </a:r>
            <a:r>
              <a:rPr lang="zh-CN" altLang="en-US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{ 2, 3, 6, 8 }</a:t>
            </a:r>
            <a:r>
              <a:rPr lang="zh-CN" altLang="en-US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集合上的整除关系</a:t>
            </a:r>
            <a:r>
              <a:rPr lang="en-US" altLang="zh-CN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6 </a:t>
            </a:r>
            <a:r>
              <a:rPr lang="zh-CN" altLang="en-US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盖住 </a:t>
            </a:r>
            <a:r>
              <a:rPr lang="en-US" altLang="zh-CN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3,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6 </a:t>
            </a:r>
            <a:r>
              <a:rPr lang="zh-CN" altLang="en-US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8 </a:t>
            </a:r>
            <a:r>
              <a:rPr lang="zh-CN" altLang="en-US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盖住 </a:t>
            </a:r>
            <a:r>
              <a:rPr lang="en-US" altLang="zh-CN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endParaRPr lang="en-US" altLang="zh-CN" b="1" kern="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6 </a:t>
            </a:r>
            <a:r>
              <a:rPr lang="zh-CN" altLang="en-US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8 </a:t>
            </a:r>
            <a:r>
              <a:rPr lang="zh-CN" altLang="en-US" b="1" kern="0" dirty="0">
                <a:solidFill>
                  <a:schemeClr val="bg2"/>
                </a:solidFill>
                <a:latin typeface="Times New Roman" panose="02020603050405020304" pitchFamily="18" charset="0"/>
              </a:rPr>
              <a:t>没有被盖住。</a:t>
            </a:r>
            <a:endParaRPr lang="en-US" altLang="zh-CN" b="1" kern="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804248" y="6165304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743460-4EC5-452F-BE1B-A482A8DEEBAF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101</a:t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162104"/>
            <a:ext cx="8064500" cy="1081088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偏序集与哈斯图</a:t>
            </a:r>
          </a:p>
        </p:txBody>
      </p:sp>
      <p:sp>
        <p:nvSpPr>
          <p:cNvPr id="154628" name="Text Box 3"/>
          <p:cNvSpPr txBox="1">
            <a:spLocks noChangeArrowheads="1"/>
          </p:cNvSpPr>
          <p:nvPr/>
        </p:nvSpPr>
        <p:spPr bwMode="auto">
          <a:xfrm>
            <a:off x="323528" y="1395180"/>
            <a:ext cx="8280400" cy="1274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b="1" dirty="0">
                <a:latin typeface="Times New Roman" panose="02020603050405020304" pitchFamily="18" charset="0"/>
              </a:rPr>
              <a:t>  集合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上的偏序关系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≼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</a:rPr>
              <a:t>或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一起叫做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偏序集</a:t>
            </a:r>
            <a:r>
              <a:rPr lang="zh-CN" altLang="en-US" b="1" dirty="0">
                <a:latin typeface="Times New Roman" panose="02020603050405020304" pitchFamily="18" charset="0"/>
              </a:rPr>
              <a:t>，记作 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&lt;</a:t>
            </a:r>
            <a:r>
              <a:rPr lang="en-US" altLang="zh-CN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,≼&gt;</a:t>
            </a:r>
            <a:r>
              <a:rPr lang="zh-CN" altLang="en-US" b="1" dirty="0">
                <a:latin typeface="Times New Roman" panose="02020603050405020304" pitchFamily="18" charset="0"/>
              </a:rPr>
              <a:t>（或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&lt;</a:t>
            </a:r>
            <a:r>
              <a:rPr lang="en-US" altLang="zh-CN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A,R</a:t>
            </a:r>
            <a:r>
              <a:rPr lang="en-US" altLang="zh-CN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&gt;</a:t>
            </a:r>
            <a:r>
              <a:rPr lang="zh-CN" altLang="en-US" b="1" dirty="0">
                <a:latin typeface="Times New Roman" panose="02020603050405020304" pitchFamily="18" charset="0"/>
              </a:rPr>
              <a:t>）。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95536" y="3140968"/>
            <a:ext cx="9216255" cy="1791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实例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整数集和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小于等于关系</a:t>
            </a:r>
            <a:r>
              <a:rPr lang="zh-CN" altLang="en-US" sz="2800" b="1" dirty="0">
                <a:latin typeface="Times New Roman" panose="02020603050405020304" pitchFamily="18" charset="0"/>
              </a:rPr>
              <a:t>构成偏序集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&lt; 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≤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幂集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和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包含关系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zh-CN" altLang="en-US" sz="2800" b="1" dirty="0">
                <a:latin typeface="Times New Roman" panose="02020603050405020304" pitchFamily="18" charset="0"/>
              </a:rPr>
              <a:t>构成偏序集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&lt; 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),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800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876256" y="6093296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263BCA-B9D8-4AB7-9E6E-840FE197DBDE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102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35681" y="116632"/>
            <a:ext cx="8135938" cy="11525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偏序集与哈斯图（续）</a:t>
            </a:r>
          </a:p>
        </p:txBody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5681" y="1412776"/>
            <a:ext cx="8208962" cy="125152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哈斯图</a:t>
            </a:r>
            <a:r>
              <a:rPr lang="zh-CN" altLang="en-US" b="1" dirty="0"/>
              <a:t>：利用偏序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自反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反对称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传递性</a:t>
            </a:r>
            <a:r>
              <a:rPr lang="zh-CN" altLang="en-US" b="1" dirty="0"/>
              <a:t>简化的关系图。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7544" y="2823155"/>
            <a:ext cx="8208962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b="1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特点：</a:t>
            </a:r>
            <a:endParaRPr lang="en-US" altLang="zh-CN" b="1" kern="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kern="0" dirty="0"/>
              <a:t>省略所有自环。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kern="0" dirty="0"/>
              <a:t>若</a:t>
            </a:r>
            <a:r>
              <a:rPr lang="en-US" altLang="zh-CN" sz="2800" b="1" kern="0" dirty="0"/>
              <a:t>x≼ y</a:t>
            </a:r>
            <a:r>
              <a:rPr lang="zh-CN" altLang="en-US" sz="2800" b="1" kern="0" dirty="0"/>
              <a:t>，则结点</a:t>
            </a:r>
            <a:r>
              <a:rPr lang="en-US" altLang="zh-CN" sz="2800" b="1" kern="0" dirty="0"/>
              <a:t>y</a:t>
            </a:r>
            <a:r>
              <a:rPr lang="zh-CN" altLang="en-US" sz="2800" b="1" kern="0" dirty="0"/>
              <a:t>在</a:t>
            </a:r>
            <a:r>
              <a:rPr lang="en-US" altLang="zh-CN" sz="2800" b="1" kern="0" dirty="0"/>
              <a:t>x</a:t>
            </a:r>
            <a:r>
              <a:rPr lang="zh-CN" altLang="en-US" sz="2800" b="1" kern="0" dirty="0"/>
              <a:t>的上方，故省略箭头方向。</a:t>
            </a:r>
            <a:endParaRPr lang="en-US" altLang="zh-CN" sz="2800" b="1" kern="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kern="0" dirty="0"/>
              <a:t>若</a:t>
            </a:r>
            <a:r>
              <a:rPr lang="en-US" altLang="zh-CN" sz="2800" b="1" kern="0" dirty="0"/>
              <a:t>x≼ y</a:t>
            </a:r>
            <a:r>
              <a:rPr lang="zh-CN" altLang="en-US" sz="2800" b="1" kern="0" dirty="0"/>
              <a:t>，</a:t>
            </a:r>
            <a:r>
              <a:rPr lang="en-US" altLang="zh-CN" sz="2800" b="1" kern="0" dirty="0"/>
              <a:t>y≼ z</a:t>
            </a:r>
            <a:r>
              <a:rPr lang="zh-CN" altLang="en-US" sz="2800" b="1" kern="0" dirty="0"/>
              <a:t>，则必有</a:t>
            </a:r>
            <a:r>
              <a:rPr lang="en-US" altLang="zh-CN" sz="2800" b="1" kern="0" dirty="0"/>
              <a:t>x≼ z</a:t>
            </a:r>
            <a:r>
              <a:rPr lang="zh-CN" altLang="en-US" sz="2800" b="1" kern="0" dirty="0"/>
              <a:t>，故省略</a:t>
            </a:r>
            <a:r>
              <a:rPr lang="en-US" altLang="zh-CN" sz="2800" b="1" kern="0" dirty="0"/>
              <a:t>&lt;</a:t>
            </a:r>
            <a:r>
              <a:rPr lang="en-US" altLang="zh-CN" sz="2800" b="1" kern="0" dirty="0" err="1"/>
              <a:t>x,z</a:t>
            </a:r>
            <a:r>
              <a:rPr lang="en-US" altLang="zh-CN" sz="2800" b="1" kern="0" dirty="0"/>
              <a:t>&gt;</a:t>
            </a:r>
            <a:r>
              <a:rPr lang="zh-CN" altLang="en-US" sz="2800" b="1" kern="0" dirty="0"/>
              <a:t>之间的边。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b="1" kern="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804248" y="6087072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7A5684-8DC2-4B7A-A2C2-281606A05280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103</a:t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57699" name="Rectangle 2"/>
          <p:cNvSpPr>
            <a:spLocks noGrp="1" noChangeArrowheads="1"/>
          </p:cNvSpPr>
          <p:nvPr>
            <p:ph type="title"/>
          </p:nvPr>
        </p:nvSpPr>
        <p:spPr>
          <a:xfrm>
            <a:off x="421481" y="29890"/>
            <a:ext cx="8229600" cy="1371600"/>
          </a:xfrm>
        </p:spPr>
        <p:txBody>
          <a:bodyPr/>
          <a:lstStyle/>
          <a:p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哈斯图实例</a:t>
            </a:r>
          </a:p>
        </p:txBody>
      </p:sp>
      <p:sp>
        <p:nvSpPr>
          <p:cNvPr id="157700" name="Text Box 3"/>
          <p:cNvSpPr txBox="1">
            <a:spLocks noChangeArrowheads="1"/>
          </p:cNvSpPr>
          <p:nvPr/>
        </p:nvSpPr>
        <p:spPr bwMode="auto">
          <a:xfrm>
            <a:off x="423361" y="1401490"/>
            <a:ext cx="7560840" cy="1274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4   &lt;{ 1, 2, 3, 4, 5, 6, 7, 8, 9 },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整除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和</a:t>
            </a:r>
            <a:endParaRPr lang="en-US" altLang="zh-CN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&lt;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({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}),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</a:p>
        </p:txBody>
      </p:sp>
      <p:pic>
        <p:nvPicPr>
          <p:cNvPr id="251911" name="Picture 7" descr="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400" t="6129" r="-2565" b="8022"/>
          <a:stretch>
            <a:fillRect/>
          </a:stretch>
        </p:blipFill>
        <p:spPr bwMode="auto">
          <a:xfrm>
            <a:off x="853170" y="2832697"/>
            <a:ext cx="7129463" cy="3254375"/>
          </a:xfrm>
          <a:prstGeom prst="rect">
            <a:avLst/>
          </a:prstGeom>
          <a:solidFill>
            <a:srgbClr val="E6FE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1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27C99CB-2E09-4ECA-808C-BBFEA10FD829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104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52930" name="Text Box 2"/>
          <p:cNvSpPr txBox="1">
            <a:spLocks noChangeArrowheads="1"/>
          </p:cNvSpPr>
          <p:nvPr/>
        </p:nvSpPr>
        <p:spPr bwMode="auto">
          <a:xfrm>
            <a:off x="521199" y="4597402"/>
            <a:ext cx="8622801" cy="18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解：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} </a:t>
            </a:r>
            <a:b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&lt;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&gt;}∪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59748" name="Rectangle 3"/>
          <p:cNvSpPr>
            <a:spLocks noGrp="1" noChangeArrowheads="1"/>
          </p:cNvSpPr>
          <p:nvPr>
            <p:ph type="title"/>
          </p:nvPr>
        </p:nvSpPr>
        <p:spPr>
          <a:xfrm>
            <a:off x="396503" y="118270"/>
            <a:ext cx="8207375" cy="1152525"/>
          </a:xfrm>
          <a:noFill/>
        </p:spPr>
        <p:txBody>
          <a:bodyPr/>
          <a:lstStyle/>
          <a:p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哈斯图实例（续）</a:t>
            </a:r>
          </a:p>
        </p:txBody>
      </p:sp>
      <p:pic>
        <p:nvPicPr>
          <p:cNvPr id="15974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247" y="1485902"/>
            <a:ext cx="3746500" cy="3036887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9750" name="Rectangle 5"/>
          <p:cNvSpPr>
            <a:spLocks noChangeArrowheads="1"/>
          </p:cNvSpPr>
          <p:nvPr/>
        </p:nvSpPr>
        <p:spPr bwMode="auto">
          <a:xfrm>
            <a:off x="396503" y="1434043"/>
            <a:ext cx="4607744" cy="2973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 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：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已知偏序集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的哈斯图如右图所示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试求出集合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和关系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的表达式。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0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1EEA21B-E117-4E88-9B4D-5A4D291A7B71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105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>
          <a:xfrm>
            <a:off x="272132" y="188640"/>
            <a:ext cx="8135937" cy="10795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偏序集的特定元素</a:t>
            </a:r>
          </a:p>
        </p:txBody>
      </p:sp>
      <p:sp>
        <p:nvSpPr>
          <p:cNvPr id="253955" name="Text Box 3"/>
          <p:cNvSpPr txBox="1">
            <a:spLocks noChangeArrowheads="1"/>
          </p:cNvSpPr>
          <p:nvPr/>
        </p:nvSpPr>
        <p:spPr bwMode="auto">
          <a:xfrm>
            <a:off x="272132" y="1412776"/>
            <a:ext cx="8528297" cy="2973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定义</a:t>
            </a:r>
            <a:r>
              <a:rPr lang="zh-CN" altLang="en-US" sz="3200" b="1" dirty="0">
                <a:ea typeface="宋体" charset="-122"/>
              </a:rPr>
              <a:t> </a:t>
            </a:r>
            <a:r>
              <a:rPr lang="zh-CN" altLang="en-US" b="1" dirty="0">
                <a:ea typeface="宋体" charset="-122"/>
              </a:rPr>
              <a:t>  </a:t>
            </a:r>
            <a:r>
              <a:rPr lang="zh-CN" altLang="en-US" sz="3200" b="1" dirty="0">
                <a:ea typeface="宋体" charset="-122"/>
              </a:rPr>
              <a:t>设</a:t>
            </a:r>
            <a:r>
              <a:rPr lang="en-US" altLang="zh-CN" sz="3200" b="1" dirty="0">
                <a:ea typeface="宋体" charset="-122"/>
              </a:rPr>
              <a:t>&lt;</a:t>
            </a:r>
            <a:r>
              <a:rPr lang="en-US" altLang="zh-CN" sz="3200" b="1" i="1" dirty="0">
                <a:ea typeface="宋体" charset="-122"/>
              </a:rPr>
              <a:t>A</a:t>
            </a:r>
            <a:r>
              <a:rPr lang="en-US" altLang="zh-CN" sz="3200" b="1" dirty="0">
                <a:ea typeface="宋体" charset="-122"/>
              </a:rPr>
              <a:t>,≼&gt;</a:t>
            </a:r>
            <a:r>
              <a:rPr lang="zh-CN" altLang="en-US" sz="3200" b="1" dirty="0">
                <a:ea typeface="宋体" charset="-122"/>
              </a:rPr>
              <a:t>为偏序集</a:t>
            </a:r>
            <a:r>
              <a:rPr lang="en-US" altLang="zh-CN" sz="3200" b="1" dirty="0">
                <a:ea typeface="宋体" charset="-122"/>
              </a:rPr>
              <a:t>, </a:t>
            </a:r>
            <a:r>
              <a:rPr lang="en-US" altLang="zh-CN" sz="32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B</a:t>
            </a:r>
            <a:r>
              <a:rPr lang="en-US" altLang="zh-CN" sz="32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  <a:sym typeface="Symbol" pitchFamily="18" charset="2"/>
              </a:rPr>
              <a:t></a:t>
            </a:r>
            <a:r>
              <a:rPr lang="en-US" altLang="zh-CN" sz="32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A</a:t>
            </a:r>
            <a:r>
              <a:rPr lang="en-US" altLang="zh-CN" sz="3200" b="1" dirty="0">
                <a:solidFill>
                  <a:srgbClr val="0033CC"/>
                </a:solidFill>
                <a:ea typeface="宋体" charset="-122"/>
              </a:rPr>
              <a:t>, </a:t>
            </a:r>
            <a:r>
              <a:rPr lang="en-US" altLang="zh-CN" sz="3200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y</a:t>
            </a:r>
            <a:r>
              <a:rPr lang="en-US" altLang="zh-CN" sz="32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∈</a:t>
            </a:r>
            <a:r>
              <a:rPr lang="en-US" altLang="zh-CN" sz="3200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B</a:t>
            </a:r>
            <a:r>
              <a:rPr lang="zh-CN" altLang="en-US" sz="3200" b="1" i="1" dirty="0">
                <a:ea typeface="宋体" charset="-122"/>
              </a:rPr>
              <a:t>。</a:t>
            </a:r>
            <a:r>
              <a:rPr lang="en-US" altLang="zh-CN" b="1" dirty="0">
                <a:ea typeface="宋体" charset="-122"/>
              </a:rPr>
              <a:t/>
            </a:r>
            <a:br>
              <a:rPr lang="en-US" altLang="zh-CN" b="1" dirty="0">
                <a:ea typeface="宋体" charset="-122"/>
              </a:rPr>
            </a:br>
            <a:r>
              <a:rPr lang="en-US" altLang="zh-CN" b="1" dirty="0">
                <a:ea typeface="宋体" charset="-122"/>
              </a:rPr>
              <a:t>(1) </a:t>
            </a:r>
            <a:r>
              <a:rPr lang="zh-CN" altLang="en-US" b="1" dirty="0">
                <a:ea typeface="宋体" charset="-122"/>
              </a:rPr>
              <a:t>若</a:t>
            </a:r>
            <a:r>
              <a:rPr lang="zh-CN" alt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  <a:sym typeface="Symbol" pitchFamily="18" charset="2"/>
              </a:rPr>
              <a:t></a:t>
            </a:r>
            <a:r>
              <a:rPr lang="en-US" altLang="zh-CN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x</a:t>
            </a:r>
            <a:r>
              <a:rPr lang="en-US" altLang="zh-CN" b="1" dirty="0">
                <a:ea typeface="宋体" charset="-122"/>
              </a:rPr>
              <a:t>(</a:t>
            </a:r>
            <a:r>
              <a:rPr lang="en-US" altLang="zh-CN" b="1" i="1" dirty="0" err="1">
                <a:ea typeface="宋体" charset="-122"/>
              </a:rPr>
              <a:t>x</a:t>
            </a:r>
            <a:r>
              <a:rPr lang="en-US" altLang="zh-CN" b="1" dirty="0" err="1">
                <a:ea typeface="宋体" charset="-122"/>
              </a:rPr>
              <a:t>∈</a:t>
            </a:r>
            <a:r>
              <a:rPr lang="en-US" altLang="zh-CN" b="1" i="1" dirty="0" err="1">
                <a:ea typeface="宋体" charset="-122"/>
              </a:rPr>
              <a:t>B</a:t>
            </a:r>
            <a:r>
              <a:rPr lang="en-US" altLang="zh-CN" b="1" dirty="0" err="1">
                <a:ea typeface="宋体" charset="-122"/>
              </a:rPr>
              <a:t>→</a:t>
            </a:r>
            <a:r>
              <a:rPr lang="en-US" altLang="zh-CN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y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 </a:t>
            </a:r>
            <a:r>
              <a:rPr lang="en-US" altLang="zh-CN" b="1" dirty="0">
                <a:ea typeface="宋体" charset="-122"/>
              </a:rPr>
              <a:t>≼ </a:t>
            </a:r>
            <a:r>
              <a:rPr lang="en-US" altLang="zh-CN" b="1" i="1" dirty="0">
                <a:ea typeface="宋体" charset="-122"/>
              </a:rPr>
              <a:t>x</a:t>
            </a:r>
            <a:r>
              <a:rPr lang="en-US" altLang="zh-CN" b="1" dirty="0">
                <a:ea typeface="宋体" charset="-122"/>
              </a:rPr>
              <a:t>) </a:t>
            </a:r>
            <a:r>
              <a:rPr lang="zh-CN" altLang="en-US" b="1" dirty="0">
                <a:ea typeface="宋体" charset="-122"/>
              </a:rPr>
              <a:t>成立</a:t>
            </a:r>
            <a:r>
              <a:rPr lang="en-US" altLang="zh-CN" b="1" dirty="0">
                <a:ea typeface="宋体" charset="-122"/>
              </a:rPr>
              <a:t>, </a:t>
            </a:r>
            <a:r>
              <a:rPr lang="zh-CN" altLang="en-US" b="1" dirty="0">
                <a:ea typeface="宋体" charset="-122"/>
              </a:rPr>
              <a:t>则称 </a:t>
            </a:r>
            <a:r>
              <a:rPr lang="en-US" altLang="zh-CN" b="1" i="1" dirty="0">
                <a:ea typeface="宋体" charset="-122"/>
              </a:rPr>
              <a:t>y </a:t>
            </a:r>
            <a:r>
              <a:rPr lang="zh-CN" altLang="en-US" b="1" dirty="0">
                <a:ea typeface="宋体" charset="-122"/>
              </a:rPr>
              <a:t>为 </a:t>
            </a:r>
            <a:r>
              <a:rPr lang="en-US" altLang="zh-CN" b="1" i="1" dirty="0">
                <a:ea typeface="宋体" charset="-122"/>
              </a:rPr>
              <a:t>B </a:t>
            </a:r>
            <a:r>
              <a:rPr lang="zh-CN" altLang="en-US" b="1" dirty="0">
                <a:ea typeface="宋体" charset="-122"/>
              </a:rPr>
              <a:t>的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最小元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。</a:t>
            </a:r>
            <a:r>
              <a:rPr lang="en-US" altLang="zh-CN" b="1" dirty="0">
                <a:ea typeface="宋体" charset="-122"/>
              </a:rPr>
              <a:t/>
            </a:r>
            <a:br>
              <a:rPr lang="en-US" altLang="zh-CN" b="1" dirty="0">
                <a:ea typeface="宋体" charset="-122"/>
              </a:rPr>
            </a:br>
            <a:r>
              <a:rPr lang="en-US" altLang="zh-CN" b="1" dirty="0">
                <a:ea typeface="宋体" charset="-122"/>
              </a:rPr>
              <a:t>(2) </a:t>
            </a:r>
            <a:r>
              <a:rPr lang="zh-CN" altLang="en-US" b="1" dirty="0">
                <a:ea typeface="宋体" charset="-122"/>
              </a:rPr>
              <a:t>若</a:t>
            </a:r>
            <a:r>
              <a:rPr lang="zh-CN" alt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  <a:sym typeface="Symbol" pitchFamily="18" charset="2"/>
              </a:rPr>
              <a:t></a:t>
            </a:r>
            <a:r>
              <a:rPr lang="en-US" altLang="zh-CN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x</a:t>
            </a:r>
            <a:r>
              <a:rPr lang="en-US" altLang="zh-CN" b="1" dirty="0">
                <a:ea typeface="宋体" charset="-122"/>
              </a:rPr>
              <a:t>(</a:t>
            </a:r>
            <a:r>
              <a:rPr lang="en-US" altLang="zh-CN" b="1" i="1" dirty="0" err="1">
                <a:ea typeface="宋体" charset="-122"/>
              </a:rPr>
              <a:t>x</a:t>
            </a:r>
            <a:r>
              <a:rPr lang="en-US" altLang="zh-CN" b="1" dirty="0" err="1">
                <a:ea typeface="宋体" charset="-122"/>
              </a:rPr>
              <a:t>∈</a:t>
            </a:r>
            <a:r>
              <a:rPr lang="en-US" altLang="zh-CN" b="1" i="1" dirty="0" err="1">
                <a:ea typeface="宋体" charset="-122"/>
              </a:rPr>
              <a:t>B</a:t>
            </a:r>
            <a:r>
              <a:rPr lang="en-US" altLang="zh-CN" b="1" dirty="0" err="1">
                <a:ea typeface="宋体" charset="-122"/>
              </a:rPr>
              <a:t>→</a:t>
            </a:r>
            <a:r>
              <a:rPr lang="en-US" altLang="zh-CN" b="1" i="1" dirty="0" err="1">
                <a:ea typeface="宋体" charset="-122"/>
              </a:rPr>
              <a:t>x</a:t>
            </a:r>
            <a:r>
              <a:rPr lang="en-US" altLang="zh-CN" b="1" i="1" dirty="0">
                <a:ea typeface="宋体" charset="-122"/>
              </a:rPr>
              <a:t> </a:t>
            </a:r>
            <a:r>
              <a:rPr lang="en-US" altLang="zh-CN" b="1" dirty="0">
                <a:ea typeface="宋体" charset="-122"/>
              </a:rPr>
              <a:t>≼ 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y</a:t>
            </a:r>
            <a:r>
              <a:rPr lang="en-US" altLang="zh-CN" b="1" dirty="0">
                <a:ea typeface="宋体" charset="-122"/>
              </a:rPr>
              <a:t>) </a:t>
            </a:r>
            <a:r>
              <a:rPr lang="zh-CN" altLang="en-US" b="1" dirty="0">
                <a:ea typeface="宋体" charset="-122"/>
              </a:rPr>
              <a:t>成立</a:t>
            </a:r>
            <a:r>
              <a:rPr lang="en-US" altLang="zh-CN" b="1" dirty="0">
                <a:ea typeface="宋体" charset="-122"/>
              </a:rPr>
              <a:t>, </a:t>
            </a:r>
            <a:r>
              <a:rPr lang="zh-CN" altLang="en-US" b="1" dirty="0">
                <a:ea typeface="宋体" charset="-122"/>
              </a:rPr>
              <a:t>则称 </a:t>
            </a:r>
            <a:r>
              <a:rPr lang="en-US" altLang="zh-CN" b="1" i="1" dirty="0">
                <a:ea typeface="宋体" charset="-122"/>
              </a:rPr>
              <a:t>y </a:t>
            </a:r>
            <a:r>
              <a:rPr lang="zh-CN" altLang="en-US" b="1" dirty="0">
                <a:ea typeface="宋体" charset="-122"/>
              </a:rPr>
              <a:t>为 </a:t>
            </a:r>
            <a:r>
              <a:rPr lang="en-US" altLang="zh-CN" b="1" i="1" dirty="0">
                <a:ea typeface="宋体" charset="-122"/>
              </a:rPr>
              <a:t>B </a:t>
            </a:r>
            <a:r>
              <a:rPr lang="zh-CN" altLang="en-US" b="1" dirty="0">
                <a:ea typeface="宋体" charset="-122"/>
              </a:rPr>
              <a:t>的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最大元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。</a:t>
            </a:r>
            <a:r>
              <a:rPr lang="en-US" altLang="zh-CN" b="1" dirty="0">
                <a:ea typeface="宋体" charset="-122"/>
              </a:rPr>
              <a:t/>
            </a:r>
            <a:br>
              <a:rPr lang="en-US" altLang="zh-CN" b="1" dirty="0">
                <a:ea typeface="宋体" charset="-122"/>
              </a:rPr>
            </a:br>
            <a:r>
              <a:rPr lang="en-US" altLang="zh-CN" b="1" dirty="0">
                <a:ea typeface="宋体" charset="-122"/>
              </a:rPr>
              <a:t>(3) </a:t>
            </a:r>
            <a:r>
              <a:rPr lang="zh-CN" altLang="en-US" b="1" dirty="0">
                <a:ea typeface="宋体" charset="-122"/>
              </a:rPr>
              <a:t>若</a:t>
            </a:r>
            <a:r>
              <a:rPr lang="zh-CN" alt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  <a:sym typeface="Symbol" pitchFamily="18" charset="2"/>
              </a:rPr>
              <a:t></a:t>
            </a:r>
            <a:r>
              <a:rPr lang="en-US" altLang="zh-CN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x</a:t>
            </a:r>
            <a:r>
              <a:rPr lang="en-US" altLang="zh-CN" b="1" i="1" dirty="0">
                <a:ea typeface="宋体" charset="-122"/>
              </a:rPr>
              <a:t> </a:t>
            </a:r>
            <a:r>
              <a:rPr lang="en-US" altLang="zh-CN" b="1" dirty="0">
                <a:ea typeface="宋体" charset="-122"/>
              </a:rPr>
              <a:t>(</a:t>
            </a:r>
            <a:r>
              <a:rPr lang="en-US" altLang="zh-CN" b="1" i="1" dirty="0" err="1">
                <a:ea typeface="宋体" charset="-122"/>
              </a:rPr>
              <a:t>x</a:t>
            </a:r>
            <a:r>
              <a:rPr lang="en-US" altLang="zh-CN" b="1" dirty="0" err="1">
                <a:ea typeface="宋体" charset="-122"/>
              </a:rPr>
              <a:t>∈</a:t>
            </a:r>
            <a:r>
              <a:rPr lang="en-US" altLang="zh-CN" b="1" i="1" dirty="0" err="1">
                <a:ea typeface="宋体" charset="-122"/>
              </a:rPr>
              <a:t>B</a:t>
            </a:r>
            <a:r>
              <a:rPr lang="en-US" altLang="zh-CN" b="1" dirty="0" err="1">
                <a:ea typeface="宋体" charset="-122"/>
              </a:rPr>
              <a:t>∧</a:t>
            </a:r>
            <a:r>
              <a:rPr lang="en-US" altLang="zh-CN" b="1" i="1" dirty="0" err="1">
                <a:ea typeface="宋体" charset="-122"/>
              </a:rPr>
              <a:t>x</a:t>
            </a:r>
            <a:r>
              <a:rPr lang="en-US" altLang="zh-CN" b="1" i="1" dirty="0">
                <a:ea typeface="宋体" charset="-122"/>
              </a:rPr>
              <a:t> </a:t>
            </a:r>
            <a:r>
              <a:rPr lang="en-US" altLang="zh-CN" b="1" dirty="0">
                <a:latin typeface="Lucida Sans Unicode" pitchFamily="34" charset="0"/>
                <a:ea typeface="宋体" charset="-122"/>
                <a:cs typeface="Lucida Sans Unicode" pitchFamily="34" charset="0"/>
              </a:rPr>
              <a:t>≺</a:t>
            </a:r>
            <a:r>
              <a:rPr lang="en-US" altLang="zh-CN" b="1" dirty="0">
                <a:solidFill>
                  <a:srgbClr val="C00000"/>
                </a:solidFill>
                <a:latin typeface="Lucida Sans Unicode" pitchFamily="34" charset="0"/>
                <a:ea typeface="宋体" charset="-122"/>
                <a:cs typeface="Lucida Sans Unicode" pitchFamily="34" charset="0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y</a:t>
            </a:r>
            <a:r>
              <a:rPr lang="en-US" altLang="zh-CN" b="1" dirty="0">
                <a:ea typeface="宋体" charset="-122"/>
              </a:rPr>
              <a:t>) </a:t>
            </a:r>
            <a:r>
              <a:rPr lang="zh-CN" altLang="en-US" b="1" dirty="0">
                <a:ea typeface="宋体" charset="-122"/>
              </a:rPr>
              <a:t>成立</a:t>
            </a:r>
            <a:r>
              <a:rPr lang="en-US" altLang="zh-CN" b="1" dirty="0">
                <a:ea typeface="宋体" charset="-122"/>
              </a:rPr>
              <a:t>, </a:t>
            </a:r>
            <a:r>
              <a:rPr lang="zh-CN" altLang="en-US" b="1" dirty="0">
                <a:ea typeface="宋体" charset="-122"/>
              </a:rPr>
              <a:t>则称 </a:t>
            </a:r>
            <a:r>
              <a:rPr lang="en-US" altLang="zh-CN" b="1" i="1" dirty="0">
                <a:ea typeface="宋体" charset="-122"/>
              </a:rPr>
              <a:t>y </a:t>
            </a:r>
            <a:r>
              <a:rPr lang="zh-CN" altLang="en-US" b="1" dirty="0">
                <a:ea typeface="宋体" charset="-122"/>
              </a:rPr>
              <a:t>为</a:t>
            </a:r>
            <a:r>
              <a:rPr lang="en-US" altLang="zh-CN" b="1" i="1" dirty="0">
                <a:ea typeface="宋体" charset="-122"/>
              </a:rPr>
              <a:t>B</a:t>
            </a:r>
            <a:r>
              <a:rPr lang="zh-CN" altLang="en-US" b="1" dirty="0">
                <a:ea typeface="宋体" charset="-122"/>
              </a:rPr>
              <a:t>的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极小元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。</a:t>
            </a:r>
            <a:r>
              <a:rPr lang="en-US" altLang="zh-CN" b="1" dirty="0">
                <a:ea typeface="宋体" charset="-122"/>
              </a:rPr>
              <a:t> </a:t>
            </a:r>
            <a:br>
              <a:rPr lang="en-US" altLang="zh-CN" b="1" dirty="0">
                <a:ea typeface="宋体" charset="-122"/>
              </a:rPr>
            </a:br>
            <a:r>
              <a:rPr lang="en-US" altLang="zh-CN" b="1" dirty="0">
                <a:ea typeface="宋体" charset="-122"/>
              </a:rPr>
              <a:t>(4) </a:t>
            </a:r>
            <a:r>
              <a:rPr lang="zh-CN" altLang="en-US" b="1" dirty="0">
                <a:ea typeface="宋体" charset="-122"/>
              </a:rPr>
              <a:t>若</a:t>
            </a:r>
            <a:r>
              <a:rPr lang="zh-CN" alt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  <a:sym typeface="Symbol" pitchFamily="18" charset="2"/>
              </a:rPr>
              <a:t></a:t>
            </a:r>
            <a:r>
              <a:rPr lang="en-US" altLang="zh-CN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x</a:t>
            </a:r>
            <a:r>
              <a:rPr lang="en-US" altLang="zh-CN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 </a:t>
            </a:r>
            <a:r>
              <a:rPr lang="en-US" altLang="zh-CN" b="1" dirty="0">
                <a:ea typeface="宋体" charset="-122"/>
              </a:rPr>
              <a:t>(</a:t>
            </a:r>
            <a:r>
              <a:rPr lang="en-US" altLang="zh-CN" b="1" i="1" dirty="0" err="1">
                <a:ea typeface="宋体" charset="-122"/>
              </a:rPr>
              <a:t>x</a:t>
            </a:r>
            <a:r>
              <a:rPr lang="en-US" altLang="zh-CN" b="1" dirty="0" err="1">
                <a:ea typeface="宋体" charset="-122"/>
              </a:rPr>
              <a:t>∈</a:t>
            </a:r>
            <a:r>
              <a:rPr lang="en-US" altLang="zh-CN" b="1" i="1" dirty="0" err="1">
                <a:ea typeface="宋体" charset="-122"/>
              </a:rPr>
              <a:t>B</a:t>
            </a:r>
            <a:r>
              <a:rPr lang="en-US" altLang="zh-CN" b="1" dirty="0" err="1">
                <a:ea typeface="宋体" charset="-122"/>
              </a:rPr>
              <a:t>∧</a:t>
            </a:r>
            <a:r>
              <a:rPr lang="en-US" altLang="zh-CN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y</a:t>
            </a:r>
            <a:r>
              <a:rPr lang="en-US" altLang="zh-CN" b="1" i="1" dirty="0">
                <a:ea typeface="宋体" charset="-122"/>
              </a:rPr>
              <a:t> </a:t>
            </a:r>
            <a:r>
              <a:rPr lang="en-US" altLang="zh-CN" b="1" dirty="0">
                <a:ea typeface="宋体" charset="-122"/>
              </a:rPr>
              <a:t>≺ </a:t>
            </a:r>
            <a:r>
              <a:rPr lang="en-US" altLang="zh-CN" b="1" i="1" dirty="0">
                <a:ea typeface="宋体" charset="-122"/>
              </a:rPr>
              <a:t>x</a:t>
            </a:r>
            <a:r>
              <a:rPr lang="en-US" altLang="zh-CN" b="1" dirty="0">
                <a:ea typeface="宋体" charset="-122"/>
              </a:rPr>
              <a:t>) </a:t>
            </a:r>
            <a:r>
              <a:rPr lang="zh-CN" altLang="en-US" b="1" dirty="0">
                <a:ea typeface="宋体" charset="-122"/>
              </a:rPr>
              <a:t>成立</a:t>
            </a:r>
            <a:r>
              <a:rPr lang="en-US" altLang="zh-CN" b="1" dirty="0">
                <a:ea typeface="宋体" charset="-122"/>
              </a:rPr>
              <a:t>, </a:t>
            </a:r>
            <a:r>
              <a:rPr lang="zh-CN" altLang="en-US" b="1" dirty="0">
                <a:ea typeface="宋体" charset="-122"/>
              </a:rPr>
              <a:t>则称 </a:t>
            </a:r>
            <a:r>
              <a:rPr lang="en-US" altLang="zh-CN" b="1" i="1" dirty="0">
                <a:ea typeface="宋体" charset="-122"/>
              </a:rPr>
              <a:t>y </a:t>
            </a:r>
            <a:r>
              <a:rPr lang="zh-CN" altLang="en-US" b="1" dirty="0">
                <a:ea typeface="宋体" charset="-122"/>
              </a:rPr>
              <a:t>为</a:t>
            </a:r>
            <a:r>
              <a:rPr lang="en-US" altLang="zh-CN" b="1" i="1" dirty="0">
                <a:ea typeface="宋体" charset="-122"/>
              </a:rPr>
              <a:t>B</a:t>
            </a:r>
            <a:r>
              <a:rPr lang="zh-CN" altLang="en-US" b="1" dirty="0">
                <a:ea typeface="宋体" charset="-122"/>
              </a:rPr>
              <a:t>的</a:t>
            </a:r>
            <a:r>
              <a:rPr lang="zh-CN" altLang="en-US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极大元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。</a:t>
            </a:r>
            <a:endParaRPr lang="en-US" altLang="zh-CN" b="1" dirty="0">
              <a:ea typeface="宋体" charset="-122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Text Box 11"/>
          <p:cNvSpPr txBox="1">
            <a:spLocks noChangeArrowheads="1"/>
          </p:cNvSpPr>
          <p:nvPr/>
        </p:nvSpPr>
        <p:spPr bwMode="auto">
          <a:xfrm>
            <a:off x="226220" y="1759779"/>
            <a:ext cx="4894262" cy="129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latin typeface="Century Schoolbook" pitchFamily="18" charset="0"/>
              </a:rPr>
              <a:t>B</a:t>
            </a:r>
            <a:r>
              <a:rPr kumimoji="1" lang="en-US" altLang="zh-CN" sz="2800" b="1" i="1" dirty="0">
                <a:latin typeface="Century Schoolbook" pitchFamily="18" charset="0"/>
              </a:rPr>
              <a:t>=</a:t>
            </a:r>
            <a:r>
              <a:rPr kumimoji="1" lang="en-US" altLang="zh-CN" sz="2800" b="1" dirty="0">
                <a:latin typeface="Century Schoolbook" pitchFamily="18" charset="0"/>
              </a:rPr>
              <a:t>{ </a:t>
            </a:r>
            <a:r>
              <a:rPr kumimoji="1" lang="en-US" altLang="zh-CN" sz="2800" b="1" i="1" dirty="0">
                <a:latin typeface="Century Schoolbook" pitchFamily="18" charset="0"/>
              </a:rPr>
              <a:t>a, b, c, d, e, f, g</a:t>
            </a:r>
            <a:r>
              <a:rPr kumimoji="1" lang="en-US" altLang="zh-CN" sz="2800" b="1" dirty="0">
                <a:latin typeface="Century Schoolbook" pitchFamily="18" charset="0"/>
              </a:rPr>
              <a:t> }</a:t>
            </a:r>
            <a:r>
              <a:rPr kumimoji="1" lang="zh-CN" altLang="en-US" sz="2800" b="1" dirty="0">
                <a:latin typeface="Century Schoolbook" pitchFamily="18" charset="0"/>
              </a:rPr>
              <a:t>，求极大（小）元，最大（小）元</a:t>
            </a:r>
            <a:r>
              <a:rPr kumimoji="1" lang="en-US" altLang="zh-CN" sz="2800" b="1" dirty="0">
                <a:latin typeface="Century Schoolbook" pitchFamily="18" charset="0"/>
              </a:rPr>
              <a:t> </a:t>
            </a:r>
          </a:p>
        </p:txBody>
      </p:sp>
      <p:sp>
        <p:nvSpPr>
          <p:cNvPr id="482316" name="Text Box 12"/>
          <p:cNvSpPr txBox="1">
            <a:spLocks noChangeArrowheads="1"/>
          </p:cNvSpPr>
          <p:nvPr/>
        </p:nvSpPr>
        <p:spPr bwMode="auto">
          <a:xfrm>
            <a:off x="674688" y="3306763"/>
            <a:ext cx="2209800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极大元</a:t>
            </a:r>
          </a:p>
        </p:txBody>
      </p:sp>
      <p:sp>
        <p:nvSpPr>
          <p:cNvPr id="482317" name="Text Box 13"/>
          <p:cNvSpPr txBox="1">
            <a:spLocks noChangeArrowheads="1"/>
          </p:cNvSpPr>
          <p:nvPr/>
        </p:nvSpPr>
        <p:spPr bwMode="auto">
          <a:xfrm>
            <a:off x="611188" y="4719638"/>
            <a:ext cx="1323975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最大元</a:t>
            </a:r>
          </a:p>
        </p:txBody>
      </p:sp>
      <p:sp>
        <p:nvSpPr>
          <p:cNvPr id="163845" name="Rectangle 16"/>
          <p:cNvSpPr>
            <a:spLocks noChangeArrowheads="1"/>
          </p:cNvSpPr>
          <p:nvPr/>
        </p:nvSpPr>
        <p:spPr bwMode="auto">
          <a:xfrm>
            <a:off x="177105" y="1246001"/>
            <a:ext cx="5871270" cy="660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例如：</a:t>
            </a:r>
            <a:r>
              <a:rPr kumimoji="1" lang="zh-CN" altLang="en-US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&lt;A, </a:t>
            </a:r>
            <a:r>
              <a:rPr kumimoji="1" lang="en-US" altLang="zh-CN" sz="2800" b="1" dirty="0">
                <a:latin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的哈斯图如图所示，</a:t>
            </a:r>
          </a:p>
        </p:txBody>
      </p:sp>
      <p:sp>
        <p:nvSpPr>
          <p:cNvPr id="482321" name="Text Box 17"/>
          <p:cNvSpPr txBox="1">
            <a:spLocks noChangeArrowheads="1"/>
          </p:cNvSpPr>
          <p:nvPr/>
        </p:nvSpPr>
        <p:spPr bwMode="auto">
          <a:xfrm>
            <a:off x="661988" y="4003675"/>
            <a:ext cx="2354262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极小元</a:t>
            </a:r>
          </a:p>
        </p:txBody>
      </p:sp>
      <p:sp>
        <p:nvSpPr>
          <p:cNvPr id="482322" name="Text Box 18"/>
          <p:cNvSpPr txBox="1">
            <a:spLocks noChangeArrowheads="1"/>
          </p:cNvSpPr>
          <p:nvPr/>
        </p:nvSpPr>
        <p:spPr bwMode="auto">
          <a:xfrm>
            <a:off x="455613" y="5335588"/>
            <a:ext cx="1765300" cy="696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最小元</a:t>
            </a:r>
            <a:r>
              <a:rPr kumimoji="1" lang="en-US" altLang="zh-CN" sz="2800" b="1"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163848" name="Oval 30"/>
          <p:cNvSpPr>
            <a:spLocks noChangeArrowheads="1"/>
          </p:cNvSpPr>
          <p:nvPr/>
        </p:nvSpPr>
        <p:spPr bwMode="auto">
          <a:xfrm>
            <a:off x="7072313" y="4075113"/>
            <a:ext cx="127000" cy="104775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49" name="Oval 31"/>
          <p:cNvSpPr>
            <a:spLocks noChangeArrowheads="1"/>
          </p:cNvSpPr>
          <p:nvPr/>
        </p:nvSpPr>
        <p:spPr bwMode="auto">
          <a:xfrm>
            <a:off x="8040688" y="3541713"/>
            <a:ext cx="127000" cy="144462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50" name="Oval 32"/>
          <p:cNvSpPr>
            <a:spLocks noChangeArrowheads="1"/>
          </p:cNvSpPr>
          <p:nvPr/>
        </p:nvSpPr>
        <p:spPr bwMode="auto">
          <a:xfrm>
            <a:off x="7354888" y="3541713"/>
            <a:ext cx="127000" cy="144462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51" name="Oval 33"/>
          <p:cNvSpPr>
            <a:spLocks noChangeArrowheads="1"/>
          </p:cNvSpPr>
          <p:nvPr/>
        </p:nvSpPr>
        <p:spPr bwMode="auto">
          <a:xfrm>
            <a:off x="6683375" y="3541713"/>
            <a:ext cx="127000" cy="144462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52" name="Oval 34"/>
          <p:cNvSpPr>
            <a:spLocks noChangeArrowheads="1"/>
          </p:cNvSpPr>
          <p:nvPr/>
        </p:nvSpPr>
        <p:spPr bwMode="auto">
          <a:xfrm>
            <a:off x="5921375" y="3541713"/>
            <a:ext cx="127000" cy="144462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53" name="Oval 35"/>
          <p:cNvSpPr>
            <a:spLocks noChangeArrowheads="1"/>
          </p:cNvSpPr>
          <p:nvPr/>
        </p:nvSpPr>
        <p:spPr bwMode="auto">
          <a:xfrm>
            <a:off x="6324600" y="3008313"/>
            <a:ext cx="127000" cy="144462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54" name="Oval 36"/>
          <p:cNvSpPr>
            <a:spLocks noChangeArrowheads="1"/>
          </p:cNvSpPr>
          <p:nvPr/>
        </p:nvSpPr>
        <p:spPr bwMode="auto">
          <a:xfrm>
            <a:off x="7681913" y="3008313"/>
            <a:ext cx="127000" cy="144462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55" name="Oval 37"/>
          <p:cNvSpPr>
            <a:spLocks noChangeArrowheads="1"/>
          </p:cNvSpPr>
          <p:nvPr/>
        </p:nvSpPr>
        <p:spPr bwMode="auto">
          <a:xfrm>
            <a:off x="6324600" y="2398713"/>
            <a:ext cx="127000" cy="144462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56" name="Oval 38"/>
          <p:cNvSpPr>
            <a:spLocks noChangeArrowheads="1"/>
          </p:cNvSpPr>
          <p:nvPr/>
        </p:nvSpPr>
        <p:spPr bwMode="auto">
          <a:xfrm>
            <a:off x="7681913" y="2398713"/>
            <a:ext cx="127000" cy="144462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57" name="Oval 39"/>
          <p:cNvSpPr>
            <a:spLocks noChangeArrowheads="1"/>
          </p:cNvSpPr>
          <p:nvPr/>
        </p:nvSpPr>
        <p:spPr bwMode="auto">
          <a:xfrm>
            <a:off x="6324600" y="1789113"/>
            <a:ext cx="127000" cy="144462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58" name="Oval 40"/>
          <p:cNvSpPr>
            <a:spLocks noChangeArrowheads="1"/>
          </p:cNvSpPr>
          <p:nvPr/>
        </p:nvSpPr>
        <p:spPr bwMode="auto">
          <a:xfrm>
            <a:off x="7681913" y="1712913"/>
            <a:ext cx="127000" cy="144462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59" name="Line 41"/>
          <p:cNvSpPr>
            <a:spLocks noChangeShapeType="1"/>
          </p:cNvSpPr>
          <p:nvPr/>
        </p:nvSpPr>
        <p:spPr bwMode="auto">
          <a:xfrm>
            <a:off x="6767513" y="3617913"/>
            <a:ext cx="309562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3860" name="Line 42"/>
          <p:cNvSpPr>
            <a:spLocks noChangeShapeType="1"/>
          </p:cNvSpPr>
          <p:nvPr/>
        </p:nvSpPr>
        <p:spPr bwMode="auto">
          <a:xfrm flipH="1">
            <a:off x="7148513" y="3617913"/>
            <a:ext cx="309562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3861" name="Line 43"/>
          <p:cNvSpPr>
            <a:spLocks noChangeShapeType="1"/>
          </p:cNvSpPr>
          <p:nvPr/>
        </p:nvSpPr>
        <p:spPr bwMode="auto">
          <a:xfrm flipH="1">
            <a:off x="5943600" y="3084513"/>
            <a:ext cx="465138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3862" name="Line 44"/>
          <p:cNvSpPr>
            <a:spLocks noChangeShapeType="1"/>
          </p:cNvSpPr>
          <p:nvPr/>
        </p:nvSpPr>
        <p:spPr bwMode="auto">
          <a:xfrm>
            <a:off x="6400800" y="3084513"/>
            <a:ext cx="387350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3863" name="Line 45"/>
          <p:cNvSpPr>
            <a:spLocks noChangeShapeType="1"/>
          </p:cNvSpPr>
          <p:nvPr/>
        </p:nvSpPr>
        <p:spPr bwMode="auto">
          <a:xfrm flipH="1">
            <a:off x="7453313" y="3084513"/>
            <a:ext cx="309562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3864" name="Line 46"/>
          <p:cNvSpPr>
            <a:spLocks noChangeShapeType="1"/>
          </p:cNvSpPr>
          <p:nvPr/>
        </p:nvSpPr>
        <p:spPr bwMode="auto">
          <a:xfrm>
            <a:off x="7758113" y="3084513"/>
            <a:ext cx="387350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3865" name="Line 47"/>
          <p:cNvSpPr>
            <a:spLocks noChangeShapeType="1"/>
          </p:cNvSpPr>
          <p:nvPr/>
        </p:nvSpPr>
        <p:spPr bwMode="auto">
          <a:xfrm>
            <a:off x="6400800" y="2322513"/>
            <a:ext cx="1588" cy="7620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3866" name="Line 48"/>
          <p:cNvSpPr>
            <a:spLocks noChangeShapeType="1"/>
          </p:cNvSpPr>
          <p:nvPr/>
        </p:nvSpPr>
        <p:spPr bwMode="auto">
          <a:xfrm flipV="1">
            <a:off x="6386513" y="2398713"/>
            <a:ext cx="1393825" cy="685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3867" name="Line 49"/>
          <p:cNvSpPr>
            <a:spLocks noChangeShapeType="1"/>
          </p:cNvSpPr>
          <p:nvPr/>
        </p:nvSpPr>
        <p:spPr bwMode="auto">
          <a:xfrm>
            <a:off x="6386513" y="2474913"/>
            <a:ext cx="1393825" cy="609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3868" name="Line 50"/>
          <p:cNvSpPr>
            <a:spLocks noChangeShapeType="1"/>
          </p:cNvSpPr>
          <p:nvPr/>
        </p:nvSpPr>
        <p:spPr bwMode="auto">
          <a:xfrm>
            <a:off x="7758113" y="2322513"/>
            <a:ext cx="1587" cy="7620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3869" name="Line 51"/>
          <p:cNvSpPr>
            <a:spLocks noChangeShapeType="1"/>
          </p:cNvSpPr>
          <p:nvPr/>
        </p:nvSpPr>
        <p:spPr bwMode="auto">
          <a:xfrm>
            <a:off x="6386513" y="1865313"/>
            <a:ext cx="1587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3870" name="Line 52"/>
          <p:cNvSpPr>
            <a:spLocks noChangeShapeType="1"/>
          </p:cNvSpPr>
          <p:nvPr/>
        </p:nvSpPr>
        <p:spPr bwMode="auto">
          <a:xfrm flipV="1">
            <a:off x="6386513" y="1789113"/>
            <a:ext cx="1393825" cy="685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3871" name="Line 53"/>
          <p:cNvSpPr>
            <a:spLocks noChangeShapeType="1"/>
          </p:cNvSpPr>
          <p:nvPr/>
        </p:nvSpPr>
        <p:spPr bwMode="auto">
          <a:xfrm flipH="1">
            <a:off x="7758113" y="1789113"/>
            <a:ext cx="1587" cy="609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3872" name="Text Box 54"/>
          <p:cNvSpPr txBox="1">
            <a:spLocks noChangeArrowheads="1"/>
          </p:cNvSpPr>
          <p:nvPr/>
        </p:nvSpPr>
        <p:spPr bwMode="auto">
          <a:xfrm>
            <a:off x="7224713" y="3846513"/>
            <a:ext cx="390525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a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3873" name="Text Box 55"/>
          <p:cNvSpPr txBox="1">
            <a:spLocks noChangeArrowheads="1"/>
          </p:cNvSpPr>
          <p:nvPr/>
        </p:nvSpPr>
        <p:spPr bwMode="auto">
          <a:xfrm>
            <a:off x="6005513" y="3313113"/>
            <a:ext cx="373062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b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3874" name="Text Box 56"/>
          <p:cNvSpPr txBox="1">
            <a:spLocks noChangeArrowheads="1"/>
          </p:cNvSpPr>
          <p:nvPr/>
        </p:nvSpPr>
        <p:spPr bwMode="auto">
          <a:xfrm>
            <a:off x="6835775" y="3313113"/>
            <a:ext cx="349250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c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3875" name="Text Box 57"/>
          <p:cNvSpPr txBox="1">
            <a:spLocks noChangeArrowheads="1"/>
          </p:cNvSpPr>
          <p:nvPr/>
        </p:nvSpPr>
        <p:spPr bwMode="auto">
          <a:xfrm>
            <a:off x="7431088" y="3313113"/>
            <a:ext cx="390525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d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3876" name="Text Box 58"/>
          <p:cNvSpPr txBox="1">
            <a:spLocks noChangeArrowheads="1"/>
          </p:cNvSpPr>
          <p:nvPr/>
        </p:nvSpPr>
        <p:spPr bwMode="auto">
          <a:xfrm>
            <a:off x="8139113" y="3313113"/>
            <a:ext cx="344487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e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3877" name="Text Box 59"/>
          <p:cNvSpPr txBox="1">
            <a:spLocks noChangeArrowheads="1"/>
          </p:cNvSpPr>
          <p:nvPr/>
        </p:nvSpPr>
        <p:spPr bwMode="auto">
          <a:xfrm>
            <a:off x="5984875" y="2779713"/>
            <a:ext cx="304800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f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3878" name="Text Box 60"/>
          <p:cNvSpPr txBox="1">
            <a:spLocks noChangeArrowheads="1"/>
          </p:cNvSpPr>
          <p:nvPr/>
        </p:nvSpPr>
        <p:spPr bwMode="auto">
          <a:xfrm>
            <a:off x="7766050" y="2779713"/>
            <a:ext cx="373063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g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3879" name="Text Box 61"/>
          <p:cNvSpPr txBox="1">
            <a:spLocks noChangeArrowheads="1"/>
          </p:cNvSpPr>
          <p:nvPr/>
        </p:nvSpPr>
        <p:spPr bwMode="auto">
          <a:xfrm>
            <a:off x="5902325" y="2170113"/>
            <a:ext cx="396875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h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3880" name="Text Box 62"/>
          <p:cNvSpPr txBox="1">
            <a:spLocks noChangeArrowheads="1"/>
          </p:cNvSpPr>
          <p:nvPr/>
        </p:nvSpPr>
        <p:spPr bwMode="auto">
          <a:xfrm>
            <a:off x="7758113" y="2170113"/>
            <a:ext cx="304800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i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3881" name="Text Box 63"/>
          <p:cNvSpPr txBox="1">
            <a:spLocks noChangeArrowheads="1"/>
          </p:cNvSpPr>
          <p:nvPr/>
        </p:nvSpPr>
        <p:spPr bwMode="auto">
          <a:xfrm>
            <a:off x="5946775" y="1560513"/>
            <a:ext cx="384175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j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3882" name="Text Box 64"/>
          <p:cNvSpPr txBox="1">
            <a:spLocks noChangeArrowheads="1"/>
          </p:cNvSpPr>
          <p:nvPr/>
        </p:nvSpPr>
        <p:spPr bwMode="auto">
          <a:xfrm>
            <a:off x="7758113" y="1484313"/>
            <a:ext cx="384175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k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82369" name="Text Box 65"/>
          <p:cNvSpPr txBox="1">
            <a:spLocks noChangeArrowheads="1"/>
          </p:cNvSpPr>
          <p:nvPr/>
        </p:nvSpPr>
        <p:spPr bwMode="auto">
          <a:xfrm>
            <a:off x="1789113" y="3263900"/>
            <a:ext cx="1779587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latin typeface="宋体" panose="02010600030101010101" pitchFamily="2" charset="-122"/>
              </a:rPr>
              <a:t>:</a:t>
            </a:r>
            <a:r>
              <a:rPr kumimoji="1" lang="en-US" altLang="zh-CN" sz="2800" b="1" i="1">
                <a:latin typeface="Century Schoolbook" pitchFamily="18" charset="0"/>
              </a:rPr>
              <a:t>f, g</a:t>
            </a:r>
            <a:endParaRPr kumimoji="1" lang="en-US" altLang="zh-CN" sz="2800" b="1">
              <a:latin typeface="宋体" panose="02010600030101010101" pitchFamily="2" charset="-122"/>
            </a:endParaRPr>
          </a:p>
        </p:txBody>
      </p:sp>
      <p:sp>
        <p:nvSpPr>
          <p:cNvPr id="482370" name="Text Box 66"/>
          <p:cNvSpPr txBox="1">
            <a:spLocks noChangeArrowheads="1"/>
          </p:cNvSpPr>
          <p:nvPr/>
        </p:nvSpPr>
        <p:spPr bwMode="auto">
          <a:xfrm>
            <a:off x="1747838" y="4013200"/>
            <a:ext cx="1398587" cy="696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latin typeface="宋体" panose="02010600030101010101" pitchFamily="2" charset="-122"/>
              </a:rPr>
              <a:t>:</a:t>
            </a:r>
            <a:r>
              <a:rPr kumimoji="1" lang="en-US" altLang="zh-CN" sz="2800" b="1" i="1">
                <a:latin typeface="Century Schoolbook" pitchFamily="18" charset="0"/>
              </a:rPr>
              <a:t>b,a,e</a:t>
            </a:r>
            <a:endParaRPr kumimoji="1" lang="en-US" altLang="zh-CN" sz="2800" b="1">
              <a:latin typeface="宋体" panose="02010600030101010101" pitchFamily="2" charset="-122"/>
            </a:endParaRPr>
          </a:p>
        </p:txBody>
      </p:sp>
      <p:sp>
        <p:nvSpPr>
          <p:cNvPr id="482371" name="Text Box 67"/>
          <p:cNvSpPr txBox="1">
            <a:spLocks noChangeArrowheads="1"/>
          </p:cNvSpPr>
          <p:nvPr/>
        </p:nvSpPr>
        <p:spPr bwMode="auto">
          <a:xfrm>
            <a:off x="1511300" y="4809010"/>
            <a:ext cx="1323975" cy="607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latin typeface="宋体" panose="02010600030101010101" pitchFamily="2" charset="-122"/>
              </a:rPr>
              <a:t>:</a:t>
            </a:r>
            <a:r>
              <a:rPr kumimoji="1" lang="zh-CN" altLang="en-US" sz="2800" b="1" dirty="0">
                <a:latin typeface="+mn-ea"/>
                <a:ea typeface="+mn-ea"/>
              </a:rPr>
              <a:t>无</a:t>
            </a:r>
          </a:p>
        </p:txBody>
      </p:sp>
      <p:sp>
        <p:nvSpPr>
          <p:cNvPr id="482372" name="Text Box 68"/>
          <p:cNvSpPr txBox="1">
            <a:spLocks noChangeArrowheads="1"/>
          </p:cNvSpPr>
          <p:nvPr/>
        </p:nvSpPr>
        <p:spPr bwMode="auto">
          <a:xfrm>
            <a:off x="1890713" y="5397973"/>
            <a:ext cx="661987" cy="607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latin typeface="+mn-ea"/>
                <a:ea typeface="+mn-ea"/>
              </a:rPr>
              <a:t>无</a:t>
            </a:r>
          </a:p>
        </p:txBody>
      </p:sp>
      <p:sp>
        <p:nvSpPr>
          <p:cNvPr id="163887" name="Oval 107"/>
          <p:cNvSpPr>
            <a:spLocks noChangeArrowheads="1"/>
          </p:cNvSpPr>
          <p:nvPr/>
        </p:nvSpPr>
        <p:spPr bwMode="auto">
          <a:xfrm>
            <a:off x="7072313" y="4075113"/>
            <a:ext cx="127000" cy="104775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88" name="Oval 108"/>
          <p:cNvSpPr>
            <a:spLocks noChangeArrowheads="1"/>
          </p:cNvSpPr>
          <p:nvPr/>
        </p:nvSpPr>
        <p:spPr bwMode="auto">
          <a:xfrm>
            <a:off x="8040688" y="3541713"/>
            <a:ext cx="127000" cy="144462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89" name="Oval 109"/>
          <p:cNvSpPr>
            <a:spLocks noChangeArrowheads="1"/>
          </p:cNvSpPr>
          <p:nvPr/>
        </p:nvSpPr>
        <p:spPr bwMode="auto">
          <a:xfrm>
            <a:off x="7354888" y="3541713"/>
            <a:ext cx="127000" cy="144462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90" name="Oval 110"/>
          <p:cNvSpPr>
            <a:spLocks noChangeArrowheads="1"/>
          </p:cNvSpPr>
          <p:nvPr/>
        </p:nvSpPr>
        <p:spPr bwMode="auto">
          <a:xfrm>
            <a:off x="6683375" y="3541713"/>
            <a:ext cx="127000" cy="144462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91" name="Oval 111"/>
          <p:cNvSpPr>
            <a:spLocks noChangeArrowheads="1"/>
          </p:cNvSpPr>
          <p:nvPr/>
        </p:nvSpPr>
        <p:spPr bwMode="auto">
          <a:xfrm>
            <a:off x="5921375" y="3541713"/>
            <a:ext cx="127000" cy="144462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92" name="Oval 112"/>
          <p:cNvSpPr>
            <a:spLocks noChangeArrowheads="1"/>
          </p:cNvSpPr>
          <p:nvPr/>
        </p:nvSpPr>
        <p:spPr bwMode="auto">
          <a:xfrm>
            <a:off x="6324600" y="3008313"/>
            <a:ext cx="127000" cy="144462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93" name="Oval 113"/>
          <p:cNvSpPr>
            <a:spLocks noChangeArrowheads="1"/>
          </p:cNvSpPr>
          <p:nvPr/>
        </p:nvSpPr>
        <p:spPr bwMode="auto">
          <a:xfrm>
            <a:off x="7681913" y="3008313"/>
            <a:ext cx="127000" cy="144462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94" name="Line 114"/>
          <p:cNvSpPr>
            <a:spLocks noChangeShapeType="1"/>
          </p:cNvSpPr>
          <p:nvPr/>
        </p:nvSpPr>
        <p:spPr bwMode="auto">
          <a:xfrm>
            <a:off x="6767513" y="3617913"/>
            <a:ext cx="309562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3895" name="Line 115"/>
          <p:cNvSpPr>
            <a:spLocks noChangeShapeType="1"/>
          </p:cNvSpPr>
          <p:nvPr/>
        </p:nvSpPr>
        <p:spPr bwMode="auto">
          <a:xfrm flipH="1">
            <a:off x="7148513" y="3617913"/>
            <a:ext cx="309562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3896" name="Line 116"/>
          <p:cNvSpPr>
            <a:spLocks noChangeShapeType="1"/>
          </p:cNvSpPr>
          <p:nvPr/>
        </p:nvSpPr>
        <p:spPr bwMode="auto">
          <a:xfrm flipH="1">
            <a:off x="5943600" y="3084513"/>
            <a:ext cx="465138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3897" name="Line 117"/>
          <p:cNvSpPr>
            <a:spLocks noChangeShapeType="1"/>
          </p:cNvSpPr>
          <p:nvPr/>
        </p:nvSpPr>
        <p:spPr bwMode="auto">
          <a:xfrm>
            <a:off x="6400800" y="3084513"/>
            <a:ext cx="387350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3898" name="Line 118"/>
          <p:cNvSpPr>
            <a:spLocks noChangeShapeType="1"/>
          </p:cNvSpPr>
          <p:nvPr/>
        </p:nvSpPr>
        <p:spPr bwMode="auto">
          <a:xfrm flipH="1">
            <a:off x="7453313" y="3084513"/>
            <a:ext cx="309562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3899" name="Line 119"/>
          <p:cNvSpPr>
            <a:spLocks noChangeShapeType="1"/>
          </p:cNvSpPr>
          <p:nvPr/>
        </p:nvSpPr>
        <p:spPr bwMode="auto">
          <a:xfrm>
            <a:off x="7758113" y="3084513"/>
            <a:ext cx="387350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2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2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2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2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16" grpId="0" autoUpdateAnimBg="0"/>
      <p:bldP spid="482317" grpId="0" autoUpdateAnimBg="0"/>
      <p:bldP spid="482321" grpId="0" autoUpdateAnimBg="0"/>
      <p:bldP spid="482322" grpId="0" autoUpdateAnimBg="0"/>
      <p:bldP spid="482369" grpId="0" autoUpdateAnimBg="0"/>
      <p:bldP spid="482370" grpId="0" autoUpdateAnimBg="0"/>
      <p:bldP spid="482371" grpId="0" autoUpdateAnimBg="0"/>
      <p:bldP spid="482372" grpId="0" autoUpdateAnimBg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1D29A21-841B-468C-B8DC-A305D0A5915F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107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42528" y="38100"/>
            <a:ext cx="8002588" cy="1100138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特殊元素的性质</a:t>
            </a:r>
          </a:p>
        </p:txBody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5600" y="1313557"/>
            <a:ext cx="8680896" cy="3886200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/>
              <a:t>对于有穷集，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极小元和极大元必存在</a:t>
            </a:r>
            <a:r>
              <a:rPr lang="zh-CN" altLang="en-US" sz="2800" b="1" dirty="0"/>
              <a:t>，可能存在 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 dirty="0"/>
              <a:t>    多个。</a:t>
            </a:r>
            <a:endParaRPr lang="en-US" altLang="zh-CN" sz="2800" b="1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最小元和最大元不一定存在</a:t>
            </a:r>
            <a:r>
              <a:rPr lang="zh-CN" altLang="en-US" sz="2800" b="1" dirty="0"/>
              <a:t>，如果存在一定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惟一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  <a:endParaRPr lang="en-US" altLang="zh-CN" sz="2800" b="1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/>
              <a:t>最小元一定是极小元；最大元一定是极大元。</a:t>
            </a:r>
            <a:endParaRPr lang="en-US" altLang="zh-CN" sz="2800" b="1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/>
              <a:t>孤立结点既是极小元，也是极大元。</a:t>
            </a:r>
            <a:endParaRPr lang="en-US" altLang="zh-CN" sz="2800" b="1" dirty="0"/>
          </a:p>
          <a:p>
            <a:pPr>
              <a:buFont typeface="Wingdings" panose="05000000000000000000" pitchFamily="2" charset="2"/>
              <a:buNone/>
            </a:pPr>
            <a:endParaRPr lang="en-US" altLang="zh-CN" sz="2800" dirty="0"/>
          </a:p>
        </p:txBody>
      </p:sp>
      <p:sp>
        <p:nvSpPr>
          <p:cNvPr id="5" name="Text Box 48"/>
          <p:cNvSpPr txBox="1">
            <a:spLocks noChangeArrowheads="1"/>
          </p:cNvSpPr>
          <p:nvPr/>
        </p:nvSpPr>
        <p:spPr bwMode="auto">
          <a:xfrm>
            <a:off x="467544" y="4653136"/>
            <a:ext cx="8077200" cy="960263"/>
          </a:xfrm>
          <a:prstGeom prst="rect">
            <a:avLst/>
          </a:prstGeom>
          <a:solidFill>
            <a:srgbClr val="CCFFCC">
              <a:alpha val="50195"/>
            </a:srgbClr>
          </a:solidFill>
          <a:ln w="28575">
            <a:solidFill>
              <a:srgbClr val="33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95885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588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5885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588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5885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800000"/>
                </a:solidFill>
                <a:latin typeface="+mn-ea"/>
                <a:ea typeface="+mn-ea"/>
              </a:rPr>
              <a:t>B</a:t>
            </a:r>
            <a:r>
              <a:rPr kumimoji="1" lang="zh-CN" altLang="en-US" sz="2400" b="1" dirty="0">
                <a:solidFill>
                  <a:srgbClr val="800000"/>
                </a:solidFill>
                <a:latin typeface="+mn-ea"/>
                <a:ea typeface="+mn-ea"/>
              </a:rPr>
              <a:t>的极小</a:t>
            </a:r>
            <a:r>
              <a:rPr kumimoji="1" lang="en-US" altLang="zh-CN" sz="2400" b="1" dirty="0">
                <a:solidFill>
                  <a:srgbClr val="800000"/>
                </a:solidFill>
                <a:latin typeface="+mn-ea"/>
                <a:ea typeface="+mn-ea"/>
              </a:rPr>
              <a:t>(</a:t>
            </a:r>
            <a:r>
              <a:rPr kumimoji="1" lang="zh-CN" altLang="en-US" sz="2400" b="1" dirty="0">
                <a:solidFill>
                  <a:srgbClr val="800000"/>
                </a:solidFill>
                <a:latin typeface="+mn-ea"/>
                <a:ea typeface="+mn-ea"/>
              </a:rPr>
              <a:t>大</a:t>
            </a:r>
            <a:r>
              <a:rPr kumimoji="1" lang="en-US" altLang="zh-CN" sz="2400" b="1" dirty="0">
                <a:solidFill>
                  <a:srgbClr val="800000"/>
                </a:solidFill>
                <a:latin typeface="+mn-ea"/>
                <a:ea typeface="+mn-ea"/>
              </a:rPr>
              <a:t>)</a:t>
            </a:r>
            <a:r>
              <a:rPr kumimoji="1" lang="zh-CN" altLang="en-US" sz="2400" b="1" dirty="0">
                <a:solidFill>
                  <a:srgbClr val="800000"/>
                </a:solidFill>
                <a:latin typeface="+mn-ea"/>
                <a:ea typeface="+mn-ea"/>
              </a:rPr>
              <a:t>元</a:t>
            </a:r>
            <a:r>
              <a:rPr kumimoji="1" lang="en-US" altLang="zh-CN" sz="2400" b="1" dirty="0">
                <a:solidFill>
                  <a:srgbClr val="800000"/>
                </a:solidFill>
                <a:latin typeface="+mn-ea"/>
                <a:ea typeface="+mn-ea"/>
              </a:rPr>
              <a:t>:B</a:t>
            </a:r>
            <a:r>
              <a:rPr kumimoji="1" lang="zh-CN" altLang="en-US" sz="2400" b="1" dirty="0">
                <a:solidFill>
                  <a:srgbClr val="800000"/>
                </a:solidFill>
                <a:latin typeface="+mn-ea"/>
                <a:ea typeface="+mn-ea"/>
              </a:rPr>
              <a:t>中</a:t>
            </a:r>
            <a:r>
              <a:rPr kumimoji="1" lang="zh-CN" altLang="en-US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与其有链相连的点</a:t>
            </a:r>
            <a:r>
              <a:rPr kumimoji="1" lang="zh-CN" altLang="en-US" sz="2400" b="1" dirty="0">
                <a:solidFill>
                  <a:srgbClr val="800000"/>
                </a:solidFill>
                <a:latin typeface="+mn-ea"/>
                <a:ea typeface="+mn-ea"/>
              </a:rPr>
              <a:t>均在其上</a:t>
            </a:r>
            <a:r>
              <a:rPr kumimoji="1" lang="en-US" altLang="zh-CN" sz="2400" b="1" dirty="0">
                <a:solidFill>
                  <a:srgbClr val="800000"/>
                </a:solidFill>
                <a:latin typeface="+mn-ea"/>
                <a:ea typeface="+mn-ea"/>
              </a:rPr>
              <a:t>(</a:t>
            </a:r>
            <a:r>
              <a:rPr kumimoji="1" lang="zh-CN" altLang="en-US" sz="2400" b="1" dirty="0">
                <a:solidFill>
                  <a:srgbClr val="800000"/>
                </a:solidFill>
                <a:latin typeface="+mn-ea"/>
                <a:ea typeface="+mn-ea"/>
              </a:rPr>
              <a:t>下</a:t>
            </a:r>
            <a:r>
              <a:rPr kumimoji="1" lang="en-US" altLang="zh-CN" sz="2400" b="1" dirty="0">
                <a:solidFill>
                  <a:srgbClr val="800000"/>
                </a:solidFill>
                <a:latin typeface="+mn-ea"/>
                <a:ea typeface="+mn-ea"/>
              </a:rPr>
              <a:t>)</a:t>
            </a:r>
            <a:r>
              <a:rPr kumimoji="1" lang="zh-CN" altLang="en-US" sz="2400" b="1" dirty="0">
                <a:solidFill>
                  <a:srgbClr val="800000"/>
                </a:solidFill>
                <a:latin typeface="+mn-ea"/>
                <a:ea typeface="+mn-ea"/>
              </a:rPr>
              <a:t>方</a:t>
            </a:r>
            <a:endParaRPr kumimoji="1" lang="en-US" altLang="zh-CN" sz="2400" b="1" dirty="0">
              <a:solidFill>
                <a:srgbClr val="800000"/>
              </a:solidFill>
              <a:latin typeface="+mn-ea"/>
              <a:ea typeface="+mn-ea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800000"/>
                </a:solidFill>
                <a:latin typeface="+mn-ea"/>
                <a:ea typeface="+mn-ea"/>
              </a:rPr>
              <a:t>B</a:t>
            </a:r>
            <a:r>
              <a:rPr kumimoji="1" lang="zh-CN" altLang="en-US" sz="2400" b="1" dirty="0">
                <a:solidFill>
                  <a:srgbClr val="800000"/>
                </a:solidFill>
                <a:latin typeface="+mn-ea"/>
                <a:ea typeface="+mn-ea"/>
              </a:rPr>
              <a:t>的最小</a:t>
            </a:r>
            <a:r>
              <a:rPr kumimoji="1" lang="en-US" altLang="zh-CN" sz="2400" b="1" dirty="0">
                <a:solidFill>
                  <a:srgbClr val="800000"/>
                </a:solidFill>
                <a:latin typeface="+mn-ea"/>
                <a:ea typeface="+mn-ea"/>
              </a:rPr>
              <a:t>(</a:t>
            </a:r>
            <a:r>
              <a:rPr kumimoji="1" lang="zh-CN" altLang="en-US" sz="2400" b="1" dirty="0">
                <a:solidFill>
                  <a:srgbClr val="800000"/>
                </a:solidFill>
                <a:latin typeface="+mn-ea"/>
                <a:ea typeface="+mn-ea"/>
              </a:rPr>
              <a:t>大</a:t>
            </a:r>
            <a:r>
              <a:rPr kumimoji="1" lang="en-US" altLang="zh-CN" sz="2400" b="1" dirty="0">
                <a:solidFill>
                  <a:srgbClr val="800000"/>
                </a:solidFill>
                <a:latin typeface="+mn-ea"/>
                <a:ea typeface="+mn-ea"/>
              </a:rPr>
              <a:t>)</a:t>
            </a:r>
            <a:r>
              <a:rPr kumimoji="1" lang="zh-CN" altLang="en-US" sz="2400" b="1" dirty="0">
                <a:solidFill>
                  <a:srgbClr val="800000"/>
                </a:solidFill>
                <a:latin typeface="+mn-ea"/>
                <a:ea typeface="+mn-ea"/>
              </a:rPr>
              <a:t>元</a:t>
            </a:r>
            <a:r>
              <a:rPr kumimoji="1" lang="en-US" altLang="zh-CN" sz="2400" b="1" dirty="0">
                <a:solidFill>
                  <a:srgbClr val="800000"/>
                </a:solidFill>
                <a:latin typeface="+mn-ea"/>
                <a:ea typeface="+mn-ea"/>
              </a:rPr>
              <a:t>:B</a:t>
            </a:r>
            <a:r>
              <a:rPr kumimoji="1" lang="zh-CN" altLang="en-US" sz="2400" b="1" dirty="0">
                <a:solidFill>
                  <a:srgbClr val="800000"/>
                </a:solidFill>
                <a:latin typeface="+mn-ea"/>
                <a:ea typeface="+mn-ea"/>
              </a:rPr>
              <a:t>中</a:t>
            </a:r>
            <a:r>
              <a:rPr kumimoji="1" lang="zh-CN" altLang="en-US" sz="24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所有点</a:t>
            </a:r>
            <a:r>
              <a:rPr kumimoji="1" lang="zh-CN" altLang="en-US" sz="2400" b="1" dirty="0">
                <a:solidFill>
                  <a:srgbClr val="800000"/>
                </a:solidFill>
                <a:latin typeface="+mn-ea"/>
                <a:ea typeface="+mn-ea"/>
              </a:rPr>
              <a:t>均有链与其相连且在其上</a:t>
            </a:r>
            <a:r>
              <a:rPr kumimoji="1" lang="en-US" altLang="zh-CN" sz="2400" b="1" dirty="0">
                <a:solidFill>
                  <a:srgbClr val="800000"/>
                </a:solidFill>
                <a:latin typeface="+mn-ea"/>
                <a:ea typeface="+mn-ea"/>
              </a:rPr>
              <a:t>(</a:t>
            </a:r>
            <a:r>
              <a:rPr kumimoji="1" lang="zh-CN" altLang="en-US" sz="2400" b="1" dirty="0">
                <a:solidFill>
                  <a:srgbClr val="800000"/>
                </a:solidFill>
                <a:latin typeface="+mn-ea"/>
                <a:ea typeface="+mn-ea"/>
              </a:rPr>
              <a:t>下</a:t>
            </a:r>
            <a:r>
              <a:rPr kumimoji="1" lang="en-US" altLang="zh-CN" sz="2400" b="1" dirty="0">
                <a:solidFill>
                  <a:srgbClr val="800000"/>
                </a:solidFill>
                <a:latin typeface="+mn-ea"/>
                <a:ea typeface="+mn-ea"/>
              </a:rPr>
              <a:t>)</a:t>
            </a:r>
            <a:r>
              <a:rPr kumimoji="1" lang="zh-CN" altLang="en-US" sz="2400" b="1" dirty="0">
                <a:solidFill>
                  <a:srgbClr val="800000"/>
                </a:solidFill>
                <a:latin typeface="+mn-ea"/>
                <a:ea typeface="+mn-ea"/>
              </a:rPr>
              <a:t>方</a:t>
            </a:r>
            <a:endParaRPr kumimoji="1" lang="zh-CN" altLang="en-US" sz="24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804248" y="6128971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6C4EB37-8E4D-462E-9113-0FD5F53DE826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108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33123" name="Text Box 2"/>
          <p:cNvSpPr txBox="1">
            <a:spLocks noChangeArrowheads="1"/>
          </p:cNvSpPr>
          <p:nvPr/>
        </p:nvSpPr>
        <p:spPr bwMode="auto">
          <a:xfrm>
            <a:off x="395759" y="1236663"/>
            <a:ext cx="8748241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sz="2800" b="1" dirty="0">
                <a:latin typeface="Times New Roman" panose="02020603050405020304" pitchFamily="18" charset="0"/>
              </a:rPr>
              <a:t>   </a:t>
            </a:r>
            <a:r>
              <a:rPr lang="zh-CN" altLang="en-US" b="1" dirty="0">
                <a:latin typeface="Times New Roman" panose="02020603050405020304" pitchFamily="18" charset="0"/>
              </a:rPr>
              <a:t>设</a:t>
            </a:r>
            <a:r>
              <a:rPr lang="en-US" altLang="zh-CN" b="1" dirty="0">
                <a:latin typeface="Times New Roman" panose="02020603050405020304" pitchFamily="18" charset="0"/>
              </a:rPr>
              <a:t>&lt;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≼&gt;</a:t>
            </a:r>
            <a:r>
              <a:rPr lang="zh-CN" altLang="en-US" b="1" dirty="0">
                <a:latin typeface="Times New Roman" panose="02020603050405020304" pitchFamily="18" charset="0"/>
              </a:rPr>
              <a:t>为偏序集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zh-CN" altLang="en-US" b="1" i="1" dirty="0">
                <a:latin typeface="Times New Roman" panose="02020603050405020304" pitchFamily="18" charset="0"/>
              </a:rPr>
              <a:t>，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r>
              <a:rPr lang="zh-CN" altLang="en-US" sz="2800" b="1" dirty="0">
                <a:solidFill>
                  <a:srgbClr val="00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solidFill>
                  <a:srgbClr val="00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≼</a:t>
            </a:r>
            <a:r>
              <a:rPr lang="en-US" altLang="zh-CN" sz="28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) </a:t>
            </a:r>
            <a:r>
              <a:rPr lang="zh-CN" altLang="en-US" sz="2800" b="1" dirty="0">
                <a:latin typeface="Times New Roman" panose="02020603050405020304" pitchFamily="18" charset="0"/>
              </a:rPr>
              <a:t>成立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上界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。</a:t>
            </a:r>
            <a:r>
              <a:rPr lang="en-US" altLang="zh-CN" sz="2800" b="1" dirty="0"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r>
              <a:rPr lang="zh-CN" altLang="en-US" sz="2800" b="1" dirty="0">
                <a:solidFill>
                  <a:srgbClr val="00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solidFill>
                  <a:srgbClr val="00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≼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) </a:t>
            </a:r>
            <a:r>
              <a:rPr lang="zh-CN" altLang="en-US" sz="2800" b="1" dirty="0">
                <a:latin typeface="Times New Roman" panose="02020603050405020304" pitchFamily="18" charset="0"/>
              </a:rPr>
              <a:t>成立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下界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(3) </a:t>
            </a:r>
            <a:r>
              <a:rPr lang="zh-CN" altLang="en-US" sz="2800" b="1" dirty="0">
                <a:latin typeface="+mn-ea"/>
                <a:ea typeface="+mn-ea"/>
              </a:rPr>
              <a:t>若存在</a:t>
            </a:r>
            <a:r>
              <a:rPr lang="en-US" altLang="zh-CN" sz="2800" b="1" dirty="0">
                <a:latin typeface="+mn-ea"/>
                <a:ea typeface="+mn-ea"/>
              </a:rPr>
              <a:t>B</a:t>
            </a:r>
            <a:r>
              <a:rPr lang="zh-CN" altLang="en-US" sz="2800" b="1" dirty="0">
                <a:latin typeface="+mn-ea"/>
                <a:ea typeface="+mn-ea"/>
              </a:rPr>
              <a:t>的上界</a:t>
            </a:r>
            <a:r>
              <a:rPr lang="en-US" altLang="zh-CN" sz="2800" b="1" i="1" dirty="0">
                <a:latin typeface="+mn-ea"/>
                <a:ea typeface="+mn-ea"/>
              </a:rPr>
              <a:t>a</a:t>
            </a:r>
            <a:r>
              <a:rPr lang="en-US" altLang="zh-CN" sz="2800" b="1" dirty="0">
                <a:latin typeface="+mn-ea"/>
                <a:ea typeface="+mn-ea"/>
              </a:rPr>
              <a:t>, </a:t>
            </a:r>
            <a:r>
              <a:rPr lang="zh-CN" altLang="en-US" sz="2800" b="1" dirty="0">
                <a:latin typeface="+mn-ea"/>
                <a:ea typeface="+mn-ea"/>
              </a:rPr>
              <a:t>对</a:t>
            </a:r>
            <a:r>
              <a:rPr lang="en-US" altLang="zh-CN" sz="2800" b="1" dirty="0">
                <a:latin typeface="+mn-ea"/>
                <a:ea typeface="+mn-ea"/>
              </a:rPr>
              <a:t>B</a:t>
            </a:r>
            <a:r>
              <a:rPr lang="zh-CN" altLang="en-US" sz="2800" b="1" dirty="0">
                <a:latin typeface="+mn-ea"/>
                <a:ea typeface="+mn-ea"/>
              </a:rPr>
              <a:t>的所有上界</a:t>
            </a:r>
            <a:r>
              <a:rPr lang="en-US" altLang="zh-CN" sz="2800" b="1" i="1" dirty="0">
                <a:latin typeface="+mn-ea"/>
                <a:ea typeface="+mn-ea"/>
              </a:rPr>
              <a:t>y, </a:t>
            </a:r>
            <a:r>
              <a:rPr lang="zh-CN" altLang="en-US" sz="2800" b="1" dirty="0">
                <a:latin typeface="+mn-ea"/>
                <a:ea typeface="+mn-ea"/>
              </a:rPr>
              <a:t>都有</a:t>
            </a:r>
            <a:r>
              <a:rPr lang="en-US" altLang="zh-CN" sz="28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a</a:t>
            </a:r>
            <a:r>
              <a:rPr lang="en-US" altLang="zh-CN" sz="2800" b="1" dirty="0" err="1">
                <a:latin typeface="+mn-ea"/>
                <a:ea typeface="+mn-ea"/>
                <a:sym typeface="Symbol" panose="05050102010706020507" pitchFamily="18" charset="2"/>
              </a:rPr>
              <a:t></a:t>
            </a:r>
            <a:r>
              <a:rPr lang="en-US" altLang="zh-CN" sz="2800" b="1" i="1" dirty="0" err="1">
                <a:latin typeface="+mn-ea"/>
                <a:ea typeface="+mn-ea"/>
                <a:sym typeface="Symbol" panose="05050102010706020507" pitchFamily="18" charset="2"/>
              </a:rPr>
              <a:t>y</a:t>
            </a:r>
            <a:r>
              <a:rPr lang="en-US" altLang="zh-CN" sz="2800" b="1" dirty="0">
                <a:latin typeface="+mn-ea"/>
                <a:ea typeface="+mn-ea"/>
              </a:rPr>
              <a:t>,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+mn-ea"/>
                <a:ea typeface="+mn-ea"/>
              </a:rPr>
              <a:t>   </a:t>
            </a:r>
            <a:r>
              <a:rPr lang="zh-CN" altLang="en-US" sz="2800" b="1" dirty="0">
                <a:latin typeface="+mn-ea"/>
                <a:ea typeface="+mn-ea"/>
              </a:rPr>
              <a:t>则称</a:t>
            </a:r>
            <a:r>
              <a:rPr lang="en-US" altLang="zh-CN" sz="2800" b="1" i="1" dirty="0">
                <a:latin typeface="+mn-ea"/>
                <a:ea typeface="+mn-ea"/>
              </a:rPr>
              <a:t>a</a:t>
            </a:r>
            <a:r>
              <a:rPr lang="zh-CN" altLang="en-US" sz="2800" b="1" dirty="0">
                <a:latin typeface="+mn-ea"/>
                <a:ea typeface="+mn-ea"/>
              </a:rPr>
              <a:t>为</a:t>
            </a:r>
            <a:r>
              <a:rPr lang="en-US" altLang="zh-CN" sz="2800" b="1" dirty="0">
                <a:latin typeface="+mn-ea"/>
                <a:ea typeface="+mn-ea"/>
              </a:rPr>
              <a:t>B</a:t>
            </a:r>
            <a:r>
              <a:rPr lang="zh-CN" altLang="en-US" sz="2800" b="1" dirty="0">
                <a:latin typeface="+mn-ea"/>
                <a:ea typeface="+mn-ea"/>
              </a:rPr>
              <a:t>的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最小上界</a:t>
            </a:r>
            <a:r>
              <a:rPr lang="en-US" altLang="zh-CN" sz="2800" b="1" dirty="0">
                <a:latin typeface="+mn-ea"/>
                <a:ea typeface="+mn-ea"/>
              </a:rPr>
              <a:t>(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上确界</a:t>
            </a:r>
            <a:r>
              <a:rPr lang="en-US" altLang="zh-CN" sz="2800" b="1" dirty="0">
                <a:latin typeface="+mn-ea"/>
                <a:ea typeface="+mn-ea"/>
              </a:rPr>
              <a:t>)</a:t>
            </a:r>
            <a:r>
              <a:rPr lang="zh-CN" altLang="en-US" sz="2800" b="1" dirty="0">
                <a:latin typeface="+mn-ea"/>
                <a:ea typeface="+mn-ea"/>
              </a:rPr>
              <a:t>。</a:t>
            </a:r>
            <a:r>
              <a:rPr lang="en-US" altLang="zh-CN" sz="2800" b="1" dirty="0"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(4) </a:t>
            </a:r>
            <a:r>
              <a:rPr lang="zh-CN" altLang="en-US" sz="2800" b="1" dirty="0">
                <a:latin typeface="+mn-ea"/>
                <a:ea typeface="+mn-ea"/>
              </a:rPr>
              <a:t>若存在</a:t>
            </a:r>
            <a:r>
              <a:rPr lang="en-US" altLang="zh-CN" sz="2800" b="1" dirty="0">
                <a:latin typeface="+mn-ea"/>
                <a:ea typeface="+mn-ea"/>
              </a:rPr>
              <a:t>B</a:t>
            </a:r>
            <a:r>
              <a:rPr lang="zh-CN" altLang="en-US" sz="2800" b="1" dirty="0">
                <a:latin typeface="+mn-ea"/>
                <a:ea typeface="+mn-ea"/>
              </a:rPr>
              <a:t>的下界</a:t>
            </a:r>
            <a:r>
              <a:rPr lang="en-US" altLang="zh-CN" sz="2800" b="1" i="1" dirty="0">
                <a:latin typeface="+mn-ea"/>
                <a:ea typeface="+mn-ea"/>
              </a:rPr>
              <a:t>b</a:t>
            </a:r>
            <a:r>
              <a:rPr lang="en-US" altLang="zh-CN" sz="2800" b="1" dirty="0">
                <a:latin typeface="+mn-ea"/>
                <a:ea typeface="+mn-ea"/>
              </a:rPr>
              <a:t>, </a:t>
            </a:r>
            <a:r>
              <a:rPr lang="zh-CN" altLang="en-US" sz="2800" b="1" dirty="0">
                <a:latin typeface="+mn-ea"/>
                <a:ea typeface="+mn-ea"/>
              </a:rPr>
              <a:t>对</a:t>
            </a:r>
            <a:r>
              <a:rPr lang="en-US" altLang="zh-CN" sz="2800" b="1" dirty="0">
                <a:latin typeface="+mn-ea"/>
                <a:ea typeface="+mn-ea"/>
              </a:rPr>
              <a:t>B</a:t>
            </a:r>
            <a:r>
              <a:rPr lang="zh-CN" altLang="en-US" sz="2800" b="1" dirty="0">
                <a:latin typeface="+mn-ea"/>
                <a:ea typeface="+mn-ea"/>
              </a:rPr>
              <a:t>的所有下界</a:t>
            </a:r>
            <a:r>
              <a:rPr lang="en-US" altLang="zh-CN" sz="2800" b="1" i="1" dirty="0">
                <a:latin typeface="+mn-ea"/>
                <a:ea typeface="+mn-ea"/>
              </a:rPr>
              <a:t>z, </a:t>
            </a:r>
            <a:r>
              <a:rPr lang="zh-CN" altLang="en-US" sz="2800" b="1" dirty="0">
                <a:latin typeface="+mn-ea"/>
                <a:ea typeface="+mn-ea"/>
              </a:rPr>
              <a:t>都有</a:t>
            </a:r>
            <a:r>
              <a:rPr lang="en-US" altLang="zh-CN" sz="2800" b="1" i="1" dirty="0" err="1">
                <a:latin typeface="+mn-ea"/>
                <a:ea typeface="+mn-ea"/>
                <a:sym typeface="Symbol" panose="05050102010706020507" pitchFamily="18" charset="2"/>
              </a:rPr>
              <a:t>z</a:t>
            </a:r>
            <a:r>
              <a:rPr lang="en-US" altLang="zh-CN" sz="2800" b="1" dirty="0" err="1">
                <a:latin typeface="+mn-ea"/>
                <a:ea typeface="+mn-ea"/>
                <a:sym typeface="Symbol" panose="05050102010706020507" pitchFamily="18" charset="2"/>
              </a:rPr>
              <a:t></a:t>
            </a:r>
            <a:r>
              <a:rPr lang="en-US" altLang="zh-CN" sz="28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b</a:t>
            </a:r>
            <a:r>
              <a:rPr lang="en-US" altLang="zh-CN" sz="2800" b="1" dirty="0">
                <a:latin typeface="+mn-ea"/>
                <a:ea typeface="+mn-ea"/>
              </a:rPr>
              <a:t>,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+mn-ea"/>
                <a:ea typeface="+mn-ea"/>
              </a:rPr>
              <a:t>   </a:t>
            </a:r>
            <a:r>
              <a:rPr lang="zh-CN" altLang="en-US" sz="2800" b="1" dirty="0">
                <a:latin typeface="+mn-ea"/>
                <a:ea typeface="+mn-ea"/>
              </a:rPr>
              <a:t>则称</a:t>
            </a:r>
            <a:r>
              <a:rPr lang="en-US" altLang="zh-CN" sz="2800" b="1" i="1" dirty="0">
                <a:latin typeface="+mn-ea"/>
                <a:ea typeface="+mn-ea"/>
              </a:rPr>
              <a:t>b</a:t>
            </a:r>
            <a:r>
              <a:rPr lang="zh-CN" altLang="en-US" sz="2800" b="1" dirty="0">
                <a:latin typeface="+mn-ea"/>
                <a:ea typeface="+mn-ea"/>
              </a:rPr>
              <a:t>为</a:t>
            </a:r>
            <a:r>
              <a:rPr lang="en-US" altLang="zh-CN" sz="2800" b="1" dirty="0">
                <a:latin typeface="+mn-ea"/>
                <a:ea typeface="+mn-ea"/>
              </a:rPr>
              <a:t>B</a:t>
            </a:r>
            <a:r>
              <a:rPr lang="zh-CN" altLang="en-US" sz="2800" b="1" dirty="0">
                <a:latin typeface="+mn-ea"/>
                <a:ea typeface="+mn-ea"/>
              </a:rPr>
              <a:t>的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最大下界</a:t>
            </a:r>
            <a:r>
              <a:rPr lang="en-US" altLang="zh-CN" sz="2800" b="1" dirty="0">
                <a:latin typeface="+mn-ea"/>
                <a:ea typeface="+mn-ea"/>
              </a:rPr>
              <a:t>(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下确界</a:t>
            </a:r>
            <a:r>
              <a:rPr lang="en-US" altLang="zh-CN" sz="2800" b="1" dirty="0">
                <a:latin typeface="+mn-ea"/>
                <a:ea typeface="+mn-ea"/>
              </a:rPr>
              <a:t>)</a:t>
            </a:r>
            <a:r>
              <a:rPr lang="zh-CN" altLang="en-US" sz="2800" b="1" dirty="0">
                <a:latin typeface="+mn-ea"/>
                <a:ea typeface="+mn-ea"/>
              </a:rPr>
              <a:t>。</a:t>
            </a:r>
            <a:endParaRPr lang="en-US" altLang="zh-CN" sz="2800" b="1" dirty="0">
              <a:latin typeface="+mn-ea"/>
              <a:ea typeface="+mn-ea"/>
            </a:endParaRPr>
          </a:p>
        </p:txBody>
      </p:sp>
      <p:sp>
        <p:nvSpPr>
          <p:cNvPr id="254979" name="Rectangle 3"/>
          <p:cNvSpPr>
            <a:spLocks noGrp="1" noChangeArrowheads="1"/>
          </p:cNvSpPr>
          <p:nvPr>
            <p:ph type="title"/>
          </p:nvPr>
        </p:nvSpPr>
        <p:spPr>
          <a:xfrm>
            <a:off x="323528" y="12700"/>
            <a:ext cx="8064500" cy="1223963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偏序集的特定元素</a:t>
            </a:r>
            <a:r>
              <a:rPr lang="en-US" altLang="zh-CN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续</a:t>
            </a:r>
            <a:r>
              <a:rPr lang="en-US" altLang="zh-CN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15" name="Text Box 11"/>
          <p:cNvSpPr txBox="1">
            <a:spLocks noChangeArrowheads="1"/>
          </p:cNvSpPr>
          <p:nvPr/>
        </p:nvSpPr>
        <p:spPr bwMode="auto">
          <a:xfrm>
            <a:off x="381000" y="1143000"/>
            <a:ext cx="403860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Century Schoolbook" pitchFamily="18" charset="0"/>
              </a:rPr>
              <a:t>1) B</a:t>
            </a:r>
            <a:r>
              <a:rPr kumimoji="1" lang="en-US" altLang="zh-CN" sz="2400" b="1" i="1">
                <a:latin typeface="Century Schoolbook" pitchFamily="18" charset="0"/>
              </a:rPr>
              <a:t>=</a:t>
            </a:r>
            <a:r>
              <a:rPr kumimoji="1" lang="en-US" altLang="zh-CN" sz="2400" b="1">
                <a:latin typeface="Century Schoolbook" pitchFamily="18" charset="0"/>
              </a:rPr>
              <a:t>{ </a:t>
            </a:r>
            <a:r>
              <a:rPr kumimoji="1" lang="en-US" altLang="zh-CN" sz="2400" b="1" i="1">
                <a:latin typeface="Century Schoolbook" pitchFamily="18" charset="0"/>
              </a:rPr>
              <a:t>a, b, c, d, e, f, g</a:t>
            </a:r>
            <a:r>
              <a:rPr kumimoji="1" lang="en-US" altLang="zh-CN" sz="2400" b="1">
                <a:latin typeface="Century Schoolbook" pitchFamily="18" charset="0"/>
              </a:rPr>
              <a:t> } </a:t>
            </a:r>
          </a:p>
        </p:txBody>
      </p:sp>
      <p:sp>
        <p:nvSpPr>
          <p:cNvPr id="482316" name="Text Box 12"/>
          <p:cNvSpPr txBox="1">
            <a:spLocks noChangeArrowheads="1"/>
          </p:cNvSpPr>
          <p:nvPr/>
        </p:nvSpPr>
        <p:spPr bwMode="auto">
          <a:xfrm>
            <a:off x="685800" y="1600200"/>
            <a:ext cx="220980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宋体" panose="02010600030101010101" pitchFamily="2" charset="-122"/>
              </a:rPr>
              <a:t>极大元</a:t>
            </a:r>
          </a:p>
        </p:txBody>
      </p:sp>
      <p:sp>
        <p:nvSpPr>
          <p:cNvPr id="482317" name="Text Box 13"/>
          <p:cNvSpPr txBox="1">
            <a:spLocks noChangeArrowheads="1"/>
          </p:cNvSpPr>
          <p:nvPr/>
        </p:nvSpPr>
        <p:spPr bwMode="auto">
          <a:xfrm>
            <a:off x="533400" y="2057400"/>
            <a:ext cx="137160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最大元</a:t>
            </a:r>
          </a:p>
        </p:txBody>
      </p:sp>
      <p:sp>
        <p:nvSpPr>
          <p:cNvPr id="482318" name="Text Box 14"/>
          <p:cNvSpPr txBox="1">
            <a:spLocks noChangeArrowheads="1"/>
          </p:cNvSpPr>
          <p:nvPr/>
        </p:nvSpPr>
        <p:spPr bwMode="auto">
          <a:xfrm>
            <a:off x="692838" y="2584317"/>
            <a:ext cx="820738" cy="519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上界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:</a:t>
            </a:r>
            <a:endParaRPr kumimoji="1" lang="en-US" altLang="zh-CN" sz="2400" b="1" i="1" dirty="0">
              <a:latin typeface="Century Schoolbook" pitchFamily="18" charset="0"/>
              <a:sym typeface="Symbol" panose="05050102010706020507" pitchFamily="18" charset="2"/>
            </a:endParaRPr>
          </a:p>
        </p:txBody>
      </p:sp>
      <p:sp>
        <p:nvSpPr>
          <p:cNvPr id="482319" name="Text Box 15"/>
          <p:cNvSpPr txBox="1">
            <a:spLocks noChangeArrowheads="1"/>
          </p:cNvSpPr>
          <p:nvPr/>
        </p:nvSpPr>
        <p:spPr bwMode="auto">
          <a:xfrm>
            <a:off x="2819400" y="2590800"/>
            <a:ext cx="990600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下界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:</a:t>
            </a:r>
            <a:endParaRPr kumimoji="1" lang="en-US" altLang="zh-CN" sz="2400" b="1" dirty="0">
              <a:latin typeface="Century Schoolbook" pitchFamily="18" charset="0"/>
              <a:sym typeface="Symbol" panose="05050102010706020507" pitchFamily="18" charset="2"/>
            </a:endParaRPr>
          </a:p>
        </p:txBody>
      </p:sp>
      <p:sp>
        <p:nvSpPr>
          <p:cNvPr id="168967" name="Rectangle 16"/>
          <p:cNvSpPr>
            <a:spLocks noChangeArrowheads="1"/>
          </p:cNvSpPr>
          <p:nvPr/>
        </p:nvSpPr>
        <p:spPr bwMode="auto">
          <a:xfrm>
            <a:off x="134144" y="576443"/>
            <a:ext cx="5246688" cy="545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例如 </a:t>
            </a:r>
            <a:r>
              <a:rPr kumimoji="1"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&lt;A, </a:t>
            </a:r>
            <a:r>
              <a:rPr kumimoji="1"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kumimoji="1" lang="en-US" altLang="zh-CN" sz="9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 </a:t>
            </a:r>
            <a:r>
              <a:rPr kumimoji="1"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&gt;</a:t>
            </a:r>
            <a:r>
              <a:rPr kumimoji="1"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的哈斯图如图所示</a:t>
            </a:r>
          </a:p>
        </p:txBody>
      </p:sp>
      <p:sp>
        <p:nvSpPr>
          <p:cNvPr id="482321" name="Text Box 17"/>
          <p:cNvSpPr txBox="1">
            <a:spLocks noChangeArrowheads="1"/>
          </p:cNvSpPr>
          <p:nvPr/>
        </p:nvSpPr>
        <p:spPr bwMode="auto">
          <a:xfrm>
            <a:off x="2895600" y="1600200"/>
            <a:ext cx="243840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宋体" panose="02010600030101010101" pitchFamily="2" charset="-122"/>
              </a:rPr>
              <a:t>极小元</a:t>
            </a:r>
          </a:p>
        </p:txBody>
      </p:sp>
      <p:sp>
        <p:nvSpPr>
          <p:cNvPr id="482322" name="Text Box 18"/>
          <p:cNvSpPr txBox="1">
            <a:spLocks noChangeArrowheads="1"/>
          </p:cNvSpPr>
          <p:nvPr/>
        </p:nvSpPr>
        <p:spPr bwMode="auto">
          <a:xfrm>
            <a:off x="2590800" y="2057400"/>
            <a:ext cx="182880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最小元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482323" name="Text Box 19"/>
          <p:cNvSpPr txBox="1">
            <a:spLocks noChangeArrowheads="1"/>
          </p:cNvSpPr>
          <p:nvPr/>
        </p:nvSpPr>
        <p:spPr bwMode="auto">
          <a:xfrm>
            <a:off x="533400" y="3048000"/>
            <a:ext cx="1371600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上确界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:</a:t>
            </a:r>
            <a:endParaRPr kumimoji="1" lang="en-US" altLang="zh-CN" sz="2400" b="1" dirty="0">
              <a:latin typeface="Century Schoolbook" pitchFamily="18" charset="0"/>
              <a:sym typeface="Symbol" panose="05050102010706020507" pitchFamily="18" charset="2"/>
            </a:endParaRPr>
          </a:p>
        </p:txBody>
      </p:sp>
      <p:sp>
        <p:nvSpPr>
          <p:cNvPr id="482324" name="Text Box 20"/>
          <p:cNvSpPr txBox="1">
            <a:spLocks noChangeArrowheads="1"/>
          </p:cNvSpPr>
          <p:nvPr/>
        </p:nvSpPr>
        <p:spPr bwMode="auto">
          <a:xfrm>
            <a:off x="2247900" y="3013074"/>
            <a:ext cx="1447800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下确界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:</a:t>
            </a:r>
            <a:endParaRPr kumimoji="1" lang="en-US" altLang="zh-CN" sz="2400" b="1" dirty="0">
              <a:latin typeface="Century Schoolbook" pitchFamily="18" charset="0"/>
              <a:sym typeface="Symbol" panose="05050102010706020507" pitchFamily="18" charset="2"/>
            </a:endParaRPr>
          </a:p>
        </p:txBody>
      </p:sp>
      <p:sp>
        <p:nvSpPr>
          <p:cNvPr id="482325" name="Text Box 21"/>
          <p:cNvSpPr txBox="1">
            <a:spLocks noChangeArrowheads="1"/>
          </p:cNvSpPr>
          <p:nvPr/>
        </p:nvSpPr>
        <p:spPr bwMode="auto">
          <a:xfrm>
            <a:off x="304800" y="3581400"/>
            <a:ext cx="365760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Century Schoolbook" pitchFamily="18" charset="0"/>
              </a:rPr>
              <a:t>2) B</a:t>
            </a:r>
            <a:r>
              <a:rPr kumimoji="1" lang="en-US" altLang="zh-CN" sz="2400" b="1" i="1">
                <a:latin typeface="Century Schoolbook" pitchFamily="18" charset="0"/>
              </a:rPr>
              <a:t>=</a:t>
            </a:r>
            <a:r>
              <a:rPr kumimoji="1" lang="en-US" altLang="zh-CN" sz="2400" b="1">
                <a:latin typeface="Century Schoolbook" pitchFamily="18" charset="0"/>
              </a:rPr>
              <a:t>{ </a:t>
            </a:r>
            <a:r>
              <a:rPr kumimoji="1" lang="en-US" altLang="zh-CN" sz="2400" b="1" i="1">
                <a:latin typeface="Century Schoolbook" pitchFamily="18" charset="0"/>
              </a:rPr>
              <a:t>f, g, h, i</a:t>
            </a:r>
            <a:r>
              <a:rPr kumimoji="1" lang="en-US" altLang="zh-CN" sz="2400" b="1">
                <a:latin typeface="Century Schoolbook" pitchFamily="18" charset="0"/>
              </a:rPr>
              <a:t>}, </a:t>
            </a:r>
          </a:p>
        </p:txBody>
      </p:sp>
      <p:sp>
        <p:nvSpPr>
          <p:cNvPr id="482326" name="Text Box 22"/>
          <p:cNvSpPr txBox="1">
            <a:spLocks noChangeArrowheads="1"/>
          </p:cNvSpPr>
          <p:nvPr/>
        </p:nvSpPr>
        <p:spPr bwMode="auto">
          <a:xfrm>
            <a:off x="685800" y="3962400"/>
            <a:ext cx="220980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宋体" panose="02010600030101010101" pitchFamily="2" charset="-122"/>
              </a:rPr>
              <a:t>极大元</a:t>
            </a:r>
            <a:r>
              <a:rPr kumimoji="1" lang="en-US" altLang="zh-CN" sz="2400" b="1"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482327" name="Text Box 23"/>
          <p:cNvSpPr txBox="1">
            <a:spLocks noChangeArrowheads="1"/>
          </p:cNvSpPr>
          <p:nvPr/>
        </p:nvSpPr>
        <p:spPr bwMode="auto">
          <a:xfrm>
            <a:off x="609600" y="4419600"/>
            <a:ext cx="137160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宋体" panose="02010600030101010101" pitchFamily="2" charset="-122"/>
              </a:rPr>
              <a:t>最大元</a:t>
            </a:r>
            <a:r>
              <a:rPr kumimoji="1" lang="en-US" altLang="zh-CN" sz="2400" b="1"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482328" name="Text Box 24"/>
          <p:cNvSpPr txBox="1">
            <a:spLocks noChangeArrowheads="1"/>
          </p:cNvSpPr>
          <p:nvPr/>
        </p:nvSpPr>
        <p:spPr bwMode="auto">
          <a:xfrm>
            <a:off x="595313" y="5029200"/>
            <a:ext cx="10810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宋体" panose="02010600030101010101" pitchFamily="2" charset="-122"/>
              </a:rPr>
              <a:t>上界</a:t>
            </a:r>
            <a:r>
              <a:rPr kumimoji="1" lang="en-US" altLang="zh-CN" sz="2400" b="1">
                <a:latin typeface="宋体" panose="02010600030101010101" pitchFamily="2" charset="-122"/>
              </a:rPr>
              <a:t>:</a:t>
            </a:r>
            <a:endParaRPr kumimoji="1" lang="en-US" altLang="zh-CN" sz="2400" b="1">
              <a:latin typeface="Century Schoolbook" pitchFamily="18" charset="0"/>
              <a:sym typeface="Symbol" panose="05050102010706020507" pitchFamily="18" charset="2"/>
            </a:endParaRPr>
          </a:p>
        </p:txBody>
      </p:sp>
      <p:sp>
        <p:nvSpPr>
          <p:cNvPr id="482329" name="Text Box 25"/>
          <p:cNvSpPr txBox="1">
            <a:spLocks noChangeArrowheads="1"/>
          </p:cNvSpPr>
          <p:nvPr/>
        </p:nvSpPr>
        <p:spPr bwMode="auto">
          <a:xfrm>
            <a:off x="2895600" y="5029200"/>
            <a:ext cx="990600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宋体" panose="02010600030101010101" pitchFamily="2" charset="-122"/>
              </a:rPr>
              <a:t>下界</a:t>
            </a:r>
            <a:r>
              <a:rPr kumimoji="1" lang="en-US" altLang="zh-CN" sz="2400" b="1">
                <a:latin typeface="宋体" panose="02010600030101010101" pitchFamily="2" charset="-122"/>
              </a:rPr>
              <a:t>:</a:t>
            </a:r>
            <a:endParaRPr kumimoji="1" lang="en-US" altLang="zh-CN" sz="2400" b="1">
              <a:latin typeface="Century Schoolbook" pitchFamily="18" charset="0"/>
              <a:sym typeface="Symbol" panose="05050102010706020507" pitchFamily="18" charset="2"/>
            </a:endParaRPr>
          </a:p>
        </p:txBody>
      </p:sp>
      <p:sp>
        <p:nvSpPr>
          <p:cNvPr id="482330" name="Text Box 26"/>
          <p:cNvSpPr txBox="1">
            <a:spLocks noChangeArrowheads="1"/>
          </p:cNvSpPr>
          <p:nvPr/>
        </p:nvSpPr>
        <p:spPr bwMode="auto">
          <a:xfrm>
            <a:off x="2971800" y="3962400"/>
            <a:ext cx="243840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宋体" panose="02010600030101010101" pitchFamily="2" charset="-122"/>
              </a:rPr>
              <a:t>极小元</a:t>
            </a:r>
            <a:r>
              <a:rPr kumimoji="1" lang="en-US" altLang="zh-CN" sz="2400" b="1"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482331" name="Text Box 27"/>
          <p:cNvSpPr txBox="1">
            <a:spLocks noChangeArrowheads="1"/>
          </p:cNvSpPr>
          <p:nvPr/>
        </p:nvSpPr>
        <p:spPr bwMode="auto">
          <a:xfrm>
            <a:off x="2590800" y="4419600"/>
            <a:ext cx="182880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宋体" panose="02010600030101010101" pitchFamily="2" charset="-122"/>
              </a:rPr>
              <a:t>最小元</a:t>
            </a:r>
            <a:r>
              <a:rPr kumimoji="1" lang="en-US" altLang="zh-CN" sz="2400" b="1"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482332" name="Text Box 28"/>
          <p:cNvSpPr txBox="1">
            <a:spLocks noChangeArrowheads="1"/>
          </p:cNvSpPr>
          <p:nvPr/>
        </p:nvSpPr>
        <p:spPr bwMode="auto">
          <a:xfrm>
            <a:off x="533400" y="5486400"/>
            <a:ext cx="1524000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宋体" panose="02010600030101010101" pitchFamily="2" charset="-122"/>
              </a:rPr>
              <a:t>上确界</a:t>
            </a:r>
            <a:r>
              <a:rPr kumimoji="1" lang="en-US" altLang="zh-CN" sz="2400" b="1">
                <a:latin typeface="宋体" panose="02010600030101010101" pitchFamily="2" charset="-122"/>
              </a:rPr>
              <a:t>:</a:t>
            </a:r>
            <a:endParaRPr kumimoji="1" lang="en-US" altLang="zh-CN" sz="2400" b="1">
              <a:latin typeface="Century Schoolbook" pitchFamily="18" charset="0"/>
              <a:sym typeface="Symbol" panose="05050102010706020507" pitchFamily="18" charset="2"/>
            </a:endParaRPr>
          </a:p>
        </p:txBody>
      </p:sp>
      <p:sp>
        <p:nvSpPr>
          <p:cNvPr id="482333" name="Text Box 29"/>
          <p:cNvSpPr txBox="1">
            <a:spLocks noChangeArrowheads="1"/>
          </p:cNvSpPr>
          <p:nvPr/>
        </p:nvSpPr>
        <p:spPr bwMode="auto">
          <a:xfrm>
            <a:off x="2971800" y="5486400"/>
            <a:ext cx="1295400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宋体" panose="02010600030101010101" pitchFamily="2" charset="-122"/>
              </a:rPr>
              <a:t>下确界</a:t>
            </a:r>
            <a:r>
              <a:rPr kumimoji="1" lang="en-US" altLang="zh-CN" sz="2400" b="1">
                <a:latin typeface="宋体" panose="02010600030101010101" pitchFamily="2" charset="-122"/>
              </a:rPr>
              <a:t>:</a:t>
            </a:r>
            <a:endParaRPr kumimoji="1" lang="en-US" altLang="zh-CN" sz="2400" b="1">
              <a:latin typeface="Century Schoolbook" pitchFamily="18" charset="0"/>
              <a:sym typeface="Symbol" panose="05050102010706020507" pitchFamily="18" charset="2"/>
            </a:endParaRPr>
          </a:p>
        </p:txBody>
      </p:sp>
      <p:sp>
        <p:nvSpPr>
          <p:cNvPr id="168981" name="Oval 30"/>
          <p:cNvSpPr>
            <a:spLocks noChangeArrowheads="1"/>
          </p:cNvSpPr>
          <p:nvPr/>
        </p:nvSpPr>
        <p:spPr bwMode="auto">
          <a:xfrm>
            <a:off x="6781800" y="3276600"/>
            <a:ext cx="127000" cy="104775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8982" name="Oval 31"/>
          <p:cNvSpPr>
            <a:spLocks noChangeArrowheads="1"/>
          </p:cNvSpPr>
          <p:nvPr/>
        </p:nvSpPr>
        <p:spPr bwMode="auto">
          <a:xfrm>
            <a:off x="7750175" y="2743200"/>
            <a:ext cx="127000" cy="144463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8983" name="Oval 32"/>
          <p:cNvSpPr>
            <a:spLocks noChangeArrowheads="1"/>
          </p:cNvSpPr>
          <p:nvPr/>
        </p:nvSpPr>
        <p:spPr bwMode="auto">
          <a:xfrm>
            <a:off x="7064375" y="2743200"/>
            <a:ext cx="127000" cy="144463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8984" name="Oval 33"/>
          <p:cNvSpPr>
            <a:spLocks noChangeArrowheads="1"/>
          </p:cNvSpPr>
          <p:nvPr/>
        </p:nvSpPr>
        <p:spPr bwMode="auto">
          <a:xfrm>
            <a:off x="6392863" y="2743200"/>
            <a:ext cx="127000" cy="144463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8985" name="Oval 34"/>
          <p:cNvSpPr>
            <a:spLocks noChangeArrowheads="1"/>
          </p:cNvSpPr>
          <p:nvPr/>
        </p:nvSpPr>
        <p:spPr bwMode="auto">
          <a:xfrm>
            <a:off x="5630863" y="2743200"/>
            <a:ext cx="127000" cy="144463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8986" name="Oval 35"/>
          <p:cNvSpPr>
            <a:spLocks noChangeArrowheads="1"/>
          </p:cNvSpPr>
          <p:nvPr/>
        </p:nvSpPr>
        <p:spPr bwMode="auto">
          <a:xfrm>
            <a:off x="6034088" y="2209800"/>
            <a:ext cx="127000" cy="144463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8987" name="Oval 36"/>
          <p:cNvSpPr>
            <a:spLocks noChangeArrowheads="1"/>
          </p:cNvSpPr>
          <p:nvPr/>
        </p:nvSpPr>
        <p:spPr bwMode="auto">
          <a:xfrm>
            <a:off x="7391400" y="2209800"/>
            <a:ext cx="127000" cy="144463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8988" name="Oval 37"/>
          <p:cNvSpPr>
            <a:spLocks noChangeArrowheads="1"/>
          </p:cNvSpPr>
          <p:nvPr/>
        </p:nvSpPr>
        <p:spPr bwMode="auto">
          <a:xfrm>
            <a:off x="6034088" y="1600200"/>
            <a:ext cx="127000" cy="144463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8989" name="Oval 38"/>
          <p:cNvSpPr>
            <a:spLocks noChangeArrowheads="1"/>
          </p:cNvSpPr>
          <p:nvPr/>
        </p:nvSpPr>
        <p:spPr bwMode="auto">
          <a:xfrm>
            <a:off x="7391400" y="1600200"/>
            <a:ext cx="127000" cy="144463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8990" name="Oval 39"/>
          <p:cNvSpPr>
            <a:spLocks noChangeArrowheads="1"/>
          </p:cNvSpPr>
          <p:nvPr/>
        </p:nvSpPr>
        <p:spPr bwMode="auto">
          <a:xfrm>
            <a:off x="6034088" y="990600"/>
            <a:ext cx="127000" cy="144463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8991" name="Oval 40"/>
          <p:cNvSpPr>
            <a:spLocks noChangeArrowheads="1"/>
          </p:cNvSpPr>
          <p:nvPr/>
        </p:nvSpPr>
        <p:spPr bwMode="auto">
          <a:xfrm>
            <a:off x="7391400" y="914400"/>
            <a:ext cx="127000" cy="144463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8992" name="Line 41"/>
          <p:cNvSpPr>
            <a:spLocks noChangeShapeType="1"/>
          </p:cNvSpPr>
          <p:nvPr/>
        </p:nvSpPr>
        <p:spPr bwMode="auto">
          <a:xfrm>
            <a:off x="6477000" y="2819400"/>
            <a:ext cx="309563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8993" name="Line 42"/>
          <p:cNvSpPr>
            <a:spLocks noChangeShapeType="1"/>
          </p:cNvSpPr>
          <p:nvPr/>
        </p:nvSpPr>
        <p:spPr bwMode="auto">
          <a:xfrm flipH="1">
            <a:off x="6858000" y="2819400"/>
            <a:ext cx="309563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8994" name="Line 43"/>
          <p:cNvSpPr>
            <a:spLocks noChangeShapeType="1"/>
          </p:cNvSpPr>
          <p:nvPr/>
        </p:nvSpPr>
        <p:spPr bwMode="auto">
          <a:xfrm flipH="1">
            <a:off x="5653088" y="2286000"/>
            <a:ext cx="465137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8995" name="Line 44"/>
          <p:cNvSpPr>
            <a:spLocks noChangeShapeType="1"/>
          </p:cNvSpPr>
          <p:nvPr/>
        </p:nvSpPr>
        <p:spPr bwMode="auto">
          <a:xfrm>
            <a:off x="6110288" y="2286000"/>
            <a:ext cx="387350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8996" name="Line 45"/>
          <p:cNvSpPr>
            <a:spLocks noChangeShapeType="1"/>
          </p:cNvSpPr>
          <p:nvPr/>
        </p:nvSpPr>
        <p:spPr bwMode="auto">
          <a:xfrm flipH="1">
            <a:off x="7162800" y="2286000"/>
            <a:ext cx="309563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8997" name="Line 46"/>
          <p:cNvSpPr>
            <a:spLocks noChangeShapeType="1"/>
          </p:cNvSpPr>
          <p:nvPr/>
        </p:nvSpPr>
        <p:spPr bwMode="auto">
          <a:xfrm>
            <a:off x="7467600" y="2286000"/>
            <a:ext cx="387350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8998" name="Line 47"/>
          <p:cNvSpPr>
            <a:spLocks noChangeShapeType="1"/>
          </p:cNvSpPr>
          <p:nvPr/>
        </p:nvSpPr>
        <p:spPr bwMode="auto">
          <a:xfrm>
            <a:off x="6110288" y="1524000"/>
            <a:ext cx="1587" cy="7620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8999" name="Line 48"/>
          <p:cNvSpPr>
            <a:spLocks noChangeShapeType="1"/>
          </p:cNvSpPr>
          <p:nvPr/>
        </p:nvSpPr>
        <p:spPr bwMode="auto">
          <a:xfrm flipV="1">
            <a:off x="6096000" y="1600200"/>
            <a:ext cx="1393825" cy="685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9000" name="Line 49"/>
          <p:cNvSpPr>
            <a:spLocks noChangeShapeType="1"/>
          </p:cNvSpPr>
          <p:nvPr/>
        </p:nvSpPr>
        <p:spPr bwMode="auto">
          <a:xfrm>
            <a:off x="6096000" y="1676400"/>
            <a:ext cx="1393825" cy="609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9001" name="Line 50"/>
          <p:cNvSpPr>
            <a:spLocks noChangeShapeType="1"/>
          </p:cNvSpPr>
          <p:nvPr/>
        </p:nvSpPr>
        <p:spPr bwMode="auto">
          <a:xfrm>
            <a:off x="7467600" y="1524000"/>
            <a:ext cx="1588" cy="7620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9002" name="Line 51"/>
          <p:cNvSpPr>
            <a:spLocks noChangeShapeType="1"/>
          </p:cNvSpPr>
          <p:nvPr/>
        </p:nvSpPr>
        <p:spPr bwMode="auto">
          <a:xfrm>
            <a:off x="6096000" y="1066800"/>
            <a:ext cx="1588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9003" name="Line 52"/>
          <p:cNvSpPr>
            <a:spLocks noChangeShapeType="1"/>
          </p:cNvSpPr>
          <p:nvPr/>
        </p:nvSpPr>
        <p:spPr bwMode="auto">
          <a:xfrm flipV="1">
            <a:off x="6096000" y="990600"/>
            <a:ext cx="1393825" cy="685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9004" name="Line 53"/>
          <p:cNvSpPr>
            <a:spLocks noChangeShapeType="1"/>
          </p:cNvSpPr>
          <p:nvPr/>
        </p:nvSpPr>
        <p:spPr bwMode="auto">
          <a:xfrm flipH="1">
            <a:off x="7467600" y="990600"/>
            <a:ext cx="1588" cy="609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69005" name="Text Box 54"/>
          <p:cNvSpPr txBox="1">
            <a:spLocks noChangeArrowheads="1"/>
          </p:cNvSpPr>
          <p:nvPr/>
        </p:nvSpPr>
        <p:spPr bwMode="auto">
          <a:xfrm>
            <a:off x="6934200" y="3048000"/>
            <a:ext cx="39052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a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9006" name="Text Box 55"/>
          <p:cNvSpPr txBox="1">
            <a:spLocks noChangeArrowheads="1"/>
          </p:cNvSpPr>
          <p:nvPr/>
        </p:nvSpPr>
        <p:spPr bwMode="auto">
          <a:xfrm>
            <a:off x="5715000" y="2514600"/>
            <a:ext cx="373063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b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9007" name="Text Box 56"/>
          <p:cNvSpPr txBox="1">
            <a:spLocks noChangeArrowheads="1"/>
          </p:cNvSpPr>
          <p:nvPr/>
        </p:nvSpPr>
        <p:spPr bwMode="auto">
          <a:xfrm>
            <a:off x="6545263" y="2514600"/>
            <a:ext cx="349250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c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9008" name="Text Box 57"/>
          <p:cNvSpPr txBox="1">
            <a:spLocks noChangeArrowheads="1"/>
          </p:cNvSpPr>
          <p:nvPr/>
        </p:nvSpPr>
        <p:spPr bwMode="auto">
          <a:xfrm>
            <a:off x="7140575" y="2514600"/>
            <a:ext cx="39052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d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9009" name="Text Box 58"/>
          <p:cNvSpPr txBox="1">
            <a:spLocks noChangeArrowheads="1"/>
          </p:cNvSpPr>
          <p:nvPr/>
        </p:nvSpPr>
        <p:spPr bwMode="auto">
          <a:xfrm>
            <a:off x="7848600" y="2514600"/>
            <a:ext cx="3444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e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9010" name="Text Box 59"/>
          <p:cNvSpPr txBox="1">
            <a:spLocks noChangeArrowheads="1"/>
          </p:cNvSpPr>
          <p:nvPr/>
        </p:nvSpPr>
        <p:spPr bwMode="auto">
          <a:xfrm>
            <a:off x="5694363" y="1981200"/>
            <a:ext cx="304800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f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9011" name="Text Box 60"/>
          <p:cNvSpPr txBox="1">
            <a:spLocks noChangeArrowheads="1"/>
          </p:cNvSpPr>
          <p:nvPr/>
        </p:nvSpPr>
        <p:spPr bwMode="auto">
          <a:xfrm>
            <a:off x="7475538" y="1981200"/>
            <a:ext cx="373062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g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9012" name="Text Box 61"/>
          <p:cNvSpPr txBox="1">
            <a:spLocks noChangeArrowheads="1"/>
          </p:cNvSpPr>
          <p:nvPr/>
        </p:nvSpPr>
        <p:spPr bwMode="auto">
          <a:xfrm>
            <a:off x="5611813" y="1371600"/>
            <a:ext cx="3968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h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9013" name="Text Box 62"/>
          <p:cNvSpPr txBox="1">
            <a:spLocks noChangeArrowheads="1"/>
          </p:cNvSpPr>
          <p:nvPr/>
        </p:nvSpPr>
        <p:spPr bwMode="auto">
          <a:xfrm>
            <a:off x="7467600" y="1371600"/>
            <a:ext cx="304800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i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9014" name="Text Box 63"/>
          <p:cNvSpPr txBox="1">
            <a:spLocks noChangeArrowheads="1"/>
          </p:cNvSpPr>
          <p:nvPr/>
        </p:nvSpPr>
        <p:spPr bwMode="auto">
          <a:xfrm>
            <a:off x="5656263" y="762000"/>
            <a:ext cx="3841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j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9015" name="Text Box 64"/>
          <p:cNvSpPr txBox="1">
            <a:spLocks noChangeArrowheads="1"/>
          </p:cNvSpPr>
          <p:nvPr/>
        </p:nvSpPr>
        <p:spPr bwMode="auto">
          <a:xfrm>
            <a:off x="7467600" y="685800"/>
            <a:ext cx="3841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k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82369" name="Text Box 65"/>
          <p:cNvSpPr txBox="1">
            <a:spLocks noChangeArrowheads="1"/>
          </p:cNvSpPr>
          <p:nvPr/>
        </p:nvSpPr>
        <p:spPr bwMode="auto">
          <a:xfrm>
            <a:off x="1676400" y="1600200"/>
            <a:ext cx="91440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宋体" panose="02010600030101010101" pitchFamily="2" charset="-122"/>
              </a:rPr>
              <a:t>:</a:t>
            </a:r>
            <a:r>
              <a:rPr kumimoji="1" lang="en-US" altLang="zh-CN" sz="2400" b="1" i="1">
                <a:latin typeface="Century Schoolbook" pitchFamily="18" charset="0"/>
              </a:rPr>
              <a:t>f, g</a:t>
            </a:r>
            <a:endParaRPr kumimoji="1" lang="en-US" altLang="zh-CN" sz="2400" b="1">
              <a:latin typeface="宋体" panose="02010600030101010101" pitchFamily="2" charset="-122"/>
            </a:endParaRPr>
          </a:p>
        </p:txBody>
      </p:sp>
      <p:sp>
        <p:nvSpPr>
          <p:cNvPr id="482370" name="Text Box 66"/>
          <p:cNvSpPr txBox="1">
            <a:spLocks noChangeArrowheads="1"/>
          </p:cNvSpPr>
          <p:nvPr/>
        </p:nvSpPr>
        <p:spPr bwMode="auto">
          <a:xfrm>
            <a:off x="3962400" y="1600200"/>
            <a:ext cx="144780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宋体" panose="02010600030101010101" pitchFamily="2" charset="-122"/>
              </a:rPr>
              <a:t>:</a:t>
            </a:r>
            <a:r>
              <a:rPr kumimoji="1" lang="en-US" altLang="zh-CN" sz="2400" b="1" i="1">
                <a:latin typeface="Century Schoolbook" pitchFamily="18" charset="0"/>
              </a:rPr>
              <a:t>b,a,e</a:t>
            </a:r>
            <a:endParaRPr kumimoji="1" lang="en-US" altLang="zh-CN" sz="2400" b="1">
              <a:latin typeface="宋体" panose="02010600030101010101" pitchFamily="2" charset="-122"/>
            </a:endParaRPr>
          </a:p>
        </p:txBody>
      </p:sp>
      <p:sp>
        <p:nvSpPr>
          <p:cNvPr id="482371" name="Text Box 67"/>
          <p:cNvSpPr txBox="1">
            <a:spLocks noChangeArrowheads="1"/>
          </p:cNvSpPr>
          <p:nvPr/>
        </p:nvSpPr>
        <p:spPr bwMode="auto">
          <a:xfrm>
            <a:off x="1231900" y="2126400"/>
            <a:ext cx="1371600" cy="53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宋体" panose="02010600030101010101" pitchFamily="2" charset="-122"/>
              </a:rPr>
              <a:t>:</a:t>
            </a:r>
            <a:r>
              <a:rPr kumimoji="1" lang="zh-CN" altLang="en-US" sz="2400" b="1" dirty="0">
                <a:latin typeface="+mn-ea"/>
                <a:ea typeface="+mn-ea"/>
              </a:rPr>
              <a:t>无</a:t>
            </a:r>
          </a:p>
        </p:txBody>
      </p:sp>
      <p:sp>
        <p:nvSpPr>
          <p:cNvPr id="482372" name="Text Box 68"/>
          <p:cNvSpPr txBox="1">
            <a:spLocks noChangeArrowheads="1"/>
          </p:cNvSpPr>
          <p:nvPr/>
        </p:nvSpPr>
        <p:spPr bwMode="auto">
          <a:xfrm>
            <a:off x="3810000" y="2126400"/>
            <a:ext cx="685800" cy="53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无</a:t>
            </a:r>
          </a:p>
        </p:txBody>
      </p:sp>
      <p:sp>
        <p:nvSpPr>
          <p:cNvPr id="482373" name="Text Box 69"/>
          <p:cNvSpPr txBox="1">
            <a:spLocks noChangeArrowheads="1"/>
          </p:cNvSpPr>
          <p:nvPr/>
        </p:nvSpPr>
        <p:spPr bwMode="auto">
          <a:xfrm>
            <a:off x="3505200" y="2583600"/>
            <a:ext cx="685800" cy="53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无</a:t>
            </a:r>
          </a:p>
        </p:txBody>
      </p:sp>
      <p:sp>
        <p:nvSpPr>
          <p:cNvPr id="482374" name="Text Box 70"/>
          <p:cNvSpPr txBox="1">
            <a:spLocks noChangeArrowheads="1"/>
          </p:cNvSpPr>
          <p:nvPr/>
        </p:nvSpPr>
        <p:spPr bwMode="auto">
          <a:xfrm>
            <a:off x="1600200" y="3040800"/>
            <a:ext cx="685800" cy="53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无</a:t>
            </a:r>
          </a:p>
        </p:txBody>
      </p:sp>
      <p:sp>
        <p:nvSpPr>
          <p:cNvPr id="482375" name="Text Box 71"/>
          <p:cNvSpPr txBox="1">
            <a:spLocks noChangeArrowheads="1"/>
          </p:cNvSpPr>
          <p:nvPr/>
        </p:nvSpPr>
        <p:spPr bwMode="auto">
          <a:xfrm>
            <a:off x="3352800" y="3040800"/>
            <a:ext cx="685800" cy="53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无</a:t>
            </a:r>
          </a:p>
        </p:txBody>
      </p:sp>
      <p:sp>
        <p:nvSpPr>
          <p:cNvPr id="482376" name="Oval 72"/>
          <p:cNvSpPr>
            <a:spLocks noChangeArrowheads="1"/>
          </p:cNvSpPr>
          <p:nvPr/>
        </p:nvSpPr>
        <p:spPr bwMode="auto">
          <a:xfrm>
            <a:off x="6934200" y="6096000"/>
            <a:ext cx="127000" cy="104775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2377" name="Oval 73"/>
          <p:cNvSpPr>
            <a:spLocks noChangeArrowheads="1"/>
          </p:cNvSpPr>
          <p:nvPr/>
        </p:nvSpPr>
        <p:spPr bwMode="auto">
          <a:xfrm>
            <a:off x="7902575" y="5562600"/>
            <a:ext cx="127000" cy="144463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2378" name="Oval 74"/>
          <p:cNvSpPr>
            <a:spLocks noChangeArrowheads="1"/>
          </p:cNvSpPr>
          <p:nvPr/>
        </p:nvSpPr>
        <p:spPr bwMode="auto">
          <a:xfrm>
            <a:off x="7216775" y="5562600"/>
            <a:ext cx="127000" cy="144463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2379" name="Oval 75"/>
          <p:cNvSpPr>
            <a:spLocks noChangeArrowheads="1"/>
          </p:cNvSpPr>
          <p:nvPr/>
        </p:nvSpPr>
        <p:spPr bwMode="auto">
          <a:xfrm>
            <a:off x="6545263" y="5562600"/>
            <a:ext cx="127000" cy="144463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2380" name="Oval 76"/>
          <p:cNvSpPr>
            <a:spLocks noChangeArrowheads="1"/>
          </p:cNvSpPr>
          <p:nvPr/>
        </p:nvSpPr>
        <p:spPr bwMode="auto">
          <a:xfrm>
            <a:off x="5783263" y="5562600"/>
            <a:ext cx="127000" cy="144463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2381" name="Oval 77"/>
          <p:cNvSpPr>
            <a:spLocks noChangeArrowheads="1"/>
          </p:cNvSpPr>
          <p:nvPr/>
        </p:nvSpPr>
        <p:spPr bwMode="auto">
          <a:xfrm>
            <a:off x="6186488" y="5029200"/>
            <a:ext cx="127000" cy="144463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2382" name="Oval 78"/>
          <p:cNvSpPr>
            <a:spLocks noChangeArrowheads="1"/>
          </p:cNvSpPr>
          <p:nvPr/>
        </p:nvSpPr>
        <p:spPr bwMode="auto">
          <a:xfrm>
            <a:off x="7543800" y="5029200"/>
            <a:ext cx="127000" cy="144463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2383" name="Oval 79"/>
          <p:cNvSpPr>
            <a:spLocks noChangeArrowheads="1"/>
          </p:cNvSpPr>
          <p:nvPr/>
        </p:nvSpPr>
        <p:spPr bwMode="auto">
          <a:xfrm>
            <a:off x="6186488" y="4419600"/>
            <a:ext cx="127000" cy="144463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2384" name="Oval 80"/>
          <p:cNvSpPr>
            <a:spLocks noChangeArrowheads="1"/>
          </p:cNvSpPr>
          <p:nvPr/>
        </p:nvSpPr>
        <p:spPr bwMode="auto">
          <a:xfrm>
            <a:off x="7543800" y="4419600"/>
            <a:ext cx="127000" cy="144463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2385" name="Oval 81"/>
          <p:cNvSpPr>
            <a:spLocks noChangeArrowheads="1"/>
          </p:cNvSpPr>
          <p:nvPr/>
        </p:nvSpPr>
        <p:spPr bwMode="auto">
          <a:xfrm>
            <a:off x="6186488" y="3810000"/>
            <a:ext cx="127000" cy="144463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2386" name="Oval 82"/>
          <p:cNvSpPr>
            <a:spLocks noChangeArrowheads="1"/>
          </p:cNvSpPr>
          <p:nvPr/>
        </p:nvSpPr>
        <p:spPr bwMode="auto">
          <a:xfrm>
            <a:off x="7543800" y="3733800"/>
            <a:ext cx="127000" cy="144463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2387" name="Line 83"/>
          <p:cNvSpPr>
            <a:spLocks noChangeShapeType="1"/>
          </p:cNvSpPr>
          <p:nvPr/>
        </p:nvSpPr>
        <p:spPr bwMode="auto">
          <a:xfrm>
            <a:off x="6629400" y="5638800"/>
            <a:ext cx="309563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388" name="Line 84"/>
          <p:cNvSpPr>
            <a:spLocks noChangeShapeType="1"/>
          </p:cNvSpPr>
          <p:nvPr/>
        </p:nvSpPr>
        <p:spPr bwMode="auto">
          <a:xfrm flipH="1">
            <a:off x="7010400" y="5638800"/>
            <a:ext cx="309563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389" name="Line 85"/>
          <p:cNvSpPr>
            <a:spLocks noChangeShapeType="1"/>
          </p:cNvSpPr>
          <p:nvPr/>
        </p:nvSpPr>
        <p:spPr bwMode="auto">
          <a:xfrm flipH="1">
            <a:off x="5805488" y="5105400"/>
            <a:ext cx="465137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390" name="Line 86"/>
          <p:cNvSpPr>
            <a:spLocks noChangeShapeType="1"/>
          </p:cNvSpPr>
          <p:nvPr/>
        </p:nvSpPr>
        <p:spPr bwMode="auto">
          <a:xfrm>
            <a:off x="6262688" y="5105400"/>
            <a:ext cx="387350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391" name="Line 87"/>
          <p:cNvSpPr>
            <a:spLocks noChangeShapeType="1"/>
          </p:cNvSpPr>
          <p:nvPr/>
        </p:nvSpPr>
        <p:spPr bwMode="auto">
          <a:xfrm flipH="1">
            <a:off x="7315200" y="5105400"/>
            <a:ext cx="309563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392" name="Line 88"/>
          <p:cNvSpPr>
            <a:spLocks noChangeShapeType="1"/>
          </p:cNvSpPr>
          <p:nvPr/>
        </p:nvSpPr>
        <p:spPr bwMode="auto">
          <a:xfrm>
            <a:off x="7620000" y="5105400"/>
            <a:ext cx="387350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393" name="Line 89"/>
          <p:cNvSpPr>
            <a:spLocks noChangeShapeType="1"/>
          </p:cNvSpPr>
          <p:nvPr/>
        </p:nvSpPr>
        <p:spPr bwMode="auto">
          <a:xfrm>
            <a:off x="6262688" y="4343400"/>
            <a:ext cx="1587" cy="7620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394" name="Line 90"/>
          <p:cNvSpPr>
            <a:spLocks noChangeShapeType="1"/>
          </p:cNvSpPr>
          <p:nvPr/>
        </p:nvSpPr>
        <p:spPr bwMode="auto">
          <a:xfrm flipV="1">
            <a:off x="6248400" y="4419600"/>
            <a:ext cx="1393825" cy="685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395" name="Line 91"/>
          <p:cNvSpPr>
            <a:spLocks noChangeShapeType="1"/>
          </p:cNvSpPr>
          <p:nvPr/>
        </p:nvSpPr>
        <p:spPr bwMode="auto">
          <a:xfrm>
            <a:off x="6248400" y="4495800"/>
            <a:ext cx="1371600" cy="609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396" name="Line 92"/>
          <p:cNvSpPr>
            <a:spLocks noChangeShapeType="1"/>
          </p:cNvSpPr>
          <p:nvPr/>
        </p:nvSpPr>
        <p:spPr bwMode="auto">
          <a:xfrm>
            <a:off x="7620000" y="4419600"/>
            <a:ext cx="1588" cy="685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397" name="Line 93"/>
          <p:cNvSpPr>
            <a:spLocks noChangeShapeType="1"/>
          </p:cNvSpPr>
          <p:nvPr/>
        </p:nvSpPr>
        <p:spPr bwMode="auto">
          <a:xfrm>
            <a:off x="6248400" y="3886200"/>
            <a:ext cx="1588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398" name="Line 94"/>
          <p:cNvSpPr>
            <a:spLocks noChangeShapeType="1"/>
          </p:cNvSpPr>
          <p:nvPr/>
        </p:nvSpPr>
        <p:spPr bwMode="auto">
          <a:xfrm flipV="1">
            <a:off x="6248400" y="3810000"/>
            <a:ext cx="1393825" cy="685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399" name="Line 95"/>
          <p:cNvSpPr>
            <a:spLocks noChangeShapeType="1"/>
          </p:cNvSpPr>
          <p:nvPr/>
        </p:nvSpPr>
        <p:spPr bwMode="auto">
          <a:xfrm flipH="1">
            <a:off x="7620000" y="3810000"/>
            <a:ext cx="0" cy="685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400" name="Text Box 96"/>
          <p:cNvSpPr txBox="1">
            <a:spLocks noChangeArrowheads="1"/>
          </p:cNvSpPr>
          <p:nvPr/>
        </p:nvSpPr>
        <p:spPr bwMode="auto">
          <a:xfrm>
            <a:off x="7010400" y="5791200"/>
            <a:ext cx="39052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a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82401" name="Text Box 97"/>
          <p:cNvSpPr txBox="1">
            <a:spLocks noChangeArrowheads="1"/>
          </p:cNvSpPr>
          <p:nvPr/>
        </p:nvSpPr>
        <p:spPr bwMode="auto">
          <a:xfrm>
            <a:off x="5867400" y="5334000"/>
            <a:ext cx="373063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b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82402" name="Text Box 98"/>
          <p:cNvSpPr txBox="1">
            <a:spLocks noChangeArrowheads="1"/>
          </p:cNvSpPr>
          <p:nvPr/>
        </p:nvSpPr>
        <p:spPr bwMode="auto">
          <a:xfrm>
            <a:off x="6697663" y="5334000"/>
            <a:ext cx="349250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c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82403" name="Text Box 99"/>
          <p:cNvSpPr txBox="1">
            <a:spLocks noChangeArrowheads="1"/>
          </p:cNvSpPr>
          <p:nvPr/>
        </p:nvSpPr>
        <p:spPr bwMode="auto">
          <a:xfrm>
            <a:off x="7292975" y="5334000"/>
            <a:ext cx="39052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d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82404" name="Text Box 100"/>
          <p:cNvSpPr txBox="1">
            <a:spLocks noChangeArrowheads="1"/>
          </p:cNvSpPr>
          <p:nvPr/>
        </p:nvSpPr>
        <p:spPr bwMode="auto">
          <a:xfrm>
            <a:off x="8001000" y="5334000"/>
            <a:ext cx="3444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e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82405" name="Text Box 101"/>
          <p:cNvSpPr txBox="1">
            <a:spLocks noChangeArrowheads="1"/>
          </p:cNvSpPr>
          <p:nvPr/>
        </p:nvSpPr>
        <p:spPr bwMode="auto">
          <a:xfrm>
            <a:off x="5846763" y="4800600"/>
            <a:ext cx="304800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f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82406" name="Text Box 102"/>
          <p:cNvSpPr txBox="1">
            <a:spLocks noChangeArrowheads="1"/>
          </p:cNvSpPr>
          <p:nvPr/>
        </p:nvSpPr>
        <p:spPr bwMode="auto">
          <a:xfrm>
            <a:off x="7627938" y="4800600"/>
            <a:ext cx="373062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g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82407" name="Text Box 103"/>
          <p:cNvSpPr txBox="1">
            <a:spLocks noChangeArrowheads="1"/>
          </p:cNvSpPr>
          <p:nvPr/>
        </p:nvSpPr>
        <p:spPr bwMode="auto">
          <a:xfrm>
            <a:off x="5764213" y="4191000"/>
            <a:ext cx="3968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h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82408" name="Text Box 104"/>
          <p:cNvSpPr txBox="1">
            <a:spLocks noChangeArrowheads="1"/>
          </p:cNvSpPr>
          <p:nvPr/>
        </p:nvSpPr>
        <p:spPr bwMode="auto">
          <a:xfrm>
            <a:off x="7620000" y="4191000"/>
            <a:ext cx="304800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i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82409" name="Text Box 105"/>
          <p:cNvSpPr txBox="1">
            <a:spLocks noChangeArrowheads="1"/>
          </p:cNvSpPr>
          <p:nvPr/>
        </p:nvSpPr>
        <p:spPr bwMode="auto">
          <a:xfrm>
            <a:off x="5808663" y="3581400"/>
            <a:ext cx="3841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j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82410" name="Text Box 106"/>
          <p:cNvSpPr txBox="1">
            <a:spLocks noChangeArrowheads="1"/>
          </p:cNvSpPr>
          <p:nvPr/>
        </p:nvSpPr>
        <p:spPr bwMode="auto">
          <a:xfrm>
            <a:off x="7620000" y="3505200"/>
            <a:ext cx="3841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chemeClr val="accent2"/>
                </a:solidFill>
                <a:latin typeface="Century Schoolbook" pitchFamily="18" charset="0"/>
              </a:rPr>
              <a:t>k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82411" name="Oval 107"/>
          <p:cNvSpPr>
            <a:spLocks noChangeArrowheads="1"/>
          </p:cNvSpPr>
          <p:nvPr/>
        </p:nvSpPr>
        <p:spPr bwMode="auto">
          <a:xfrm>
            <a:off x="6781800" y="3276600"/>
            <a:ext cx="127000" cy="104775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2412" name="Oval 108"/>
          <p:cNvSpPr>
            <a:spLocks noChangeArrowheads="1"/>
          </p:cNvSpPr>
          <p:nvPr/>
        </p:nvSpPr>
        <p:spPr bwMode="auto">
          <a:xfrm>
            <a:off x="7750175" y="2743200"/>
            <a:ext cx="127000" cy="144463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2413" name="Oval 109"/>
          <p:cNvSpPr>
            <a:spLocks noChangeArrowheads="1"/>
          </p:cNvSpPr>
          <p:nvPr/>
        </p:nvSpPr>
        <p:spPr bwMode="auto">
          <a:xfrm>
            <a:off x="7064375" y="2743200"/>
            <a:ext cx="127000" cy="144463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2414" name="Oval 110"/>
          <p:cNvSpPr>
            <a:spLocks noChangeArrowheads="1"/>
          </p:cNvSpPr>
          <p:nvPr/>
        </p:nvSpPr>
        <p:spPr bwMode="auto">
          <a:xfrm>
            <a:off x="6392863" y="2743200"/>
            <a:ext cx="127000" cy="144463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2415" name="Oval 111"/>
          <p:cNvSpPr>
            <a:spLocks noChangeArrowheads="1"/>
          </p:cNvSpPr>
          <p:nvPr/>
        </p:nvSpPr>
        <p:spPr bwMode="auto">
          <a:xfrm>
            <a:off x="5630863" y="2743200"/>
            <a:ext cx="127000" cy="144463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2416" name="Oval 112"/>
          <p:cNvSpPr>
            <a:spLocks noChangeArrowheads="1"/>
          </p:cNvSpPr>
          <p:nvPr/>
        </p:nvSpPr>
        <p:spPr bwMode="auto">
          <a:xfrm>
            <a:off x="6034088" y="2209800"/>
            <a:ext cx="127000" cy="144463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2417" name="Oval 113"/>
          <p:cNvSpPr>
            <a:spLocks noChangeArrowheads="1"/>
          </p:cNvSpPr>
          <p:nvPr/>
        </p:nvSpPr>
        <p:spPr bwMode="auto">
          <a:xfrm>
            <a:off x="7391400" y="2209800"/>
            <a:ext cx="127000" cy="144463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2418" name="Line 114"/>
          <p:cNvSpPr>
            <a:spLocks noChangeShapeType="1"/>
          </p:cNvSpPr>
          <p:nvPr/>
        </p:nvSpPr>
        <p:spPr bwMode="auto">
          <a:xfrm>
            <a:off x="6477000" y="2819400"/>
            <a:ext cx="309563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419" name="Line 115"/>
          <p:cNvSpPr>
            <a:spLocks noChangeShapeType="1"/>
          </p:cNvSpPr>
          <p:nvPr/>
        </p:nvSpPr>
        <p:spPr bwMode="auto">
          <a:xfrm flipH="1">
            <a:off x="6858000" y="2819400"/>
            <a:ext cx="309563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420" name="Line 116"/>
          <p:cNvSpPr>
            <a:spLocks noChangeShapeType="1"/>
          </p:cNvSpPr>
          <p:nvPr/>
        </p:nvSpPr>
        <p:spPr bwMode="auto">
          <a:xfrm flipH="1">
            <a:off x="5653088" y="2286000"/>
            <a:ext cx="465137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421" name="Line 117"/>
          <p:cNvSpPr>
            <a:spLocks noChangeShapeType="1"/>
          </p:cNvSpPr>
          <p:nvPr/>
        </p:nvSpPr>
        <p:spPr bwMode="auto">
          <a:xfrm>
            <a:off x="6110288" y="2286000"/>
            <a:ext cx="387350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422" name="Line 118"/>
          <p:cNvSpPr>
            <a:spLocks noChangeShapeType="1"/>
          </p:cNvSpPr>
          <p:nvPr/>
        </p:nvSpPr>
        <p:spPr bwMode="auto">
          <a:xfrm flipH="1">
            <a:off x="7162800" y="2286000"/>
            <a:ext cx="309563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423" name="Line 119"/>
          <p:cNvSpPr>
            <a:spLocks noChangeShapeType="1"/>
          </p:cNvSpPr>
          <p:nvPr/>
        </p:nvSpPr>
        <p:spPr bwMode="auto">
          <a:xfrm>
            <a:off x="7467600" y="2286000"/>
            <a:ext cx="387350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424" name="Text Box 120"/>
          <p:cNvSpPr txBox="1">
            <a:spLocks noChangeArrowheads="1"/>
          </p:cNvSpPr>
          <p:nvPr/>
        </p:nvSpPr>
        <p:spPr bwMode="auto">
          <a:xfrm>
            <a:off x="1752600" y="3962400"/>
            <a:ext cx="220980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latin typeface="宋体" panose="02010600030101010101" pitchFamily="2" charset="-122"/>
              </a:rPr>
              <a:t> </a:t>
            </a:r>
            <a:r>
              <a:rPr kumimoji="1" lang="en-US" altLang="zh-CN" sz="2400" b="1" i="1">
                <a:latin typeface="Century Schoolbook" pitchFamily="18" charset="0"/>
              </a:rPr>
              <a:t>h, i</a:t>
            </a:r>
            <a:endParaRPr kumimoji="1" lang="en-US" altLang="zh-CN" sz="2400" b="1">
              <a:latin typeface="宋体" panose="02010600030101010101" pitchFamily="2" charset="-122"/>
            </a:endParaRPr>
          </a:p>
        </p:txBody>
      </p:sp>
      <p:sp>
        <p:nvSpPr>
          <p:cNvPr id="482425" name="Text Box 121"/>
          <p:cNvSpPr txBox="1">
            <a:spLocks noChangeArrowheads="1"/>
          </p:cNvSpPr>
          <p:nvPr/>
        </p:nvSpPr>
        <p:spPr bwMode="auto">
          <a:xfrm>
            <a:off x="4114800" y="3962400"/>
            <a:ext cx="144780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latin typeface="Century Schoolbook" pitchFamily="18" charset="0"/>
              </a:rPr>
              <a:t>f, g</a:t>
            </a:r>
            <a:endParaRPr kumimoji="1" lang="en-US" altLang="zh-CN" sz="2400" b="1">
              <a:latin typeface="宋体" panose="02010600030101010101" pitchFamily="2" charset="-122"/>
            </a:endParaRPr>
          </a:p>
        </p:txBody>
      </p:sp>
      <p:sp>
        <p:nvSpPr>
          <p:cNvPr id="482426" name="Text Box 122"/>
          <p:cNvSpPr txBox="1">
            <a:spLocks noChangeArrowheads="1"/>
          </p:cNvSpPr>
          <p:nvPr/>
        </p:nvSpPr>
        <p:spPr bwMode="auto">
          <a:xfrm>
            <a:off x="1447800" y="4419600"/>
            <a:ext cx="137160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宋体" panose="02010600030101010101" pitchFamily="2" charset="-122"/>
              </a:rPr>
              <a:t>无</a:t>
            </a:r>
          </a:p>
        </p:txBody>
      </p:sp>
      <p:sp>
        <p:nvSpPr>
          <p:cNvPr id="482427" name="Text Box 123"/>
          <p:cNvSpPr txBox="1">
            <a:spLocks noChangeArrowheads="1"/>
          </p:cNvSpPr>
          <p:nvPr/>
        </p:nvSpPr>
        <p:spPr bwMode="auto">
          <a:xfrm>
            <a:off x="3657600" y="4419600"/>
            <a:ext cx="137160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宋体" panose="02010600030101010101" pitchFamily="2" charset="-122"/>
              </a:rPr>
              <a:t>无</a:t>
            </a:r>
          </a:p>
        </p:txBody>
      </p:sp>
      <p:sp>
        <p:nvSpPr>
          <p:cNvPr id="482428" name="Oval 124"/>
          <p:cNvSpPr>
            <a:spLocks noChangeArrowheads="1"/>
          </p:cNvSpPr>
          <p:nvPr/>
        </p:nvSpPr>
        <p:spPr bwMode="auto">
          <a:xfrm>
            <a:off x="6186488" y="5029200"/>
            <a:ext cx="127000" cy="144463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2429" name="Oval 125"/>
          <p:cNvSpPr>
            <a:spLocks noChangeArrowheads="1"/>
          </p:cNvSpPr>
          <p:nvPr/>
        </p:nvSpPr>
        <p:spPr bwMode="auto">
          <a:xfrm>
            <a:off x="7543800" y="5029200"/>
            <a:ext cx="127000" cy="144463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2430" name="Oval 126"/>
          <p:cNvSpPr>
            <a:spLocks noChangeArrowheads="1"/>
          </p:cNvSpPr>
          <p:nvPr/>
        </p:nvSpPr>
        <p:spPr bwMode="auto">
          <a:xfrm>
            <a:off x="6186488" y="4419600"/>
            <a:ext cx="127000" cy="144463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2431" name="Oval 127"/>
          <p:cNvSpPr>
            <a:spLocks noChangeArrowheads="1"/>
          </p:cNvSpPr>
          <p:nvPr/>
        </p:nvSpPr>
        <p:spPr bwMode="auto">
          <a:xfrm>
            <a:off x="7543800" y="4419600"/>
            <a:ext cx="127000" cy="144463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b="1" u="sng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2432" name="Line 128"/>
          <p:cNvSpPr>
            <a:spLocks noChangeShapeType="1"/>
          </p:cNvSpPr>
          <p:nvPr/>
        </p:nvSpPr>
        <p:spPr bwMode="auto">
          <a:xfrm>
            <a:off x="6248400" y="4495800"/>
            <a:ext cx="15875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433" name="Line 129"/>
          <p:cNvSpPr>
            <a:spLocks noChangeShapeType="1"/>
          </p:cNvSpPr>
          <p:nvPr/>
        </p:nvSpPr>
        <p:spPr bwMode="auto">
          <a:xfrm flipV="1">
            <a:off x="6248400" y="4419600"/>
            <a:ext cx="1393825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434" name="Line 130"/>
          <p:cNvSpPr>
            <a:spLocks noChangeShapeType="1"/>
          </p:cNvSpPr>
          <p:nvPr/>
        </p:nvSpPr>
        <p:spPr bwMode="auto">
          <a:xfrm>
            <a:off x="6248400" y="4495800"/>
            <a:ext cx="1371600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435" name="Line 131"/>
          <p:cNvSpPr>
            <a:spLocks noChangeShapeType="1"/>
          </p:cNvSpPr>
          <p:nvPr/>
        </p:nvSpPr>
        <p:spPr bwMode="auto">
          <a:xfrm>
            <a:off x="7620000" y="4419600"/>
            <a:ext cx="1588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2436" name="Text Box 132"/>
          <p:cNvSpPr txBox="1">
            <a:spLocks noChangeArrowheads="1"/>
          </p:cNvSpPr>
          <p:nvPr/>
        </p:nvSpPr>
        <p:spPr bwMode="auto">
          <a:xfrm>
            <a:off x="1447800" y="5029200"/>
            <a:ext cx="457200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latin typeface="Century Schoolbook" pitchFamily="18" charset="0"/>
              </a:rPr>
              <a:t>k</a:t>
            </a:r>
            <a:endParaRPr kumimoji="1" lang="en-US" altLang="zh-CN" sz="2400" b="1">
              <a:latin typeface="Century Schoolbook" pitchFamily="18" charset="0"/>
              <a:sym typeface="Symbol" panose="05050102010706020507" pitchFamily="18" charset="2"/>
            </a:endParaRPr>
          </a:p>
        </p:txBody>
      </p:sp>
      <p:sp>
        <p:nvSpPr>
          <p:cNvPr id="482437" name="Text Box 133"/>
          <p:cNvSpPr txBox="1">
            <a:spLocks noChangeArrowheads="1"/>
          </p:cNvSpPr>
          <p:nvPr/>
        </p:nvSpPr>
        <p:spPr bwMode="auto">
          <a:xfrm>
            <a:off x="3733800" y="5029200"/>
            <a:ext cx="457200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latin typeface="Century Schoolbook" pitchFamily="18" charset="0"/>
              </a:rPr>
              <a:t>a</a:t>
            </a:r>
            <a:endParaRPr kumimoji="1" lang="en-US" altLang="zh-CN" sz="2400" b="1">
              <a:latin typeface="Century Schoolbook" pitchFamily="18" charset="0"/>
              <a:sym typeface="Symbol" panose="05050102010706020507" pitchFamily="18" charset="2"/>
            </a:endParaRPr>
          </a:p>
        </p:txBody>
      </p:sp>
      <p:sp>
        <p:nvSpPr>
          <p:cNvPr id="482438" name="Text Box 134"/>
          <p:cNvSpPr txBox="1">
            <a:spLocks noChangeArrowheads="1"/>
          </p:cNvSpPr>
          <p:nvPr/>
        </p:nvSpPr>
        <p:spPr bwMode="auto">
          <a:xfrm>
            <a:off x="1828800" y="5486400"/>
            <a:ext cx="457200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latin typeface="Century Schoolbook" pitchFamily="18" charset="0"/>
              </a:rPr>
              <a:t>k</a:t>
            </a:r>
            <a:endParaRPr kumimoji="1" lang="en-US" altLang="zh-CN" sz="2400" b="1">
              <a:latin typeface="Century Schoolbook" pitchFamily="18" charset="0"/>
              <a:sym typeface="Symbol" panose="05050102010706020507" pitchFamily="18" charset="2"/>
            </a:endParaRPr>
          </a:p>
        </p:txBody>
      </p:sp>
      <p:sp>
        <p:nvSpPr>
          <p:cNvPr id="482439" name="Text Box 135"/>
          <p:cNvSpPr txBox="1">
            <a:spLocks noChangeArrowheads="1"/>
          </p:cNvSpPr>
          <p:nvPr/>
        </p:nvSpPr>
        <p:spPr bwMode="auto">
          <a:xfrm>
            <a:off x="4191000" y="5486400"/>
            <a:ext cx="457200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latin typeface="Century Schoolbook" pitchFamily="18" charset="0"/>
              </a:rPr>
              <a:t>a</a:t>
            </a:r>
            <a:endParaRPr kumimoji="1" lang="en-US" altLang="zh-CN" sz="2400" b="1">
              <a:latin typeface="Century Schoolbook" pitchFamily="18" charset="0"/>
              <a:sym typeface="Symbol" panose="05050102010706020507" pitchFamily="18" charset="2"/>
            </a:endParaRPr>
          </a:p>
        </p:txBody>
      </p:sp>
      <p:sp>
        <p:nvSpPr>
          <p:cNvPr id="127" name="Text Box 14"/>
          <p:cNvSpPr txBox="1">
            <a:spLocks noChangeArrowheads="1"/>
          </p:cNvSpPr>
          <p:nvPr/>
        </p:nvSpPr>
        <p:spPr bwMode="auto">
          <a:xfrm>
            <a:off x="1390490" y="2566329"/>
            <a:ext cx="1154061" cy="519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 anchor="b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 dirty="0">
                <a:latin typeface="Century Schoolbook" pitchFamily="18" charset="0"/>
                <a:sym typeface="Symbol" panose="05050102010706020507" pitchFamily="18" charset="2"/>
              </a:rPr>
              <a:t>h, </a:t>
            </a:r>
            <a:r>
              <a:rPr kumimoji="1" lang="en-US" altLang="zh-CN" sz="2400" b="1" i="1" dirty="0" err="1">
                <a:latin typeface="Century Schoolbook" pitchFamily="18" charset="0"/>
                <a:sym typeface="Symbol" panose="05050102010706020507" pitchFamily="18" charset="2"/>
              </a:rPr>
              <a:t>i</a:t>
            </a:r>
            <a:r>
              <a:rPr kumimoji="1" lang="en-US" altLang="zh-CN" sz="2400" b="1" i="1" dirty="0">
                <a:latin typeface="Century Schoolbook" pitchFamily="18" charset="0"/>
                <a:sym typeface="Symbol" panose="05050102010706020507" pitchFamily="18" charset="2"/>
              </a:rPr>
              <a:t>, j k; 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2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8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8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8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8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82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8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82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8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82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8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82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8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82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8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82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8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8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8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0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500"/>
                            </p:stCondLst>
                            <p:childTnLst>
                              <p:par>
                                <p:cTn id="1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0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500"/>
                            </p:stCondLst>
                            <p:childTnLst>
                              <p:par>
                                <p:cTn id="1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30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3500"/>
                            </p:stCondLst>
                            <p:childTnLst>
                              <p:par>
                                <p:cTn id="1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40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4500"/>
                            </p:stCondLst>
                            <p:childTnLst>
                              <p:par>
                                <p:cTn id="1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50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500"/>
                            </p:stCondLst>
                            <p:childTnLst>
                              <p:par>
                                <p:cTn id="19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6000"/>
                            </p:stCondLst>
                            <p:childTnLst>
                              <p:par>
                                <p:cTn id="19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6500"/>
                            </p:stCondLst>
                            <p:childTnLst>
                              <p:par>
                                <p:cTn id="19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7000"/>
                            </p:stCondLst>
                            <p:childTnLst>
                              <p:par>
                                <p:cTn id="20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7500"/>
                            </p:stCondLst>
                            <p:childTnLst>
                              <p:par>
                                <p:cTn id="20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8000"/>
                            </p:stCondLst>
                            <p:childTnLst>
                              <p:par>
                                <p:cTn id="20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8500"/>
                            </p:stCondLst>
                            <p:childTnLst>
                              <p:par>
                                <p:cTn id="20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9000"/>
                            </p:stCondLst>
                            <p:childTnLst>
                              <p:par>
                                <p:cTn id="2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9500"/>
                            </p:stCondLst>
                            <p:childTnLst>
                              <p:par>
                                <p:cTn id="2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10500"/>
                            </p:stCondLst>
                            <p:childTnLst>
                              <p:par>
                                <p:cTn id="2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11000"/>
                            </p:stCondLst>
                            <p:childTnLst>
                              <p:par>
                                <p:cTn id="2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11500"/>
                            </p:stCondLst>
                            <p:childTnLst>
                              <p:par>
                                <p:cTn id="2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12000"/>
                            </p:stCondLst>
                            <p:childTnLst>
                              <p:par>
                                <p:cTn id="2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12500"/>
                            </p:stCondLst>
                            <p:childTnLst>
                              <p:par>
                                <p:cTn id="2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13000"/>
                            </p:stCondLst>
                            <p:childTnLst>
                              <p:par>
                                <p:cTn id="2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13500"/>
                            </p:stCondLst>
                            <p:childTnLst>
                              <p:par>
                                <p:cTn id="2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14000"/>
                            </p:stCondLst>
                            <p:childTnLst>
                              <p:par>
                                <p:cTn id="2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14500"/>
                            </p:stCondLst>
                            <p:childTnLst>
                              <p:par>
                                <p:cTn id="2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15000"/>
                            </p:stCondLst>
                            <p:childTnLst>
                              <p:par>
                                <p:cTn id="2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15500"/>
                            </p:stCondLst>
                            <p:childTnLst>
                              <p:par>
                                <p:cTn id="2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16000"/>
                            </p:stCondLst>
                            <p:childTnLst>
                              <p:par>
                                <p:cTn id="2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16500"/>
                            </p:stCondLst>
                            <p:childTnLst>
                              <p:par>
                                <p:cTn id="2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17000"/>
                            </p:stCondLst>
                            <p:childTnLst>
                              <p:par>
                                <p:cTn id="2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6" dur="500"/>
                                        <p:tgtEl>
                                          <p:spTgt spid="48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500"/>
                            </p:stCondLst>
                            <p:childTnLst>
                              <p:par>
                                <p:cTn id="2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500"/>
                                        <p:tgtEl>
                                          <p:spTgt spid="48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1000"/>
                            </p:stCondLst>
                            <p:childTnLst>
                              <p:par>
                                <p:cTn id="2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4" dur="500"/>
                                        <p:tgtEl>
                                          <p:spTgt spid="48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1500"/>
                            </p:stCondLst>
                            <p:childTnLst>
                              <p:par>
                                <p:cTn id="2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8" dur="500"/>
                                        <p:tgtEl>
                                          <p:spTgt spid="48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3" dur="500"/>
                                        <p:tgtEl>
                                          <p:spTgt spid="482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500"/>
                                        <p:tgtEl>
                                          <p:spTgt spid="482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48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8" dur="500"/>
                                        <p:tgtEl>
                                          <p:spTgt spid="48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3" dur="500"/>
                                        <p:tgtEl>
                                          <p:spTgt spid="482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8" dur="500"/>
                                        <p:tgtEl>
                                          <p:spTgt spid="482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3" dur="500"/>
                                        <p:tgtEl>
                                          <p:spTgt spid="482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8" dur="500"/>
                                        <p:tgtEl>
                                          <p:spTgt spid="48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3" dur="500"/>
                                        <p:tgtEl>
                                          <p:spTgt spid="48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8" dur="500"/>
                                        <p:tgtEl>
                                          <p:spTgt spid="48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3" dur="500"/>
                                        <p:tgtEl>
                                          <p:spTgt spid="482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8" dur="500"/>
                                        <p:tgtEl>
                                          <p:spTgt spid="482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3" dur="500"/>
                                        <p:tgtEl>
                                          <p:spTgt spid="48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8" dur="500"/>
                                        <p:tgtEl>
                                          <p:spTgt spid="48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3" dur="500"/>
                                        <p:tgtEl>
                                          <p:spTgt spid="48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8" dur="500"/>
                                        <p:tgtEl>
                                          <p:spTgt spid="48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3" dur="500"/>
                                        <p:tgtEl>
                                          <p:spTgt spid="48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8" dur="500"/>
                                        <p:tgtEl>
                                          <p:spTgt spid="48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3" dur="500"/>
                                        <p:tgtEl>
                                          <p:spTgt spid="482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8" dur="500"/>
                                        <p:tgtEl>
                                          <p:spTgt spid="48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15" grpId="0" autoUpdateAnimBg="0"/>
      <p:bldP spid="482316" grpId="0" autoUpdateAnimBg="0"/>
      <p:bldP spid="482317" grpId="0" autoUpdateAnimBg="0"/>
      <p:bldP spid="482318" grpId="0"/>
      <p:bldP spid="482319" grpId="0" autoUpdateAnimBg="0"/>
      <p:bldP spid="482321" grpId="0" autoUpdateAnimBg="0"/>
      <p:bldP spid="482322" grpId="0" autoUpdateAnimBg="0"/>
      <p:bldP spid="482323" grpId="0" autoUpdateAnimBg="0"/>
      <p:bldP spid="482324" grpId="0" autoUpdateAnimBg="0"/>
      <p:bldP spid="482325" grpId="0" autoUpdateAnimBg="0"/>
      <p:bldP spid="482326" grpId="0" autoUpdateAnimBg="0"/>
      <p:bldP spid="482327" grpId="0" autoUpdateAnimBg="0"/>
      <p:bldP spid="482328" grpId="0" autoUpdateAnimBg="0"/>
      <p:bldP spid="482329" grpId="0" autoUpdateAnimBg="0"/>
      <p:bldP spid="482330" grpId="0" autoUpdateAnimBg="0"/>
      <p:bldP spid="482331" grpId="0" autoUpdateAnimBg="0"/>
      <p:bldP spid="482332" grpId="0" autoUpdateAnimBg="0"/>
      <p:bldP spid="482333" grpId="0" autoUpdateAnimBg="0"/>
      <p:bldP spid="482369" grpId="0" autoUpdateAnimBg="0"/>
      <p:bldP spid="482370" grpId="0" autoUpdateAnimBg="0"/>
      <p:bldP spid="482371" grpId="0" autoUpdateAnimBg="0"/>
      <p:bldP spid="482372" grpId="0" autoUpdateAnimBg="0"/>
      <p:bldP spid="482373" grpId="0" autoUpdateAnimBg="0"/>
      <p:bldP spid="482374" grpId="0" autoUpdateAnimBg="0"/>
      <p:bldP spid="482375" grpId="0" autoUpdateAnimBg="0"/>
      <p:bldP spid="482376" grpId="0" animBg="1"/>
      <p:bldP spid="482377" grpId="0" animBg="1"/>
      <p:bldP spid="482378" grpId="0" animBg="1"/>
      <p:bldP spid="482379" grpId="0" animBg="1"/>
      <p:bldP spid="482380" grpId="0" animBg="1"/>
      <p:bldP spid="482381" grpId="0" animBg="1"/>
      <p:bldP spid="482382" grpId="0" animBg="1"/>
      <p:bldP spid="482383" grpId="0" animBg="1"/>
      <p:bldP spid="482384" grpId="0" animBg="1"/>
      <p:bldP spid="482385" grpId="0" animBg="1"/>
      <p:bldP spid="482386" grpId="0" animBg="1"/>
      <p:bldP spid="482400" grpId="0" autoUpdateAnimBg="0"/>
      <p:bldP spid="482401" grpId="0" autoUpdateAnimBg="0"/>
      <p:bldP spid="482402" grpId="0" autoUpdateAnimBg="0"/>
      <p:bldP spid="482403" grpId="0" autoUpdateAnimBg="0"/>
      <p:bldP spid="482404" grpId="0" autoUpdateAnimBg="0"/>
      <p:bldP spid="482405" grpId="0" autoUpdateAnimBg="0"/>
      <p:bldP spid="482406" grpId="0" autoUpdateAnimBg="0"/>
      <p:bldP spid="482407" grpId="0" autoUpdateAnimBg="0"/>
      <p:bldP spid="482408" grpId="0" autoUpdateAnimBg="0"/>
      <p:bldP spid="482409" grpId="0" autoUpdateAnimBg="0"/>
      <p:bldP spid="482410" grpId="0" autoUpdateAnimBg="0"/>
      <p:bldP spid="482411" grpId="0" animBg="1"/>
      <p:bldP spid="482412" grpId="0" animBg="1"/>
      <p:bldP spid="482413" grpId="0" animBg="1"/>
      <p:bldP spid="482414" grpId="0" animBg="1"/>
      <p:bldP spid="482415" grpId="0" animBg="1"/>
      <p:bldP spid="482416" grpId="0" animBg="1"/>
      <p:bldP spid="482417" grpId="0" animBg="1"/>
      <p:bldP spid="482424" grpId="0" autoUpdateAnimBg="0"/>
      <p:bldP spid="482425" grpId="0" autoUpdateAnimBg="0"/>
      <p:bldP spid="482426" grpId="0" autoUpdateAnimBg="0"/>
      <p:bldP spid="482427" grpId="0" autoUpdateAnimBg="0"/>
      <p:bldP spid="482428" grpId="0" animBg="1"/>
      <p:bldP spid="482429" grpId="0" animBg="1"/>
      <p:bldP spid="482430" grpId="0" animBg="1"/>
      <p:bldP spid="482431" grpId="0" animBg="1"/>
      <p:bldP spid="482436" grpId="0" autoUpdateAnimBg="0"/>
      <p:bldP spid="482437" grpId="0" autoUpdateAnimBg="0"/>
      <p:bldP spid="482438" grpId="0" autoUpdateAnimBg="0"/>
      <p:bldP spid="482439" grpId="0" autoUpdateAnimBg="0"/>
      <p:bldP spid="127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C9A620-1CC5-45FE-A4A9-B528F34A229C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110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776"/>
            <a:ext cx="8229600" cy="3886200"/>
          </a:xfr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/>
              <a:t>下界、上界、最大下界、最小上界不一定存在。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/>
              <a:t>下界、上界存在不一定惟一。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/>
              <a:t>最大下界、最小上界如果存在，</a:t>
            </a:r>
            <a:r>
              <a:rPr lang="zh-CN" altLang="en-US" sz="2800" b="1" dirty="0">
                <a:solidFill>
                  <a:srgbClr val="FF0000"/>
                </a:solidFill>
              </a:rPr>
              <a:t>则惟一</a:t>
            </a:r>
            <a:r>
              <a:rPr lang="zh-CN" altLang="en-US" sz="2800" b="1" dirty="0"/>
              <a:t>。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/>
              <a:t>集合</a:t>
            </a:r>
            <a:r>
              <a:rPr lang="en-US" altLang="zh-CN" sz="2800" b="1" dirty="0"/>
              <a:t>B</a:t>
            </a:r>
            <a:r>
              <a:rPr lang="zh-CN" altLang="en-US" sz="2800" b="1" dirty="0"/>
              <a:t>的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最小元就是它的最大下界</a:t>
            </a:r>
            <a:r>
              <a:rPr lang="zh-CN" altLang="en-US" sz="2800" b="1" dirty="0"/>
              <a:t>，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最大元就是它的最小上界</a:t>
            </a:r>
            <a:r>
              <a:rPr lang="zh-CN" altLang="en-US" sz="2800" b="1" dirty="0"/>
              <a:t>；反之不对。</a:t>
            </a:r>
            <a:endParaRPr lang="en-US" altLang="zh-CN" sz="2800" b="1" dirty="0"/>
          </a:p>
          <a:p>
            <a:pPr>
              <a:buFont typeface="Wingdings" panose="05000000000000000000" pitchFamily="2" charset="2"/>
              <a:buNone/>
            </a:pPr>
            <a:endParaRPr lang="en-US" altLang="zh-CN" sz="2800" dirty="0"/>
          </a:p>
        </p:txBody>
      </p:sp>
      <p:sp>
        <p:nvSpPr>
          <p:cNvPr id="294916" name="Rectangle 4"/>
          <p:cNvSpPr>
            <a:spLocks noGrp="1" noChangeArrowheads="1"/>
          </p:cNvSpPr>
          <p:nvPr>
            <p:ph type="title"/>
          </p:nvPr>
        </p:nvSpPr>
        <p:spPr>
          <a:xfrm>
            <a:off x="323850" y="116632"/>
            <a:ext cx="8002588" cy="1100138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特殊元素的性质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6804248" y="6237312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87E6FD-4160-422A-929F-7FE1D253F52B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111</a:t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73059" name="Text Box 4"/>
          <p:cNvSpPr txBox="1">
            <a:spLocks noChangeArrowheads="1"/>
          </p:cNvSpPr>
          <p:nvPr/>
        </p:nvSpPr>
        <p:spPr bwMode="auto">
          <a:xfrm>
            <a:off x="396875" y="1376363"/>
            <a:ext cx="8064500" cy="21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已知偏序集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的哈斯图如右图所示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试求出集合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和关系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的表达式，</a:t>
            </a:r>
            <a:r>
              <a:rPr lang="en-US" altLang="zh-CN" sz="2800" b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的关系矩阵，求</a:t>
            </a:r>
            <a:r>
              <a:rPr lang="en-US" altLang="zh-CN" sz="2800" b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的极大元，极小元，最大元，最小元。设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</a:rPr>
              <a:t>＝</a:t>
            </a:r>
            <a:r>
              <a:rPr lang="en-US" altLang="zh-CN" sz="2800" b="1" dirty="0">
                <a:latin typeface="Times New Roman" panose="02020603050405020304" pitchFamily="18" charset="0"/>
              </a:rPr>
              <a:t>{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a,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}, </a:t>
            </a:r>
            <a:r>
              <a:rPr lang="zh-CN" altLang="en-US" sz="2800" b="1" dirty="0">
                <a:latin typeface="Times New Roman" panose="02020603050405020304" pitchFamily="18" charset="0"/>
              </a:rPr>
              <a:t>求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的下界、上界、最大下界、最小上界。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73060" name="Group 18"/>
          <p:cNvGrpSpPr>
            <a:grpSpLocks/>
          </p:cNvGrpSpPr>
          <p:nvPr/>
        </p:nvGrpSpPr>
        <p:grpSpPr bwMode="auto">
          <a:xfrm>
            <a:off x="2987675" y="3821113"/>
            <a:ext cx="2533650" cy="1968500"/>
            <a:chOff x="521" y="2024"/>
            <a:chExt cx="1596" cy="1240"/>
          </a:xfrm>
        </p:grpSpPr>
        <p:sp>
          <p:nvSpPr>
            <p:cNvPr id="173062" name="Oval 5"/>
            <p:cNvSpPr>
              <a:spLocks noChangeArrowheads="1"/>
            </p:cNvSpPr>
            <p:nvPr/>
          </p:nvSpPr>
          <p:spPr bwMode="auto">
            <a:xfrm>
              <a:off x="748" y="2160"/>
              <a:ext cx="91" cy="9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800"/>
            </a:p>
          </p:txBody>
        </p:sp>
        <p:sp>
          <p:nvSpPr>
            <p:cNvPr id="173063" name="Oval 6"/>
            <p:cNvSpPr>
              <a:spLocks noChangeArrowheads="1"/>
            </p:cNvSpPr>
            <p:nvPr/>
          </p:nvSpPr>
          <p:spPr bwMode="auto">
            <a:xfrm>
              <a:off x="1429" y="2160"/>
              <a:ext cx="91" cy="9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800"/>
            </a:p>
          </p:txBody>
        </p:sp>
        <p:sp>
          <p:nvSpPr>
            <p:cNvPr id="173064" name="Oval 7"/>
            <p:cNvSpPr>
              <a:spLocks noChangeArrowheads="1"/>
            </p:cNvSpPr>
            <p:nvPr/>
          </p:nvSpPr>
          <p:spPr bwMode="auto">
            <a:xfrm>
              <a:off x="1066" y="2568"/>
              <a:ext cx="91" cy="9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800"/>
            </a:p>
          </p:txBody>
        </p:sp>
        <p:sp>
          <p:nvSpPr>
            <p:cNvPr id="173065" name="Oval 8"/>
            <p:cNvSpPr>
              <a:spLocks noChangeArrowheads="1"/>
            </p:cNvSpPr>
            <p:nvPr/>
          </p:nvSpPr>
          <p:spPr bwMode="auto">
            <a:xfrm>
              <a:off x="1076" y="3096"/>
              <a:ext cx="91" cy="9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800"/>
            </a:p>
          </p:txBody>
        </p:sp>
        <p:sp>
          <p:nvSpPr>
            <p:cNvPr id="173066" name="Oval 9"/>
            <p:cNvSpPr>
              <a:spLocks noChangeArrowheads="1"/>
            </p:cNvSpPr>
            <p:nvPr/>
          </p:nvSpPr>
          <p:spPr bwMode="auto">
            <a:xfrm>
              <a:off x="1791" y="2568"/>
              <a:ext cx="91" cy="9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800"/>
            </a:p>
          </p:txBody>
        </p:sp>
        <p:sp>
          <p:nvSpPr>
            <p:cNvPr id="173067" name="Line 10"/>
            <p:cNvSpPr>
              <a:spLocks noChangeShapeType="1"/>
            </p:cNvSpPr>
            <p:nvPr/>
          </p:nvSpPr>
          <p:spPr bwMode="auto">
            <a:xfrm>
              <a:off x="793" y="2251"/>
              <a:ext cx="273" cy="31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068" name="Line 11"/>
            <p:cNvSpPr>
              <a:spLocks noChangeShapeType="1"/>
            </p:cNvSpPr>
            <p:nvPr/>
          </p:nvSpPr>
          <p:spPr bwMode="auto">
            <a:xfrm flipH="1">
              <a:off x="1156" y="2251"/>
              <a:ext cx="273" cy="31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069" name="Line 12"/>
            <p:cNvSpPr>
              <a:spLocks noChangeShapeType="1"/>
            </p:cNvSpPr>
            <p:nvPr/>
          </p:nvSpPr>
          <p:spPr bwMode="auto">
            <a:xfrm>
              <a:off x="1111" y="2659"/>
              <a:ext cx="0" cy="45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070" name="Text Box 13"/>
            <p:cNvSpPr txBox="1">
              <a:spLocks noChangeArrowheads="1"/>
            </p:cNvSpPr>
            <p:nvPr/>
          </p:nvSpPr>
          <p:spPr bwMode="auto">
            <a:xfrm>
              <a:off x="521" y="2024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3071" name="Text Box 14"/>
            <p:cNvSpPr txBox="1">
              <a:spLocks noChangeArrowheads="1"/>
            </p:cNvSpPr>
            <p:nvPr/>
          </p:nvSpPr>
          <p:spPr bwMode="auto">
            <a:xfrm>
              <a:off x="1519" y="2024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73072" name="Text Box 15"/>
            <p:cNvSpPr txBox="1">
              <a:spLocks noChangeArrowheads="1"/>
            </p:cNvSpPr>
            <p:nvPr/>
          </p:nvSpPr>
          <p:spPr bwMode="auto">
            <a:xfrm>
              <a:off x="839" y="2478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73073" name="Text Box 16"/>
            <p:cNvSpPr txBox="1">
              <a:spLocks noChangeArrowheads="1"/>
            </p:cNvSpPr>
            <p:nvPr/>
          </p:nvSpPr>
          <p:spPr bwMode="auto">
            <a:xfrm>
              <a:off x="839" y="2976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73074" name="Text Box 17"/>
            <p:cNvSpPr txBox="1">
              <a:spLocks noChangeArrowheads="1"/>
            </p:cNvSpPr>
            <p:nvPr/>
          </p:nvSpPr>
          <p:spPr bwMode="auto">
            <a:xfrm>
              <a:off x="1890" y="2430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e</a:t>
              </a:r>
            </a:p>
          </p:txBody>
        </p:sp>
      </p:grpSp>
      <p:sp>
        <p:nvSpPr>
          <p:cNvPr id="173061" name="矩形 1"/>
          <p:cNvSpPr>
            <a:spLocks noChangeArrowheads="1"/>
          </p:cNvSpPr>
          <p:nvPr/>
        </p:nvSpPr>
        <p:spPr bwMode="auto">
          <a:xfrm>
            <a:off x="374427" y="282652"/>
            <a:ext cx="2757486" cy="760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课堂练习：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09D27D2-C18A-4709-B7A6-060097A23C95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112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06180" name="Text Box 4"/>
          <p:cNvSpPr txBox="1">
            <a:spLocks noChangeArrowheads="1"/>
          </p:cNvSpPr>
          <p:nvPr/>
        </p:nvSpPr>
        <p:spPr bwMode="auto">
          <a:xfrm>
            <a:off x="4591472" y="2698687"/>
            <a:ext cx="3923456" cy="319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的极小元：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zh-CN" altLang="en-US" sz="2800" b="1" dirty="0">
                <a:latin typeface="Times New Roman" panose="02020603050405020304" pitchFamily="18" charset="0"/>
              </a:rPr>
              <a:t>；极大元：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zh-CN" altLang="en-US" sz="2800" b="1" dirty="0">
                <a:latin typeface="Times New Roman" panose="02020603050405020304" pitchFamily="18" charset="0"/>
              </a:rPr>
              <a:t>；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没有最小元与最大元。</a:t>
            </a:r>
            <a:endParaRPr lang="en-US" altLang="zh-CN" sz="2800" b="1" i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</a:rPr>
              <a:t>的上界和最大上界都不存在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下界有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最大下界为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74084" name="Text Box 5"/>
          <p:cNvSpPr txBox="1">
            <a:spLocks noChangeArrowheads="1"/>
          </p:cNvSpPr>
          <p:nvPr/>
        </p:nvSpPr>
        <p:spPr bwMode="auto">
          <a:xfrm>
            <a:off x="755576" y="1183233"/>
            <a:ext cx="6408738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A=</a:t>
            </a:r>
            <a:r>
              <a:rPr lang="en-US" altLang="zh-CN" sz="2800" b="1" dirty="0">
                <a:latin typeface="Times New Roman" panose="02020603050405020304" pitchFamily="18" charset="0"/>
              </a:rPr>
              <a:t>{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a,b,c,d,e</a:t>
            </a:r>
            <a:r>
              <a:rPr lang="en-US" altLang="zh-CN" sz="2800" b="1" dirty="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R=</a:t>
            </a:r>
            <a:r>
              <a:rPr lang="en-US" altLang="zh-CN" sz="2800" b="1" dirty="0">
                <a:latin typeface="Times New Roman" panose="02020603050405020304" pitchFamily="18" charset="0"/>
              </a:rPr>
              <a:t>{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c,a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&gt;,&lt;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c,b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&gt;,&lt;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d,c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&gt;,&lt;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d,a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&gt;,&lt;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d,b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latin typeface="Times New Roman" panose="02020603050405020304" pitchFamily="18" charset="0"/>
              </a:rPr>
              <a:t>}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∪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7408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8485499"/>
              </p:ext>
            </p:extLst>
          </p:nvPr>
        </p:nvGraphicFramePr>
        <p:xfrm>
          <a:off x="944290" y="3212976"/>
          <a:ext cx="2808287" cy="260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27" name="公式" r:id="rId3" imgW="1244600" imgH="1155700" progId="Equation.3">
                  <p:embed/>
                </p:oleObj>
              </mc:Choice>
              <mc:Fallback>
                <p:oleObj name="公式" r:id="rId3" imgW="1244600" imgH="1155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290" y="3212976"/>
                        <a:ext cx="2808287" cy="2608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86" name="Text Box 7"/>
          <p:cNvSpPr txBox="1">
            <a:spLocks noChangeArrowheads="1"/>
          </p:cNvSpPr>
          <p:nvPr/>
        </p:nvSpPr>
        <p:spPr bwMode="auto">
          <a:xfrm>
            <a:off x="943422" y="2652379"/>
            <a:ext cx="2663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/>
              <a:t>的关系矩阵：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251520" y="493557"/>
            <a:ext cx="64087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解：</a:t>
            </a:r>
            <a:endParaRPr lang="en-US" altLang="zh-CN" sz="3600" b="1" dirty="0">
              <a:solidFill>
                <a:srgbClr val="3366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64" name="AutoShape 12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654050" y="260350"/>
            <a:ext cx="915988" cy="450850"/>
          </a:xfrm>
          <a:prstGeom prst="actionButtonBlank">
            <a:avLst/>
          </a:prstGeom>
          <a:solidFill>
            <a:srgbClr val="00990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6800" rIns="50400" anchor="ctr" anchorCtr="1">
            <a:spAutoFit/>
          </a:bodyPr>
          <a:lstStyle/>
          <a:p>
            <a:pPr eaLnBrk="1" hangingPunct="1">
              <a:defRPr/>
            </a:pPr>
            <a:r>
              <a:rPr lang="zh-CN" altLang="en-US" sz="2000" b="1" dirty="0">
                <a:solidFill>
                  <a:schemeClr val="bg1"/>
                </a:solidFill>
                <a:ea typeface="幼圆" panose="02010509060101010101" pitchFamily="49" charset="-122"/>
              </a:rPr>
              <a:t>作 业</a:t>
            </a:r>
            <a:endParaRPr lang="zh-CN" altLang="en-US" sz="2000" dirty="0">
              <a:solidFill>
                <a:srgbClr val="009900"/>
              </a:solidFill>
              <a:effectDag name="">
                <a:cont type="tree" name="">
                  <a:effect ref="fillLine"/>
                  <a:outerShdw dist="38100" dir="13500000" algn="br">
                    <a:srgbClr val="4CE54C"/>
                  </a:outerShdw>
                </a:cont>
                <a:cont type="tree" name="">
                  <a:effect ref="fillLine"/>
                  <a:outerShdw dist="38100" dir="2700000" algn="tl">
                    <a:srgbClr val="005B00"/>
                  </a:outerShdw>
                </a:cont>
                <a:effect ref="fillLine"/>
              </a:effectDag>
              <a:ea typeface="隶书" panose="02010509060101010101" pitchFamily="49" charset="-122"/>
            </a:endParaRPr>
          </a:p>
        </p:txBody>
      </p:sp>
      <p:sp>
        <p:nvSpPr>
          <p:cNvPr id="175107" name="Rectangle 13"/>
          <p:cNvSpPr>
            <a:spLocks noChangeArrowheads="1"/>
          </p:cNvSpPr>
          <p:nvPr/>
        </p:nvSpPr>
        <p:spPr bwMode="auto">
          <a:xfrm>
            <a:off x="633413" y="1484313"/>
            <a:ext cx="5827712" cy="272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4.5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4.6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4.15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4.16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876256" y="6165304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6E489F-BD18-41C5-9877-04E313A6EA46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114</a:t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188640"/>
            <a:ext cx="8002588" cy="1100138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4.6 </a:t>
            </a:r>
            <a:r>
              <a:rPr lang="zh-CN" altLang="en-US" b="1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函数的定义与性质</a:t>
            </a:r>
          </a:p>
        </p:txBody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229600" cy="3886200"/>
          </a:xfrm>
        </p:spPr>
        <p:txBody>
          <a:bodyPr/>
          <a:lstStyle/>
          <a:p>
            <a:r>
              <a:rPr lang="zh-CN" altLang="en-US" b="1"/>
              <a:t>函数的定义</a:t>
            </a:r>
          </a:p>
          <a:p>
            <a:pPr lvl="1"/>
            <a:r>
              <a:rPr lang="zh-CN" altLang="en-US" b="1"/>
              <a:t>函数定义</a:t>
            </a:r>
          </a:p>
          <a:p>
            <a:pPr lvl="1"/>
            <a:r>
              <a:rPr lang="zh-CN" altLang="en-US" b="1"/>
              <a:t>从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到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的函数</a:t>
            </a:r>
          </a:p>
          <a:p>
            <a:pPr lvl="1"/>
            <a:r>
              <a:rPr lang="zh-CN" altLang="en-US" b="1"/>
              <a:t>函数的像</a:t>
            </a:r>
          </a:p>
          <a:p>
            <a:r>
              <a:rPr lang="zh-CN" altLang="en-US" b="1"/>
              <a:t>函数的性质</a:t>
            </a:r>
          </a:p>
          <a:p>
            <a:pPr lvl="1"/>
            <a:r>
              <a:rPr lang="zh-CN" altLang="en-US" b="1"/>
              <a:t>函数的单射、满射、双射性</a:t>
            </a:r>
          </a:p>
          <a:p>
            <a:pPr lvl="1"/>
            <a:r>
              <a:rPr lang="zh-CN" altLang="en-US" b="1"/>
              <a:t>构造双射函数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E2C3025-5CFD-43C8-95D1-ED1357C940C0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115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98468"/>
            <a:ext cx="7920037" cy="1081087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函数定义</a:t>
            </a:r>
          </a:p>
        </p:txBody>
      </p:sp>
      <p:sp>
        <p:nvSpPr>
          <p:cNvPr id="258051" name="Text Box 3"/>
          <p:cNvSpPr txBox="1">
            <a:spLocks noChangeArrowheads="1"/>
          </p:cNvSpPr>
          <p:nvPr/>
        </p:nvSpPr>
        <p:spPr bwMode="auto">
          <a:xfrm>
            <a:off x="539552" y="3682965"/>
            <a:ext cx="7920037" cy="1803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&gt;} </a:t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 ,&lt;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&gt;}  </a:t>
            </a: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是函数</a:t>
            </a:r>
            <a:r>
              <a:rPr lang="en-US" altLang="zh-CN" sz="28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不是函数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68312" y="1269206"/>
            <a:ext cx="8352160" cy="2234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b="1" dirty="0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二元关系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 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∈dom</a:t>
            </a:r>
            <a:r>
              <a:rPr lang="en-US" altLang="zh-CN" sz="2800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都存在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唯一的</a:t>
            </a:r>
            <a:r>
              <a:rPr lang="en-US" altLang="zh-CN" sz="2800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∈ran</a:t>
            </a:r>
            <a:r>
              <a:rPr lang="en-US" altLang="zh-CN" sz="2800" b="1" i="1" dirty="0" err="1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使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xFy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成立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函数</a:t>
            </a:r>
            <a:r>
              <a:rPr lang="zh-CN" altLang="en-US" sz="2800" b="1" dirty="0">
                <a:latin typeface="Times New Roman" panose="02020603050405020304" pitchFamily="18" charset="0"/>
              </a:rPr>
              <a:t>。对于函数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如果有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xFy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latin typeface="Times New Roman" panose="02020603050405020304" pitchFamily="18" charset="0"/>
              </a:rPr>
              <a:t>则记作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，并称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 </a:t>
            </a:r>
            <a:r>
              <a:rPr lang="zh-CN" altLang="en-US" sz="2800" b="1" dirty="0">
                <a:latin typeface="Times New Roman" panose="02020603050405020304" pitchFamily="18" charset="0"/>
              </a:rPr>
              <a:t>在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函数值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63A86BE-5728-4B59-9308-F691702F204E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116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0"/>
            <a:ext cx="8229600" cy="1371601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函数相等</a:t>
            </a:r>
          </a:p>
        </p:txBody>
      </p:sp>
      <p:sp>
        <p:nvSpPr>
          <p:cNvPr id="259075" name="Text Box 3"/>
          <p:cNvSpPr txBox="1">
            <a:spLocks noChangeArrowheads="1"/>
          </p:cNvSpPr>
          <p:nvPr/>
        </p:nvSpPr>
        <p:spPr bwMode="auto">
          <a:xfrm>
            <a:off x="683568" y="3732096"/>
            <a:ext cx="8170862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实例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函数：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)=(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1)/(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+1)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不相等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因为 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dom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dom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chemeClr val="bg2"/>
              </a:solidFill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25624" y="1332896"/>
            <a:ext cx="8170862" cy="2566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sz="2800" b="1" dirty="0">
                <a:latin typeface="Times New Roman" panose="02020603050405020304" pitchFamily="18" charset="0"/>
              </a:rPr>
              <a:t>  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为函数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 </a:t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   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∧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如果两个函数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相等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一定满足下面两个条件：</a:t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   </a:t>
            </a:r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dom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dom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   (2)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∈dom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dom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都有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) </a:t>
            </a:r>
            <a:endParaRPr lang="en-US" altLang="zh-CN" sz="2800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5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8B5909-3666-498B-8909-C67238320E16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117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17960"/>
            <a:ext cx="7561262" cy="1008062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从 </a:t>
            </a:r>
            <a:r>
              <a:rPr lang="en-US" altLang="zh-CN" b="1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 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到 </a:t>
            </a:r>
            <a:r>
              <a:rPr lang="en-US" altLang="zh-CN" b="1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 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的函数</a:t>
            </a:r>
          </a:p>
        </p:txBody>
      </p:sp>
      <p:sp>
        <p:nvSpPr>
          <p:cNvPr id="183300" name="Text Box 3"/>
          <p:cNvSpPr txBox="1">
            <a:spLocks noChangeArrowheads="1"/>
          </p:cNvSpPr>
          <p:nvPr/>
        </p:nvSpPr>
        <p:spPr bwMode="auto">
          <a:xfrm>
            <a:off x="251520" y="1356977"/>
            <a:ext cx="8170100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为集合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如果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为函数，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dom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zh-CN" altLang="en-US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endParaRPr lang="en-US" altLang="zh-CN" sz="2800" b="1" i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ran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则称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为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从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的函数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记作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83301" name="组合 4"/>
          <p:cNvGrpSpPr>
            <a:grpSpLocks/>
          </p:cNvGrpSpPr>
          <p:nvPr/>
        </p:nvGrpSpPr>
        <p:grpSpPr bwMode="auto">
          <a:xfrm>
            <a:off x="455613" y="2571631"/>
            <a:ext cx="8077200" cy="1721764"/>
            <a:chOff x="685800" y="4298036"/>
            <a:chExt cx="8077200" cy="1721764"/>
          </a:xfrm>
        </p:grpSpPr>
        <p:sp>
          <p:nvSpPr>
            <p:cNvPr id="183303" name="Oval 23" descr="5%"/>
            <p:cNvSpPr>
              <a:spLocks noChangeArrowheads="1"/>
            </p:cNvSpPr>
            <p:nvPr/>
          </p:nvSpPr>
          <p:spPr bwMode="auto">
            <a:xfrm>
              <a:off x="2362200" y="4572000"/>
              <a:ext cx="1143000" cy="1447800"/>
            </a:xfrm>
            <a:prstGeom prst="ellipse">
              <a:avLst/>
            </a:prstGeom>
            <a:pattFill prst="pct5">
              <a:fgClr>
                <a:srgbClr val="FF0000"/>
              </a:fgClr>
              <a:bgClr>
                <a:srgbClr val="FFFFFF"/>
              </a:bgClr>
            </a:pattFill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en-US" sz="1400" b="1" u="sng">
                <a:solidFill>
                  <a:srgbClr val="8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3304" name="Text Box 25"/>
            <p:cNvSpPr txBox="1">
              <a:spLocks noChangeArrowheads="1"/>
            </p:cNvSpPr>
            <p:nvPr/>
          </p:nvSpPr>
          <p:spPr bwMode="auto">
            <a:xfrm>
              <a:off x="3886200" y="4800600"/>
              <a:ext cx="441325" cy="603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f</a:t>
              </a:r>
              <a:endParaRPr kumimoji="1" lang="en-US" altLang="zh-CN" sz="2800" b="1">
                <a:solidFill>
                  <a:srgbClr val="8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3305" name="Text Box 28"/>
            <p:cNvSpPr txBox="1">
              <a:spLocks noChangeArrowheads="1"/>
            </p:cNvSpPr>
            <p:nvPr/>
          </p:nvSpPr>
          <p:spPr bwMode="auto">
            <a:xfrm>
              <a:off x="2057400" y="4368891"/>
              <a:ext cx="533400" cy="552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X</a:t>
              </a:r>
              <a:endPara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3306" name="Oval 29" descr="5%"/>
            <p:cNvSpPr>
              <a:spLocks noChangeArrowheads="1"/>
            </p:cNvSpPr>
            <p:nvPr/>
          </p:nvSpPr>
          <p:spPr bwMode="auto">
            <a:xfrm>
              <a:off x="4953000" y="4495800"/>
              <a:ext cx="1219200" cy="1524000"/>
            </a:xfrm>
            <a:prstGeom prst="ellipse">
              <a:avLst/>
            </a:prstGeom>
            <a:pattFill prst="pct5">
              <a:fgClr>
                <a:srgbClr val="0000FF"/>
              </a:fgClr>
              <a:bgClr>
                <a:srgbClr val="FFFFFF"/>
              </a:bgClr>
            </a:pattFill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83307" name="Line 30"/>
            <p:cNvSpPr>
              <a:spLocks noChangeShapeType="1"/>
            </p:cNvSpPr>
            <p:nvPr/>
          </p:nvSpPr>
          <p:spPr bwMode="auto">
            <a:xfrm>
              <a:off x="2895600" y="4572000"/>
              <a:ext cx="2743200" cy="15240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3308" name="Line 31"/>
            <p:cNvSpPr>
              <a:spLocks noChangeShapeType="1"/>
            </p:cNvSpPr>
            <p:nvPr/>
          </p:nvSpPr>
          <p:spPr bwMode="auto">
            <a:xfrm flipV="1">
              <a:off x="2895600" y="5791200"/>
              <a:ext cx="2743200" cy="22860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3309" name="Oval 32" descr="90%"/>
            <p:cNvSpPr>
              <a:spLocks noChangeArrowheads="1"/>
            </p:cNvSpPr>
            <p:nvPr/>
          </p:nvSpPr>
          <p:spPr bwMode="auto">
            <a:xfrm>
              <a:off x="5257800" y="4724400"/>
              <a:ext cx="685800" cy="1066800"/>
            </a:xfrm>
            <a:prstGeom prst="ellipse">
              <a:avLst/>
            </a:prstGeom>
            <a:pattFill prst="pct90">
              <a:fgClr>
                <a:srgbClr val="FFCCFF"/>
              </a:fgClr>
              <a:bgClr>
                <a:srgbClr val="0000FF"/>
              </a:bgClr>
            </a:pattFill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en-US" sz="1400" b="1" u="sng">
                <a:solidFill>
                  <a:srgbClr val="8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3310" name="Text Box 36"/>
            <p:cNvSpPr txBox="1">
              <a:spLocks noChangeArrowheads="1"/>
            </p:cNvSpPr>
            <p:nvPr/>
          </p:nvSpPr>
          <p:spPr bwMode="auto">
            <a:xfrm>
              <a:off x="6400800" y="4902868"/>
              <a:ext cx="2362200" cy="551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f </a:t>
              </a:r>
              <a:r>
                <a:rPr kumimoji="1" lang="en-US" altLang="zh-CN" sz="24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000" b="1" i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24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)=ran </a:t>
              </a:r>
              <a:r>
                <a:rPr kumimoji="1" lang="en-US" altLang="zh-CN" sz="2400" b="1" i="1" dirty="0" err="1">
                  <a:solidFill>
                    <a:srgbClr val="0033CC"/>
                  </a:solidFill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400" b="1" dirty="0" err="1">
                  <a:solidFill>
                    <a:srgbClr val="0033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Y</a:t>
              </a:r>
              <a:endParaRPr kumimoji="1"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3311" name="Line 44"/>
            <p:cNvSpPr>
              <a:spLocks noChangeShapeType="1"/>
            </p:cNvSpPr>
            <p:nvPr/>
          </p:nvSpPr>
          <p:spPr bwMode="auto">
            <a:xfrm flipH="1" flipV="1">
              <a:off x="5638800" y="5181600"/>
              <a:ext cx="990600" cy="7620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3312" name="Text Box 47"/>
            <p:cNvSpPr txBox="1">
              <a:spLocks noChangeArrowheads="1"/>
            </p:cNvSpPr>
            <p:nvPr/>
          </p:nvSpPr>
          <p:spPr bwMode="auto">
            <a:xfrm>
              <a:off x="6170687" y="4298036"/>
              <a:ext cx="444352" cy="6288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83313" name="Text Box 48"/>
            <p:cNvSpPr txBox="1">
              <a:spLocks noChangeArrowheads="1"/>
            </p:cNvSpPr>
            <p:nvPr/>
          </p:nvSpPr>
          <p:spPr bwMode="auto">
            <a:xfrm>
              <a:off x="685800" y="4902291"/>
              <a:ext cx="1547813" cy="552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dom </a:t>
              </a:r>
              <a:r>
                <a:rPr kumimoji="1" lang="en-US" altLang="zh-CN" sz="2400" b="1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f=</a:t>
              </a:r>
              <a:r>
                <a:rPr kumimoji="1" lang="en-US" altLang="zh-CN" sz="24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2400" b="1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endPara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3314" name="Line 49"/>
            <p:cNvSpPr>
              <a:spLocks noChangeShapeType="1"/>
            </p:cNvSpPr>
            <p:nvPr/>
          </p:nvSpPr>
          <p:spPr bwMode="auto">
            <a:xfrm flipH="1">
              <a:off x="2057400" y="5181600"/>
              <a:ext cx="838200" cy="762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sp>
        <p:nvSpPr>
          <p:cNvPr id="183302" name="矩形 1"/>
          <p:cNvSpPr>
            <a:spLocks noChangeArrowheads="1"/>
          </p:cNvSpPr>
          <p:nvPr/>
        </p:nvSpPr>
        <p:spPr bwMode="auto">
          <a:xfrm>
            <a:off x="586101" y="4761708"/>
            <a:ext cx="7500937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实例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)=2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是从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到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的函数 </a:t>
            </a:r>
            <a:endParaRPr lang="zh-CN" altLang="en-US" sz="2800" b="1" i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)=2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也是从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到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的函数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02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8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804248" y="6165304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756C8FB-5CBB-4E0C-BE1C-EBA4CCB76FE1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118</a:t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>
          <a:xfrm>
            <a:off x="528315" y="99794"/>
            <a:ext cx="7920038" cy="1081087"/>
          </a:xfrm>
        </p:spPr>
        <p:txBody>
          <a:bodyPr/>
          <a:lstStyle/>
          <a:p>
            <a:pPr>
              <a:defRPr/>
            </a:pPr>
            <a:r>
              <a:rPr lang="en-US" altLang="zh-CN" b="1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上</a:t>
            </a:r>
            <a:r>
              <a:rPr lang="en-US" altLang="zh-CN" b="1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</a:p>
        </p:txBody>
      </p:sp>
      <p:sp>
        <p:nvSpPr>
          <p:cNvPr id="185350" name="Text Box 3"/>
          <p:cNvSpPr txBox="1">
            <a:spLocks noChangeArrowheads="1"/>
          </p:cNvSpPr>
          <p:nvPr/>
        </p:nvSpPr>
        <p:spPr bwMode="auto">
          <a:xfrm>
            <a:off x="516731" y="1345762"/>
            <a:ext cx="7931622" cy="1852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 所有从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的函数的集合记作 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B</a:t>
            </a:r>
            <a:r>
              <a:rPr lang="en-US" altLang="zh-CN" sz="2800" b="1" i="1" baseline="3000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zh-CN" alt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latin typeface="Times New Roman" panose="02020603050405020304" pitchFamily="18" charset="0"/>
              </a:rPr>
              <a:t>读作“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</a:rPr>
              <a:t>上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”</a:t>
            </a:r>
            <a:r>
              <a:rPr lang="zh-CN" altLang="en-US" sz="2800" b="1" dirty="0">
                <a:latin typeface="Times New Roman" panose="02020603050405020304" pitchFamily="18" charset="0"/>
              </a:rPr>
              <a:t>，符号化表示为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       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B</a:t>
            </a:r>
            <a:r>
              <a:rPr lang="en-US" altLang="zh-CN" sz="2800" b="1" i="1" baseline="3000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 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={ 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|  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B 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} 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599753" y="3517004"/>
            <a:ext cx="7848600" cy="2412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计数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|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|=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</a:rPr>
              <a:t> |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|=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latin typeface="Times New Roman" panose="02020603050405020304" pitchFamily="18" charset="0"/>
              </a:rPr>
              <a:t>且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&gt;0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，则 </a:t>
            </a:r>
            <a:r>
              <a:rPr lang="en-US" altLang="zh-CN" sz="2800" b="1" dirty="0">
                <a:latin typeface="Times New Roman" panose="02020603050405020304" pitchFamily="18" charset="0"/>
              </a:rPr>
              <a:t> |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|=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m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        A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2800" b="1" dirty="0">
                <a:latin typeface="Times New Roman" panose="02020603050405020304" pitchFamily="18" charset="0"/>
              </a:rPr>
              <a:t>={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2800" b="1" dirty="0">
                <a:latin typeface="Times New Roman" panose="02020603050405020304" pitchFamily="18" charset="0"/>
              </a:rPr>
              <a:t>}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r>
              <a:rPr lang="en-US" altLang="zh-CN" sz="2800" b="1" dirty="0"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≠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2800" b="1" dirty="0">
                <a:latin typeface="Times New Roman" panose="02020603050405020304" pitchFamily="18" charset="0"/>
              </a:rPr>
              <a:t>且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800" b="1" dirty="0">
                <a:latin typeface="Times New Roman" panose="02020603050405020304" pitchFamily="18" charset="0"/>
              </a:rPr>
              <a:t>则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876256" y="6092136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2D7038-6496-4859-82F6-018E44188169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119</a:t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304403"/>
            <a:ext cx="7921625" cy="935038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实例</a:t>
            </a:r>
          </a:p>
        </p:txBody>
      </p:sp>
      <p:sp>
        <p:nvSpPr>
          <p:cNvPr id="262147" name="Text Box 3"/>
          <p:cNvSpPr txBox="1">
            <a:spLocks noChangeArrowheads="1"/>
          </p:cNvSpPr>
          <p:nvPr/>
        </p:nvSpPr>
        <p:spPr bwMode="auto">
          <a:xfrm>
            <a:off x="467544" y="1348516"/>
            <a:ext cx="7008457" cy="62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设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{1, 2, 3},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}, 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求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i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b="1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58192" y="2140855"/>
            <a:ext cx="8228608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解：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B</a:t>
            </a:r>
            <a:r>
              <a:rPr lang="en-US" altLang="zh-CN" sz="2800" b="1" i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… 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},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其中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&gt;,&lt;2,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&gt;,&lt;3,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&gt;},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&gt;,&lt;2,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&gt;,&lt;3,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&gt;} </a:t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&gt;,&lt;2,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&gt;,&lt;3,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&gt;}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&gt;,&lt;2,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&gt;,&lt;3,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&gt;} </a:t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&gt;,&lt;2,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&gt;,&lt;3,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&gt;}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&gt;,&lt;2,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&gt;,&lt;3,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&gt;} </a:t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&gt;,&lt;2,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&gt;,&lt;3,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&gt;},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&gt;,&lt;2,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&gt;,&lt;3,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&gt;}</a:t>
            </a:r>
            <a:r>
              <a:rPr lang="en-US" altLang="zh-CN" sz="2800" b="1" dirty="0">
                <a:solidFill>
                  <a:schemeClr val="bg2"/>
                </a:solidFill>
              </a:rPr>
              <a:t> </a:t>
            </a:r>
            <a:br>
              <a:rPr lang="en-US" altLang="zh-CN" sz="2800" b="1" dirty="0">
                <a:solidFill>
                  <a:schemeClr val="bg2"/>
                </a:solidFill>
              </a:rPr>
            </a:br>
            <a:endParaRPr lang="en-US" altLang="zh-C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955236" y="6213476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58ADFCF-9A03-467A-9441-42CE6F74D338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120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71439"/>
            <a:ext cx="7920037" cy="11525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函数的像</a:t>
            </a:r>
          </a:p>
        </p:txBody>
      </p:sp>
      <p:sp>
        <p:nvSpPr>
          <p:cNvPr id="18842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/>
          </a:p>
        </p:txBody>
      </p:sp>
      <p:sp>
        <p:nvSpPr>
          <p:cNvPr id="188421" name="Text Box 3"/>
          <p:cNvSpPr txBox="1">
            <a:spLocks noChangeArrowheads="1"/>
          </p:cNvSpPr>
          <p:nvPr/>
        </p:nvSpPr>
        <p:spPr bwMode="auto">
          <a:xfrm>
            <a:off x="471264" y="1306058"/>
            <a:ext cx="7215188" cy="1717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  设函数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。</a:t>
            </a:r>
            <a:r>
              <a:rPr lang="en-US" altLang="zh-CN" sz="2800" b="1" dirty="0"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      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在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下的像</a:t>
            </a:r>
            <a:r>
              <a:rPr lang="zh-CN" altLang="en-US" sz="2800" b="1" dirty="0">
                <a:latin typeface="Times New Roman" panose="02020603050405020304" pitchFamily="18" charset="0"/>
              </a:rPr>
              <a:t>：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) = {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) |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 }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函数的像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) =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ran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 </a:t>
            </a:r>
            <a:endParaRPr lang="en-US" altLang="zh-CN" sz="2800" b="1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462360" y="4126651"/>
            <a:ext cx="7559676" cy="1373188"/>
            <a:chOff x="295" y="2614"/>
            <a:chExt cx="4762" cy="865"/>
          </a:xfrm>
        </p:grpSpPr>
        <p:graphicFrame>
          <p:nvGraphicFramePr>
            <p:cNvPr id="188423" name="Object 1024"/>
            <p:cNvGraphicFramePr>
              <a:graphicFrameLocks noChangeAspect="1"/>
            </p:cNvGraphicFramePr>
            <p:nvPr/>
          </p:nvGraphicFramePr>
          <p:xfrm>
            <a:off x="2880" y="2795"/>
            <a:ext cx="2177" cy="5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665" name="公式" r:id="rId4" imgW="1819456" imgH="333388" progId="Equation.3">
                    <p:embed/>
                  </p:oleObj>
                </mc:Choice>
                <mc:Fallback>
                  <p:oleObj name="公式" r:id="rId4" imgW="1819456" imgH="333388" progId="Equation.3">
                    <p:embed/>
                    <p:pic>
                      <p:nvPicPr>
                        <p:cNvPr id="0" name="Object 10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2795"/>
                          <a:ext cx="2177" cy="5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8424" name="Text Box 8"/>
            <p:cNvSpPr txBox="1">
              <a:spLocks noChangeArrowheads="1"/>
            </p:cNvSpPr>
            <p:nvPr/>
          </p:nvSpPr>
          <p:spPr bwMode="auto">
            <a:xfrm>
              <a:off x="295" y="2614"/>
              <a:ext cx="3946" cy="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例</a:t>
              </a:r>
              <a:r>
                <a:rPr lang="en-US" altLang="zh-CN" sz="2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3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  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设 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f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：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→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且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f(x)=2x </a:t>
              </a:r>
              <a:endPara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        令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={0,1}, 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那么有</a:t>
              </a:r>
              <a:b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</a:b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       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) = 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({0,1}) = { 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(0), 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(1) } = {0, 2}</a:t>
              </a:r>
            </a:p>
          </p:txBody>
        </p:sp>
      </p:grp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471264" y="3129078"/>
            <a:ext cx="7215188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注意：函数值 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)∈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而像 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0033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876256" y="6237312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8F88F8-5E27-4100-972B-1D6AEE47000D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121</a:t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07375" cy="11525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函数的性质</a:t>
            </a:r>
          </a:p>
        </p:txBody>
      </p:sp>
      <p:sp>
        <p:nvSpPr>
          <p:cNvPr id="190468" name="Text Box 3"/>
          <p:cNvSpPr txBox="1">
            <a:spLocks noChangeArrowheads="1"/>
          </p:cNvSpPr>
          <p:nvPr/>
        </p:nvSpPr>
        <p:spPr bwMode="auto">
          <a:xfrm>
            <a:off x="457200" y="1311275"/>
            <a:ext cx="8218488" cy="3219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sz="2800" b="1" dirty="0">
                <a:latin typeface="Times New Roman" panose="02020603050405020304" pitchFamily="18" charset="0"/>
              </a:rPr>
              <a:t>  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）若</a:t>
            </a:r>
            <a:r>
              <a:rPr lang="en-US" altLang="zh-CN" sz="2800" b="1" dirty="0">
                <a:latin typeface="Times New Roman" panose="02020603050405020304" pitchFamily="18" charset="0"/>
              </a:rPr>
              <a:t>ran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</a:rPr>
              <a:t>是</a:t>
            </a:r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满射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）若对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任意的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而且不相等，都有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与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不相等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</a:rPr>
              <a:t>是</a:t>
            </a:r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单射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</a:rPr>
              <a:t>）若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</a:rPr>
              <a:t>既是满射又是单射的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</a:rPr>
              <a:t>：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</a:rPr>
              <a:t>是</a:t>
            </a:r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双射</a:t>
            </a:r>
            <a:r>
              <a:rPr lang="zh-CN" altLang="en-US" sz="2800" b="1" dirty="0">
                <a:latin typeface="Times New Roman" panose="02020603050405020304" pitchFamily="18" charset="0"/>
              </a:rPr>
              <a:t>的（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一一到上</a:t>
            </a:r>
            <a:r>
              <a:rPr lang="zh-CN" altLang="en-US" sz="2800" b="1" dirty="0">
                <a:latin typeface="Times New Roman" panose="02020603050405020304" pitchFamily="18" charset="0"/>
              </a:rPr>
              <a:t>的）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611560" y="4691922"/>
            <a:ext cx="8218488" cy="11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满射意味着：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y 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都存在 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使得</a:t>
            </a:r>
            <a:r>
              <a:rPr lang="zh-CN" altLang="en-US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单射意味着：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rgbClr val="0033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rgbClr val="0033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baseline="-25000" dirty="0">
                <a:solidFill>
                  <a:srgbClr val="00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baseline="-25000" dirty="0">
                <a:solidFill>
                  <a:srgbClr val="00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              </a:t>
            </a:r>
            <a:endParaRPr lang="en-US" altLang="en-US" sz="2400" b="1" baseline="-250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D632BD-6CD5-4C3B-8B0D-A8BA4B6B0880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122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实例</a:t>
            </a:r>
          </a:p>
        </p:txBody>
      </p:sp>
      <p:sp>
        <p:nvSpPr>
          <p:cNvPr id="192516" name="Text Box 3"/>
          <p:cNvSpPr txBox="1">
            <a:spLocks noChangeArrowheads="1"/>
          </p:cNvSpPr>
          <p:nvPr/>
        </p:nvSpPr>
        <p:spPr bwMode="auto">
          <a:xfrm>
            <a:off x="457200" y="1371600"/>
            <a:ext cx="8577989" cy="4013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4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判断下面函数是否为单射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满射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双射的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为什么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?</a:t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(1)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(2)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ln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为正整数集</a:t>
            </a:r>
            <a:b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(3)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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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(4)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= 2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+1</a:t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(5)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)=(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+1)/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其中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为正实数集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 </a:t>
            </a:r>
            <a:endParaRPr lang="en-US" altLang="zh-CN" sz="2800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534056-40F3-4876-9A08-5A83F15A86BF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123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94563" name="Text Box 2"/>
          <p:cNvSpPr txBox="1">
            <a:spLocks noChangeArrowheads="1"/>
          </p:cNvSpPr>
          <p:nvPr/>
        </p:nvSpPr>
        <p:spPr bwMode="auto">
          <a:xfrm>
            <a:off x="379879" y="1371600"/>
            <a:ext cx="8677375" cy="527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解：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(1)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 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在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=1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取得极大值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0.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既不单射也不满射。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(2)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+→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ln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单调上升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是单射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但不满射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ran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={ln1, ln2, …}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(3)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)=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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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满射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但不单射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例如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(1.5)=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(1.2)=1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(4)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)=2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+1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满射、单射、双射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因为它是单调的并且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ran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。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(5)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)=(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+1)/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有极小值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(1)=2.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该函数既不单射也不满射。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/>
            </a:r>
            <a:b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564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8100"/>
            <a:ext cx="8229600" cy="1371600"/>
          </a:xfrm>
          <a:noFill/>
        </p:spPr>
        <p:txBody>
          <a:bodyPr/>
          <a:lstStyle/>
          <a:p>
            <a:r>
              <a:rPr lang="zh-CN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实例（续）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672511" y="6129685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1E4A7B3-CEB2-41D8-AA23-A8817B6384EC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124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117823"/>
            <a:ext cx="8064500" cy="1150937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构造从</a:t>
            </a:r>
            <a:r>
              <a:rPr lang="en-US" altLang="zh-CN" b="1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到</a:t>
            </a:r>
            <a:r>
              <a:rPr lang="en-US" altLang="zh-CN" b="1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的双射函数</a:t>
            </a:r>
          </a:p>
        </p:txBody>
      </p:sp>
      <p:sp>
        <p:nvSpPr>
          <p:cNvPr id="267267" name="Text Box 3"/>
          <p:cNvSpPr txBox="1">
            <a:spLocks noChangeArrowheads="1"/>
          </p:cNvSpPr>
          <p:nvPr/>
        </p:nvSpPr>
        <p:spPr bwMode="auto">
          <a:xfrm>
            <a:off x="395536" y="1268760"/>
            <a:ext cx="7200900" cy="375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SzPct val="70000"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有穷集之间的构造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5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({1,2,3}),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={0,1}</a:t>
            </a:r>
            <a:r>
              <a:rPr lang="en-US" altLang="zh-CN" sz="24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{1,2,3}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解</a:t>
            </a:r>
            <a:r>
              <a:rPr lang="zh-CN" altLang="en-US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,{1},{2},{3},{1,2},{1,3},{2,3},{1,2,3}}.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… ,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7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},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其中</a:t>
            </a:r>
            <a:b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={&lt;1,0&gt;,&lt;2,0&gt;,&lt;3,0&gt;},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={&lt;1,0&gt;,&lt;2,0&gt;,&lt;3,1&gt;},</a:t>
            </a:r>
            <a:b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={&lt;1,0&gt;,&lt;2,1&gt;,&lt;3,0&gt;},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={&lt;1,0&gt;,&lt;2,1&gt;,&lt;3,1&gt;},</a:t>
            </a:r>
            <a:b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={&lt;1,1&gt;,&lt;2,0&gt;,&lt;3,0&gt;},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={&lt;1,1&gt;,&lt;2,0&gt;,&lt;3,1&gt;},</a:t>
            </a:r>
            <a:b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</a:b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={&lt;1,1&gt;,&lt;2,1&gt;,&lt;3,0&gt;},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={&lt;1,1&gt;,&lt;2,1&gt;,&lt;3,1&gt;}.</a:t>
            </a:r>
          </a:p>
        </p:txBody>
      </p:sp>
      <p:sp>
        <p:nvSpPr>
          <p:cNvPr id="267268" name="Rectangle 4"/>
          <p:cNvSpPr>
            <a:spLocks noChangeArrowheads="1"/>
          </p:cNvSpPr>
          <p:nvPr/>
        </p:nvSpPr>
        <p:spPr bwMode="auto">
          <a:xfrm>
            <a:off x="395536" y="5046415"/>
            <a:ext cx="72009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令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endParaRPr lang="en-US" altLang="zh-CN" sz="2400" b="1" i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f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({1})=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({2})=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({3})=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endParaRPr lang="en-US" altLang="zh-CN" sz="2400" b="1" i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f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({1,2})=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({1,3})=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({2,3})=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({1,2,3})=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7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7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8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A34718-2705-40FA-BAD3-6F3D2916AA60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125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197635" name="Text Box 2"/>
          <p:cNvSpPr txBox="1">
            <a:spLocks noChangeArrowheads="1"/>
          </p:cNvSpPr>
          <p:nvPr/>
        </p:nvSpPr>
        <p:spPr bwMode="auto">
          <a:xfrm>
            <a:off x="476821" y="1284554"/>
            <a:ext cx="4572000" cy="2973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SzPct val="70000"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实数区间之间构造双射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构造方法：直线方程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000099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rgbClr val="000099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=[0,1]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          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=[1/4,1/2]</a:t>
            </a:r>
            <a:b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构造双射 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</a:rPr>
              <a:t>B</a:t>
            </a:r>
            <a:endParaRPr lang="en-US" altLang="zh-CN" sz="2800" b="1" dirty="0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title"/>
          </p:nvPr>
        </p:nvSpPr>
        <p:spPr>
          <a:xfrm>
            <a:off x="379413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构造从</a:t>
            </a:r>
            <a:r>
              <a:rPr lang="en-US" altLang="zh-CN" b="1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到</a:t>
            </a:r>
            <a:r>
              <a:rPr lang="en-US" altLang="zh-CN" b="1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的双射函数（续）</a:t>
            </a:r>
          </a:p>
        </p:txBody>
      </p:sp>
      <p:pic>
        <p:nvPicPr>
          <p:cNvPr id="268292" name="Picture 4" descr="tu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2205038"/>
            <a:ext cx="4319587" cy="370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8293" name="Rectangle 5"/>
          <p:cNvSpPr>
            <a:spLocks noChangeArrowheads="1"/>
          </p:cNvSpPr>
          <p:nvPr/>
        </p:nvSpPr>
        <p:spPr bwMode="auto">
          <a:xfrm>
            <a:off x="684213" y="4581525"/>
            <a:ext cx="45720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解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:</a:t>
            </a:r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令  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[0,1]→[1/4,1/2]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</a:rPr>
              <a:t>      f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)=(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+1)/4 </a:t>
            </a:r>
            <a:b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</a:b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3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876256" y="6165304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1C19E9-8A47-4355-8D9D-A18F2F3E659D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126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6931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313" y="13970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构造从</a:t>
            </a:r>
            <a:r>
              <a:rPr lang="en-US" altLang="zh-CN" b="1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到</a:t>
            </a:r>
            <a:r>
              <a:rPr lang="en-US" altLang="zh-CN" b="1" i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的双射函数（续）</a:t>
            </a:r>
          </a:p>
        </p:txBody>
      </p:sp>
      <p:grpSp>
        <p:nvGrpSpPr>
          <p:cNvPr id="199684" name="Group 5"/>
          <p:cNvGrpSpPr>
            <a:grpSpLocks/>
          </p:cNvGrpSpPr>
          <p:nvPr/>
        </p:nvGrpSpPr>
        <p:grpSpPr bwMode="auto">
          <a:xfrm>
            <a:off x="468313" y="1403350"/>
            <a:ext cx="7758112" cy="5073649"/>
            <a:chOff x="476" y="912"/>
            <a:chExt cx="4887" cy="3196"/>
          </a:xfrm>
        </p:grpSpPr>
        <p:sp>
          <p:nvSpPr>
            <p:cNvPr id="199685" name="Text Box 2"/>
            <p:cNvSpPr txBox="1">
              <a:spLocks noChangeArrowheads="1"/>
            </p:cNvSpPr>
            <p:nvPr/>
          </p:nvSpPr>
          <p:spPr bwMode="auto">
            <a:xfrm>
              <a:off x="476" y="912"/>
              <a:ext cx="4887" cy="2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eaLnBrk="1" hangingPunct="1">
                <a:spcBef>
                  <a:spcPct val="0"/>
                </a:spcBef>
                <a:buSzPct val="70000"/>
              </a:pPr>
              <a:r>
                <a:rPr lang="en-US" altLang="zh-CN" sz="28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zh-CN" altLang="en-US" sz="28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与自然数集合之间构造双射</a:t>
              </a:r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方法：将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A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中元素排成有序图形，然后从第一个元素开始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            按照次序与自然数对应</a:t>
              </a:r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例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7</a:t>
              </a:r>
              <a:r>
                <a:rPr lang="en-US" altLang="zh-CN" sz="24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   A=Z, </a:t>
              </a:r>
              <a:r>
                <a:rPr lang="en-US" altLang="zh-CN" sz="24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=</a:t>
              </a:r>
              <a:r>
                <a:rPr lang="en-US" altLang="zh-CN" sz="24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N</a:t>
              </a:r>
              <a:r>
                <a:rPr lang="zh-CN" altLang="en-US" sz="24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，构造双射 </a:t>
              </a:r>
              <a:r>
                <a:rPr lang="en-US" altLang="zh-CN" sz="24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f</a:t>
              </a:r>
              <a:r>
                <a:rPr lang="zh-CN" altLang="en-US" sz="24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：</a:t>
              </a:r>
              <a:r>
                <a:rPr lang="en-US" altLang="zh-CN" sz="24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→</a:t>
              </a:r>
              <a:r>
                <a:rPr lang="en-US" altLang="zh-CN" sz="24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将</a:t>
              </a:r>
              <a:r>
                <a:rPr lang="en-US" altLang="zh-CN" sz="24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Z</a:t>
              </a:r>
              <a:r>
                <a:rPr lang="zh-CN" altLang="en-US" sz="24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中元素以下列顺序排列并与</a:t>
              </a:r>
              <a:r>
                <a:rPr lang="en-US" altLang="zh-CN" sz="24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N</a:t>
              </a:r>
              <a:r>
                <a:rPr lang="zh-CN" altLang="en-US" sz="24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中元素对应：</a:t>
              </a:r>
              <a:br>
                <a:rPr lang="zh-CN" altLang="en-US" sz="24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</a:br>
              <a:r>
                <a:rPr lang="zh-CN" altLang="en-US" sz="24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               </a:t>
              </a:r>
              <a:r>
                <a:rPr lang="en-US" altLang="zh-CN" sz="2400" b="1" dirty="0">
                  <a:solidFill>
                    <a:srgbClr val="996600"/>
                  </a:solidFill>
                  <a:latin typeface="Times New Roman" panose="02020603050405020304" pitchFamily="18" charset="0"/>
                </a:rPr>
                <a:t>Z</a:t>
              </a:r>
              <a:r>
                <a:rPr lang="zh-CN" altLang="en-US" sz="2400" b="1" dirty="0">
                  <a:solidFill>
                    <a:srgbClr val="996600"/>
                  </a:solidFill>
                  <a:latin typeface="Times New Roman" panose="02020603050405020304" pitchFamily="18" charset="0"/>
                </a:rPr>
                <a:t>：</a:t>
              </a:r>
              <a:r>
                <a:rPr lang="en-US" altLang="zh-CN" sz="2400" b="1" dirty="0">
                  <a:solidFill>
                    <a:srgbClr val="996600"/>
                  </a:solidFill>
                  <a:latin typeface="Times New Roman" panose="02020603050405020304" pitchFamily="18" charset="0"/>
                </a:rPr>
                <a:t>0    </a:t>
              </a:r>
              <a:r>
                <a:rPr lang="en-US" altLang="zh-CN" sz="2400" b="1" dirty="0">
                  <a:solidFill>
                    <a:srgbClr val="9966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400" b="1" dirty="0">
                  <a:solidFill>
                    <a:srgbClr val="996600"/>
                  </a:solidFill>
                  <a:latin typeface="Times New Roman" panose="02020603050405020304" pitchFamily="18" charset="0"/>
                </a:rPr>
                <a:t>1    1    </a:t>
              </a:r>
              <a:r>
                <a:rPr lang="en-US" altLang="zh-CN" sz="2400" b="1" dirty="0">
                  <a:solidFill>
                    <a:srgbClr val="9966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400" b="1" dirty="0">
                  <a:solidFill>
                    <a:srgbClr val="996600"/>
                  </a:solidFill>
                  <a:latin typeface="Times New Roman" panose="02020603050405020304" pitchFamily="18" charset="0"/>
                </a:rPr>
                <a:t>2    2    </a:t>
              </a:r>
              <a:r>
                <a:rPr lang="en-US" altLang="zh-CN" sz="2400" b="1" dirty="0">
                  <a:solidFill>
                    <a:srgbClr val="9966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400" b="1" dirty="0">
                  <a:solidFill>
                    <a:srgbClr val="996600"/>
                  </a:solidFill>
                  <a:latin typeface="Times New Roman" panose="02020603050405020304" pitchFamily="18" charset="0"/>
                </a:rPr>
                <a:t>3     3 …</a:t>
              </a:r>
              <a:br>
                <a:rPr lang="en-US" altLang="zh-CN" sz="2400" b="1" dirty="0">
                  <a:solidFill>
                    <a:srgbClr val="996600"/>
                  </a:solidFill>
                  <a:latin typeface="Times New Roman" panose="02020603050405020304" pitchFamily="18" charset="0"/>
                </a:rPr>
              </a:br>
              <a:r>
                <a:rPr lang="en-US" altLang="zh-CN" sz="2400" b="1" dirty="0">
                  <a:solidFill>
                    <a:srgbClr val="996600"/>
                  </a:solidFill>
                  <a:latin typeface="Times New Roman" panose="02020603050405020304" pitchFamily="18" charset="0"/>
                </a:rPr>
                <a:t>                       ↓     ↓     ↓     ↓     ↓      ↓     ↓</a:t>
              </a:r>
              <a:br>
                <a:rPr lang="en-US" altLang="zh-CN" sz="2400" b="1" dirty="0">
                  <a:solidFill>
                    <a:srgbClr val="996600"/>
                  </a:solidFill>
                  <a:latin typeface="Times New Roman" panose="02020603050405020304" pitchFamily="18" charset="0"/>
                </a:rPr>
              </a:br>
              <a:r>
                <a:rPr lang="en-US" altLang="zh-CN" sz="2400" b="1" dirty="0">
                  <a:solidFill>
                    <a:srgbClr val="996600"/>
                  </a:solidFill>
                  <a:latin typeface="Times New Roman" panose="02020603050405020304" pitchFamily="18" charset="0"/>
                </a:rPr>
                <a:t>                N</a:t>
              </a:r>
              <a:r>
                <a:rPr lang="zh-CN" altLang="en-US" sz="2400" b="1" dirty="0">
                  <a:solidFill>
                    <a:srgbClr val="996600"/>
                  </a:solidFill>
                  <a:latin typeface="Times New Roman" panose="02020603050405020304" pitchFamily="18" charset="0"/>
                </a:rPr>
                <a:t>：</a:t>
              </a:r>
              <a:r>
                <a:rPr lang="en-US" altLang="zh-CN" sz="2400" b="1" dirty="0">
                  <a:solidFill>
                    <a:srgbClr val="996600"/>
                  </a:solidFill>
                  <a:latin typeface="Times New Roman" panose="02020603050405020304" pitchFamily="18" charset="0"/>
                </a:rPr>
                <a:t>0     1     2     3     4      5     6 …</a:t>
              </a:r>
              <a:br>
                <a:rPr lang="en-US" altLang="zh-CN" sz="2400" b="1" dirty="0">
                  <a:solidFill>
                    <a:srgbClr val="996600"/>
                  </a:solidFill>
                  <a:latin typeface="Times New Roman" panose="02020603050405020304" pitchFamily="18" charset="0"/>
                </a:rPr>
              </a:br>
              <a:r>
                <a:rPr lang="zh-CN" altLang="en-US" sz="24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则这种对应所表示的函数是：</a:t>
              </a:r>
              <a:br>
                <a:rPr lang="zh-CN" altLang="en-US" sz="24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</a:br>
              <a:endParaRPr lang="zh-CN" altLang="en-US" sz="2800" b="1" dirty="0">
                <a:solidFill>
                  <a:schemeClr val="bg2"/>
                </a:solidFill>
              </a:endParaRPr>
            </a:p>
          </p:txBody>
        </p:sp>
        <p:graphicFrame>
          <p:nvGraphicFramePr>
            <p:cNvPr id="199686" name="Object 4"/>
            <p:cNvGraphicFramePr>
              <a:graphicFrameLocks noChangeAspect="1"/>
            </p:cNvGraphicFramePr>
            <p:nvPr/>
          </p:nvGraphicFramePr>
          <p:xfrm>
            <a:off x="511" y="3366"/>
            <a:ext cx="4040" cy="7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926" name="公式" r:id="rId4" imgW="2552543" imgH="304800" progId="Equation.3">
                    <p:embed/>
                  </p:oleObj>
                </mc:Choice>
                <mc:Fallback>
                  <p:oleObj name="公式" r:id="rId4" imgW="2552543" imgH="3048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" y="3366"/>
                          <a:ext cx="4040" cy="7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804248" y="6165304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DEAB78-6D1D-4911-989D-C3E71DD558C4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127</a:t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68920" y="2208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常函数、恒等函数、单调函数</a:t>
            </a:r>
          </a:p>
        </p:txBody>
      </p:sp>
      <p:sp>
        <p:nvSpPr>
          <p:cNvPr id="201732" name="Text Box 3"/>
          <p:cNvSpPr txBox="1">
            <a:spLocks noChangeArrowheads="1"/>
          </p:cNvSpPr>
          <p:nvPr/>
        </p:nvSpPr>
        <p:spPr bwMode="auto">
          <a:xfrm>
            <a:off x="368920" y="1268760"/>
            <a:ext cx="8280400" cy="4358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10000"/>
              </a:lnSpc>
              <a:spcBef>
                <a:spcPct val="0"/>
              </a:spcBef>
              <a:buSzPct val="70000"/>
            </a:pP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若存在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使得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都有   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</a:rPr>
              <a:t>是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常函数。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0"/>
              </a:spcBef>
              <a:buSzPct val="70000"/>
            </a:pPr>
            <a:r>
              <a:rPr lang="zh-CN" altLang="en-US" sz="2800" b="1" dirty="0">
                <a:latin typeface="Times New Roman" panose="02020603050405020304" pitchFamily="18" charset="0"/>
              </a:rPr>
              <a:t>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上的恒等关系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恒等函数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对所有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的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都有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0"/>
              </a:spcBef>
              <a:buSzPct val="70000"/>
            </a:pPr>
            <a:r>
              <a:rPr lang="zh-CN" altLang="en-US" sz="2800" b="1" dirty="0"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，如果对任意的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就 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有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)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),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单调递增</a:t>
            </a:r>
            <a:r>
              <a:rPr lang="zh-CN" altLang="en-US" sz="2800" b="1" dirty="0">
                <a:latin typeface="Times New Roman" panose="02020603050405020304" pitchFamily="18" charset="0"/>
              </a:rPr>
              <a:t>的；如果对任意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的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就有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) &lt;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),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严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 格单调递增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0"/>
              </a:spcBef>
              <a:buSzPct val="70000"/>
            </a:pPr>
            <a:r>
              <a:rPr lang="zh-CN" altLang="en-US" sz="2800" b="1" dirty="0">
                <a:latin typeface="Times New Roman" panose="02020603050405020304" pitchFamily="18" charset="0"/>
              </a:rPr>
              <a:t>类似可以定义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单调递减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严格单调递减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的函数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876256" y="6093296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AA6EDE-BE11-427B-A7C4-E2AEA5E3ED72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128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10505" y="-30832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集合的特征函数</a:t>
            </a:r>
          </a:p>
        </p:txBody>
      </p:sp>
      <p:grpSp>
        <p:nvGrpSpPr>
          <p:cNvPr id="203780" name="Group 8"/>
          <p:cNvGrpSpPr>
            <a:grpSpLocks/>
          </p:cNvGrpSpPr>
          <p:nvPr/>
        </p:nvGrpSpPr>
        <p:grpSpPr bwMode="auto">
          <a:xfrm>
            <a:off x="502741" y="1364928"/>
            <a:ext cx="7760072" cy="2044700"/>
            <a:chOff x="476" y="1071"/>
            <a:chExt cx="4548" cy="1288"/>
          </a:xfrm>
        </p:grpSpPr>
        <p:sp>
          <p:nvSpPr>
            <p:cNvPr id="203782" name="Text Box 3"/>
            <p:cNvSpPr txBox="1">
              <a:spLocks noChangeArrowheads="1"/>
            </p:cNvSpPr>
            <p:nvPr/>
          </p:nvSpPr>
          <p:spPr bwMode="auto">
            <a:xfrm>
              <a:off x="476" y="1071"/>
              <a:ext cx="4548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Pct val="70000"/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设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A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为集合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 </a:t>
              </a: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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A’ </a:t>
              </a:r>
              <a:r>
                <a:rPr lang="en-US" altLang="zh-CN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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  </a:t>
              </a:r>
              <a:r>
                <a:rPr lang="en-US" altLang="zh-CN" sz="2800" b="1" i="1" dirty="0">
                  <a:solidFill>
                    <a:srgbClr val="003399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dirty="0">
                  <a:solidFill>
                    <a:srgbClr val="003399"/>
                  </a:solidFill>
                  <a:latin typeface="Times New Roman" panose="02020603050405020304" pitchFamily="18" charset="0"/>
                </a:rPr>
                <a:t>’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的 </a:t>
              </a:r>
              <a:r>
                <a:rPr lang="zh-CN" altLang="en-US" sz="28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特征函数</a:t>
              </a:r>
              <a:r>
                <a:rPr lang="zh-CN" altLang="en-US" sz="28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       </a:t>
              </a:r>
              <a:r>
                <a:rPr lang="en-US" altLang="zh-CN" sz="2800" b="1" i="1" baseline="-25000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baseline="-25000" dirty="0">
                  <a:latin typeface="Times New Roman" panose="02020603050405020304" pitchFamily="18" charset="0"/>
                </a:rPr>
                <a:t>’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：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→{0,1}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定义为</a:t>
              </a:r>
            </a:p>
          </p:txBody>
        </p:sp>
        <p:graphicFrame>
          <p:nvGraphicFramePr>
            <p:cNvPr id="203783" name="Object 10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5621376"/>
                </p:ext>
              </p:extLst>
            </p:nvPr>
          </p:nvGraphicFramePr>
          <p:xfrm>
            <a:off x="835" y="1698"/>
            <a:ext cx="2812" cy="6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023" name="公式" r:id="rId4" imgW="1485900" imgH="431800" progId="Equation.3">
                    <p:embed/>
                  </p:oleObj>
                </mc:Choice>
                <mc:Fallback>
                  <p:oleObj name="公式" r:id="rId4" imgW="1485900" imgH="431800" progId="Equation.3">
                    <p:embed/>
                    <p:pic>
                      <p:nvPicPr>
                        <p:cNvPr id="0" name="Object 10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5" y="1698"/>
                          <a:ext cx="2812" cy="6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1367" name="Text Box 7"/>
          <p:cNvSpPr txBox="1">
            <a:spLocks noChangeArrowheads="1"/>
          </p:cNvSpPr>
          <p:nvPr/>
        </p:nvSpPr>
        <p:spPr bwMode="auto">
          <a:xfrm>
            <a:off x="486431" y="3573016"/>
            <a:ext cx="7956550" cy="309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实例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集合：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={ A, B, C, D, E, F, G, H },</a:t>
            </a:r>
            <a:r>
              <a:rPr lang="en-US" altLang="zh-CN" sz="2800" b="1" dirty="0">
                <a:solidFill>
                  <a:schemeClr val="bg2"/>
                </a:solidFill>
                <a:sym typeface="Symbol" panose="05050102010706020507" pitchFamily="18" charset="2"/>
              </a:rPr>
              <a:t> 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sym typeface="Symbol" panose="05050102010706020507" pitchFamily="18" charset="2"/>
              </a:rPr>
              <a:t>          </a:t>
            </a:r>
            <a:r>
              <a:rPr lang="zh-CN" altLang="en-US" sz="2800" b="1" dirty="0">
                <a:solidFill>
                  <a:schemeClr val="bg2"/>
                </a:solidFill>
                <a:sym typeface="Symbol" panose="05050102010706020507" pitchFamily="18" charset="2"/>
              </a:rPr>
              <a:t>子集：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 { A,  C,  F,  G,  H }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的特征函数</a:t>
            </a:r>
            <a:r>
              <a:rPr lang="zh-CN" altLang="en-US" sz="2800" b="1" dirty="0">
                <a:solidFill>
                  <a:schemeClr val="bg2"/>
                </a:solidFill>
                <a:sym typeface="Symbol" panose="05050102010706020507" pitchFamily="18" charset="2"/>
              </a:rPr>
              <a:t></a:t>
            </a:r>
            <a:r>
              <a:rPr lang="en-US" altLang="zh-CN" sz="2800" b="1" i="1" baseline="-25000" dirty="0">
                <a:solidFill>
                  <a:schemeClr val="bg2"/>
                </a:solidFill>
                <a:sym typeface="Symbol" panose="05050102010706020507" pitchFamily="18" charset="2"/>
              </a:rPr>
              <a:t>T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：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B    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C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D     E     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     G     H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</a:t>
            </a:r>
            <a:r>
              <a:rPr lang="en-US" altLang="zh-CN" sz="2800" b="1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1      0     1      0      0      1      1      1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1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7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804372" y="6165304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AA8327F-C311-4180-B98B-45214F8BD2DF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129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05827" name="Text Box 2"/>
          <p:cNvSpPr txBox="1">
            <a:spLocks noChangeArrowheads="1"/>
          </p:cNvSpPr>
          <p:nvPr/>
        </p:nvSpPr>
        <p:spPr bwMode="auto">
          <a:xfrm>
            <a:off x="403634" y="1315517"/>
            <a:ext cx="7813749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10000"/>
              </a:lnSpc>
              <a:spcBef>
                <a:spcPct val="0"/>
              </a:spcBef>
              <a:buSzPct val="70000"/>
            </a:pPr>
            <a:r>
              <a:rPr lang="zh-CN" altLang="en-US" sz="2800" b="1" dirty="0"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上的等价关系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令</a:t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    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/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    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) = 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]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是从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到商集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/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自然映射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72387" name="Rectangle 3"/>
          <p:cNvSpPr>
            <a:spLocks noGrp="1" noChangeArrowheads="1"/>
          </p:cNvSpPr>
          <p:nvPr>
            <p:ph type="title"/>
          </p:nvPr>
        </p:nvSpPr>
        <p:spPr>
          <a:xfrm>
            <a:off x="195709" y="16149"/>
            <a:ext cx="8229600" cy="1371601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 </a:t>
            </a: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自然映射</a:t>
            </a:r>
            <a:r>
              <a:rPr lang="zh-CN" altLang="en-US" b="1" dirty="0"/>
              <a:t> </a:t>
            </a:r>
          </a:p>
        </p:txBody>
      </p:sp>
      <p:pic>
        <p:nvPicPr>
          <p:cNvPr id="20582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75" y="3429397"/>
            <a:ext cx="4752975" cy="286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830" name="Text Box 7"/>
          <p:cNvSpPr txBox="1">
            <a:spLocks noChangeArrowheads="1"/>
          </p:cNvSpPr>
          <p:nvPr/>
        </p:nvSpPr>
        <p:spPr bwMode="auto">
          <a:xfrm>
            <a:off x="955676" y="4279900"/>
            <a:ext cx="5032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05831" name="Text Box 8"/>
          <p:cNvSpPr txBox="1">
            <a:spLocks noChangeArrowheads="1"/>
          </p:cNvSpPr>
          <p:nvPr/>
        </p:nvSpPr>
        <p:spPr bwMode="auto">
          <a:xfrm>
            <a:off x="6290022" y="4343002"/>
            <a:ext cx="1028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A/R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0BE8B45-334D-4522-A248-8A5889A1337B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130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59272" y="-15407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实例</a:t>
            </a:r>
          </a:p>
        </p:txBody>
      </p:sp>
      <p:sp>
        <p:nvSpPr>
          <p:cNvPr id="207876" name="Text Box 3"/>
          <p:cNvSpPr txBox="1">
            <a:spLocks noChangeArrowheads="1"/>
          </p:cNvSpPr>
          <p:nvPr/>
        </p:nvSpPr>
        <p:spPr bwMode="auto">
          <a:xfrm>
            <a:off x="323528" y="1246889"/>
            <a:ext cx="8177212" cy="2394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</a:rPr>
              <a:t>8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(1)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的每一个子集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’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都对应于一个特征函数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不同的子集对应于不同的特征函数。例如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则有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</a:t>
            </a:r>
            <a:r>
              <a:rPr lang="zh-CN" altLang="en-US" sz="2800" b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{ 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,0&gt;, 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,0&gt;, 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,0&gt; }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{</a:t>
            </a:r>
            <a:r>
              <a:rPr lang="en-US" altLang="zh-CN" sz="2800" b="1" i="1" baseline="-250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baseline="-250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}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= { 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,1&gt;, 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,1&gt;, &lt;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,0&gt;}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20701" y="3778384"/>
            <a:ext cx="8177212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给定集合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上不同的等价关系确定不同的自然映射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其中恒等关系确定的自然映射是双射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其他的自然映射一般来说是满射。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例如</a:t>
            </a:r>
            <a:endParaRPr lang="zh-CN" altLang="en-US" sz="2800" b="1" i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={1, 2, 3},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={&lt;1,2&gt;,&lt;2,1&gt;}∪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g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(1) 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(2) = {1,2},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(3) = {3}</a:t>
            </a:r>
            <a:endParaRPr lang="en-US" altLang="zh-CN" sz="2800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A7C8025-F06F-4B49-A358-B7BEAAA99953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131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08899" name="Text Box 4"/>
          <p:cNvSpPr txBox="1">
            <a:spLocks noChangeArrowheads="1"/>
          </p:cNvSpPr>
          <p:nvPr/>
        </p:nvSpPr>
        <p:spPr bwMode="auto">
          <a:xfrm>
            <a:off x="395536" y="1340768"/>
            <a:ext cx="8064500" cy="435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、对于给定的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、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</a:rPr>
              <a:t>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，判断是否构成函数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: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→B</a:t>
            </a:r>
            <a:r>
              <a:rPr lang="zh-CN" altLang="en-US" sz="2800" b="1" dirty="0">
                <a:latin typeface="Times New Roman" panose="02020603050405020304" pitchFamily="18" charset="0"/>
              </a:rPr>
              <a:t>。如果是，说明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: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→B</a:t>
            </a:r>
            <a:r>
              <a:rPr lang="zh-CN" altLang="en-US" sz="2800" b="1" dirty="0">
                <a:latin typeface="Times New Roman" panose="02020603050405020304" pitchFamily="18" charset="0"/>
              </a:rPr>
              <a:t>是否为单射、满射、双射的；如果不是请说明理由，并根据要求进行计算。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={1,2,3,4,5},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={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a,b,c,d,e</a:t>
            </a:r>
            <a:r>
              <a:rPr lang="en-US" altLang="zh-CN" sz="2800" b="1" dirty="0">
                <a:latin typeface="Times New Roman" panose="02020603050405020304" pitchFamily="18" charset="0"/>
              </a:rPr>
              <a:t>}, 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={&lt;1,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&gt;,&lt;3,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&gt;,&lt;4,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&gt;,&lt;2,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&gt;,&lt;5,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&gt;}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2)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A,B</a:t>
            </a:r>
            <a:r>
              <a:rPr lang="zh-CN" altLang="en-US" sz="2800" b="1" dirty="0">
                <a:latin typeface="Times New Roman" panose="02020603050405020304" pitchFamily="18" charset="0"/>
              </a:rPr>
              <a:t>同</a:t>
            </a: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），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={&lt;1,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&gt;,&lt;3,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&gt;,&lt;2,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&gt;,&lt;4,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&gt;}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3)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A=B=R</a:t>
            </a:r>
            <a:r>
              <a:rPr lang="en-US" altLang="zh-CN" sz="2800" b="1" dirty="0">
                <a:latin typeface="Times New Roman" panose="02020603050405020304" pitchFamily="18" charset="0"/>
              </a:rPr>
              <a:t>×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&gt;)=&lt;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x+y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, x-y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&gt;,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令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</a:rPr>
              <a:t>={&lt;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&gt;|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latin typeface="Times New Roman" panose="02020603050405020304" pitchFamily="18" charset="0"/>
              </a:rPr>
              <a:t> 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 ∧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y=x+</a:t>
            </a:r>
            <a:r>
              <a:rPr lang="en-US" altLang="zh-CN" sz="2800" b="1" dirty="0">
                <a:latin typeface="Times New Roman" panose="02020603050405020304" pitchFamily="18" charset="0"/>
              </a:rPr>
              <a:t>1},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计算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</a:rPr>
              <a:t>).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08900" name="矩形 1"/>
          <p:cNvSpPr>
            <a:spLocks noChangeArrowheads="1"/>
          </p:cNvSpPr>
          <p:nvPr/>
        </p:nvSpPr>
        <p:spPr bwMode="auto">
          <a:xfrm>
            <a:off x="251520" y="404664"/>
            <a:ext cx="25010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课堂练习：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6804248" y="6093296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7A86B9-D006-42E4-AECA-71442FB52F64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132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09923" name="Text Box 4"/>
          <p:cNvSpPr txBox="1">
            <a:spLocks noChangeArrowheads="1"/>
          </p:cNvSpPr>
          <p:nvPr/>
        </p:nvSpPr>
        <p:spPr bwMode="auto">
          <a:xfrm>
            <a:off x="323850" y="1263649"/>
            <a:ext cx="8362950" cy="527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、设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={1,2,3},</a:t>
            </a:r>
            <a:r>
              <a:rPr lang="zh-CN" altLang="en-US" sz="2800" b="1" dirty="0">
                <a:latin typeface="Times New Roman" panose="02020603050405020304" pitchFamily="18" charset="0"/>
              </a:rPr>
              <a:t>求特征函数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l-GR" altLang="zh-CN" sz="2800" dirty="0"/>
              <a:t> 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{1,3}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09924" name="矩形 1"/>
          <p:cNvSpPr>
            <a:spLocks noChangeArrowheads="1"/>
          </p:cNvSpPr>
          <p:nvPr/>
        </p:nvSpPr>
        <p:spPr bwMode="auto">
          <a:xfrm>
            <a:off x="251520" y="476672"/>
            <a:ext cx="25010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课堂练习：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23850" y="1881604"/>
            <a:ext cx="8362950" cy="1001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={1,2,3,4},</a:t>
            </a:r>
            <a:r>
              <a:rPr lang="zh-CN" altLang="en-US" sz="2800" b="1" dirty="0">
                <a:latin typeface="Times New Roman" panose="02020603050405020304" pitchFamily="18" charset="0"/>
              </a:rPr>
              <a:t>对于等价关系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={&lt;2,3&gt;,&lt;3,2&gt;}∪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求对应的自然映射，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: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/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l-GR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23850" y="3025696"/>
            <a:ext cx="8362950" cy="198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4</a:t>
            </a:r>
            <a:r>
              <a:rPr lang="zh-CN" altLang="en-US" sz="2800" b="1" dirty="0">
                <a:latin typeface="Times New Roman" panose="02020603050405020304" pitchFamily="18" charset="0"/>
              </a:rPr>
              <a:t>、给出自然映射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g:A→A/R</a:t>
            </a:r>
            <a:r>
              <a:rPr lang="zh-CN" altLang="en-US" sz="2800" b="1" dirty="0">
                <a:latin typeface="Times New Roman" panose="02020603050405020304" pitchFamily="18" charset="0"/>
              </a:rPr>
              <a:t>，求所对应的集合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和等价关系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。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={&lt;0,{0,2,4}&gt;,&lt;1,{1,3}&gt;,&lt;2 ,{0,2,4}&gt;,&lt;3,{1,3}&gt;,&lt;4,{0,2,4}&gt;}</a:t>
            </a:r>
            <a:endParaRPr lang="el-GR" altLang="zh-CN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灯片编号占位符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E26ED8-8527-4DF0-8B2C-D9C588840617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133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10947" name="Text Box 4"/>
          <p:cNvSpPr txBox="1">
            <a:spLocks noChangeArrowheads="1"/>
          </p:cNvSpPr>
          <p:nvPr/>
        </p:nvSpPr>
        <p:spPr bwMode="auto">
          <a:xfrm>
            <a:off x="382216" y="1340768"/>
            <a:ext cx="8064500" cy="4745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）能构成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: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→B</a:t>
            </a:r>
            <a:r>
              <a:rPr lang="zh-CN" altLang="en-US" sz="2800" b="1" dirty="0">
                <a:latin typeface="Times New Roman" panose="02020603050405020304" pitchFamily="18" charset="0"/>
              </a:rPr>
              <a:t>，既不是单射，也不是满射，因为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(3)=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(5)=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zh-CN" altLang="en-US" sz="2800" b="1" dirty="0">
                <a:latin typeface="Times New Roman" panose="02020603050405020304" pitchFamily="18" charset="0"/>
              </a:rPr>
              <a:t>且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ran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2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）不能构成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: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→B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，因为</a:t>
            </a:r>
            <a:r>
              <a:rPr lang="en-US" altLang="zh-CN" sz="2800" b="1" dirty="0">
                <a:latin typeface="Times New Roman" panose="02020603050405020304" pitchFamily="18" charset="0"/>
              </a:rPr>
              <a:t>dom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={1,2,3,4}≠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</a:rPr>
              <a:t>）能构成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: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→B</a:t>
            </a:r>
            <a:r>
              <a:rPr lang="zh-CN" altLang="en-US" sz="2800" b="1" dirty="0">
                <a:latin typeface="Times New Roman" panose="02020603050405020304" pitchFamily="18" charset="0"/>
              </a:rPr>
              <a:t>，是双射函数，</a:t>
            </a: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L)</a:t>
            </a:r>
            <a:r>
              <a:rPr lang="en-US" altLang="zh-CN" sz="2800" b="1" dirty="0">
                <a:latin typeface="Times New Roman" panose="02020603050405020304" pitchFamily="18" charset="0"/>
              </a:rPr>
              <a:t>={&lt;2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x+</a:t>
            </a: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,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－</a:t>
            </a:r>
            <a:r>
              <a:rPr lang="en-US" altLang="zh-CN" sz="2800" b="1" dirty="0">
                <a:latin typeface="Times New Roman" panose="02020603050405020304" pitchFamily="18" charset="0"/>
              </a:rPr>
              <a:t>1&gt;|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 },</a:t>
            </a: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、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l-GR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{1,3}</a:t>
            </a:r>
            <a:r>
              <a:rPr lang="en-US" altLang="zh-CN" sz="2800" b="1" dirty="0">
                <a:latin typeface="Times New Roman" panose="02020603050405020304" pitchFamily="18" charset="0"/>
              </a:rPr>
              <a:t> = {&lt;1,1&gt;,&lt;2,0&gt;,&lt;3,1&gt;}</a:t>
            </a: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</a:rPr>
              <a:t>、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: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/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R,  g</a:t>
            </a:r>
            <a:r>
              <a:rPr lang="en-US" altLang="zh-CN" sz="2800" b="1" dirty="0">
                <a:latin typeface="Times New Roman" panose="02020603050405020304" pitchFamily="18" charset="0"/>
              </a:rPr>
              <a:t>(1)={1},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(2)=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(3)={2,3},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(4)={4}.</a:t>
            </a:r>
          </a:p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4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={0,1,2,3,4},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R=</a:t>
            </a:r>
            <a:r>
              <a:rPr lang="en-US" altLang="zh-CN" sz="2400" b="1" dirty="0">
                <a:latin typeface="Times New Roman" panose="02020603050405020304" pitchFamily="18" charset="0"/>
              </a:rPr>
              <a:t>{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&gt;|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x,y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∈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 </a:t>
            </a:r>
            <a:r>
              <a:rPr lang="en-US" altLang="zh-CN" sz="2400" b="1" dirty="0">
                <a:latin typeface="Times New Roman" panose="02020603050405020304" pitchFamily="18" charset="0"/>
              </a:rPr>
              <a:t>∧(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x-y</a:t>
            </a:r>
            <a:r>
              <a:rPr lang="en-US" altLang="zh-CN" sz="2400" b="1" dirty="0">
                <a:latin typeface="Times New Roman" panose="02020603050405020304" pitchFamily="18" charset="0"/>
              </a:rPr>
              <a:t>)/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2 </a:t>
            </a:r>
            <a:r>
              <a:rPr lang="en-US" altLang="zh-CN" sz="2400" b="1" dirty="0">
                <a:latin typeface="Times New Roman" panose="02020603050405020304" pitchFamily="18" charset="0"/>
              </a:rPr>
              <a:t>∈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95536" y="365232"/>
            <a:ext cx="8064500" cy="693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解：</a:t>
            </a:r>
            <a:endParaRPr lang="en-US" altLang="zh-C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64" name="AutoShape 12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654050" y="260350"/>
            <a:ext cx="915988" cy="450850"/>
          </a:xfrm>
          <a:prstGeom prst="actionButtonBlank">
            <a:avLst/>
          </a:prstGeom>
          <a:solidFill>
            <a:srgbClr val="00990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6800" rIns="50400" anchor="ctr" anchorCtr="1">
            <a:spAutoFit/>
          </a:bodyPr>
          <a:lstStyle/>
          <a:p>
            <a:pPr eaLnBrk="1" hangingPunct="1">
              <a:defRPr/>
            </a:pPr>
            <a:r>
              <a:rPr lang="zh-CN" altLang="en-US" sz="2000" b="1" dirty="0">
                <a:solidFill>
                  <a:schemeClr val="bg1"/>
                </a:solidFill>
                <a:ea typeface="幼圆" panose="02010509060101010101" pitchFamily="49" charset="-122"/>
              </a:rPr>
              <a:t>作 业</a:t>
            </a:r>
            <a:endParaRPr lang="zh-CN" altLang="en-US" sz="2000" dirty="0">
              <a:solidFill>
                <a:srgbClr val="009900"/>
              </a:solidFill>
              <a:effectDag name="">
                <a:cont type="tree" name="">
                  <a:effect ref="fillLine"/>
                  <a:outerShdw dist="38100" dir="13500000" algn="br">
                    <a:srgbClr val="4CE54C"/>
                  </a:outerShdw>
                </a:cont>
                <a:cont type="tree" name="">
                  <a:effect ref="fillLine"/>
                  <a:outerShdw dist="38100" dir="2700000" algn="tl">
                    <a:srgbClr val="005B00"/>
                  </a:outerShdw>
                </a:cont>
                <a:effect ref="fillLine"/>
              </a:effectDag>
              <a:ea typeface="隶书" panose="02010509060101010101" pitchFamily="49" charset="-122"/>
            </a:endParaRPr>
          </a:p>
        </p:txBody>
      </p:sp>
      <p:sp>
        <p:nvSpPr>
          <p:cNvPr id="212995" name="Rectangle 13"/>
          <p:cNvSpPr>
            <a:spLocks noChangeArrowheads="1"/>
          </p:cNvSpPr>
          <p:nvPr/>
        </p:nvSpPr>
        <p:spPr bwMode="auto">
          <a:xfrm>
            <a:off x="633413" y="1484313"/>
            <a:ext cx="5827712" cy="409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4.17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4.18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4.22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4.23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4.24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endParaRPr lang="en-US" altLang="zh-CN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C76356F-C968-4C5E-A0C6-D5C9E4D6CACE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135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116632"/>
            <a:ext cx="8002588" cy="1100138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4.7 </a:t>
            </a:r>
            <a:r>
              <a:rPr lang="zh-CN" altLang="en-US" b="1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函数的复合与反函数</a:t>
            </a:r>
          </a:p>
        </p:txBody>
      </p:sp>
      <p:sp>
        <p:nvSpPr>
          <p:cNvPr id="215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5450" y="1484313"/>
            <a:ext cx="8229600" cy="3886200"/>
          </a:xfrm>
        </p:spPr>
        <p:txBody>
          <a:bodyPr/>
          <a:lstStyle/>
          <a:p>
            <a:r>
              <a:rPr lang="zh-CN" altLang="en-US" b="1"/>
              <a:t>函数的复合</a:t>
            </a:r>
          </a:p>
          <a:p>
            <a:pPr lvl="1"/>
            <a:r>
              <a:rPr lang="zh-CN" altLang="en-US" b="1"/>
              <a:t>函数复合的定理</a:t>
            </a:r>
          </a:p>
          <a:p>
            <a:pPr lvl="1"/>
            <a:r>
              <a:rPr lang="zh-CN" altLang="en-US" b="1"/>
              <a:t>函数复合的性质</a:t>
            </a:r>
          </a:p>
          <a:p>
            <a:r>
              <a:rPr lang="zh-CN" altLang="en-US" b="1"/>
              <a:t>反函数</a:t>
            </a:r>
          </a:p>
          <a:p>
            <a:pPr lvl="1"/>
            <a:r>
              <a:rPr lang="zh-CN" altLang="en-US" b="1"/>
              <a:t>反函数存在的条件</a:t>
            </a:r>
          </a:p>
          <a:p>
            <a:pPr lvl="1"/>
            <a:r>
              <a:rPr lang="zh-CN" altLang="en-US" b="1"/>
              <a:t>反函数的性质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CF59CEA-C4D3-492E-9F1E-4FE4A03658B3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136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540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函数复合的定理</a:t>
            </a:r>
          </a:p>
        </p:txBody>
      </p:sp>
      <p:sp>
        <p:nvSpPr>
          <p:cNvPr id="217092" name="Text Box 3"/>
          <p:cNvSpPr txBox="1">
            <a:spLocks noChangeArrowheads="1"/>
          </p:cNvSpPr>
          <p:nvPr/>
        </p:nvSpPr>
        <p:spPr bwMode="auto">
          <a:xfrm>
            <a:off x="395536" y="1340768"/>
            <a:ext cx="8135937" cy="478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定理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   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是函数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ym typeface="Symbol" panose="05050102010706020507" pitchFamily="18" charset="2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也是函数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且满足</a:t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</a:rPr>
              <a:t>(1) dom(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Lucida Sans Unicode" panose="020B0602030504020204" pitchFamily="34" charset="0"/>
                <a:sym typeface="Symbol" panose="05050102010706020507" pitchFamily="18" charset="2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)={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∈dom</a:t>
            </a:r>
            <a:r>
              <a:rPr lang="en-US" altLang="zh-CN" sz="2800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G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)∈</a:t>
            </a:r>
            <a:r>
              <a:rPr lang="en-US" altLang="zh-CN" sz="28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dom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}</a:t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  (2)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∈dom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ym typeface="Symbol" panose="05050102010706020507" pitchFamily="18" charset="2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) </a:t>
            </a:r>
            <a:r>
              <a:rPr lang="zh-CN" altLang="en-US" sz="2800" b="1" dirty="0">
                <a:latin typeface="Times New Roman" panose="02020603050405020304" pitchFamily="18" charset="0"/>
              </a:rPr>
              <a:t>有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ym typeface="Symbol" panose="05050102010706020507" pitchFamily="18" charset="2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 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))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该定理说明两个函数复合后的定义域可能比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的定义域要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小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en-US" sz="2800" b="1" dirty="0">
                <a:latin typeface="Times New Roman" panose="02020603050405020304" pitchFamily="18" charset="0"/>
              </a:rPr>
              <a:t/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推论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H</a:t>
            </a:r>
            <a:r>
              <a:rPr lang="zh-CN" altLang="en-US" sz="2800" b="1" dirty="0">
                <a:latin typeface="Times New Roman" panose="02020603050405020304" pitchFamily="18" charset="0"/>
              </a:rPr>
              <a:t>为函数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 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ym typeface="Symbol" panose="05050102010706020507" pitchFamily="18" charset="2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dirty="0">
                <a:sym typeface="Symbol" panose="05050102010706020507" pitchFamily="18" charset="2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H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ym typeface="Symbol" panose="05050102010706020507" pitchFamily="18" charset="2"/>
              </a:rPr>
              <a:t>∘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ym typeface="Symbol" panose="05050102010706020507" pitchFamily="18" charset="2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800" b="1" dirty="0">
                <a:latin typeface="Times New Roman" panose="02020603050405020304" pitchFamily="18" charset="0"/>
              </a:rPr>
              <a:t>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都是函数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且 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ym typeface="Symbol" panose="05050102010706020507" pitchFamily="18" charset="2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dirty="0">
                <a:sym typeface="Symbol" panose="05050102010706020507" pitchFamily="18" charset="2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H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ym typeface="Symbol" panose="05050102010706020507" pitchFamily="18" charset="2"/>
              </a:rPr>
              <a:t>∘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ym typeface="Symbol" panose="05050102010706020507" pitchFamily="18" charset="2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推论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800" b="1" dirty="0" err="1">
                <a:sym typeface="Symbol" panose="05050102010706020507" pitchFamily="18" charset="2"/>
              </a:rPr>
              <a:t>∘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且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   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都有 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800" b="1" dirty="0" err="1">
                <a:sym typeface="Symbol" panose="05050102010706020507" pitchFamily="18" charset="2"/>
              </a:rPr>
              <a:t>∘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 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)).</a:t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endParaRPr lang="en-US" altLang="zh-CN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804248" y="6316296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27E077-01B1-491C-9B4B-A20C883AF23F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137</a:t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37343" y="32172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函数复合运算的性质</a:t>
            </a:r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337343" y="1268760"/>
            <a:ext cx="8462963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定理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   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如果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 </a:t>
            </a:r>
            <a:r>
              <a:rPr lang="zh-CN" altLang="en-US" sz="2800" b="1" dirty="0">
                <a:latin typeface="Times New Roman" panose="02020603050405020304" pitchFamily="18" charset="0"/>
              </a:rPr>
              <a:t>都是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满射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  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800" b="1" dirty="0" err="1">
                <a:sym typeface="Symbol" panose="05050102010706020507" pitchFamily="18" charset="2"/>
              </a:rPr>
              <a:t>∘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zh-CN" altLang="en-US" sz="2800" b="1" dirty="0">
                <a:latin typeface="Times New Roman" panose="02020603050405020304" pitchFamily="18" charset="0"/>
              </a:rPr>
              <a:t>也是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满射</a:t>
            </a:r>
            <a:r>
              <a:rPr lang="zh-CN" altLang="en-US" sz="2800" b="1" dirty="0">
                <a:latin typeface="Times New Roman" panose="02020603050405020304" pitchFamily="18" charset="0"/>
              </a:rPr>
              <a:t>的。</a:t>
            </a:r>
            <a:r>
              <a:rPr lang="en-US" altLang="zh-CN" sz="2800" b="1" dirty="0"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   (2) </a:t>
            </a:r>
            <a:r>
              <a:rPr lang="zh-CN" altLang="en-US" sz="2800" b="1" dirty="0">
                <a:latin typeface="Times New Roman" panose="02020603050405020304" pitchFamily="18" charset="0"/>
              </a:rPr>
              <a:t>如果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 </a:t>
            </a:r>
            <a:r>
              <a:rPr lang="zh-CN" altLang="en-US" sz="2800" b="1" dirty="0">
                <a:latin typeface="Times New Roman" panose="02020603050405020304" pitchFamily="18" charset="0"/>
              </a:rPr>
              <a:t>都是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单射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  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800" b="1" dirty="0" err="1">
                <a:sym typeface="Symbol" panose="05050102010706020507" pitchFamily="18" charset="2"/>
              </a:rPr>
              <a:t>∘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zh-CN" altLang="en-US" sz="2800" b="1" dirty="0">
                <a:latin typeface="Times New Roman" panose="02020603050405020304" pitchFamily="18" charset="0"/>
              </a:rPr>
              <a:t>也是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单射</a:t>
            </a:r>
            <a:r>
              <a:rPr lang="zh-CN" altLang="en-US" sz="2800" b="1" dirty="0">
                <a:latin typeface="Times New Roman" panose="02020603050405020304" pitchFamily="18" charset="0"/>
              </a:rPr>
              <a:t>的。</a:t>
            </a:r>
            <a:r>
              <a:rPr lang="en-US" altLang="zh-CN" sz="2800" b="1" dirty="0"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   (3) </a:t>
            </a:r>
            <a:r>
              <a:rPr lang="zh-CN" altLang="en-US" sz="2800" b="1" dirty="0">
                <a:latin typeface="Times New Roman" panose="02020603050405020304" pitchFamily="18" charset="0"/>
              </a:rPr>
              <a:t>如果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 </a:t>
            </a:r>
            <a:r>
              <a:rPr lang="zh-CN" altLang="en-US" sz="2800" b="1" dirty="0">
                <a:latin typeface="Times New Roman" panose="02020603050405020304" pitchFamily="18" charset="0"/>
              </a:rPr>
              <a:t>都是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双射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  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800" b="1" dirty="0" err="1">
                <a:sym typeface="Symbol" panose="05050102010706020507" pitchFamily="18" charset="2"/>
              </a:rPr>
              <a:t>∘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zh-CN" altLang="en-US" sz="2800" b="1" dirty="0">
                <a:latin typeface="Times New Roman" panose="02020603050405020304" pitchFamily="18" charset="0"/>
              </a:rPr>
              <a:t>也是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双射</a:t>
            </a:r>
            <a:r>
              <a:rPr lang="zh-CN" altLang="en-US" sz="2800" b="1" dirty="0">
                <a:latin typeface="Times New Roman" panose="02020603050405020304" pitchFamily="18" charset="0"/>
              </a:rPr>
              <a:t>的。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37343" y="4438859"/>
            <a:ext cx="8462963" cy="187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证：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(1)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由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C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的满射性，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使得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对这个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由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B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的满射性，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endParaRPr lang="en-US" altLang="zh-CN" sz="2800" b="1" i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使得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。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由合成定理 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 err="1">
                <a:sym typeface="Symbol" panose="05050102010706020507" pitchFamily="18" charset="2"/>
              </a:rPr>
              <a:t>∘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)=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 g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))=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从而证明了 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 err="1">
                <a:sym typeface="Symbol" panose="05050102010706020507" pitchFamily="18" charset="2"/>
              </a:rPr>
              <a:t>∘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是满射的。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</a:t>
            </a: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804248" y="6146155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21DFB87-B48B-4838-B65A-0DA213C7EEF0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138</a:t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60326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函数复合运算的性质（续）</a:t>
            </a:r>
          </a:p>
        </p:txBody>
      </p:sp>
      <p:sp>
        <p:nvSpPr>
          <p:cNvPr id="221188" name="Text Box 3"/>
          <p:cNvSpPr txBox="1">
            <a:spLocks noChangeArrowheads="1"/>
          </p:cNvSpPr>
          <p:nvPr/>
        </p:nvSpPr>
        <p:spPr bwMode="auto">
          <a:xfrm>
            <a:off x="460152" y="1340768"/>
            <a:ext cx="7632700" cy="477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假设存在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使得 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 err="1">
                <a:sym typeface="Symbol" panose="05050102010706020507" pitchFamily="18" charset="2"/>
              </a:rPr>
              <a:t>∘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 err="1">
                <a:sym typeface="Symbol" panose="05050102010706020507" pitchFamily="18" charset="2"/>
              </a:rPr>
              <a:t>∘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b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由合成定理有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))=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)).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因为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是单射的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故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).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又由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于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也是单射的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所以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.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从而证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明  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 err="1">
                <a:sym typeface="Symbol" panose="05050102010706020507" pitchFamily="18" charset="2"/>
              </a:rPr>
              <a:t>∘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是单射的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(3)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由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得证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.</a:t>
            </a:r>
            <a:b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</a:b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定理：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: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，则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 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ym typeface="Symbol" panose="05050102010706020507" pitchFamily="18" charset="2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ym typeface="Symbol" panose="05050102010706020507" pitchFamily="18" charset="2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   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>
    <p:wipe dir="d"/>
  </p:transition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CF4B63-1F78-42BB-B45C-AD78CDBA0FDE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139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540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反函数存在的条件</a:t>
            </a:r>
          </a:p>
        </p:txBody>
      </p:sp>
      <p:sp>
        <p:nvSpPr>
          <p:cNvPr id="222212" name="Text Box 3"/>
          <p:cNvSpPr txBox="1">
            <a:spLocks noChangeArrowheads="1"/>
          </p:cNvSpPr>
          <p:nvPr/>
        </p:nvSpPr>
        <p:spPr bwMode="auto">
          <a:xfrm>
            <a:off x="395536" y="1397000"/>
            <a:ext cx="7920037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SzPct val="70000"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任给函数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它的逆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 </a:t>
            </a:r>
            <a:r>
              <a:rPr lang="en-US" altLang="zh-CN" sz="2800" b="1" baseline="3000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不一定是函数，是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二元关系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实例：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&gt;}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={&lt;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&gt;&lt;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&gt;}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>
              <a:spcBef>
                <a:spcPct val="0"/>
              </a:spcBef>
              <a:buSzPct val="70000"/>
            </a:pPr>
            <a:r>
              <a:rPr lang="zh-CN" altLang="en-US" sz="2800" b="1" dirty="0">
                <a:latin typeface="Times New Roman" panose="02020603050405020304" pitchFamily="18" charset="0"/>
              </a:rPr>
              <a:t>任给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单射函数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latin typeface="Times New Roman" panose="02020603050405020304" pitchFamily="18" charset="0"/>
              </a:rPr>
              <a:t>则 </a:t>
            </a:r>
            <a:r>
              <a:rPr lang="en-US" altLang="zh-CN" sz="2800" b="1" i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 </a:t>
            </a:r>
            <a:r>
              <a:rPr lang="en-US" altLang="zh-CN" sz="2800" b="1" baseline="3000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是从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ran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到 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的双射函数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，但不一定是从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B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到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的函数。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实例：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: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→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= 2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 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: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ran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→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/2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 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899969" y="6237312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B21DEA-B26F-48ED-B9D3-3DA611096C77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140</a:t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4868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反函数</a:t>
            </a:r>
          </a:p>
        </p:txBody>
      </p:sp>
      <p:sp>
        <p:nvSpPr>
          <p:cNvPr id="28676" name="Text Box 3"/>
          <p:cNvSpPr txBox="1">
            <a:spLocks noChangeArrowheads="1"/>
          </p:cNvSpPr>
          <p:nvPr/>
        </p:nvSpPr>
        <p:spPr bwMode="auto">
          <a:xfrm>
            <a:off x="436781" y="1284318"/>
            <a:ext cx="8135937" cy="1069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定理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</a:rPr>
              <a:t>是</a:t>
            </a:r>
            <a:r>
              <a:rPr lang="zh-CN" altLang="en-US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双射</a:t>
            </a:r>
            <a:r>
              <a:rPr lang="zh-CN" altLang="en-US" sz="2800" b="1" dirty="0">
                <a:latin typeface="Times New Roman" panose="02020603050405020304" pitchFamily="18" charset="0"/>
              </a:rPr>
              <a:t>的，则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2800" b="1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也是双射函数。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28127" y="2510003"/>
            <a:ext cx="8543595" cy="3884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证</a:t>
            </a:r>
            <a:r>
              <a:rPr lang="en-US" altLang="zh-CN" sz="28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: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1)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先证明 </a:t>
            </a:r>
            <a:r>
              <a:rPr lang="en-US" altLang="zh-CN" sz="28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f </a:t>
            </a:r>
            <a:r>
              <a:rPr lang="en-US" altLang="zh-CN" sz="2800" b="1" baseline="30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是函数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因为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是函数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所以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是关系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且 </a:t>
            </a:r>
            <a:r>
              <a:rPr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dom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 f </a:t>
            </a:r>
            <a:r>
              <a:rPr lang="en-US" altLang="zh-CN" sz="2800" b="1" baseline="30000" dirty="0">
                <a:solidFill>
                  <a:srgbClr val="3366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rgbClr val="3366CC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= ran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     </a:t>
            </a:r>
            <a:r>
              <a:rPr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ran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 f </a:t>
            </a:r>
            <a:r>
              <a:rPr lang="en-US" altLang="zh-CN" sz="2800" b="1" baseline="30000" dirty="0">
                <a:solidFill>
                  <a:srgbClr val="3366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rgbClr val="3366CC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= dom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对于任意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 err="1">
                <a:solidFill>
                  <a:srgbClr val="3366CC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solidFill>
                  <a:srgbClr val="3366CC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 err="1">
                <a:solidFill>
                  <a:srgbClr val="3366CC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= dom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 f </a:t>
            </a:r>
            <a:r>
              <a:rPr lang="en-US" altLang="zh-CN" sz="2800" b="1" baseline="30000" dirty="0">
                <a:solidFill>
                  <a:srgbClr val="3366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rgbClr val="3366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假设有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rgbClr val="3366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rgbClr val="3366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使得</a:t>
            </a:r>
            <a:b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</a:b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&gt;∈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∧&lt;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&gt;∈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1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成立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则由逆的定义有：    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&gt;∈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∧&lt;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&gt;∈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根据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的单射性可得 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rgbClr val="3366CC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rgbClr val="3366CC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。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</a:p>
          <a:p>
            <a:pPr marL="457200" indent="-45720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从而证明了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是函数。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E40B466-60A5-46AC-BC9C-80F46391D14E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141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01147" y="26504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反函数</a:t>
            </a:r>
          </a:p>
        </p:txBody>
      </p:sp>
      <p:sp>
        <p:nvSpPr>
          <p:cNvPr id="226308" name="Text Box 3"/>
          <p:cNvSpPr txBox="1">
            <a:spLocks noChangeArrowheads="1"/>
          </p:cNvSpPr>
          <p:nvPr/>
        </p:nvSpPr>
        <p:spPr bwMode="auto">
          <a:xfrm>
            <a:off x="395536" y="1484784"/>
            <a:ext cx="8135937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 f 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的满射性：由于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ran f 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 = A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，所以</a:t>
            </a:r>
            <a:r>
              <a:rPr lang="zh-CN" altLang="en-US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是满射的。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的单射性：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若存在 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rgbClr val="3366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rgbClr val="3366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B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使得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        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 baseline="30000" dirty="0">
                <a:solidFill>
                  <a:srgbClr val="3366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rgbClr val="3366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rgbClr val="3366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) =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 f </a:t>
            </a:r>
            <a:r>
              <a:rPr lang="en-US" altLang="zh-CN" sz="2800" b="1" baseline="30000" dirty="0">
                <a:solidFill>
                  <a:srgbClr val="3366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rgbClr val="3366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rgbClr val="3366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从而有</a:t>
            </a:r>
            <a:b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</a:b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     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&gt;∈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∧&lt;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&gt;∈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/>
            </a:r>
            <a:b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&gt;∈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∧&lt;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&gt;∈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rgbClr val="3366CC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3366CC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rgbClr val="3366CC"/>
                </a:solidFill>
                <a:latin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3366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B4E830D-C7E2-4483-AF1B-EBB1A76A1792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142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8147" y="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反函数的定义及性质</a:t>
            </a:r>
          </a:p>
        </p:txBody>
      </p:sp>
      <p:sp>
        <p:nvSpPr>
          <p:cNvPr id="228356" name="Text Box 3"/>
          <p:cNvSpPr txBox="1">
            <a:spLocks noChangeArrowheads="1"/>
          </p:cNvSpPr>
          <p:nvPr/>
        </p:nvSpPr>
        <p:spPr bwMode="auto">
          <a:xfrm>
            <a:off x="432589" y="1404730"/>
            <a:ext cx="803433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定义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对于</a:t>
            </a:r>
            <a:r>
              <a:rPr lang="zh-CN" altLang="en-US" sz="28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双射函数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称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是它的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反函数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58147" y="2909391"/>
            <a:ext cx="8034337" cy="2850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反函数的性质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定理</a:t>
            </a:r>
            <a:r>
              <a:rPr lang="zh-CN" altLang="en-US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</a:rPr>
              <a:t>是双射的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</a:t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     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ym typeface="Symbol" panose="05050102010706020507" pitchFamily="18" charset="2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,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ym typeface="Symbol" panose="05050102010706020507" pitchFamily="18" charset="2"/>
              </a:rPr>
              <a:t>∘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1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    对于双射函数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→</a:t>
            </a:r>
            <a:r>
              <a:rPr lang="en-US" altLang="zh-CN" sz="2800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33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有</a:t>
            </a:r>
            <a:b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</a:b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ym typeface="Symbol" panose="05050102010706020507" pitchFamily="18" charset="2"/>
              </a:rPr>
              <a:t>∘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sym typeface="Symbol" panose="05050102010706020507" pitchFamily="18" charset="2"/>
              </a:rPr>
              <a:t>∘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>
    <p:wipe dir="d"/>
  </p:transition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408986" y="6032971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4814F5-F4E0-4397-A6EF-8CB3B863F7B0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143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38679" y="68734"/>
            <a:ext cx="8229600" cy="137160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课堂练习：</a:t>
            </a:r>
          </a:p>
        </p:txBody>
      </p:sp>
      <p:sp>
        <p:nvSpPr>
          <p:cNvPr id="230404" name="Rectangle 4"/>
          <p:cNvSpPr>
            <a:spLocks noChangeArrowheads="1"/>
          </p:cNvSpPr>
          <p:nvPr/>
        </p:nvSpPr>
        <p:spPr bwMode="auto">
          <a:xfrm>
            <a:off x="-144214" y="-215429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/>
          </a:p>
        </p:txBody>
      </p:sp>
      <p:grpSp>
        <p:nvGrpSpPr>
          <p:cNvPr id="230405" name="Group 9"/>
          <p:cNvGrpSpPr>
            <a:grpSpLocks/>
          </p:cNvGrpSpPr>
          <p:nvPr/>
        </p:nvGrpSpPr>
        <p:grpSpPr bwMode="auto">
          <a:xfrm>
            <a:off x="395536" y="1484784"/>
            <a:ext cx="8064500" cy="3108324"/>
            <a:chOff x="340" y="1071"/>
            <a:chExt cx="5080" cy="1958"/>
          </a:xfrm>
        </p:grpSpPr>
        <p:sp>
          <p:nvSpPr>
            <p:cNvPr id="230410" name="Rectangle 8"/>
            <p:cNvSpPr>
              <a:spLocks noChangeArrowheads="1"/>
            </p:cNvSpPr>
            <p:nvPr/>
          </p:nvSpPr>
          <p:spPr bwMode="auto">
            <a:xfrm>
              <a:off x="340" y="1071"/>
              <a:ext cx="5080" cy="19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设 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f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：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→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,  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g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：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→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/>
              </a:r>
              <a:b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</a:br>
              <a:endPara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  </a:t>
              </a:r>
              <a:endPara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求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g </a:t>
              </a:r>
              <a:r>
                <a:rPr lang="en-US" altLang="zh-CN" sz="2800" b="1" dirty="0">
                  <a:solidFill>
                    <a:schemeClr val="bg2"/>
                  </a:solidFill>
                  <a:sym typeface="Symbol" panose="05050102010706020507" pitchFamily="18" charset="2"/>
                </a:rPr>
                <a:t></a:t>
              </a:r>
              <a:r>
                <a:rPr lang="en-US" altLang="zh-CN" sz="2800" dirty="0">
                  <a:solidFill>
                    <a:schemeClr val="bg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f</a:t>
              </a:r>
              <a:r>
                <a:rPr lang="zh-CN" altLang="en-US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f </a:t>
              </a:r>
              <a:r>
                <a:rPr lang="en-US" altLang="zh-CN" sz="2800" b="1" dirty="0">
                  <a:solidFill>
                    <a:schemeClr val="bg2"/>
                  </a:solidFill>
                  <a:sym typeface="Symbol" panose="05050102010706020507" pitchFamily="18" charset="2"/>
                </a:rPr>
                <a:t></a:t>
              </a:r>
              <a:r>
                <a:rPr lang="en-US" altLang="zh-CN" sz="2800" dirty="0">
                  <a:solidFill>
                    <a:schemeClr val="bg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g</a:t>
              </a:r>
              <a:r>
                <a:rPr lang="zh-CN" altLang="en-US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。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如果 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f 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和 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g 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存在反函数，求出它们的反函数。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/>
              </a:r>
              <a:b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</a:br>
              <a:r>
                <a:rPr lang="en-US" altLang="zh-CN" sz="2800" b="1" dirty="0">
                  <a:solidFill>
                    <a:srgbClr val="003399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230411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8517015"/>
                </p:ext>
              </p:extLst>
            </p:nvPr>
          </p:nvGraphicFramePr>
          <p:xfrm>
            <a:off x="669" y="1409"/>
            <a:ext cx="4025" cy="7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748" name="公式" r:id="rId3" imgW="2428748" imgH="447741" progId="Equation.3">
                    <p:embed/>
                  </p:oleObj>
                </mc:Choice>
                <mc:Fallback>
                  <p:oleObj name="公式" r:id="rId3" imgW="2428748" imgH="447741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9" y="1409"/>
                          <a:ext cx="4025" cy="7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0406" name="Rectangle 6"/>
          <p:cNvSpPr>
            <a:spLocks noChangeArrowheads="1"/>
          </p:cNvSpPr>
          <p:nvPr/>
        </p:nvSpPr>
        <p:spPr bwMode="auto">
          <a:xfrm>
            <a:off x="-144214" y="-215429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/>
          </a:p>
        </p:txBody>
      </p:sp>
    </p:spTree>
  </p:cSld>
  <p:clrMapOvr>
    <a:masterClrMapping/>
  </p:clrMapOvr>
  <p:transition>
    <p:wipe dir="d"/>
  </p:transition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408986" y="6032971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4814F5-F4E0-4397-A6EF-8CB3B863F7B0}" type="slidenum">
              <a:rPr lang="en-US" altLang="zh-CN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144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38679" y="68734"/>
            <a:ext cx="8229600" cy="137160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解：</a:t>
            </a:r>
          </a:p>
        </p:txBody>
      </p:sp>
      <p:sp>
        <p:nvSpPr>
          <p:cNvPr id="230404" name="Rectangle 4"/>
          <p:cNvSpPr>
            <a:spLocks noChangeArrowheads="1"/>
          </p:cNvSpPr>
          <p:nvPr/>
        </p:nvSpPr>
        <p:spPr bwMode="auto">
          <a:xfrm>
            <a:off x="-144214" y="-215429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/>
          </a:p>
        </p:txBody>
      </p:sp>
      <p:sp>
        <p:nvSpPr>
          <p:cNvPr id="230406" name="Rectangle 6"/>
          <p:cNvSpPr>
            <a:spLocks noChangeArrowheads="1"/>
          </p:cNvSpPr>
          <p:nvPr/>
        </p:nvSpPr>
        <p:spPr bwMode="auto">
          <a:xfrm>
            <a:off x="-144214" y="-215429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/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165347" y="1440334"/>
            <a:ext cx="8524877" cy="3354390"/>
            <a:chOff x="385" y="2478"/>
            <a:chExt cx="5370" cy="2113"/>
          </a:xfrm>
        </p:grpSpPr>
        <p:sp>
          <p:nvSpPr>
            <p:cNvPr id="230408" name="Text Box 3"/>
            <p:cNvSpPr txBox="1">
              <a:spLocks noChangeArrowheads="1"/>
            </p:cNvSpPr>
            <p:nvPr/>
          </p:nvSpPr>
          <p:spPr bwMode="auto">
            <a:xfrm>
              <a:off x="385" y="2478"/>
              <a:ext cx="5298" cy="2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（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）</a:t>
              </a:r>
              <a:r>
                <a:rPr lang="zh-CN" altLang="en-US" sz="2400" b="1" i="1" dirty="0">
                  <a:solidFill>
                    <a:srgbClr val="003399"/>
                  </a:solidFill>
                  <a:latin typeface="Times New Roman" panose="02020603050405020304" pitchFamily="18" charset="0"/>
                </a:rPr>
                <a:t>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dirty="0">
                <a:solidFill>
                  <a:srgbClr val="003399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dirty="0">
                <a:solidFill>
                  <a:srgbClr val="003399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（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2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）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f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：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→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R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不是双射的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不存在反函数。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g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：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→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R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   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是双射的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它的反函数是  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2800" b="1" baseline="30000" dirty="0">
                  <a:solidFill>
                    <a:schemeClr val="bg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800" b="1" baseline="30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：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→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, 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2800" b="1" i="1" baseline="30000" dirty="0">
                  <a:solidFill>
                    <a:schemeClr val="bg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800" b="1" baseline="30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) = 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2     </a:t>
              </a:r>
            </a:p>
          </p:txBody>
        </p:sp>
        <p:graphicFrame>
          <p:nvGraphicFramePr>
            <p:cNvPr id="23040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2097202"/>
                </p:ext>
              </p:extLst>
            </p:nvPr>
          </p:nvGraphicFramePr>
          <p:xfrm>
            <a:off x="925" y="2478"/>
            <a:ext cx="4830" cy="1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68" name="公式" r:id="rId3" imgW="2200105" imgH="447741" progId="Equation.3">
                    <p:embed/>
                  </p:oleObj>
                </mc:Choice>
                <mc:Fallback>
                  <p:oleObj name="公式" r:id="rId3" imgW="2200105" imgH="447741" progId="Equation.3">
                    <p:embed/>
                    <p:pic>
                      <p:nvPicPr>
                        <p:cNvPr id="230409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5" y="2478"/>
                          <a:ext cx="4830" cy="1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4513472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灯片编号占位符 4"/>
          <p:cNvSpPr txBox="1">
            <a:spLocks noGrp="1" noChangeArrowheads="1"/>
          </p:cNvSpPr>
          <p:nvPr/>
        </p:nvSpPr>
        <p:spPr bwMode="auto">
          <a:xfrm>
            <a:off x="3124200" y="610235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F623BBE9-9CAD-4DEE-AA60-AB61E899D04C}" type="slidenum">
              <a:rPr lang="en-US" altLang="zh-CN" sz="1200"/>
              <a:pPr algn="ctr" eaLnBrk="1" hangingPunct="1"/>
              <a:t>145</a:t>
            </a:fld>
            <a:endParaRPr lang="en-US" altLang="zh-CN" sz="1200"/>
          </a:p>
        </p:txBody>
      </p:sp>
      <p:sp>
        <p:nvSpPr>
          <p:cNvPr id="942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7150" y="-68263"/>
            <a:ext cx="8229600" cy="1368426"/>
          </a:xfrm>
        </p:spPr>
        <p:txBody>
          <a:bodyPr/>
          <a:lstStyle/>
          <a:p>
            <a:r>
              <a:rPr lang="zh-CN" altLang="en-US" b="1" smtClean="0"/>
              <a:t>函数复合与反函数计算</a:t>
            </a:r>
          </a:p>
        </p:txBody>
      </p:sp>
      <p:sp>
        <p:nvSpPr>
          <p:cNvPr id="942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94213" name="Group 5"/>
          <p:cNvGrpSpPr>
            <a:grpSpLocks/>
          </p:cNvGrpSpPr>
          <p:nvPr/>
        </p:nvGrpSpPr>
        <p:grpSpPr bwMode="auto">
          <a:xfrm>
            <a:off x="428625" y="1357313"/>
            <a:ext cx="8064500" cy="2654300"/>
            <a:chOff x="0" y="0"/>
            <a:chExt cx="5080" cy="1672"/>
          </a:xfrm>
        </p:grpSpPr>
        <p:sp>
          <p:nvSpPr>
            <p:cNvPr id="94218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5080" cy="1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例 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设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f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：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→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g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：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→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/>
              </a:r>
              <a:br>
                <a:rPr lang="en-US" altLang="zh-CN" sz="2800" b="1" dirty="0">
                  <a:latin typeface="Times New Roman" panose="02020603050405020304" pitchFamily="18" charset="0"/>
                </a:rPr>
              </a:br>
              <a:endParaRPr lang="en-US" altLang="zh-CN" sz="2800" b="1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    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   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</a:rPr>
                <a:t>求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f </a:t>
              </a:r>
              <a:r>
                <a:rPr lang="en-US" altLang="zh-CN" b="1" dirty="0">
                  <a:sym typeface="Symbol" panose="05050102010706020507" pitchFamily="18" charset="2"/>
                </a:rPr>
                <a:t></a:t>
              </a:r>
              <a:r>
                <a:rPr lang="en-US" altLang="zh-CN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g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g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 </a:t>
              </a:r>
              <a:r>
                <a:rPr lang="en-US" altLang="zh-CN" b="1" dirty="0">
                  <a:sym typeface="Symbol" panose="05050102010706020507" pitchFamily="18" charset="2"/>
                </a:rPr>
                <a:t></a:t>
              </a:r>
              <a:r>
                <a:rPr lang="en-US" altLang="zh-CN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.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如果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f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和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g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存在反函数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求出它们的反函数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. </a:t>
              </a:r>
              <a:r>
                <a:rPr lang="en-US" altLang="zh-CN" sz="2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/>
              </a:r>
              <a:br>
                <a:rPr lang="en-US" altLang="zh-CN" sz="2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</a:br>
              <a:r>
                <a:rPr lang="en-US" altLang="zh-CN" sz="2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94219" name="Object 7"/>
            <p:cNvGraphicFramePr>
              <a:graphicFrameLocks noChangeAspect="1"/>
            </p:cNvGraphicFramePr>
            <p:nvPr/>
          </p:nvGraphicFramePr>
          <p:xfrm>
            <a:off x="635" y="227"/>
            <a:ext cx="3448" cy="6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624" r:id="rId3" imgW="2439459" imgH="457399" progId="Equation.3">
                    <p:embed/>
                  </p:oleObj>
                </mc:Choice>
                <mc:Fallback>
                  <p:oleObj r:id="rId3" imgW="2439459" imgH="45739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" y="227"/>
                          <a:ext cx="3448" cy="6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421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85001" name="Group 9"/>
          <p:cNvGrpSpPr>
            <a:grpSpLocks/>
          </p:cNvGrpSpPr>
          <p:nvPr/>
        </p:nvGrpSpPr>
        <p:grpSpPr bwMode="auto">
          <a:xfrm>
            <a:off x="395288" y="3714750"/>
            <a:ext cx="9007475" cy="2678113"/>
            <a:chOff x="0" y="0"/>
            <a:chExt cx="5674" cy="1687"/>
          </a:xfrm>
        </p:grpSpPr>
        <p:sp>
          <p:nvSpPr>
            <p:cNvPr id="94216" name="Text Box 3"/>
            <p:cNvSpPr txBox="1">
              <a:spLocks noChangeArrowheads="1"/>
            </p:cNvSpPr>
            <p:nvPr/>
          </p:nvSpPr>
          <p:spPr bwMode="auto">
            <a:xfrm>
              <a:off x="0" y="0"/>
              <a:ext cx="5674" cy="1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C00000"/>
                  </a:solidFill>
                  <a:latin typeface="Times New Roman" panose="02020603050405020304" pitchFamily="18" charset="0"/>
                </a:rPr>
                <a:t>解</a:t>
              </a:r>
              <a:endParaRPr lang="zh-CN" altLang="en-US" sz="2800" b="1">
                <a:solidFill>
                  <a:srgbClr val="003399"/>
                </a:solidFill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zh-CN" altLang="en-US" sz="2800" b="1" i="1">
                  <a:solidFill>
                    <a:srgbClr val="003399"/>
                  </a:solidFill>
                  <a:latin typeface="Times New Roman" panose="02020603050405020304" pitchFamily="18" charset="0"/>
                </a:rPr>
                <a:t> </a:t>
              </a:r>
            </a:p>
            <a:p>
              <a:pPr eaLnBrk="1" hangingPunct="1"/>
              <a:endParaRPr lang="zh-CN" altLang="en-US" sz="2800" b="1" i="1">
                <a:solidFill>
                  <a:srgbClr val="003399"/>
                </a:solidFill>
                <a:latin typeface="Times New Roman" panose="02020603050405020304" pitchFamily="18" charset="0"/>
              </a:endParaRPr>
            </a:p>
            <a:p>
              <a:pPr eaLnBrk="1" hangingPunct="1"/>
              <a:endParaRPr lang="zh-CN" altLang="en-US" sz="2800" b="1" i="1">
                <a:solidFill>
                  <a:srgbClr val="003399"/>
                </a:solidFill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sz="2800" b="1" i="1">
                  <a:latin typeface="Times New Roman" panose="02020603050405020304" pitchFamily="18" charset="0"/>
                </a:rPr>
                <a:t>  f</a:t>
              </a:r>
              <a:r>
                <a:rPr lang="zh-CN" altLang="en-US" sz="2800" b="1">
                  <a:latin typeface="Times New Roman" panose="02020603050405020304" pitchFamily="18" charset="0"/>
                </a:rPr>
                <a:t>：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R</a:t>
              </a:r>
              <a:r>
                <a:rPr lang="en-US" altLang="zh-CN" sz="2800" b="1">
                  <a:latin typeface="Times New Roman" panose="02020603050405020304" pitchFamily="18" charset="0"/>
                </a:rPr>
                <a:t>→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R</a:t>
              </a:r>
              <a:r>
                <a:rPr lang="zh-CN" altLang="en-US" sz="2800" b="1">
                  <a:latin typeface="Times New Roman" panose="02020603050405020304" pitchFamily="18" charset="0"/>
                </a:rPr>
                <a:t>不是双射的</a:t>
              </a:r>
              <a:r>
                <a:rPr lang="en-US" altLang="zh-CN" sz="2800" b="1">
                  <a:latin typeface="Times New Roman" panose="02020603050405020304" pitchFamily="18" charset="0"/>
                </a:rPr>
                <a:t>, </a:t>
              </a:r>
              <a:r>
                <a:rPr lang="zh-CN" altLang="en-US" sz="2800" b="1">
                  <a:latin typeface="Times New Roman" panose="02020603050405020304" pitchFamily="18" charset="0"/>
                </a:rPr>
                <a:t>不存在反函数</a:t>
              </a:r>
              <a:r>
                <a:rPr lang="en-US" altLang="zh-CN" sz="2800" b="1">
                  <a:latin typeface="Times New Roman" panose="02020603050405020304" pitchFamily="18" charset="0"/>
                </a:rPr>
                <a:t>.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g</a:t>
              </a:r>
              <a:r>
                <a:rPr lang="zh-CN" altLang="en-US" sz="2800" b="1">
                  <a:latin typeface="Times New Roman" panose="02020603050405020304" pitchFamily="18" charset="0"/>
                </a:rPr>
                <a:t>：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R</a:t>
              </a:r>
              <a:r>
                <a:rPr lang="en-US" altLang="zh-CN" sz="2800" b="1">
                  <a:latin typeface="Times New Roman" panose="02020603050405020304" pitchFamily="18" charset="0"/>
                </a:rPr>
                <a:t>→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R</a:t>
              </a:r>
              <a:r>
                <a:rPr lang="zh-CN" altLang="en-US" sz="2800" b="1">
                  <a:latin typeface="Times New Roman" panose="02020603050405020304" pitchFamily="18" charset="0"/>
                </a:rPr>
                <a:t>是双射的</a:t>
              </a:r>
              <a:r>
                <a:rPr lang="en-US" altLang="zh-CN" sz="2800" b="1">
                  <a:latin typeface="Times New Roman" panose="02020603050405020304" pitchFamily="18" charset="0"/>
                </a:rPr>
                <a:t>, </a:t>
              </a:r>
            </a:p>
            <a:p>
              <a:pPr eaLnBrk="1" hangingPunct="1"/>
              <a:r>
                <a:rPr lang="zh-CN" altLang="en-US" sz="2800" b="1">
                  <a:latin typeface="Times New Roman" panose="02020603050405020304" pitchFamily="18" charset="0"/>
                </a:rPr>
                <a:t>它的反函数是  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g</a:t>
              </a:r>
              <a:r>
                <a:rPr lang="en-US" altLang="zh-CN" sz="2800" b="1" baseline="3000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800" b="1" baseline="30000">
                  <a:latin typeface="Times New Roman" panose="02020603050405020304" pitchFamily="18" charset="0"/>
                </a:rPr>
                <a:t>1</a:t>
              </a:r>
              <a:r>
                <a:rPr lang="zh-CN" altLang="en-US" sz="2800" b="1">
                  <a:latin typeface="Times New Roman" panose="02020603050405020304" pitchFamily="18" charset="0"/>
                </a:rPr>
                <a:t>：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R</a:t>
              </a:r>
              <a:r>
                <a:rPr lang="en-US" altLang="zh-CN" sz="2800" b="1">
                  <a:latin typeface="Times New Roman" panose="02020603050405020304" pitchFamily="18" charset="0"/>
                </a:rPr>
                <a:t>→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R</a:t>
              </a:r>
              <a:r>
                <a:rPr lang="en-US" altLang="zh-CN" sz="2800" b="1">
                  <a:latin typeface="Times New Roman" panose="02020603050405020304" pitchFamily="18" charset="0"/>
                </a:rPr>
                <a:t>,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g</a:t>
              </a:r>
              <a:r>
                <a:rPr lang="en-US" altLang="zh-CN" sz="2800" b="1" i="1" baseline="3000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800" b="1" baseline="3000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>
                  <a:latin typeface="Times New Roman" panose="02020603050405020304" pitchFamily="18" charset="0"/>
                </a:rPr>
                <a:t>) =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800" b="1">
                  <a:latin typeface="Times New Roman" panose="02020603050405020304" pitchFamily="18" charset="0"/>
                </a:rPr>
                <a:t>2     </a:t>
              </a:r>
            </a:p>
          </p:txBody>
        </p:sp>
        <p:graphicFrame>
          <p:nvGraphicFramePr>
            <p:cNvPr id="94217" name="Object 11"/>
            <p:cNvGraphicFramePr>
              <a:graphicFrameLocks noChangeAspect="1"/>
            </p:cNvGraphicFramePr>
            <p:nvPr/>
          </p:nvGraphicFramePr>
          <p:xfrm>
            <a:off x="381" y="44"/>
            <a:ext cx="4791" cy="9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625" r:id="rId5" imgW="3554457" imgH="710891" progId="Equation.3">
                    <p:embed/>
                  </p:oleObj>
                </mc:Choice>
                <mc:Fallback>
                  <p:oleObj r:id="rId5" imgW="3554457" imgH="7108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" y="44"/>
                          <a:ext cx="4791" cy="9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50499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灯片编号占位符 2"/>
          <p:cNvSpPr txBox="1">
            <a:spLocks noGrp="1"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8AA919A0-F438-4883-BA99-3E93FF1B6B23}" type="slidenum">
              <a:rPr lang="en-US" altLang="zh-CN" sz="1200"/>
              <a:pPr algn="ctr" eaLnBrk="1" hangingPunct="1"/>
              <a:t>146</a:t>
            </a:fld>
            <a:endParaRPr lang="en-US" altLang="zh-CN" sz="1200"/>
          </a:p>
        </p:txBody>
      </p:sp>
      <p:grpSp>
        <p:nvGrpSpPr>
          <p:cNvPr id="95235" name="Group 3"/>
          <p:cNvGrpSpPr>
            <a:grpSpLocks/>
          </p:cNvGrpSpPr>
          <p:nvPr/>
        </p:nvGrpSpPr>
        <p:grpSpPr bwMode="auto">
          <a:xfrm>
            <a:off x="357188" y="1419225"/>
            <a:ext cx="7486650" cy="1028700"/>
            <a:chOff x="0" y="0"/>
            <a:chExt cx="4716" cy="648"/>
          </a:xfrm>
        </p:grpSpPr>
        <p:sp>
          <p:nvSpPr>
            <p:cNvPr id="95269" name="Text Box 3"/>
            <p:cNvSpPr txBox="1">
              <a:spLocks noChangeArrowheads="1"/>
            </p:cNvSpPr>
            <p:nvPr/>
          </p:nvSpPr>
          <p:spPr bwMode="auto">
            <a:xfrm>
              <a:off x="0" y="0"/>
              <a:ext cx="471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 smtClean="0">
                  <a:solidFill>
                    <a:srgbClr val="C00000"/>
                  </a:solidFill>
                </a:rPr>
                <a:t>例</a:t>
              </a:r>
              <a:r>
                <a:rPr lang="zh-CN" altLang="en-US" sz="2800" b="1" dirty="0" smtClean="0">
                  <a:latin typeface="Times New Roman" panose="02020603050405020304" pitchFamily="18" charset="0"/>
                </a:rPr>
                <a:t>    </a:t>
              </a:r>
              <a:r>
                <a:rPr lang="zh-CN" altLang="en-US" sz="2800" b="1" dirty="0"/>
                <a:t>判断以下函数是否存在反函数，若存在，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95270" name="Text Box 4"/>
            <p:cNvSpPr txBox="1">
              <a:spLocks noChangeArrowheads="1"/>
            </p:cNvSpPr>
            <p:nvPr/>
          </p:nvSpPr>
          <p:spPr bwMode="auto">
            <a:xfrm>
              <a:off x="720" y="321"/>
              <a:ext cx="37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请写出反函数，否则，请说明理由。</a:t>
              </a:r>
            </a:p>
          </p:txBody>
        </p:sp>
      </p:grpSp>
      <p:grpSp>
        <p:nvGrpSpPr>
          <p:cNvPr id="86022" name="Group 6"/>
          <p:cNvGrpSpPr>
            <a:grpSpLocks/>
          </p:cNvGrpSpPr>
          <p:nvPr/>
        </p:nvGrpSpPr>
        <p:grpSpPr bwMode="auto">
          <a:xfrm>
            <a:off x="874713" y="2624138"/>
            <a:ext cx="4587875" cy="609600"/>
            <a:chOff x="0" y="0"/>
            <a:chExt cx="2890" cy="384"/>
          </a:xfrm>
        </p:grpSpPr>
        <p:grpSp>
          <p:nvGrpSpPr>
            <p:cNvPr id="95264" name="Group 7"/>
            <p:cNvGrpSpPr>
              <a:grpSpLocks/>
            </p:cNvGrpSpPr>
            <p:nvPr/>
          </p:nvGrpSpPr>
          <p:grpSpPr bwMode="auto">
            <a:xfrm>
              <a:off x="0" y="9"/>
              <a:ext cx="2890" cy="375"/>
              <a:chOff x="0" y="0"/>
              <a:chExt cx="2890" cy="375"/>
            </a:xfrm>
          </p:grpSpPr>
          <p:sp>
            <p:nvSpPr>
              <p:cNvPr id="95266" name="Text Box 7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3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b="1">
                    <a:latin typeface="Times New Roman" panose="02020603050405020304" pitchFamily="18" charset="0"/>
                  </a:rPr>
                  <a:t>(1) </a:t>
                </a:r>
              </a:p>
            </p:txBody>
          </p:sp>
          <p:graphicFrame>
            <p:nvGraphicFramePr>
              <p:cNvPr id="95267" name="Object 9"/>
              <p:cNvGraphicFramePr>
                <a:graphicFrameLocks noChangeAspect="1"/>
              </p:cNvGraphicFramePr>
              <p:nvPr/>
            </p:nvGraphicFramePr>
            <p:xfrm>
              <a:off x="442" y="39"/>
              <a:ext cx="1040" cy="3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0672" r:id="rId3" imgW="660974" imgH="203377" progId="Equation.DSMT4">
                      <p:embed/>
                    </p:oleObj>
                  </mc:Choice>
                  <mc:Fallback>
                    <p:oleObj r:id="rId3" imgW="660974" imgH="203377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" y="39"/>
                            <a:ext cx="1040" cy="3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5268" name="Object 10"/>
              <p:cNvGraphicFramePr>
                <a:graphicFrameLocks noChangeAspect="1"/>
              </p:cNvGraphicFramePr>
              <p:nvPr/>
            </p:nvGraphicFramePr>
            <p:xfrm>
              <a:off x="1610" y="19"/>
              <a:ext cx="1280" cy="3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0673" r:id="rId5" imgW="813153" imgH="228699" progId="Equation.DSMT4">
                      <p:embed/>
                    </p:oleObj>
                  </mc:Choice>
                  <mc:Fallback>
                    <p:oleObj r:id="rId5" imgW="813153" imgH="228699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10" y="19"/>
                            <a:ext cx="1280" cy="3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5265" name="Rectangle 10"/>
            <p:cNvSpPr>
              <a:spLocks noChangeArrowheads="1"/>
            </p:cNvSpPr>
            <p:nvPr/>
          </p:nvSpPr>
          <p:spPr bwMode="auto">
            <a:xfrm>
              <a:off x="1446" y="0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，</a:t>
              </a:r>
            </a:p>
          </p:txBody>
        </p:sp>
      </p:grpSp>
      <p:grpSp>
        <p:nvGrpSpPr>
          <p:cNvPr id="86028" name="Group 12"/>
          <p:cNvGrpSpPr>
            <a:grpSpLocks/>
          </p:cNvGrpSpPr>
          <p:nvPr/>
        </p:nvGrpSpPr>
        <p:grpSpPr bwMode="auto">
          <a:xfrm>
            <a:off x="417513" y="3302000"/>
            <a:ext cx="3760787" cy="541338"/>
            <a:chOff x="0" y="0"/>
            <a:chExt cx="2369" cy="341"/>
          </a:xfrm>
        </p:grpSpPr>
        <p:sp>
          <p:nvSpPr>
            <p:cNvPr id="95261" name="Text Box 12"/>
            <p:cNvSpPr txBox="1">
              <a:spLocks noChangeArrowheads="1"/>
            </p:cNvSpPr>
            <p:nvPr/>
          </p:nvSpPr>
          <p:spPr bwMode="auto">
            <a:xfrm>
              <a:off x="0" y="0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C00000"/>
                  </a:solidFill>
                </a:rPr>
                <a:t>解：</a:t>
              </a:r>
            </a:p>
          </p:txBody>
        </p:sp>
        <p:graphicFrame>
          <p:nvGraphicFramePr>
            <p:cNvPr id="95262" name="Object 14"/>
            <p:cNvGraphicFramePr>
              <a:graphicFrameLocks noChangeAspect="1"/>
            </p:cNvGraphicFramePr>
            <p:nvPr/>
          </p:nvGraphicFramePr>
          <p:xfrm>
            <a:off x="490" y="25"/>
            <a:ext cx="24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674" r:id="rId7" imgW="152798" imgH="203731" progId="Equation.DSMT4">
                    <p:embed/>
                  </p:oleObj>
                </mc:Choice>
                <mc:Fallback>
                  <p:oleObj r:id="rId7" imgW="152798" imgH="20373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" y="25"/>
                          <a:ext cx="24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263" name="Rectangle 14"/>
            <p:cNvSpPr>
              <a:spLocks noChangeArrowheads="1"/>
            </p:cNvSpPr>
            <p:nvPr/>
          </p:nvSpPr>
          <p:spPr bwMode="auto">
            <a:xfrm>
              <a:off x="678" y="5"/>
              <a:ext cx="16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不存在反函数，</a:t>
              </a:r>
            </a:p>
          </p:txBody>
        </p:sp>
      </p:grpSp>
      <p:grpSp>
        <p:nvGrpSpPr>
          <p:cNvPr id="86032" name="Group 16"/>
          <p:cNvGrpSpPr>
            <a:grpSpLocks/>
          </p:cNvGrpSpPr>
          <p:nvPr/>
        </p:nvGrpSpPr>
        <p:grpSpPr bwMode="auto">
          <a:xfrm>
            <a:off x="868363" y="3973513"/>
            <a:ext cx="5889625" cy="555625"/>
            <a:chOff x="0" y="0"/>
            <a:chExt cx="3710" cy="350"/>
          </a:xfrm>
        </p:grpSpPr>
        <p:sp>
          <p:nvSpPr>
            <p:cNvPr id="95256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因为</a:t>
              </a:r>
            </a:p>
          </p:txBody>
        </p:sp>
        <p:graphicFrame>
          <p:nvGraphicFramePr>
            <p:cNvPr id="95257" name="Object 18"/>
            <p:cNvGraphicFramePr>
              <a:graphicFrameLocks noChangeAspect="1"/>
            </p:cNvGraphicFramePr>
            <p:nvPr/>
          </p:nvGraphicFramePr>
          <p:xfrm>
            <a:off x="490" y="34"/>
            <a:ext cx="24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675" r:id="rId9" imgW="152798" imgH="203731" progId="Equation.DSMT4">
                    <p:embed/>
                  </p:oleObj>
                </mc:Choice>
                <mc:Fallback>
                  <p:oleObj r:id="rId9" imgW="152798" imgH="20373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" y="34"/>
                          <a:ext cx="24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258" name="Object 19"/>
            <p:cNvGraphicFramePr>
              <a:graphicFrameLocks noChangeAspect="1"/>
            </p:cNvGraphicFramePr>
            <p:nvPr/>
          </p:nvGraphicFramePr>
          <p:xfrm>
            <a:off x="1786" y="34"/>
            <a:ext cx="166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676" r:id="rId10" imgW="1055016" imgH="203377" progId="Equation.DSMT4">
                    <p:embed/>
                  </p:oleObj>
                </mc:Choice>
                <mc:Fallback>
                  <p:oleObj r:id="rId10" imgW="1055016" imgH="20337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6" y="34"/>
                          <a:ext cx="166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259" name="Rectangle 19"/>
            <p:cNvSpPr>
              <a:spLocks noChangeArrowheads="1"/>
            </p:cNvSpPr>
            <p:nvPr/>
          </p:nvSpPr>
          <p:spPr bwMode="auto">
            <a:xfrm>
              <a:off x="3370" y="14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。</a:t>
              </a:r>
            </a:p>
          </p:txBody>
        </p:sp>
        <p:sp>
          <p:nvSpPr>
            <p:cNvPr id="95260" name="Rectangle 20"/>
            <p:cNvSpPr>
              <a:spLocks noChangeArrowheads="1"/>
            </p:cNvSpPr>
            <p:nvPr/>
          </p:nvSpPr>
          <p:spPr bwMode="auto">
            <a:xfrm>
              <a:off x="682" y="14"/>
              <a:ext cx="1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不是单射，</a:t>
              </a:r>
            </a:p>
          </p:txBody>
        </p:sp>
      </p:grpSp>
      <p:grpSp>
        <p:nvGrpSpPr>
          <p:cNvPr id="86038" name="Group 22"/>
          <p:cNvGrpSpPr>
            <a:grpSpLocks/>
          </p:cNvGrpSpPr>
          <p:nvPr/>
        </p:nvGrpSpPr>
        <p:grpSpPr bwMode="auto">
          <a:xfrm>
            <a:off x="874713" y="4619625"/>
            <a:ext cx="4664075" cy="563563"/>
            <a:chOff x="0" y="0"/>
            <a:chExt cx="2938" cy="355"/>
          </a:xfrm>
        </p:grpSpPr>
        <p:grpSp>
          <p:nvGrpSpPr>
            <p:cNvPr id="95251" name="Group 23"/>
            <p:cNvGrpSpPr>
              <a:grpSpLocks/>
            </p:cNvGrpSpPr>
            <p:nvPr/>
          </p:nvGrpSpPr>
          <p:grpSpPr bwMode="auto">
            <a:xfrm>
              <a:off x="0" y="0"/>
              <a:ext cx="2938" cy="355"/>
              <a:chOff x="0" y="0"/>
              <a:chExt cx="2938" cy="355"/>
            </a:xfrm>
          </p:grpSpPr>
          <p:sp>
            <p:nvSpPr>
              <p:cNvPr id="95253" name="Text Box 23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3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b="1">
                    <a:latin typeface="Times New Roman" panose="02020603050405020304" pitchFamily="18" charset="0"/>
                  </a:rPr>
                  <a:t>(2) </a:t>
                </a:r>
              </a:p>
            </p:txBody>
          </p:sp>
          <p:graphicFrame>
            <p:nvGraphicFramePr>
              <p:cNvPr id="95254" name="Object 25"/>
              <p:cNvGraphicFramePr>
                <a:graphicFrameLocks noChangeAspect="1"/>
              </p:cNvGraphicFramePr>
              <p:nvPr/>
            </p:nvGraphicFramePr>
            <p:xfrm>
              <a:off x="452" y="39"/>
              <a:ext cx="1020" cy="3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0677" r:id="rId12" imgW="648263" imgH="203377" progId="Equation.DSMT4">
                      <p:embed/>
                    </p:oleObj>
                  </mc:Choice>
                  <mc:Fallback>
                    <p:oleObj r:id="rId12" imgW="648263" imgH="203377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2" y="39"/>
                            <a:ext cx="1020" cy="3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5255" name="Object 26"/>
              <p:cNvGraphicFramePr>
                <a:graphicFrameLocks noChangeAspect="1"/>
              </p:cNvGraphicFramePr>
              <p:nvPr/>
            </p:nvGraphicFramePr>
            <p:xfrm>
              <a:off x="1658" y="38"/>
              <a:ext cx="1280" cy="3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0678" r:id="rId14" imgW="813153" imgH="203288" progId="Equation.DSMT4">
                      <p:embed/>
                    </p:oleObj>
                  </mc:Choice>
                  <mc:Fallback>
                    <p:oleObj r:id="rId14" imgW="813153" imgH="20328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58" y="38"/>
                            <a:ext cx="1280" cy="3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5252" name="Rectangle 26"/>
            <p:cNvSpPr>
              <a:spLocks noChangeArrowheads="1"/>
            </p:cNvSpPr>
            <p:nvPr/>
          </p:nvSpPr>
          <p:spPr bwMode="auto">
            <a:xfrm>
              <a:off x="1446" y="0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，</a:t>
              </a:r>
            </a:p>
          </p:txBody>
        </p:sp>
      </p:grpSp>
      <p:grpSp>
        <p:nvGrpSpPr>
          <p:cNvPr id="86044" name="Group 28"/>
          <p:cNvGrpSpPr>
            <a:grpSpLocks/>
          </p:cNvGrpSpPr>
          <p:nvPr/>
        </p:nvGrpSpPr>
        <p:grpSpPr bwMode="auto">
          <a:xfrm>
            <a:off x="433388" y="5283200"/>
            <a:ext cx="2979737" cy="527050"/>
            <a:chOff x="0" y="0"/>
            <a:chExt cx="1877" cy="332"/>
          </a:xfrm>
        </p:grpSpPr>
        <p:sp>
          <p:nvSpPr>
            <p:cNvPr id="95248" name="Text Box 28"/>
            <p:cNvSpPr txBox="1">
              <a:spLocks noChangeArrowheads="1"/>
            </p:cNvSpPr>
            <p:nvPr/>
          </p:nvSpPr>
          <p:spPr bwMode="auto">
            <a:xfrm>
              <a:off x="0" y="0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C00000"/>
                  </a:solidFill>
                </a:rPr>
                <a:t>解：</a:t>
              </a:r>
            </a:p>
          </p:txBody>
        </p:sp>
        <p:graphicFrame>
          <p:nvGraphicFramePr>
            <p:cNvPr id="95249" name="Object 30"/>
            <p:cNvGraphicFramePr>
              <a:graphicFrameLocks noChangeAspect="1"/>
            </p:cNvGraphicFramePr>
            <p:nvPr/>
          </p:nvGraphicFramePr>
          <p:xfrm>
            <a:off x="500" y="54"/>
            <a:ext cx="22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679" r:id="rId16" imgW="140126" imgH="165603" progId="Equation.DSMT4">
                    <p:embed/>
                  </p:oleObj>
                </mc:Choice>
                <mc:Fallback>
                  <p:oleObj r:id="rId16" imgW="140126" imgH="16560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" y="54"/>
                          <a:ext cx="22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250" name="Rectangle 30"/>
            <p:cNvSpPr>
              <a:spLocks noChangeArrowheads="1"/>
            </p:cNvSpPr>
            <p:nvPr/>
          </p:nvSpPr>
          <p:spPr bwMode="auto">
            <a:xfrm>
              <a:off x="636" y="5"/>
              <a:ext cx="1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是双射的，</a:t>
              </a:r>
            </a:p>
          </p:txBody>
        </p:sp>
      </p:grpSp>
      <p:grpSp>
        <p:nvGrpSpPr>
          <p:cNvPr id="86048" name="Group 32"/>
          <p:cNvGrpSpPr>
            <a:grpSpLocks/>
          </p:cNvGrpSpPr>
          <p:nvPr/>
        </p:nvGrpSpPr>
        <p:grpSpPr bwMode="auto">
          <a:xfrm>
            <a:off x="731838" y="5672138"/>
            <a:ext cx="7169150" cy="971550"/>
            <a:chOff x="0" y="0"/>
            <a:chExt cx="4516" cy="612"/>
          </a:xfrm>
        </p:grpSpPr>
        <p:sp>
          <p:nvSpPr>
            <p:cNvPr id="95243" name="Text Box 32"/>
            <p:cNvSpPr txBox="1">
              <a:spLocks noChangeArrowheads="1"/>
            </p:cNvSpPr>
            <p:nvPr/>
          </p:nvSpPr>
          <p:spPr bwMode="auto">
            <a:xfrm>
              <a:off x="0" y="118"/>
              <a:ext cx="1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存在反函数</a:t>
              </a:r>
            </a:p>
          </p:txBody>
        </p:sp>
        <p:graphicFrame>
          <p:nvGraphicFramePr>
            <p:cNvPr id="95244" name="Object 34"/>
            <p:cNvGraphicFramePr>
              <a:graphicFrameLocks noChangeAspect="1"/>
            </p:cNvGraphicFramePr>
            <p:nvPr/>
          </p:nvGraphicFramePr>
          <p:xfrm>
            <a:off x="1200" y="112"/>
            <a:ext cx="1200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680" r:id="rId18" imgW="762331" imgH="228699" progId="Equation.DSMT4">
                    <p:embed/>
                  </p:oleObj>
                </mc:Choice>
                <mc:Fallback>
                  <p:oleObj r:id="rId18" imgW="762331" imgH="22869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12"/>
                          <a:ext cx="1200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245" name="Object 35"/>
            <p:cNvGraphicFramePr>
              <a:graphicFrameLocks noChangeAspect="1"/>
            </p:cNvGraphicFramePr>
            <p:nvPr/>
          </p:nvGraphicFramePr>
          <p:xfrm>
            <a:off x="2544" y="0"/>
            <a:ext cx="1680" cy="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681" r:id="rId20" imgW="1067263" imgH="393871" progId="Equation.DSMT4">
                    <p:embed/>
                  </p:oleObj>
                </mc:Choice>
                <mc:Fallback>
                  <p:oleObj r:id="rId20" imgW="1067263" imgH="39387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0"/>
                          <a:ext cx="1680" cy="6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246" name="Rectangle 35"/>
            <p:cNvSpPr>
              <a:spLocks noChangeArrowheads="1"/>
            </p:cNvSpPr>
            <p:nvPr/>
          </p:nvSpPr>
          <p:spPr bwMode="auto">
            <a:xfrm>
              <a:off x="4176" y="155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。</a:t>
              </a:r>
            </a:p>
          </p:txBody>
        </p:sp>
        <p:sp>
          <p:nvSpPr>
            <p:cNvPr id="95247" name="Rectangle 36"/>
            <p:cNvSpPr>
              <a:spLocks noChangeArrowheads="1"/>
            </p:cNvSpPr>
            <p:nvPr/>
          </p:nvSpPr>
          <p:spPr bwMode="auto">
            <a:xfrm>
              <a:off x="2352" y="132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，</a:t>
              </a:r>
            </a:p>
          </p:txBody>
        </p:sp>
      </p:grpSp>
      <p:sp>
        <p:nvSpPr>
          <p:cNvPr id="95242" name="Rectangle 2"/>
          <p:cNvSpPr txBox="1">
            <a:spLocks noChangeArrowheads="1"/>
          </p:cNvSpPr>
          <p:nvPr/>
        </p:nvSpPr>
        <p:spPr bwMode="auto">
          <a:xfrm>
            <a:off x="0" y="28575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200" b="1">
                <a:solidFill>
                  <a:schemeClr val="tx2"/>
                </a:solidFill>
              </a:rPr>
              <a:t>函数复合与反函数计算</a:t>
            </a:r>
          </a:p>
        </p:txBody>
      </p:sp>
    </p:spTree>
    <p:extLst>
      <p:ext uri="{BB962C8B-B14F-4D97-AF65-F5344CB8AC3E}">
        <p14:creationId xmlns:p14="http://schemas.microsoft.com/office/powerpoint/2010/main" val="297152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2"/>
          <p:cNvSpPr txBox="1">
            <a:spLocks noGrp="1"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3A7C70F6-F06F-4349-9676-60E0ABBE995D}" type="slidenum">
              <a:rPr lang="en-US" altLang="zh-CN" sz="1200"/>
              <a:pPr algn="ctr" eaLnBrk="1" hangingPunct="1"/>
              <a:t>147</a:t>
            </a:fld>
            <a:endParaRPr lang="en-US" altLang="zh-CN" sz="1200"/>
          </a:p>
        </p:txBody>
      </p:sp>
      <p:grpSp>
        <p:nvGrpSpPr>
          <p:cNvPr id="96259" name="Group 3"/>
          <p:cNvGrpSpPr>
            <a:grpSpLocks/>
          </p:cNvGrpSpPr>
          <p:nvPr/>
        </p:nvGrpSpPr>
        <p:grpSpPr bwMode="auto">
          <a:xfrm>
            <a:off x="381000" y="1309688"/>
            <a:ext cx="7307263" cy="1128712"/>
            <a:chOff x="0" y="0"/>
            <a:chExt cx="4603" cy="711"/>
          </a:xfrm>
        </p:grpSpPr>
        <p:sp>
          <p:nvSpPr>
            <p:cNvPr id="96277" name="Text Box 3"/>
            <p:cNvSpPr txBox="1">
              <a:spLocks noChangeArrowheads="1"/>
            </p:cNvSpPr>
            <p:nvPr/>
          </p:nvSpPr>
          <p:spPr bwMode="auto">
            <a:xfrm>
              <a:off x="0" y="0"/>
              <a:ext cx="460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 smtClean="0">
                  <a:solidFill>
                    <a:srgbClr val="C00000"/>
                  </a:solidFill>
                </a:rPr>
                <a:t>例</a:t>
              </a:r>
              <a:r>
                <a:rPr lang="zh-CN" altLang="en-US" sz="2800" b="1" dirty="0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  </a:t>
              </a:r>
              <a:r>
                <a:rPr lang="zh-CN" altLang="en-US" sz="2800" b="1" dirty="0"/>
                <a:t>判断以下函数是否存在反函数，若存在，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96278" name="Text Box 4"/>
            <p:cNvSpPr txBox="1">
              <a:spLocks noChangeArrowheads="1"/>
            </p:cNvSpPr>
            <p:nvPr/>
          </p:nvSpPr>
          <p:spPr bwMode="auto">
            <a:xfrm>
              <a:off x="576" y="384"/>
              <a:ext cx="37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/>
                <a:t>请写出反函数，否则，请说明理由。</a:t>
              </a:r>
            </a:p>
          </p:txBody>
        </p:sp>
      </p:grpSp>
      <p:grpSp>
        <p:nvGrpSpPr>
          <p:cNvPr id="96260" name="Group 6"/>
          <p:cNvGrpSpPr>
            <a:grpSpLocks/>
          </p:cNvGrpSpPr>
          <p:nvPr/>
        </p:nvGrpSpPr>
        <p:grpSpPr bwMode="auto">
          <a:xfrm>
            <a:off x="898525" y="2528888"/>
            <a:ext cx="4067175" cy="595312"/>
            <a:chOff x="0" y="0"/>
            <a:chExt cx="2562" cy="375"/>
          </a:xfrm>
        </p:grpSpPr>
        <p:grpSp>
          <p:nvGrpSpPr>
            <p:cNvPr id="96272" name="Group 7"/>
            <p:cNvGrpSpPr>
              <a:grpSpLocks/>
            </p:cNvGrpSpPr>
            <p:nvPr/>
          </p:nvGrpSpPr>
          <p:grpSpPr bwMode="auto">
            <a:xfrm>
              <a:off x="0" y="0"/>
              <a:ext cx="2562" cy="375"/>
              <a:chOff x="0" y="0"/>
              <a:chExt cx="2562" cy="375"/>
            </a:xfrm>
          </p:grpSpPr>
          <p:sp>
            <p:nvSpPr>
              <p:cNvPr id="96274" name="Text Box 7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3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b="1">
                    <a:latin typeface="Times New Roman" panose="02020603050405020304" pitchFamily="18" charset="0"/>
                  </a:rPr>
                  <a:t>(3) </a:t>
                </a:r>
              </a:p>
            </p:txBody>
          </p:sp>
          <p:graphicFrame>
            <p:nvGraphicFramePr>
              <p:cNvPr id="96275" name="Object 9"/>
              <p:cNvGraphicFramePr>
                <a:graphicFrameLocks noChangeAspect="1"/>
              </p:cNvGraphicFramePr>
              <p:nvPr/>
            </p:nvGraphicFramePr>
            <p:xfrm>
              <a:off x="422" y="39"/>
              <a:ext cx="1080" cy="3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1681" r:id="rId3" imgW="686694" imgH="203465" progId="Equation.DSMT4">
                      <p:embed/>
                    </p:oleObj>
                  </mc:Choice>
                  <mc:Fallback>
                    <p:oleObj r:id="rId3" imgW="686694" imgH="20346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" y="39"/>
                            <a:ext cx="1080" cy="3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6276" name="Object 10"/>
              <p:cNvGraphicFramePr>
                <a:graphicFrameLocks noChangeAspect="1"/>
              </p:cNvGraphicFramePr>
              <p:nvPr/>
            </p:nvGraphicFramePr>
            <p:xfrm>
              <a:off x="1642" y="19"/>
              <a:ext cx="920" cy="3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1682" r:id="rId5" imgW="584708" imgH="228799" progId="Equation.DSMT4">
                      <p:embed/>
                    </p:oleObj>
                  </mc:Choice>
                  <mc:Fallback>
                    <p:oleObj r:id="rId5" imgW="584708" imgH="228799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42" y="19"/>
                            <a:ext cx="920" cy="3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6273" name="Rectangle 10"/>
            <p:cNvSpPr>
              <a:spLocks noChangeArrowheads="1"/>
            </p:cNvSpPr>
            <p:nvPr/>
          </p:nvSpPr>
          <p:spPr bwMode="auto">
            <a:xfrm>
              <a:off x="1450" y="48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，</a:t>
              </a:r>
            </a:p>
          </p:txBody>
        </p:sp>
      </p:grpSp>
      <p:grpSp>
        <p:nvGrpSpPr>
          <p:cNvPr id="87052" name="Group 12"/>
          <p:cNvGrpSpPr>
            <a:grpSpLocks/>
          </p:cNvGrpSpPr>
          <p:nvPr/>
        </p:nvGrpSpPr>
        <p:grpSpPr bwMode="auto">
          <a:xfrm>
            <a:off x="457200" y="3254375"/>
            <a:ext cx="3113088" cy="525463"/>
            <a:chOff x="0" y="0"/>
            <a:chExt cx="1961" cy="331"/>
          </a:xfrm>
        </p:grpSpPr>
        <p:sp>
          <p:nvSpPr>
            <p:cNvPr id="96269" name="Text Box 12"/>
            <p:cNvSpPr txBox="1">
              <a:spLocks noChangeArrowheads="1"/>
            </p:cNvSpPr>
            <p:nvPr/>
          </p:nvSpPr>
          <p:spPr bwMode="auto">
            <a:xfrm>
              <a:off x="0" y="0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C00000"/>
                  </a:solidFill>
                </a:rPr>
                <a:t>解：</a:t>
              </a:r>
            </a:p>
          </p:txBody>
        </p:sp>
        <p:graphicFrame>
          <p:nvGraphicFramePr>
            <p:cNvPr id="96270" name="Object 14"/>
            <p:cNvGraphicFramePr>
              <a:graphicFrameLocks noChangeAspect="1"/>
            </p:cNvGraphicFramePr>
            <p:nvPr/>
          </p:nvGraphicFramePr>
          <p:xfrm>
            <a:off x="510" y="44"/>
            <a:ext cx="200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683" r:id="rId7" imgW="127221" imgH="178109" progId="Equation.DSMT4">
                    <p:embed/>
                  </p:oleObj>
                </mc:Choice>
                <mc:Fallback>
                  <p:oleObj r:id="rId7" imgW="127221" imgH="17810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" y="44"/>
                          <a:ext cx="200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271" name="Rectangle 14"/>
            <p:cNvSpPr>
              <a:spLocks noChangeArrowheads="1"/>
            </p:cNvSpPr>
            <p:nvPr/>
          </p:nvSpPr>
          <p:spPr bwMode="auto">
            <a:xfrm>
              <a:off x="720" y="4"/>
              <a:ext cx="1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是双射的，</a:t>
              </a:r>
            </a:p>
          </p:txBody>
        </p:sp>
      </p:grpSp>
      <p:grpSp>
        <p:nvGrpSpPr>
          <p:cNvPr id="87056" name="Group 16"/>
          <p:cNvGrpSpPr>
            <a:grpSpLocks/>
          </p:cNvGrpSpPr>
          <p:nvPr/>
        </p:nvGrpSpPr>
        <p:grpSpPr bwMode="auto">
          <a:xfrm>
            <a:off x="1143000" y="3925888"/>
            <a:ext cx="6407150" cy="581025"/>
            <a:chOff x="0" y="0"/>
            <a:chExt cx="4036" cy="366"/>
          </a:xfrm>
        </p:grpSpPr>
        <p:sp>
          <p:nvSpPr>
            <p:cNvPr id="96264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1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存在反函数</a:t>
              </a:r>
            </a:p>
          </p:txBody>
        </p:sp>
        <p:graphicFrame>
          <p:nvGraphicFramePr>
            <p:cNvPr id="96265" name="Object 18"/>
            <p:cNvGraphicFramePr>
              <a:graphicFrameLocks noChangeAspect="1"/>
            </p:cNvGraphicFramePr>
            <p:nvPr/>
          </p:nvGraphicFramePr>
          <p:xfrm>
            <a:off x="1160" y="14"/>
            <a:ext cx="128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684" r:id="rId9" imgW="813153" imgH="203288" progId="Equation.DSMT4">
                    <p:embed/>
                  </p:oleObj>
                </mc:Choice>
                <mc:Fallback>
                  <p:oleObj r:id="rId9" imgW="813153" imgH="20328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0" y="14"/>
                          <a:ext cx="128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266" name="Object 19"/>
            <p:cNvGraphicFramePr>
              <a:graphicFrameLocks noChangeAspect="1"/>
            </p:cNvGraphicFramePr>
            <p:nvPr/>
          </p:nvGraphicFramePr>
          <p:xfrm>
            <a:off x="2544" y="10"/>
            <a:ext cx="1240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685" r:id="rId11" imgW="788084" imgH="228799" progId="Equation.DSMT4">
                    <p:embed/>
                  </p:oleObj>
                </mc:Choice>
                <mc:Fallback>
                  <p:oleObj r:id="rId11" imgW="788084" imgH="22879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10"/>
                          <a:ext cx="1240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267" name="Rectangle 19"/>
            <p:cNvSpPr>
              <a:spLocks noChangeArrowheads="1"/>
            </p:cNvSpPr>
            <p:nvPr/>
          </p:nvSpPr>
          <p:spPr bwMode="auto">
            <a:xfrm>
              <a:off x="3696" y="23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。</a:t>
              </a:r>
            </a:p>
          </p:txBody>
        </p:sp>
        <p:sp>
          <p:nvSpPr>
            <p:cNvPr id="96268" name="Rectangle 20"/>
            <p:cNvSpPr>
              <a:spLocks noChangeArrowheads="1"/>
            </p:cNvSpPr>
            <p:nvPr/>
          </p:nvSpPr>
          <p:spPr bwMode="auto">
            <a:xfrm>
              <a:off x="2352" y="23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430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灯片编号占位符 2"/>
          <p:cNvSpPr txBox="1">
            <a:spLocks noGrp="1"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437EC9E9-D8F8-4590-BA6C-88C75669458B}" type="slidenum">
              <a:rPr lang="en-US" altLang="zh-CN" sz="1200"/>
              <a:pPr algn="ctr" eaLnBrk="1" hangingPunct="1"/>
              <a:t>148</a:t>
            </a:fld>
            <a:endParaRPr lang="en-US" altLang="zh-CN" sz="1200"/>
          </a:p>
        </p:txBody>
      </p:sp>
      <p:graphicFrame>
        <p:nvGraphicFramePr>
          <p:cNvPr id="88067" name="Object 3"/>
          <p:cNvGraphicFramePr>
            <a:graphicFrameLocks noChangeAspect="1"/>
          </p:cNvGraphicFramePr>
          <p:nvPr/>
        </p:nvGraphicFramePr>
        <p:xfrm>
          <a:off x="1042988" y="5310188"/>
          <a:ext cx="2413000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26" r:id="rId3" imgW="966039" imgH="279643" progId="Equation.DSMT4">
                  <p:embed/>
                </p:oleObj>
              </mc:Choice>
              <mc:Fallback>
                <p:oleObj r:id="rId3" imgW="966039" imgH="27964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5310188"/>
                        <a:ext cx="2413000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8" name="Text Box 3"/>
          <p:cNvSpPr txBox="1">
            <a:spLocks noChangeArrowheads="1"/>
          </p:cNvSpPr>
          <p:nvPr/>
        </p:nvSpPr>
        <p:spPr bwMode="auto">
          <a:xfrm>
            <a:off x="3328988" y="5399088"/>
            <a:ext cx="292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不是</a:t>
            </a:r>
            <a:r>
              <a:rPr lang="en-US" altLang="zh-CN" sz="2800" b="1"/>
              <a:t>A</a:t>
            </a:r>
            <a:r>
              <a:rPr lang="zh-CN" altLang="en-US" sz="2800" b="1"/>
              <a:t>到</a:t>
            </a:r>
            <a:r>
              <a:rPr lang="en-US" altLang="zh-CN" sz="2800" b="1"/>
              <a:t>B</a:t>
            </a:r>
            <a:r>
              <a:rPr lang="zh-CN" altLang="en-US" sz="2800" b="1"/>
              <a:t>函数，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88069" name="Group 5"/>
          <p:cNvGrpSpPr>
            <a:grpSpLocks/>
          </p:cNvGrpSpPr>
          <p:nvPr/>
        </p:nvGrpSpPr>
        <p:grpSpPr bwMode="auto">
          <a:xfrm>
            <a:off x="1071563" y="4548188"/>
            <a:ext cx="7543800" cy="690562"/>
            <a:chOff x="0" y="0"/>
            <a:chExt cx="4752" cy="435"/>
          </a:xfrm>
        </p:grpSpPr>
        <p:graphicFrame>
          <p:nvGraphicFramePr>
            <p:cNvPr id="97311" name="Object 6"/>
            <p:cNvGraphicFramePr>
              <a:graphicFrameLocks noChangeAspect="1"/>
            </p:cNvGraphicFramePr>
            <p:nvPr/>
          </p:nvGraphicFramePr>
          <p:xfrm>
            <a:off x="0" y="0"/>
            <a:ext cx="2340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727" r:id="rId5" imgW="1486545" imgH="279521" progId="Equation.DSMT4">
                    <p:embed/>
                  </p:oleObj>
                </mc:Choice>
                <mc:Fallback>
                  <p:oleObj r:id="rId5" imgW="1486545" imgH="27952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340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312" name="Object 7"/>
            <p:cNvGraphicFramePr>
              <a:graphicFrameLocks noChangeAspect="1"/>
            </p:cNvGraphicFramePr>
            <p:nvPr/>
          </p:nvGraphicFramePr>
          <p:xfrm>
            <a:off x="2432" y="0"/>
            <a:ext cx="2320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728" r:id="rId7" imgW="1473840" imgH="279521" progId="Equation.DSMT4">
                    <p:embed/>
                  </p:oleObj>
                </mc:Choice>
                <mc:Fallback>
                  <p:oleObj r:id="rId7" imgW="1473840" imgH="27952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2" y="0"/>
                          <a:ext cx="2320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313" name="Text Box 7"/>
            <p:cNvSpPr txBox="1">
              <a:spLocks noChangeArrowheads="1"/>
            </p:cNvSpPr>
            <p:nvPr/>
          </p:nvSpPr>
          <p:spPr bwMode="auto">
            <a:xfrm>
              <a:off x="2256" y="31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，</a:t>
              </a:r>
            </a:p>
          </p:txBody>
        </p:sp>
      </p:grpSp>
      <p:sp>
        <p:nvSpPr>
          <p:cNvPr id="97286" name="Text Box 8"/>
          <p:cNvSpPr txBox="1">
            <a:spLocks noChangeArrowheads="1"/>
          </p:cNvSpPr>
          <p:nvPr/>
        </p:nvSpPr>
        <p:spPr bwMode="auto">
          <a:xfrm>
            <a:off x="428625" y="1366838"/>
            <a:ext cx="12650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 smtClean="0">
                <a:solidFill>
                  <a:srgbClr val="C00000"/>
                </a:solidFill>
              </a:rPr>
              <a:t>例</a:t>
            </a:r>
            <a:r>
              <a:rPr lang="zh-CN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/>
              <a:t>设</a:t>
            </a:r>
          </a:p>
        </p:txBody>
      </p:sp>
      <p:graphicFrame>
        <p:nvGraphicFramePr>
          <p:cNvPr id="97287" name="Object 10"/>
          <p:cNvGraphicFramePr>
            <a:graphicFrameLocks noChangeAspect="1"/>
          </p:cNvGraphicFramePr>
          <p:nvPr/>
        </p:nvGraphicFramePr>
        <p:xfrm>
          <a:off x="1876425" y="1384300"/>
          <a:ext cx="7620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29" r:id="rId9" imgW="305197" imgH="203465" progId="Equation.DSMT4">
                  <p:embed/>
                </p:oleObj>
              </mc:Choice>
              <mc:Fallback>
                <p:oleObj r:id="rId9" imgW="305197" imgH="20346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425" y="1384300"/>
                        <a:ext cx="7620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8" name="Object 11"/>
          <p:cNvGraphicFramePr>
            <a:graphicFrameLocks noChangeAspect="1"/>
          </p:cNvGraphicFramePr>
          <p:nvPr/>
        </p:nvGraphicFramePr>
        <p:xfrm>
          <a:off x="5548313" y="1384300"/>
          <a:ext cx="15875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30" r:id="rId11" imgW="635552" imgH="203377" progId="Equation.DSMT4">
                  <p:embed/>
                </p:oleObj>
              </mc:Choice>
              <mc:Fallback>
                <p:oleObj r:id="rId11" imgW="635552" imgH="20337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8313" y="1384300"/>
                        <a:ext cx="15875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9" name="Text Box 11"/>
          <p:cNvSpPr txBox="1">
            <a:spLocks noChangeArrowheads="1"/>
          </p:cNvSpPr>
          <p:nvPr/>
        </p:nvSpPr>
        <p:spPr bwMode="auto">
          <a:xfrm>
            <a:off x="2333625" y="1960563"/>
            <a:ext cx="612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是</a:t>
            </a:r>
            <a:r>
              <a:rPr lang="en-US" altLang="zh-CN" sz="2800" b="1"/>
              <a:t>A</a:t>
            </a:r>
            <a:r>
              <a:rPr lang="zh-CN" altLang="en-US" sz="2800" b="1"/>
              <a:t>到</a:t>
            </a:r>
            <a:r>
              <a:rPr lang="en-US" altLang="zh-CN" sz="2800" b="1"/>
              <a:t>B</a:t>
            </a:r>
            <a:r>
              <a:rPr lang="zh-CN" altLang="en-US" sz="2800" b="1"/>
              <a:t>的函数吗？证明或给予反驳。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97290" name="Object 13"/>
          <p:cNvGraphicFramePr>
            <a:graphicFrameLocks noChangeAspect="1"/>
          </p:cNvGraphicFramePr>
          <p:nvPr/>
        </p:nvGraphicFramePr>
        <p:xfrm>
          <a:off x="428625" y="1993900"/>
          <a:ext cx="20002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31" r:id="rId13" imgW="800447" imgH="203288" progId="Equation.DSMT4">
                  <p:embed/>
                </p:oleObj>
              </mc:Choice>
              <mc:Fallback>
                <p:oleObj r:id="rId13" imgW="800447" imgH="20328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1993900"/>
                        <a:ext cx="200025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91" name="Rectangle 13"/>
          <p:cNvSpPr>
            <a:spLocks noChangeArrowheads="1"/>
          </p:cNvSpPr>
          <p:nvPr/>
        </p:nvSpPr>
        <p:spPr bwMode="auto">
          <a:xfrm>
            <a:off x="7032625" y="1366838"/>
            <a:ext cx="895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，则</a:t>
            </a:r>
          </a:p>
        </p:txBody>
      </p:sp>
      <p:sp>
        <p:nvSpPr>
          <p:cNvPr id="97292" name="Rectangle 14"/>
          <p:cNvSpPr>
            <a:spLocks noChangeArrowheads="1"/>
          </p:cNvSpPr>
          <p:nvPr/>
        </p:nvSpPr>
        <p:spPr bwMode="auto">
          <a:xfrm>
            <a:off x="2527300" y="1387475"/>
            <a:ext cx="3187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是</a:t>
            </a:r>
            <a:r>
              <a:rPr lang="en-US" altLang="zh-CN" sz="2800" b="1"/>
              <a:t>A</a:t>
            </a:r>
            <a:r>
              <a:rPr lang="zh-CN" altLang="en-US" sz="2800" b="1"/>
              <a:t>到</a:t>
            </a:r>
            <a:r>
              <a:rPr lang="en-US" altLang="zh-CN" sz="2800" b="1"/>
              <a:t>B</a:t>
            </a:r>
            <a:r>
              <a:rPr lang="zh-CN" altLang="en-US" sz="2800" b="1"/>
              <a:t>的函数，且</a:t>
            </a:r>
          </a:p>
        </p:txBody>
      </p:sp>
      <p:grpSp>
        <p:nvGrpSpPr>
          <p:cNvPr id="88080" name="Group 16"/>
          <p:cNvGrpSpPr>
            <a:grpSpLocks/>
          </p:cNvGrpSpPr>
          <p:nvPr/>
        </p:nvGrpSpPr>
        <p:grpSpPr bwMode="auto">
          <a:xfrm>
            <a:off x="428625" y="2625725"/>
            <a:ext cx="6489700" cy="561975"/>
            <a:chOff x="0" y="0"/>
            <a:chExt cx="4088" cy="354"/>
          </a:xfrm>
        </p:grpSpPr>
        <p:sp>
          <p:nvSpPr>
            <p:cNvPr id="97308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C00000"/>
                  </a:solidFill>
                </a:rPr>
                <a:t>解：</a:t>
              </a:r>
            </a:p>
          </p:txBody>
        </p:sp>
        <p:graphicFrame>
          <p:nvGraphicFramePr>
            <p:cNvPr id="97309" name="Object 18"/>
            <p:cNvGraphicFramePr>
              <a:graphicFrameLocks noChangeAspect="1"/>
            </p:cNvGraphicFramePr>
            <p:nvPr/>
          </p:nvGraphicFramePr>
          <p:xfrm>
            <a:off x="480" y="34"/>
            <a:ext cx="126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732" r:id="rId15" imgW="800447" imgH="203288" progId="Equation.DSMT4">
                    <p:embed/>
                  </p:oleObj>
                </mc:Choice>
                <mc:Fallback>
                  <p:oleObj r:id="rId15" imgW="800447" imgH="20328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34"/>
                          <a:ext cx="126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310" name="Rectangle 18"/>
            <p:cNvSpPr>
              <a:spLocks noChangeArrowheads="1"/>
            </p:cNvSpPr>
            <p:nvPr/>
          </p:nvSpPr>
          <p:spPr bwMode="auto">
            <a:xfrm>
              <a:off x="1632" y="27"/>
              <a:ext cx="24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都不一定是</a:t>
              </a:r>
              <a:r>
                <a:rPr lang="en-US" altLang="zh-CN" sz="2800" b="1"/>
                <a:t>A</a:t>
              </a:r>
              <a:r>
                <a:rPr lang="zh-CN" altLang="en-US" sz="2800" b="1"/>
                <a:t>到</a:t>
              </a:r>
              <a:r>
                <a:rPr lang="en-US" altLang="zh-CN" sz="2800" b="1"/>
                <a:t>B</a:t>
              </a:r>
              <a:r>
                <a:rPr lang="zh-CN" altLang="en-US" sz="2800" b="1"/>
                <a:t>函数。</a:t>
              </a:r>
            </a:p>
          </p:txBody>
        </p:sp>
      </p:grpSp>
      <p:grpSp>
        <p:nvGrpSpPr>
          <p:cNvPr id="88084" name="Group 20"/>
          <p:cNvGrpSpPr>
            <a:grpSpLocks/>
          </p:cNvGrpSpPr>
          <p:nvPr/>
        </p:nvGrpSpPr>
        <p:grpSpPr bwMode="auto">
          <a:xfrm>
            <a:off x="1042988" y="3316288"/>
            <a:ext cx="4730750" cy="627062"/>
            <a:chOff x="0" y="0"/>
            <a:chExt cx="2980" cy="395"/>
          </a:xfrm>
        </p:grpSpPr>
        <p:sp>
          <p:nvSpPr>
            <p:cNvPr id="97303" name="Text Box 20"/>
            <p:cNvSpPr txBox="1">
              <a:spLocks noChangeArrowheads="1"/>
            </p:cNvSpPr>
            <p:nvPr/>
          </p:nvSpPr>
          <p:spPr bwMode="auto">
            <a:xfrm>
              <a:off x="0" y="20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设</a:t>
              </a:r>
            </a:p>
          </p:txBody>
        </p:sp>
        <p:graphicFrame>
          <p:nvGraphicFramePr>
            <p:cNvPr id="97304" name="Object 22"/>
            <p:cNvGraphicFramePr>
              <a:graphicFrameLocks noChangeAspect="1"/>
            </p:cNvGraphicFramePr>
            <p:nvPr/>
          </p:nvGraphicFramePr>
          <p:xfrm>
            <a:off x="288" y="0"/>
            <a:ext cx="114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733" r:id="rId16" imgW="724214" imgH="254110" progId="Equation.DSMT4">
                    <p:embed/>
                  </p:oleObj>
                </mc:Choice>
                <mc:Fallback>
                  <p:oleObj r:id="rId16" imgW="724214" imgH="25411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0"/>
                          <a:ext cx="1140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305" name="Object 23"/>
            <p:cNvGraphicFramePr>
              <a:graphicFrameLocks noChangeAspect="1"/>
            </p:cNvGraphicFramePr>
            <p:nvPr/>
          </p:nvGraphicFramePr>
          <p:xfrm>
            <a:off x="1536" y="0"/>
            <a:ext cx="120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734" r:id="rId18" imgW="762331" imgH="254110" progId="Equation.DSMT4">
                    <p:embed/>
                  </p:oleObj>
                </mc:Choice>
                <mc:Fallback>
                  <p:oleObj r:id="rId18" imgW="762331" imgH="25411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0"/>
                          <a:ext cx="1200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306" name="Rectangle 23"/>
            <p:cNvSpPr>
              <a:spLocks noChangeArrowheads="1"/>
            </p:cNvSpPr>
            <p:nvPr/>
          </p:nvSpPr>
          <p:spPr bwMode="auto">
            <a:xfrm>
              <a:off x="2640" y="20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。</a:t>
              </a:r>
            </a:p>
          </p:txBody>
        </p:sp>
        <p:sp>
          <p:nvSpPr>
            <p:cNvPr id="97307" name="Rectangle 24"/>
            <p:cNvSpPr>
              <a:spLocks noChangeArrowheads="1"/>
            </p:cNvSpPr>
            <p:nvPr/>
          </p:nvSpPr>
          <p:spPr bwMode="auto">
            <a:xfrm>
              <a:off x="1344" y="11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，</a:t>
              </a:r>
            </a:p>
          </p:txBody>
        </p:sp>
      </p:grpSp>
      <p:grpSp>
        <p:nvGrpSpPr>
          <p:cNvPr id="88090" name="Group 26"/>
          <p:cNvGrpSpPr>
            <a:grpSpLocks/>
          </p:cNvGrpSpPr>
          <p:nvPr/>
        </p:nvGrpSpPr>
        <p:grpSpPr bwMode="auto">
          <a:xfrm>
            <a:off x="1122363" y="3930650"/>
            <a:ext cx="4064000" cy="546100"/>
            <a:chOff x="0" y="0"/>
            <a:chExt cx="2560" cy="344"/>
          </a:xfrm>
        </p:grpSpPr>
        <p:sp>
          <p:nvSpPr>
            <p:cNvPr id="97297" name="Text Box 26"/>
            <p:cNvSpPr txBox="1">
              <a:spLocks noChangeArrowheads="1"/>
            </p:cNvSpPr>
            <p:nvPr/>
          </p:nvSpPr>
          <p:spPr bwMode="auto">
            <a:xfrm>
              <a:off x="384" y="0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是从</a:t>
              </a:r>
            </a:p>
          </p:txBody>
        </p:sp>
        <p:graphicFrame>
          <p:nvGraphicFramePr>
            <p:cNvPr id="97298" name="Object 28"/>
            <p:cNvGraphicFramePr>
              <a:graphicFrameLocks noChangeAspect="1"/>
            </p:cNvGraphicFramePr>
            <p:nvPr/>
          </p:nvGraphicFramePr>
          <p:xfrm>
            <a:off x="0" y="25"/>
            <a:ext cx="48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735" r:id="rId20" imgW="305197" imgH="203465" progId="Equation.DSMT4">
                    <p:embed/>
                  </p:oleObj>
                </mc:Choice>
                <mc:Fallback>
                  <p:oleObj r:id="rId20" imgW="305197" imgH="20346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5"/>
                          <a:ext cx="48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299" name="Object 29"/>
            <p:cNvGraphicFramePr>
              <a:graphicFrameLocks noChangeAspect="1"/>
            </p:cNvGraphicFramePr>
            <p:nvPr/>
          </p:nvGraphicFramePr>
          <p:xfrm>
            <a:off x="912" y="53"/>
            <a:ext cx="24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736" r:id="rId21" imgW="152864" imgH="165603" progId="Equation.DSMT4">
                    <p:embed/>
                  </p:oleObj>
                </mc:Choice>
                <mc:Fallback>
                  <p:oleObj r:id="rId21" imgW="152864" imgH="16560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53"/>
                          <a:ext cx="24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300" name="Object 30"/>
            <p:cNvGraphicFramePr>
              <a:graphicFrameLocks noChangeAspect="1"/>
            </p:cNvGraphicFramePr>
            <p:nvPr/>
          </p:nvGraphicFramePr>
          <p:xfrm>
            <a:off x="1344" y="56"/>
            <a:ext cx="24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737" r:id="rId23" imgW="152864" imgH="165603" progId="Equation.DSMT4">
                    <p:embed/>
                  </p:oleObj>
                </mc:Choice>
                <mc:Fallback>
                  <p:oleObj r:id="rId23" imgW="152864" imgH="16560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56"/>
                          <a:ext cx="24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301" name="Rectangle 30"/>
            <p:cNvSpPr>
              <a:spLocks noChangeArrowheads="1"/>
            </p:cNvSpPr>
            <p:nvPr/>
          </p:nvSpPr>
          <p:spPr bwMode="auto">
            <a:xfrm>
              <a:off x="1488" y="17"/>
              <a:ext cx="10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的函数，</a:t>
              </a:r>
              <a:r>
                <a:rPr lang="zh-CN" altLang="en-US" sz="2800" b="1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97302" name="Rectangle 31"/>
            <p:cNvSpPr>
              <a:spLocks noChangeArrowheads="1"/>
            </p:cNvSpPr>
            <p:nvPr/>
          </p:nvSpPr>
          <p:spPr bwMode="auto">
            <a:xfrm>
              <a:off x="1056" y="8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到</a:t>
              </a:r>
            </a:p>
          </p:txBody>
        </p:sp>
      </p:grpSp>
      <p:sp>
        <p:nvSpPr>
          <p:cNvPr id="97296" name="Rectangle 2"/>
          <p:cNvSpPr txBox="1">
            <a:spLocks noChangeArrowheads="1"/>
          </p:cNvSpPr>
          <p:nvPr/>
        </p:nvSpPr>
        <p:spPr bwMode="auto">
          <a:xfrm>
            <a:off x="0" y="28575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200" b="1">
                <a:solidFill>
                  <a:schemeClr val="tx2"/>
                </a:solidFill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5209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8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8" grpId="0" build="p" autoUpdateAnimBg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灯片编号占位符 2"/>
          <p:cNvSpPr txBox="1">
            <a:spLocks noGrp="1"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2A139FC9-8AC7-48AA-A630-A8FF2C7192EE}" type="slidenum">
              <a:rPr lang="en-US" altLang="zh-CN" sz="1200"/>
              <a:pPr algn="ctr" eaLnBrk="1" hangingPunct="1"/>
              <a:t>149</a:t>
            </a:fld>
            <a:endParaRPr lang="en-US" altLang="zh-CN" sz="1200"/>
          </a:p>
        </p:txBody>
      </p:sp>
      <p:graphicFrame>
        <p:nvGraphicFramePr>
          <p:cNvPr id="98307" name="Object 3"/>
          <p:cNvGraphicFramePr>
            <a:graphicFrameLocks noChangeAspect="1"/>
          </p:cNvGraphicFramePr>
          <p:nvPr/>
        </p:nvGraphicFramePr>
        <p:xfrm>
          <a:off x="957263" y="3351213"/>
          <a:ext cx="6223000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38" r:id="rId3" imgW="2490281" imgH="279521" progId="Equation.DSMT4">
                  <p:embed/>
                </p:oleObj>
              </mc:Choice>
              <mc:Fallback>
                <p:oleObj r:id="rId3" imgW="2490281" imgH="27952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263" y="3351213"/>
                        <a:ext cx="6223000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2" name="Text Box 3"/>
          <p:cNvSpPr txBox="1">
            <a:spLocks noChangeArrowheads="1"/>
          </p:cNvSpPr>
          <p:nvPr/>
        </p:nvSpPr>
        <p:spPr bwMode="auto">
          <a:xfrm>
            <a:off x="881063" y="4056063"/>
            <a:ext cx="2416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也不是函数。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98309" name="Group 5"/>
          <p:cNvGrpSpPr>
            <a:grpSpLocks/>
          </p:cNvGrpSpPr>
          <p:nvPr/>
        </p:nvGrpSpPr>
        <p:grpSpPr bwMode="auto">
          <a:xfrm>
            <a:off x="957263" y="2589213"/>
            <a:ext cx="7543800" cy="690562"/>
            <a:chOff x="0" y="0"/>
            <a:chExt cx="4752" cy="435"/>
          </a:xfrm>
        </p:grpSpPr>
        <p:graphicFrame>
          <p:nvGraphicFramePr>
            <p:cNvPr id="98323" name="Object 6"/>
            <p:cNvGraphicFramePr>
              <a:graphicFrameLocks noChangeAspect="1"/>
            </p:cNvGraphicFramePr>
            <p:nvPr/>
          </p:nvGraphicFramePr>
          <p:xfrm>
            <a:off x="0" y="0"/>
            <a:ext cx="2340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739" r:id="rId5" imgW="1486545" imgH="279521" progId="Equation.DSMT4">
                    <p:embed/>
                  </p:oleObj>
                </mc:Choice>
                <mc:Fallback>
                  <p:oleObj r:id="rId5" imgW="1486545" imgH="27952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340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324" name="Object 7"/>
            <p:cNvGraphicFramePr>
              <a:graphicFrameLocks noChangeAspect="1"/>
            </p:cNvGraphicFramePr>
            <p:nvPr/>
          </p:nvGraphicFramePr>
          <p:xfrm>
            <a:off x="2432" y="0"/>
            <a:ext cx="2320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740" r:id="rId7" imgW="1473840" imgH="279521" progId="Equation.DSMT4">
                    <p:embed/>
                  </p:oleObj>
                </mc:Choice>
                <mc:Fallback>
                  <p:oleObj r:id="rId7" imgW="1473840" imgH="27952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2" y="0"/>
                          <a:ext cx="2320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325" name="Text Box 7"/>
            <p:cNvSpPr txBox="1">
              <a:spLocks noChangeArrowheads="1"/>
            </p:cNvSpPr>
            <p:nvPr/>
          </p:nvSpPr>
          <p:spPr bwMode="auto">
            <a:xfrm>
              <a:off x="2256" y="31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，</a:t>
              </a:r>
            </a:p>
          </p:txBody>
        </p:sp>
      </p:grpSp>
      <p:grpSp>
        <p:nvGrpSpPr>
          <p:cNvPr id="98310" name="Group 9"/>
          <p:cNvGrpSpPr>
            <a:grpSpLocks/>
          </p:cNvGrpSpPr>
          <p:nvPr/>
        </p:nvGrpSpPr>
        <p:grpSpPr bwMode="auto">
          <a:xfrm>
            <a:off x="881063" y="1357313"/>
            <a:ext cx="4730750" cy="627062"/>
            <a:chOff x="0" y="0"/>
            <a:chExt cx="2980" cy="395"/>
          </a:xfrm>
        </p:grpSpPr>
        <p:sp>
          <p:nvSpPr>
            <p:cNvPr id="98318" name="Text Box 21"/>
            <p:cNvSpPr txBox="1">
              <a:spLocks noChangeArrowheads="1"/>
            </p:cNvSpPr>
            <p:nvPr/>
          </p:nvSpPr>
          <p:spPr bwMode="auto">
            <a:xfrm>
              <a:off x="0" y="20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设</a:t>
              </a:r>
            </a:p>
          </p:txBody>
        </p:sp>
        <p:graphicFrame>
          <p:nvGraphicFramePr>
            <p:cNvPr id="98319" name="Object 11"/>
            <p:cNvGraphicFramePr>
              <a:graphicFrameLocks noChangeAspect="1"/>
            </p:cNvGraphicFramePr>
            <p:nvPr/>
          </p:nvGraphicFramePr>
          <p:xfrm>
            <a:off x="288" y="0"/>
            <a:ext cx="114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741" r:id="rId9" imgW="724214" imgH="254110" progId="Equation.DSMT4">
                    <p:embed/>
                  </p:oleObj>
                </mc:Choice>
                <mc:Fallback>
                  <p:oleObj r:id="rId9" imgW="724214" imgH="25411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0"/>
                          <a:ext cx="1140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320" name="Object 12"/>
            <p:cNvGraphicFramePr>
              <a:graphicFrameLocks noChangeAspect="1"/>
            </p:cNvGraphicFramePr>
            <p:nvPr/>
          </p:nvGraphicFramePr>
          <p:xfrm>
            <a:off x="1536" y="0"/>
            <a:ext cx="120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742" r:id="rId11" imgW="762331" imgH="254110" progId="Equation.DSMT4">
                    <p:embed/>
                  </p:oleObj>
                </mc:Choice>
                <mc:Fallback>
                  <p:oleObj r:id="rId11" imgW="762331" imgH="25411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0"/>
                          <a:ext cx="1200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321" name="Rectangle 24"/>
            <p:cNvSpPr>
              <a:spLocks noChangeArrowheads="1"/>
            </p:cNvSpPr>
            <p:nvPr/>
          </p:nvSpPr>
          <p:spPr bwMode="auto">
            <a:xfrm>
              <a:off x="2640" y="20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。</a:t>
              </a:r>
            </a:p>
          </p:txBody>
        </p:sp>
        <p:sp>
          <p:nvSpPr>
            <p:cNvPr id="98322" name="Rectangle 25"/>
            <p:cNvSpPr>
              <a:spLocks noChangeArrowheads="1"/>
            </p:cNvSpPr>
            <p:nvPr/>
          </p:nvSpPr>
          <p:spPr bwMode="auto">
            <a:xfrm>
              <a:off x="1344" y="11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，</a:t>
              </a:r>
            </a:p>
          </p:txBody>
        </p:sp>
      </p:grpSp>
      <p:grpSp>
        <p:nvGrpSpPr>
          <p:cNvPr id="98311" name="Group 15"/>
          <p:cNvGrpSpPr>
            <a:grpSpLocks/>
          </p:cNvGrpSpPr>
          <p:nvPr/>
        </p:nvGrpSpPr>
        <p:grpSpPr bwMode="auto">
          <a:xfrm>
            <a:off x="957263" y="1971675"/>
            <a:ext cx="4064000" cy="546100"/>
            <a:chOff x="0" y="0"/>
            <a:chExt cx="2560" cy="344"/>
          </a:xfrm>
        </p:grpSpPr>
        <p:sp>
          <p:nvSpPr>
            <p:cNvPr id="98312" name="Text Box 27"/>
            <p:cNvSpPr txBox="1">
              <a:spLocks noChangeArrowheads="1"/>
            </p:cNvSpPr>
            <p:nvPr/>
          </p:nvSpPr>
          <p:spPr bwMode="auto">
            <a:xfrm>
              <a:off x="384" y="0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是从</a:t>
              </a:r>
            </a:p>
          </p:txBody>
        </p:sp>
        <p:graphicFrame>
          <p:nvGraphicFramePr>
            <p:cNvPr id="98313" name="Object 17"/>
            <p:cNvGraphicFramePr>
              <a:graphicFrameLocks noChangeAspect="1"/>
            </p:cNvGraphicFramePr>
            <p:nvPr/>
          </p:nvGraphicFramePr>
          <p:xfrm>
            <a:off x="0" y="25"/>
            <a:ext cx="48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743" r:id="rId13" imgW="305197" imgH="203465" progId="Equation.DSMT4">
                    <p:embed/>
                  </p:oleObj>
                </mc:Choice>
                <mc:Fallback>
                  <p:oleObj r:id="rId13" imgW="305197" imgH="20346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5"/>
                          <a:ext cx="48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314" name="Object 18"/>
            <p:cNvGraphicFramePr>
              <a:graphicFrameLocks noChangeAspect="1"/>
            </p:cNvGraphicFramePr>
            <p:nvPr/>
          </p:nvGraphicFramePr>
          <p:xfrm>
            <a:off x="912" y="53"/>
            <a:ext cx="24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744" r:id="rId15" imgW="152864" imgH="165603" progId="Equation.DSMT4">
                    <p:embed/>
                  </p:oleObj>
                </mc:Choice>
                <mc:Fallback>
                  <p:oleObj r:id="rId15" imgW="152864" imgH="16560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53"/>
                          <a:ext cx="24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315" name="Object 19"/>
            <p:cNvGraphicFramePr>
              <a:graphicFrameLocks noChangeAspect="1"/>
            </p:cNvGraphicFramePr>
            <p:nvPr/>
          </p:nvGraphicFramePr>
          <p:xfrm>
            <a:off x="1344" y="56"/>
            <a:ext cx="24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745" r:id="rId17" imgW="152864" imgH="165603" progId="Equation.DSMT4">
                    <p:embed/>
                  </p:oleObj>
                </mc:Choice>
                <mc:Fallback>
                  <p:oleObj r:id="rId17" imgW="152864" imgH="16560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56"/>
                          <a:ext cx="24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316" name="Rectangle 31"/>
            <p:cNvSpPr>
              <a:spLocks noChangeArrowheads="1"/>
            </p:cNvSpPr>
            <p:nvPr/>
          </p:nvSpPr>
          <p:spPr bwMode="auto">
            <a:xfrm>
              <a:off x="1488" y="17"/>
              <a:ext cx="10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的函数，</a:t>
              </a:r>
              <a:r>
                <a:rPr lang="zh-CN" altLang="en-US" sz="2800" b="1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98317" name="Rectangle 32"/>
            <p:cNvSpPr>
              <a:spLocks noChangeArrowheads="1"/>
            </p:cNvSpPr>
            <p:nvPr/>
          </p:nvSpPr>
          <p:spPr bwMode="auto">
            <a:xfrm>
              <a:off x="1056" y="8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873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2" grpId="0" build="p" autoUpdateAnimBg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灯片编号占位符 2"/>
          <p:cNvSpPr txBox="1">
            <a:spLocks noGrp="1" noChangeArrowheads="1"/>
          </p:cNvSpPr>
          <p:nvPr/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574B2D2A-5D7A-4A20-9834-C4B7C2A54432}" type="slidenum">
              <a:rPr lang="en-US" altLang="zh-CN" sz="1200"/>
              <a:pPr algn="ctr" eaLnBrk="1" hangingPunct="1"/>
              <a:t>150</a:t>
            </a:fld>
            <a:endParaRPr lang="en-US" altLang="zh-CN" sz="1200"/>
          </a:p>
        </p:txBody>
      </p:sp>
      <p:grpSp>
        <p:nvGrpSpPr>
          <p:cNvPr id="99331" name="Group 3"/>
          <p:cNvGrpSpPr>
            <a:grpSpLocks/>
          </p:cNvGrpSpPr>
          <p:nvPr/>
        </p:nvGrpSpPr>
        <p:grpSpPr bwMode="auto">
          <a:xfrm>
            <a:off x="457200" y="1385888"/>
            <a:ext cx="7035800" cy="1133475"/>
            <a:chOff x="0" y="0"/>
            <a:chExt cx="4432" cy="714"/>
          </a:xfrm>
        </p:grpSpPr>
        <p:sp>
          <p:nvSpPr>
            <p:cNvPr id="99349" name="Text Box 3"/>
            <p:cNvSpPr txBox="1">
              <a:spLocks noChangeArrowheads="1"/>
            </p:cNvSpPr>
            <p:nvPr/>
          </p:nvSpPr>
          <p:spPr bwMode="auto">
            <a:xfrm>
              <a:off x="0" y="0"/>
              <a:ext cx="443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 smtClean="0">
                  <a:solidFill>
                    <a:srgbClr val="C00000"/>
                  </a:solidFill>
                </a:rPr>
                <a:t>例</a:t>
              </a:r>
              <a:r>
                <a:rPr lang="zh-CN" altLang="en-US" sz="2800" b="1" dirty="0" smtClean="0">
                  <a:solidFill>
                    <a:srgbClr val="C00000"/>
                  </a:solidFill>
                  <a:latin typeface="Times New Roman" panose="02020603050405020304" pitchFamily="18" charset="0"/>
                </a:rPr>
                <a:t>   </a:t>
              </a:r>
              <a:r>
                <a:rPr lang="zh-CN" altLang="en-US" sz="2800" b="1" dirty="0"/>
                <a:t>说明以下函数是否单射、满射、双射。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99350" name="Text Box 4"/>
            <p:cNvSpPr txBox="1">
              <a:spLocks noChangeArrowheads="1"/>
            </p:cNvSpPr>
            <p:nvPr/>
          </p:nvSpPr>
          <p:spPr bwMode="auto">
            <a:xfrm>
              <a:off x="672" y="384"/>
              <a:ext cx="279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  若是双射，给出逆函数。</a:t>
              </a:r>
              <a:r>
                <a:rPr lang="zh-CN" altLang="en-US" sz="2800" b="1">
                  <a:latin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90118" name="Group 6"/>
          <p:cNvGrpSpPr>
            <a:grpSpLocks/>
          </p:cNvGrpSpPr>
          <p:nvPr/>
        </p:nvGrpSpPr>
        <p:grpSpPr bwMode="auto">
          <a:xfrm>
            <a:off x="1192213" y="2590800"/>
            <a:ext cx="3736975" cy="563563"/>
            <a:chOff x="0" y="0"/>
            <a:chExt cx="2354" cy="355"/>
          </a:xfrm>
        </p:grpSpPr>
        <p:sp>
          <p:nvSpPr>
            <p:cNvPr id="99347" name="Text Box 6"/>
            <p:cNvSpPr txBox="1">
              <a:spLocks noChangeArrowheads="1"/>
            </p:cNvSpPr>
            <p:nvPr/>
          </p:nvSpPr>
          <p:spPr bwMode="auto">
            <a:xfrm>
              <a:off x="0" y="0"/>
              <a:ext cx="43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(1) </a:t>
              </a:r>
            </a:p>
          </p:txBody>
        </p:sp>
        <p:graphicFrame>
          <p:nvGraphicFramePr>
            <p:cNvPr id="99348" name="Object 8"/>
            <p:cNvGraphicFramePr>
              <a:graphicFrameLocks noChangeAspect="1"/>
            </p:cNvGraphicFramePr>
            <p:nvPr/>
          </p:nvGraphicFramePr>
          <p:xfrm>
            <a:off x="394" y="39"/>
            <a:ext cx="196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4753" r:id="rId3" imgW="1245681" imgH="203377" progId="Equation.DSMT4">
                    <p:embed/>
                  </p:oleObj>
                </mc:Choice>
                <mc:Fallback>
                  <p:oleObj r:id="rId3" imgW="1245681" imgH="20337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" y="39"/>
                          <a:ext cx="196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0121" name="Text Box 8"/>
          <p:cNvSpPr txBox="1">
            <a:spLocks noChangeArrowheads="1"/>
          </p:cNvSpPr>
          <p:nvPr/>
        </p:nvSpPr>
        <p:spPr bwMode="auto">
          <a:xfrm>
            <a:off x="457200" y="3267075"/>
            <a:ext cx="2416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C00000"/>
                </a:solidFill>
              </a:rPr>
              <a:t>解：</a:t>
            </a:r>
            <a:r>
              <a:rPr lang="zh-CN" altLang="en-US" sz="2800" b="1"/>
              <a:t>是双射，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90122" name="Group 10"/>
          <p:cNvGrpSpPr>
            <a:grpSpLocks/>
          </p:cNvGrpSpPr>
          <p:nvPr/>
        </p:nvGrpSpPr>
        <p:grpSpPr bwMode="auto">
          <a:xfrm>
            <a:off x="2590800" y="3254375"/>
            <a:ext cx="2444750" cy="587375"/>
            <a:chOff x="0" y="0"/>
            <a:chExt cx="1540" cy="370"/>
          </a:xfrm>
        </p:grpSpPr>
        <p:sp>
          <p:nvSpPr>
            <p:cNvPr id="99345" name="Text Box 10"/>
            <p:cNvSpPr txBox="1">
              <a:spLocks noChangeArrowheads="1"/>
            </p:cNvSpPr>
            <p:nvPr/>
          </p:nvSpPr>
          <p:spPr bwMode="auto">
            <a:xfrm>
              <a:off x="0" y="0"/>
              <a:ext cx="7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逆函数</a:t>
              </a:r>
            </a:p>
          </p:txBody>
        </p:sp>
        <p:graphicFrame>
          <p:nvGraphicFramePr>
            <p:cNvPr id="99346" name="Object 12"/>
            <p:cNvGraphicFramePr>
              <a:graphicFrameLocks noChangeAspect="1"/>
            </p:cNvGraphicFramePr>
            <p:nvPr/>
          </p:nvGraphicFramePr>
          <p:xfrm>
            <a:off x="720" y="14"/>
            <a:ext cx="820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4754" r:id="rId5" imgW="521379" imgH="228898" progId="Equation.DSMT4">
                    <p:embed/>
                  </p:oleObj>
                </mc:Choice>
                <mc:Fallback>
                  <p:oleObj r:id="rId5" imgW="521379" imgH="22889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4"/>
                          <a:ext cx="820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0125" name="Text Box 12"/>
          <p:cNvSpPr txBox="1">
            <a:spLocks noChangeArrowheads="1"/>
          </p:cNvSpPr>
          <p:nvPr/>
        </p:nvSpPr>
        <p:spPr bwMode="auto">
          <a:xfrm>
            <a:off x="457200" y="4749800"/>
            <a:ext cx="2416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C00000"/>
                </a:solidFill>
              </a:rPr>
              <a:t>解：</a:t>
            </a:r>
            <a:r>
              <a:rPr lang="zh-CN" altLang="en-US" sz="2800" b="1"/>
              <a:t>是双射，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90126" name="Group 14"/>
          <p:cNvGrpSpPr>
            <a:grpSpLocks/>
          </p:cNvGrpSpPr>
          <p:nvPr/>
        </p:nvGrpSpPr>
        <p:grpSpPr bwMode="auto">
          <a:xfrm>
            <a:off x="2590800" y="4572000"/>
            <a:ext cx="4572000" cy="941388"/>
            <a:chOff x="0" y="0"/>
            <a:chExt cx="2880" cy="593"/>
          </a:xfrm>
        </p:grpSpPr>
        <p:sp>
          <p:nvSpPr>
            <p:cNvPr id="99343" name="Text Box 14"/>
            <p:cNvSpPr txBox="1">
              <a:spLocks noChangeArrowheads="1"/>
            </p:cNvSpPr>
            <p:nvPr/>
          </p:nvSpPr>
          <p:spPr bwMode="auto">
            <a:xfrm>
              <a:off x="0" y="104"/>
              <a:ext cx="7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逆函数</a:t>
              </a:r>
            </a:p>
          </p:txBody>
        </p:sp>
        <p:graphicFrame>
          <p:nvGraphicFramePr>
            <p:cNvPr id="99344" name="Object 16"/>
            <p:cNvGraphicFramePr>
              <a:graphicFrameLocks noChangeAspect="1"/>
            </p:cNvGraphicFramePr>
            <p:nvPr/>
          </p:nvGraphicFramePr>
          <p:xfrm>
            <a:off x="740" y="0"/>
            <a:ext cx="2140" cy="5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4755" r:id="rId7" imgW="1359490" imgH="381165" progId="Equation.DSMT4">
                    <p:embed/>
                  </p:oleObj>
                </mc:Choice>
                <mc:Fallback>
                  <p:oleObj r:id="rId7" imgW="1359490" imgH="38116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0" y="0"/>
                          <a:ext cx="2140" cy="5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0129" name="Group 17"/>
          <p:cNvGrpSpPr>
            <a:grpSpLocks/>
          </p:cNvGrpSpPr>
          <p:nvPr/>
        </p:nvGrpSpPr>
        <p:grpSpPr bwMode="auto">
          <a:xfrm>
            <a:off x="911225" y="3930650"/>
            <a:ext cx="5381625" cy="565150"/>
            <a:chOff x="0" y="0"/>
            <a:chExt cx="3390" cy="356"/>
          </a:xfrm>
        </p:grpSpPr>
        <p:sp>
          <p:nvSpPr>
            <p:cNvPr id="99339" name="Text Box 17"/>
            <p:cNvSpPr txBox="1">
              <a:spLocks noChangeArrowheads="1"/>
            </p:cNvSpPr>
            <p:nvPr/>
          </p:nvSpPr>
          <p:spPr bwMode="auto">
            <a:xfrm>
              <a:off x="0" y="0"/>
              <a:ext cx="43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(2) </a:t>
              </a:r>
            </a:p>
          </p:txBody>
        </p:sp>
        <p:graphicFrame>
          <p:nvGraphicFramePr>
            <p:cNvPr id="99340" name="Object 19"/>
            <p:cNvGraphicFramePr>
              <a:graphicFrameLocks noChangeAspect="1"/>
            </p:cNvGraphicFramePr>
            <p:nvPr/>
          </p:nvGraphicFramePr>
          <p:xfrm>
            <a:off x="386" y="40"/>
            <a:ext cx="106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4756" r:id="rId9" imgW="673685" imgH="203377" progId="Equation.DSMT4">
                    <p:embed/>
                  </p:oleObj>
                </mc:Choice>
                <mc:Fallback>
                  <p:oleObj r:id="rId9" imgW="673685" imgH="20337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" y="40"/>
                          <a:ext cx="106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41" name="Text Box 19"/>
            <p:cNvSpPr txBox="1">
              <a:spLocks noChangeArrowheads="1"/>
            </p:cNvSpPr>
            <p:nvPr/>
          </p:nvSpPr>
          <p:spPr bwMode="auto">
            <a:xfrm>
              <a:off x="1392" y="0"/>
              <a:ext cx="122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(</a:t>
              </a:r>
              <a:r>
                <a:rPr lang="zh-CN" altLang="en-US" sz="2800" b="1"/>
                <a:t>偶数集</a:t>
              </a:r>
              <a:r>
                <a:rPr lang="en-US" altLang="zh-CN" sz="2800" b="1">
                  <a:latin typeface="Times New Roman" panose="02020603050405020304" pitchFamily="18" charset="0"/>
                </a:rPr>
                <a:t>)</a:t>
              </a:r>
              <a:r>
                <a:rPr lang="zh-CN" altLang="en-US" sz="2800" b="1"/>
                <a:t>，</a:t>
              </a:r>
              <a:r>
                <a:rPr lang="zh-CN" altLang="en-US" sz="2800" b="1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99342" name="Object 21"/>
            <p:cNvGraphicFramePr>
              <a:graphicFrameLocks noChangeAspect="1"/>
            </p:cNvGraphicFramePr>
            <p:nvPr/>
          </p:nvGraphicFramePr>
          <p:xfrm>
            <a:off x="2370" y="40"/>
            <a:ext cx="102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4757" r:id="rId11" imgW="648263" imgH="203377" progId="Equation.DSMT4">
                    <p:embed/>
                  </p:oleObj>
                </mc:Choice>
                <mc:Fallback>
                  <p:oleObj r:id="rId11" imgW="648263" imgH="20337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0" y="40"/>
                          <a:ext cx="102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37569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0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21" grpId="0" build="p" autoUpdateAnimBg="0"/>
      <p:bldP spid="90125" grpId="0" build="p" autoUpdateAnimBg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灯片编号占位符 2"/>
          <p:cNvSpPr txBox="1">
            <a:spLocks noGrp="1"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16817AB2-78A2-4E0E-B510-0551D48AD4DA}" type="slidenum">
              <a:rPr lang="en-US" altLang="zh-CN" sz="1200"/>
              <a:pPr algn="ctr" eaLnBrk="1" hangingPunct="1"/>
              <a:t>151</a:t>
            </a:fld>
            <a:endParaRPr lang="en-US" altLang="zh-CN" sz="1200"/>
          </a:p>
        </p:txBody>
      </p:sp>
      <p:grpSp>
        <p:nvGrpSpPr>
          <p:cNvPr id="100355" name="Group 3"/>
          <p:cNvGrpSpPr>
            <a:grpSpLocks/>
          </p:cNvGrpSpPr>
          <p:nvPr/>
        </p:nvGrpSpPr>
        <p:grpSpPr bwMode="auto">
          <a:xfrm>
            <a:off x="911225" y="1571625"/>
            <a:ext cx="5489575" cy="627063"/>
            <a:chOff x="0" y="0"/>
            <a:chExt cx="3458" cy="395"/>
          </a:xfrm>
        </p:grpSpPr>
        <p:sp>
          <p:nvSpPr>
            <p:cNvPr id="100361" name="Text Box 6"/>
            <p:cNvSpPr txBox="1">
              <a:spLocks noChangeArrowheads="1"/>
            </p:cNvSpPr>
            <p:nvPr/>
          </p:nvSpPr>
          <p:spPr bwMode="auto">
            <a:xfrm>
              <a:off x="0" y="0"/>
              <a:ext cx="43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(3) </a:t>
              </a:r>
            </a:p>
          </p:txBody>
        </p:sp>
        <p:graphicFrame>
          <p:nvGraphicFramePr>
            <p:cNvPr id="100362" name="Object 5"/>
            <p:cNvGraphicFramePr>
              <a:graphicFrameLocks noChangeAspect="1"/>
            </p:cNvGraphicFramePr>
            <p:nvPr/>
          </p:nvGraphicFramePr>
          <p:xfrm>
            <a:off x="378" y="0"/>
            <a:ext cx="308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768" r:id="rId3" imgW="1955800" imgH="254000" progId="Equation.DSMT4">
                    <p:embed/>
                  </p:oleObj>
                </mc:Choice>
                <mc:Fallback>
                  <p:oleObj r:id="rId3" imgW="19558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" y="0"/>
                          <a:ext cx="3080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1142" name="Text Box 8"/>
          <p:cNvSpPr txBox="1">
            <a:spLocks noChangeArrowheads="1"/>
          </p:cNvSpPr>
          <p:nvPr/>
        </p:nvSpPr>
        <p:spPr bwMode="auto">
          <a:xfrm>
            <a:off x="457200" y="2225675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C00000"/>
                </a:solidFill>
              </a:rPr>
              <a:t>解：</a:t>
            </a:r>
            <a:r>
              <a:rPr lang="zh-CN" altLang="en-US" sz="2800" b="1"/>
              <a:t>单射。</a:t>
            </a:r>
          </a:p>
        </p:txBody>
      </p:sp>
      <p:sp>
        <p:nvSpPr>
          <p:cNvPr id="91143" name="Text Box 9"/>
          <p:cNvSpPr txBox="1">
            <a:spLocks noChangeArrowheads="1"/>
          </p:cNvSpPr>
          <p:nvPr/>
        </p:nvSpPr>
        <p:spPr bwMode="auto">
          <a:xfrm>
            <a:off x="457200" y="3565525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C00000"/>
                </a:solidFill>
              </a:rPr>
              <a:t>解：</a:t>
            </a:r>
            <a:r>
              <a:rPr lang="zh-CN" altLang="en-US" sz="2800" b="1"/>
              <a:t>满射。</a:t>
            </a:r>
          </a:p>
        </p:txBody>
      </p:sp>
      <p:grpSp>
        <p:nvGrpSpPr>
          <p:cNvPr id="91144" name="Group 8"/>
          <p:cNvGrpSpPr>
            <a:grpSpLocks/>
          </p:cNvGrpSpPr>
          <p:nvPr/>
        </p:nvGrpSpPr>
        <p:grpSpPr bwMode="auto">
          <a:xfrm>
            <a:off x="911225" y="2911475"/>
            <a:ext cx="3889375" cy="628650"/>
            <a:chOff x="0" y="0"/>
            <a:chExt cx="2450" cy="396"/>
          </a:xfrm>
        </p:grpSpPr>
        <p:sp>
          <p:nvSpPr>
            <p:cNvPr id="100359" name="Text Box 11"/>
            <p:cNvSpPr txBox="1">
              <a:spLocks noChangeArrowheads="1"/>
            </p:cNvSpPr>
            <p:nvPr/>
          </p:nvSpPr>
          <p:spPr bwMode="auto">
            <a:xfrm>
              <a:off x="0" y="0"/>
              <a:ext cx="43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(4) </a:t>
              </a:r>
            </a:p>
          </p:txBody>
        </p:sp>
        <p:graphicFrame>
          <p:nvGraphicFramePr>
            <p:cNvPr id="100360" name="Object 10"/>
            <p:cNvGraphicFramePr>
              <a:graphicFrameLocks noChangeAspect="1"/>
            </p:cNvGraphicFramePr>
            <p:nvPr/>
          </p:nvGraphicFramePr>
          <p:xfrm>
            <a:off x="370" y="1"/>
            <a:ext cx="208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769" r:id="rId5" imgW="1321374" imgH="254110" progId="Equation.DSMT4">
                    <p:embed/>
                  </p:oleObj>
                </mc:Choice>
                <mc:Fallback>
                  <p:oleObj r:id="rId5" imgW="1321374" imgH="25411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" y="1"/>
                          <a:ext cx="2080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1091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2" grpId="0" build="p" autoUpdateAnimBg="0"/>
      <p:bldP spid="91143" grpId="0" build="p" autoUpdateAnimBg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灯片编号占位符 2"/>
          <p:cNvSpPr txBox="1">
            <a:spLocks noGrp="1"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97706B43-927A-497B-BA33-AF9AAF003812}" type="slidenum">
              <a:rPr lang="en-US" altLang="zh-CN" sz="1200"/>
              <a:pPr algn="ctr" eaLnBrk="1" hangingPunct="1"/>
              <a:t>152</a:t>
            </a:fld>
            <a:endParaRPr lang="en-US" altLang="zh-CN" sz="1200"/>
          </a:p>
        </p:txBody>
      </p:sp>
      <p:grpSp>
        <p:nvGrpSpPr>
          <p:cNvPr id="101379" name="Group 3"/>
          <p:cNvGrpSpPr>
            <a:grpSpLocks/>
          </p:cNvGrpSpPr>
          <p:nvPr/>
        </p:nvGrpSpPr>
        <p:grpSpPr bwMode="auto">
          <a:xfrm>
            <a:off x="428625" y="1428750"/>
            <a:ext cx="7172325" cy="1120775"/>
            <a:chOff x="0" y="0"/>
            <a:chExt cx="4518" cy="706"/>
          </a:xfrm>
        </p:grpSpPr>
        <p:sp>
          <p:nvSpPr>
            <p:cNvPr id="101414" name="Text Box 3"/>
            <p:cNvSpPr txBox="1">
              <a:spLocks noChangeArrowheads="1"/>
            </p:cNvSpPr>
            <p:nvPr/>
          </p:nvSpPr>
          <p:spPr bwMode="auto">
            <a:xfrm>
              <a:off x="0" y="9"/>
              <a:ext cx="7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 smtClean="0">
                  <a:solidFill>
                    <a:srgbClr val="C00000"/>
                  </a:solidFill>
                </a:rPr>
                <a:t>例</a:t>
              </a:r>
              <a:r>
                <a:rPr lang="zh-CN" altLang="en-US" sz="2800" b="1" dirty="0" smtClean="0">
                  <a:latin typeface="Times New Roman" panose="02020603050405020304" pitchFamily="18" charset="0"/>
                </a:rPr>
                <a:t>   </a:t>
              </a:r>
              <a:r>
                <a:rPr lang="zh-CN" altLang="en-US" sz="2800" b="1" dirty="0"/>
                <a:t>设</a:t>
              </a:r>
            </a:p>
          </p:txBody>
        </p:sp>
        <p:sp>
          <p:nvSpPr>
            <p:cNvPr id="101415" name="Text Box 4"/>
            <p:cNvSpPr txBox="1">
              <a:spLocks noChangeArrowheads="1"/>
            </p:cNvSpPr>
            <p:nvPr/>
          </p:nvSpPr>
          <p:spPr bwMode="auto">
            <a:xfrm>
              <a:off x="700" y="379"/>
              <a:ext cx="7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证明：</a:t>
              </a:r>
            </a:p>
          </p:txBody>
        </p:sp>
        <p:graphicFrame>
          <p:nvGraphicFramePr>
            <p:cNvPr id="101416" name="Object 6"/>
            <p:cNvGraphicFramePr>
              <a:graphicFrameLocks noChangeAspect="1"/>
            </p:cNvGraphicFramePr>
            <p:nvPr/>
          </p:nvGraphicFramePr>
          <p:xfrm>
            <a:off x="945" y="45"/>
            <a:ext cx="104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25" r:id="rId3" imgW="660974" imgH="203377" progId="Equation.DSMT4">
                    <p:embed/>
                  </p:oleObj>
                </mc:Choice>
                <mc:Fallback>
                  <p:oleObj r:id="rId3" imgW="660974" imgH="20337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5" y="45"/>
                          <a:ext cx="104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417" name="Object 7"/>
            <p:cNvGraphicFramePr>
              <a:graphicFrameLocks noChangeAspect="1"/>
            </p:cNvGraphicFramePr>
            <p:nvPr/>
          </p:nvGraphicFramePr>
          <p:xfrm>
            <a:off x="2112" y="48"/>
            <a:ext cx="104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26" r:id="rId5" imgW="660974" imgH="203377" progId="Equation.DSMT4">
                    <p:embed/>
                  </p:oleObj>
                </mc:Choice>
                <mc:Fallback>
                  <p:oleObj r:id="rId5" imgW="660974" imgH="20337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48"/>
                          <a:ext cx="104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418" name="Rectangle 7"/>
            <p:cNvSpPr>
              <a:spLocks noChangeArrowheads="1"/>
            </p:cNvSpPr>
            <p:nvPr/>
          </p:nvSpPr>
          <p:spPr bwMode="auto">
            <a:xfrm>
              <a:off x="3052" y="9"/>
              <a:ext cx="14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是两个函数，</a:t>
              </a:r>
            </a:p>
          </p:txBody>
        </p:sp>
        <p:sp>
          <p:nvSpPr>
            <p:cNvPr id="101419" name="Rectangle 8"/>
            <p:cNvSpPr>
              <a:spLocks noChangeArrowheads="1"/>
            </p:cNvSpPr>
            <p:nvPr/>
          </p:nvSpPr>
          <p:spPr bwMode="auto">
            <a:xfrm>
              <a:off x="1920" y="0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，</a:t>
              </a:r>
            </a:p>
          </p:txBody>
        </p:sp>
      </p:grpSp>
      <p:grpSp>
        <p:nvGrpSpPr>
          <p:cNvPr id="92170" name="Group 10"/>
          <p:cNvGrpSpPr>
            <a:grpSpLocks/>
          </p:cNvGrpSpPr>
          <p:nvPr/>
        </p:nvGrpSpPr>
        <p:grpSpPr bwMode="auto">
          <a:xfrm>
            <a:off x="1030288" y="2547938"/>
            <a:ext cx="5362575" cy="533400"/>
            <a:chOff x="0" y="0"/>
            <a:chExt cx="3378" cy="336"/>
          </a:xfrm>
        </p:grpSpPr>
        <p:sp>
          <p:nvSpPr>
            <p:cNvPr id="101409" name="Text Box 10"/>
            <p:cNvSpPr txBox="1">
              <a:spLocks noChangeArrowheads="1"/>
            </p:cNvSpPr>
            <p:nvPr/>
          </p:nvSpPr>
          <p:spPr bwMode="auto">
            <a:xfrm>
              <a:off x="0" y="0"/>
              <a:ext cx="65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(1) </a:t>
              </a:r>
              <a:r>
                <a:rPr lang="zh-CN" altLang="en-US" sz="2800" b="1"/>
                <a:t>若</a:t>
              </a:r>
            </a:p>
          </p:txBody>
        </p:sp>
        <p:graphicFrame>
          <p:nvGraphicFramePr>
            <p:cNvPr id="101410" name="Object 12"/>
            <p:cNvGraphicFramePr>
              <a:graphicFrameLocks noChangeAspect="1"/>
            </p:cNvGraphicFramePr>
            <p:nvPr/>
          </p:nvGraphicFramePr>
          <p:xfrm>
            <a:off x="586" y="20"/>
            <a:ext cx="56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27" r:id="rId7" imgW="356064" imgH="203465" progId="Equation.DSMT4">
                    <p:embed/>
                  </p:oleObj>
                </mc:Choice>
                <mc:Fallback>
                  <p:oleObj r:id="rId7" imgW="356064" imgH="20346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" y="20"/>
                          <a:ext cx="56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411" name="Object 13"/>
            <p:cNvGraphicFramePr>
              <a:graphicFrameLocks noChangeAspect="1"/>
            </p:cNvGraphicFramePr>
            <p:nvPr/>
          </p:nvGraphicFramePr>
          <p:xfrm>
            <a:off x="2218" y="48"/>
            <a:ext cx="22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28" r:id="rId9" imgW="140126" imgH="165603" progId="Equation.DSMT4">
                    <p:embed/>
                  </p:oleObj>
                </mc:Choice>
                <mc:Fallback>
                  <p:oleObj r:id="rId9" imgW="140126" imgH="16560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8" y="48"/>
                          <a:ext cx="22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412" name="Rectangle 13"/>
            <p:cNvSpPr>
              <a:spLocks noChangeArrowheads="1"/>
            </p:cNvSpPr>
            <p:nvPr/>
          </p:nvSpPr>
          <p:spPr bwMode="auto">
            <a:xfrm>
              <a:off x="2362" y="0"/>
              <a:ext cx="10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是满射，</a:t>
              </a:r>
            </a:p>
          </p:txBody>
        </p:sp>
        <p:sp>
          <p:nvSpPr>
            <p:cNvPr id="101413" name="Rectangle 14"/>
            <p:cNvSpPr>
              <a:spLocks noChangeArrowheads="1"/>
            </p:cNvSpPr>
            <p:nvPr/>
          </p:nvSpPr>
          <p:spPr bwMode="auto">
            <a:xfrm>
              <a:off x="1066" y="0"/>
              <a:ext cx="1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是满射，则</a:t>
              </a:r>
            </a:p>
          </p:txBody>
        </p:sp>
      </p:grpSp>
      <p:grpSp>
        <p:nvGrpSpPr>
          <p:cNvPr id="92176" name="Group 16"/>
          <p:cNvGrpSpPr>
            <a:grpSpLocks/>
          </p:cNvGrpSpPr>
          <p:nvPr/>
        </p:nvGrpSpPr>
        <p:grpSpPr bwMode="auto">
          <a:xfrm>
            <a:off x="665163" y="3211513"/>
            <a:ext cx="6254750" cy="555625"/>
            <a:chOff x="0" y="0"/>
            <a:chExt cx="3940" cy="350"/>
          </a:xfrm>
        </p:grpSpPr>
        <p:sp>
          <p:nvSpPr>
            <p:cNvPr id="101404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14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C00000"/>
                  </a:solidFill>
                </a:rPr>
                <a:t>证明：</a:t>
              </a:r>
              <a:r>
                <a:rPr lang="zh-CN" altLang="en-US" sz="2800" b="1"/>
                <a:t>对任意</a:t>
              </a:r>
            </a:p>
          </p:txBody>
        </p:sp>
        <p:graphicFrame>
          <p:nvGraphicFramePr>
            <p:cNvPr id="101405" name="Object 18"/>
            <p:cNvGraphicFramePr>
              <a:graphicFrameLocks noChangeAspect="1"/>
            </p:cNvGraphicFramePr>
            <p:nvPr/>
          </p:nvGraphicFramePr>
          <p:xfrm>
            <a:off x="1392" y="62"/>
            <a:ext cx="580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29" r:id="rId11" imgW="368941" imgH="178109" progId="Equation.DSMT4">
                    <p:embed/>
                  </p:oleObj>
                </mc:Choice>
                <mc:Fallback>
                  <p:oleObj r:id="rId11" imgW="368941" imgH="17810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62"/>
                          <a:ext cx="580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406" name="Object 19"/>
            <p:cNvGraphicFramePr>
              <a:graphicFrameLocks noChangeAspect="1"/>
            </p:cNvGraphicFramePr>
            <p:nvPr/>
          </p:nvGraphicFramePr>
          <p:xfrm>
            <a:off x="2400" y="34"/>
            <a:ext cx="56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30" r:id="rId13" imgW="356064" imgH="203465" progId="Equation.DSMT4">
                    <p:embed/>
                  </p:oleObj>
                </mc:Choice>
                <mc:Fallback>
                  <p:oleObj r:id="rId13" imgW="356064" imgH="20346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34"/>
                          <a:ext cx="56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407" name="Rectangle 19"/>
            <p:cNvSpPr>
              <a:spLocks noChangeArrowheads="1"/>
            </p:cNvSpPr>
            <p:nvPr/>
          </p:nvSpPr>
          <p:spPr bwMode="auto">
            <a:xfrm>
              <a:off x="2868" y="23"/>
              <a:ext cx="10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是满射，</a:t>
              </a:r>
              <a:r>
                <a:rPr lang="zh-CN" altLang="en-US" sz="2800" b="1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01408" name="Rectangle 20"/>
            <p:cNvSpPr>
              <a:spLocks noChangeArrowheads="1"/>
            </p:cNvSpPr>
            <p:nvPr/>
          </p:nvSpPr>
          <p:spPr bwMode="auto">
            <a:xfrm>
              <a:off x="1920" y="14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，由</a:t>
              </a:r>
            </a:p>
          </p:txBody>
        </p:sp>
      </p:grpSp>
      <p:grpSp>
        <p:nvGrpSpPr>
          <p:cNvPr id="92182" name="Group 22"/>
          <p:cNvGrpSpPr>
            <a:grpSpLocks/>
          </p:cNvGrpSpPr>
          <p:nvPr/>
        </p:nvGrpSpPr>
        <p:grpSpPr bwMode="auto">
          <a:xfrm>
            <a:off x="665163" y="3835400"/>
            <a:ext cx="5867400" cy="1244600"/>
            <a:chOff x="0" y="0"/>
            <a:chExt cx="3696" cy="784"/>
          </a:xfrm>
        </p:grpSpPr>
        <p:sp>
          <p:nvSpPr>
            <p:cNvPr id="101396" name="Text Box 22"/>
            <p:cNvSpPr txBox="1">
              <a:spLocks noChangeArrowheads="1"/>
            </p:cNvSpPr>
            <p:nvPr/>
          </p:nvSpPr>
          <p:spPr bwMode="auto">
            <a:xfrm>
              <a:off x="0" y="0"/>
              <a:ext cx="10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所以存在</a:t>
              </a:r>
            </a:p>
          </p:txBody>
        </p:sp>
        <p:graphicFrame>
          <p:nvGraphicFramePr>
            <p:cNvPr id="101397" name="Object 24"/>
            <p:cNvGraphicFramePr>
              <a:graphicFrameLocks noChangeAspect="1"/>
            </p:cNvGraphicFramePr>
            <p:nvPr/>
          </p:nvGraphicFramePr>
          <p:xfrm>
            <a:off x="960" y="53"/>
            <a:ext cx="600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31" r:id="rId14" imgW="381497" imgH="178032" progId="Equation.DSMT4">
                    <p:embed/>
                  </p:oleObj>
                </mc:Choice>
                <mc:Fallback>
                  <p:oleObj r:id="rId14" imgW="381497" imgH="17803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53"/>
                          <a:ext cx="600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398" name="Object 25"/>
            <p:cNvGraphicFramePr>
              <a:graphicFrameLocks noChangeAspect="1"/>
            </p:cNvGraphicFramePr>
            <p:nvPr/>
          </p:nvGraphicFramePr>
          <p:xfrm>
            <a:off x="2208" y="25"/>
            <a:ext cx="120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32" r:id="rId16" imgW="762662" imgH="203377" progId="Equation.DSMT4">
                    <p:embed/>
                  </p:oleObj>
                </mc:Choice>
                <mc:Fallback>
                  <p:oleObj r:id="rId16" imgW="762662" imgH="20337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25"/>
                          <a:ext cx="120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399" name="Text Box 25"/>
            <p:cNvSpPr txBox="1">
              <a:spLocks noChangeArrowheads="1"/>
            </p:cNvSpPr>
            <p:nvPr/>
          </p:nvSpPr>
          <p:spPr bwMode="auto">
            <a:xfrm>
              <a:off x="0" y="384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即</a:t>
              </a:r>
            </a:p>
          </p:txBody>
        </p:sp>
        <p:graphicFrame>
          <p:nvGraphicFramePr>
            <p:cNvPr id="101400" name="Object 27"/>
            <p:cNvGraphicFramePr>
              <a:graphicFrameLocks noChangeAspect="1"/>
            </p:cNvGraphicFramePr>
            <p:nvPr/>
          </p:nvGraphicFramePr>
          <p:xfrm>
            <a:off x="276" y="389"/>
            <a:ext cx="126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33" r:id="rId18" imgW="800447" imgH="254110" progId="Equation.DSMT4">
                    <p:embed/>
                  </p:oleObj>
                </mc:Choice>
                <mc:Fallback>
                  <p:oleObj r:id="rId18" imgW="800447" imgH="25411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" y="389"/>
                          <a:ext cx="1260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401" name="Rectangle 27"/>
            <p:cNvSpPr>
              <a:spLocks noChangeArrowheads="1"/>
            </p:cNvSpPr>
            <p:nvPr/>
          </p:nvSpPr>
          <p:spPr bwMode="auto">
            <a:xfrm>
              <a:off x="3356" y="5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，</a:t>
              </a:r>
            </a:p>
          </p:txBody>
        </p:sp>
        <p:sp>
          <p:nvSpPr>
            <p:cNvPr id="101402" name="Rectangle 28"/>
            <p:cNvSpPr>
              <a:spLocks noChangeArrowheads="1"/>
            </p:cNvSpPr>
            <p:nvPr/>
          </p:nvSpPr>
          <p:spPr bwMode="auto">
            <a:xfrm>
              <a:off x="1488" y="14"/>
              <a:ext cx="7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，使得</a:t>
              </a:r>
            </a:p>
          </p:txBody>
        </p:sp>
        <p:sp>
          <p:nvSpPr>
            <p:cNvPr id="101403" name="Rectangle 29"/>
            <p:cNvSpPr>
              <a:spLocks noChangeArrowheads="1"/>
            </p:cNvSpPr>
            <p:nvPr/>
          </p:nvSpPr>
          <p:spPr bwMode="auto">
            <a:xfrm>
              <a:off x="1488" y="398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，</a:t>
              </a:r>
            </a:p>
          </p:txBody>
        </p:sp>
      </p:grpSp>
      <p:grpSp>
        <p:nvGrpSpPr>
          <p:cNvPr id="92191" name="Group 31"/>
          <p:cNvGrpSpPr>
            <a:grpSpLocks/>
          </p:cNvGrpSpPr>
          <p:nvPr/>
        </p:nvGrpSpPr>
        <p:grpSpPr bwMode="auto">
          <a:xfrm>
            <a:off x="665163" y="5116513"/>
            <a:ext cx="6407150" cy="600075"/>
            <a:chOff x="0" y="0"/>
            <a:chExt cx="4036" cy="378"/>
          </a:xfrm>
        </p:grpSpPr>
        <p:sp>
          <p:nvSpPr>
            <p:cNvPr id="101391" name="Text Box 31"/>
            <p:cNvSpPr txBox="1">
              <a:spLocks noChangeArrowheads="1"/>
            </p:cNvSpPr>
            <p:nvPr/>
          </p:nvSpPr>
          <p:spPr bwMode="auto">
            <a:xfrm>
              <a:off x="0" y="0"/>
              <a:ext cx="10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所以存在</a:t>
              </a:r>
            </a:p>
          </p:txBody>
        </p:sp>
        <p:graphicFrame>
          <p:nvGraphicFramePr>
            <p:cNvPr id="101392" name="Object 33"/>
            <p:cNvGraphicFramePr>
              <a:graphicFrameLocks noChangeAspect="1"/>
            </p:cNvGraphicFramePr>
            <p:nvPr/>
          </p:nvGraphicFramePr>
          <p:xfrm>
            <a:off x="976" y="62"/>
            <a:ext cx="128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34" r:id="rId20" imgW="813153" imgH="203288" progId="Equation.DSMT4">
                    <p:embed/>
                  </p:oleObj>
                </mc:Choice>
                <mc:Fallback>
                  <p:oleObj r:id="rId20" imgW="813153" imgH="20328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6" y="62"/>
                          <a:ext cx="128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393" name="Object 34"/>
            <p:cNvGraphicFramePr>
              <a:graphicFrameLocks noChangeAspect="1"/>
            </p:cNvGraphicFramePr>
            <p:nvPr/>
          </p:nvGraphicFramePr>
          <p:xfrm>
            <a:off x="2928" y="34"/>
            <a:ext cx="86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35" r:id="rId22" imgW="546337" imgH="203288" progId="Equation.DSMT4">
                    <p:embed/>
                  </p:oleObj>
                </mc:Choice>
                <mc:Fallback>
                  <p:oleObj r:id="rId22" imgW="546337" imgH="20328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34"/>
                          <a:ext cx="86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394" name="Rectangle 34"/>
            <p:cNvSpPr>
              <a:spLocks noChangeArrowheads="1"/>
            </p:cNvSpPr>
            <p:nvPr/>
          </p:nvSpPr>
          <p:spPr bwMode="auto">
            <a:xfrm>
              <a:off x="3696" y="14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，</a:t>
              </a:r>
            </a:p>
          </p:txBody>
        </p:sp>
        <p:sp>
          <p:nvSpPr>
            <p:cNvPr id="101395" name="Rectangle 35"/>
            <p:cNvSpPr>
              <a:spLocks noChangeArrowheads="1"/>
            </p:cNvSpPr>
            <p:nvPr/>
          </p:nvSpPr>
          <p:spPr bwMode="auto">
            <a:xfrm>
              <a:off x="2160" y="23"/>
              <a:ext cx="7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，使得</a:t>
              </a:r>
            </a:p>
          </p:txBody>
        </p:sp>
      </p:grpSp>
      <p:grpSp>
        <p:nvGrpSpPr>
          <p:cNvPr id="92197" name="Group 37"/>
          <p:cNvGrpSpPr>
            <a:grpSpLocks/>
          </p:cNvGrpSpPr>
          <p:nvPr/>
        </p:nvGrpSpPr>
        <p:grpSpPr bwMode="auto">
          <a:xfrm>
            <a:off x="665163" y="5792788"/>
            <a:ext cx="5511800" cy="565150"/>
            <a:chOff x="0" y="0"/>
            <a:chExt cx="3472" cy="356"/>
          </a:xfrm>
        </p:grpSpPr>
        <p:sp>
          <p:nvSpPr>
            <p:cNvPr id="101386" name="Text Box 37"/>
            <p:cNvSpPr txBox="1">
              <a:spLocks noChangeArrowheads="1"/>
            </p:cNvSpPr>
            <p:nvPr/>
          </p:nvSpPr>
          <p:spPr bwMode="auto">
            <a:xfrm>
              <a:off x="0" y="0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由于</a:t>
              </a:r>
            </a:p>
          </p:txBody>
        </p:sp>
        <p:graphicFrame>
          <p:nvGraphicFramePr>
            <p:cNvPr id="101387" name="Object 39"/>
            <p:cNvGraphicFramePr>
              <a:graphicFrameLocks noChangeAspect="1"/>
            </p:cNvGraphicFramePr>
            <p:nvPr/>
          </p:nvGraphicFramePr>
          <p:xfrm>
            <a:off x="2256" y="68"/>
            <a:ext cx="22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36" r:id="rId24" imgW="140126" imgH="165603" progId="Equation.DSMT4">
                    <p:embed/>
                  </p:oleObj>
                </mc:Choice>
                <mc:Fallback>
                  <p:oleObj r:id="rId24" imgW="140126" imgH="16560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68"/>
                          <a:ext cx="22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388" name="Object 40"/>
            <p:cNvGraphicFramePr>
              <a:graphicFrameLocks noChangeAspect="1"/>
            </p:cNvGraphicFramePr>
            <p:nvPr/>
          </p:nvGraphicFramePr>
          <p:xfrm>
            <a:off x="520" y="88"/>
            <a:ext cx="180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37" r:id="rId25" imgW="114748" imgH="140248" progId="Equation.DSMT4">
                    <p:embed/>
                  </p:oleObj>
                </mc:Choice>
                <mc:Fallback>
                  <p:oleObj r:id="rId25" imgW="114748" imgH="14024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" y="88"/>
                          <a:ext cx="180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389" name="Rectangle 40"/>
            <p:cNvSpPr>
              <a:spLocks noChangeArrowheads="1"/>
            </p:cNvSpPr>
            <p:nvPr/>
          </p:nvSpPr>
          <p:spPr bwMode="auto">
            <a:xfrm>
              <a:off x="2400" y="29"/>
              <a:ext cx="10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是满射。</a:t>
              </a:r>
              <a:r>
                <a:rPr lang="zh-CN" altLang="en-US" sz="2800" b="1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01390" name="Rectangle 41"/>
            <p:cNvSpPr>
              <a:spLocks noChangeArrowheads="1"/>
            </p:cNvSpPr>
            <p:nvPr/>
          </p:nvSpPr>
          <p:spPr bwMode="auto">
            <a:xfrm>
              <a:off x="624" y="29"/>
              <a:ext cx="16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的任意性，所以</a:t>
              </a:r>
            </a:p>
          </p:txBody>
        </p:sp>
      </p:grpSp>
      <p:sp>
        <p:nvSpPr>
          <p:cNvPr id="101385" name="Rectangle 2"/>
          <p:cNvSpPr txBox="1">
            <a:spLocks noChangeArrowheads="1"/>
          </p:cNvSpPr>
          <p:nvPr/>
        </p:nvSpPr>
        <p:spPr bwMode="auto">
          <a:xfrm>
            <a:off x="0" y="28575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200" b="1">
                <a:solidFill>
                  <a:schemeClr val="tx2"/>
                </a:solidFill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82165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灯片编号占位符 2"/>
          <p:cNvSpPr txBox="1">
            <a:spLocks noGrp="1"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7F301513-A526-465F-9177-BC320FC0746A}" type="slidenum">
              <a:rPr lang="en-US" altLang="zh-CN" sz="1200"/>
              <a:pPr algn="ctr" eaLnBrk="1" hangingPunct="1"/>
              <a:t>153</a:t>
            </a:fld>
            <a:endParaRPr lang="en-US" altLang="zh-CN" sz="1200"/>
          </a:p>
        </p:txBody>
      </p:sp>
      <p:grpSp>
        <p:nvGrpSpPr>
          <p:cNvPr id="102403" name="Group 3"/>
          <p:cNvGrpSpPr>
            <a:grpSpLocks/>
          </p:cNvGrpSpPr>
          <p:nvPr/>
        </p:nvGrpSpPr>
        <p:grpSpPr bwMode="auto">
          <a:xfrm>
            <a:off x="906463" y="1571625"/>
            <a:ext cx="5451475" cy="533400"/>
            <a:chOff x="0" y="0"/>
            <a:chExt cx="3434" cy="336"/>
          </a:xfrm>
        </p:grpSpPr>
        <p:sp>
          <p:nvSpPr>
            <p:cNvPr id="102427" name="Text Box 3"/>
            <p:cNvSpPr txBox="1">
              <a:spLocks noChangeArrowheads="1"/>
            </p:cNvSpPr>
            <p:nvPr/>
          </p:nvSpPr>
          <p:spPr bwMode="auto">
            <a:xfrm>
              <a:off x="0" y="0"/>
              <a:ext cx="65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(2) </a:t>
              </a:r>
              <a:r>
                <a:rPr lang="zh-CN" altLang="en-US" sz="2800" b="1"/>
                <a:t>若</a:t>
              </a:r>
            </a:p>
          </p:txBody>
        </p:sp>
        <p:graphicFrame>
          <p:nvGraphicFramePr>
            <p:cNvPr id="102428" name="Object 5"/>
            <p:cNvGraphicFramePr>
              <a:graphicFrameLocks noChangeAspect="1"/>
            </p:cNvGraphicFramePr>
            <p:nvPr/>
          </p:nvGraphicFramePr>
          <p:xfrm>
            <a:off x="586" y="20"/>
            <a:ext cx="56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37" r:id="rId3" imgW="356064" imgH="203465" progId="Equation.DSMT4">
                    <p:embed/>
                  </p:oleObj>
                </mc:Choice>
                <mc:Fallback>
                  <p:oleObj r:id="rId3" imgW="356064" imgH="20346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" y="20"/>
                          <a:ext cx="56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29" name="Object 6"/>
            <p:cNvGraphicFramePr>
              <a:graphicFrameLocks noChangeAspect="1"/>
            </p:cNvGraphicFramePr>
            <p:nvPr/>
          </p:nvGraphicFramePr>
          <p:xfrm>
            <a:off x="2208" y="19"/>
            <a:ext cx="24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38" r:id="rId5" imgW="152798" imgH="203731" progId="Equation.DSMT4">
                    <p:embed/>
                  </p:oleObj>
                </mc:Choice>
                <mc:Fallback>
                  <p:oleObj r:id="rId5" imgW="152798" imgH="20373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19"/>
                          <a:ext cx="24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30" name="Rectangle 6"/>
            <p:cNvSpPr>
              <a:spLocks noChangeArrowheads="1"/>
            </p:cNvSpPr>
            <p:nvPr/>
          </p:nvSpPr>
          <p:spPr bwMode="auto">
            <a:xfrm>
              <a:off x="2362" y="9"/>
              <a:ext cx="10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是单射，</a:t>
              </a:r>
              <a:r>
                <a:rPr lang="zh-CN" altLang="en-US" sz="2800" b="1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02431" name="Rectangle 7"/>
            <p:cNvSpPr>
              <a:spLocks noChangeArrowheads="1"/>
            </p:cNvSpPr>
            <p:nvPr/>
          </p:nvSpPr>
          <p:spPr bwMode="auto">
            <a:xfrm>
              <a:off x="1030" y="0"/>
              <a:ext cx="1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是单射，则</a:t>
              </a:r>
            </a:p>
          </p:txBody>
        </p:sp>
      </p:grpSp>
      <p:grpSp>
        <p:nvGrpSpPr>
          <p:cNvPr id="93193" name="Group 9"/>
          <p:cNvGrpSpPr>
            <a:grpSpLocks/>
          </p:cNvGrpSpPr>
          <p:nvPr/>
        </p:nvGrpSpPr>
        <p:grpSpPr bwMode="auto">
          <a:xfrm>
            <a:off x="541338" y="2235200"/>
            <a:ext cx="5797550" cy="587375"/>
            <a:chOff x="0" y="0"/>
            <a:chExt cx="3652" cy="370"/>
          </a:xfrm>
        </p:grpSpPr>
        <p:sp>
          <p:nvSpPr>
            <p:cNvPr id="102424" name="Text Box 9"/>
            <p:cNvSpPr txBox="1">
              <a:spLocks noChangeArrowheads="1"/>
            </p:cNvSpPr>
            <p:nvPr/>
          </p:nvSpPr>
          <p:spPr bwMode="auto">
            <a:xfrm>
              <a:off x="0" y="0"/>
              <a:ext cx="14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C00000"/>
                  </a:solidFill>
                </a:rPr>
                <a:t>证明：</a:t>
              </a:r>
              <a:r>
                <a:rPr lang="zh-CN" altLang="en-US" sz="2800" b="1"/>
                <a:t>对任意</a:t>
              </a:r>
            </a:p>
          </p:txBody>
        </p:sp>
        <p:graphicFrame>
          <p:nvGraphicFramePr>
            <p:cNvPr id="102425" name="Object 11"/>
            <p:cNvGraphicFramePr>
              <a:graphicFrameLocks noChangeAspect="1"/>
            </p:cNvGraphicFramePr>
            <p:nvPr/>
          </p:nvGraphicFramePr>
          <p:xfrm>
            <a:off x="1392" y="14"/>
            <a:ext cx="2000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39" r:id="rId7" imgW="1271103" imgH="228799" progId="Equation.DSMT4">
                    <p:embed/>
                  </p:oleObj>
                </mc:Choice>
                <mc:Fallback>
                  <p:oleObj r:id="rId7" imgW="1271103" imgH="22879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4"/>
                          <a:ext cx="2000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26" name="Rectangle 11"/>
            <p:cNvSpPr>
              <a:spLocks noChangeArrowheads="1"/>
            </p:cNvSpPr>
            <p:nvPr/>
          </p:nvSpPr>
          <p:spPr bwMode="auto">
            <a:xfrm>
              <a:off x="3312" y="24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，</a:t>
              </a:r>
            </a:p>
          </p:txBody>
        </p:sp>
      </p:grpSp>
      <p:grpSp>
        <p:nvGrpSpPr>
          <p:cNvPr id="93197" name="Group 13"/>
          <p:cNvGrpSpPr>
            <a:grpSpLocks/>
          </p:cNvGrpSpPr>
          <p:nvPr/>
        </p:nvGrpSpPr>
        <p:grpSpPr bwMode="auto">
          <a:xfrm>
            <a:off x="541338" y="2835275"/>
            <a:ext cx="7245350" cy="1327150"/>
            <a:chOff x="0" y="0"/>
            <a:chExt cx="4564" cy="836"/>
          </a:xfrm>
        </p:grpSpPr>
        <p:graphicFrame>
          <p:nvGraphicFramePr>
            <p:cNvPr id="102416" name="Object 14"/>
            <p:cNvGraphicFramePr>
              <a:graphicFrameLocks noChangeAspect="1"/>
            </p:cNvGraphicFramePr>
            <p:nvPr/>
          </p:nvGraphicFramePr>
          <p:xfrm>
            <a:off x="448" y="40"/>
            <a:ext cx="56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40" r:id="rId9" imgW="356064" imgH="203465" progId="Equation.DSMT4">
                    <p:embed/>
                  </p:oleObj>
                </mc:Choice>
                <mc:Fallback>
                  <p:oleObj r:id="rId9" imgW="356064" imgH="20346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" y="40"/>
                          <a:ext cx="56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17" name="Text Box 14"/>
            <p:cNvSpPr txBox="1">
              <a:spLocks noChangeArrowheads="1"/>
            </p:cNvSpPr>
            <p:nvPr/>
          </p:nvSpPr>
          <p:spPr bwMode="auto">
            <a:xfrm>
              <a:off x="0" y="15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由于</a:t>
              </a:r>
            </a:p>
          </p:txBody>
        </p:sp>
        <p:sp>
          <p:nvSpPr>
            <p:cNvPr id="102418" name="Text Box 15"/>
            <p:cNvSpPr txBox="1">
              <a:spLocks noChangeArrowheads="1"/>
            </p:cNvSpPr>
            <p:nvPr/>
          </p:nvSpPr>
          <p:spPr bwMode="auto">
            <a:xfrm>
              <a:off x="0" y="438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即</a:t>
              </a:r>
            </a:p>
          </p:txBody>
        </p:sp>
        <p:graphicFrame>
          <p:nvGraphicFramePr>
            <p:cNvPr id="102419" name="Object 17"/>
            <p:cNvGraphicFramePr>
              <a:graphicFrameLocks noChangeAspect="1"/>
            </p:cNvGraphicFramePr>
            <p:nvPr/>
          </p:nvGraphicFramePr>
          <p:xfrm>
            <a:off x="2304" y="0"/>
            <a:ext cx="2020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41" r:id="rId10" imgW="1283814" imgH="228799" progId="Equation.DSMT4">
                    <p:embed/>
                  </p:oleObj>
                </mc:Choice>
                <mc:Fallback>
                  <p:oleObj r:id="rId10" imgW="1283814" imgH="22879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0"/>
                          <a:ext cx="2020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20" name="Object 18"/>
            <p:cNvGraphicFramePr>
              <a:graphicFrameLocks noChangeAspect="1"/>
            </p:cNvGraphicFramePr>
            <p:nvPr/>
          </p:nvGraphicFramePr>
          <p:xfrm>
            <a:off x="288" y="441"/>
            <a:ext cx="212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42" r:id="rId12" imgW="1346785" imgH="254110" progId="Equation.DSMT4">
                    <p:embed/>
                  </p:oleObj>
                </mc:Choice>
                <mc:Fallback>
                  <p:oleObj r:id="rId12" imgW="1346785" imgH="25411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441"/>
                          <a:ext cx="2120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21" name="Rectangle 18"/>
            <p:cNvSpPr>
              <a:spLocks noChangeArrowheads="1"/>
            </p:cNvSpPr>
            <p:nvPr/>
          </p:nvSpPr>
          <p:spPr bwMode="auto">
            <a:xfrm>
              <a:off x="2352" y="452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，</a:t>
              </a:r>
            </a:p>
          </p:txBody>
        </p:sp>
        <p:sp>
          <p:nvSpPr>
            <p:cNvPr id="102422" name="Rectangle 19"/>
            <p:cNvSpPr>
              <a:spLocks noChangeArrowheads="1"/>
            </p:cNvSpPr>
            <p:nvPr/>
          </p:nvSpPr>
          <p:spPr bwMode="auto">
            <a:xfrm>
              <a:off x="4224" y="29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，</a:t>
              </a:r>
            </a:p>
          </p:txBody>
        </p:sp>
        <p:sp>
          <p:nvSpPr>
            <p:cNvPr id="102423" name="Rectangle 20"/>
            <p:cNvSpPr>
              <a:spLocks noChangeArrowheads="1"/>
            </p:cNvSpPr>
            <p:nvPr/>
          </p:nvSpPr>
          <p:spPr bwMode="auto">
            <a:xfrm>
              <a:off x="912" y="29"/>
              <a:ext cx="14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是单射，所以</a:t>
              </a:r>
            </a:p>
          </p:txBody>
        </p:sp>
      </p:grpSp>
      <p:grpSp>
        <p:nvGrpSpPr>
          <p:cNvPr id="93206" name="Group 22"/>
          <p:cNvGrpSpPr>
            <a:grpSpLocks/>
          </p:cNvGrpSpPr>
          <p:nvPr/>
        </p:nvGrpSpPr>
        <p:grpSpPr bwMode="auto">
          <a:xfrm>
            <a:off x="541338" y="4238625"/>
            <a:ext cx="5492750" cy="609600"/>
            <a:chOff x="0" y="0"/>
            <a:chExt cx="3460" cy="384"/>
          </a:xfrm>
        </p:grpSpPr>
        <p:sp>
          <p:nvSpPr>
            <p:cNvPr id="102411" name="Text Box 22"/>
            <p:cNvSpPr txBox="1">
              <a:spLocks noChangeArrowheads="1"/>
            </p:cNvSpPr>
            <p:nvPr/>
          </p:nvSpPr>
          <p:spPr bwMode="auto">
            <a:xfrm>
              <a:off x="0" y="0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因</a:t>
              </a:r>
            </a:p>
          </p:txBody>
        </p:sp>
        <p:graphicFrame>
          <p:nvGraphicFramePr>
            <p:cNvPr id="102412" name="Object 24"/>
            <p:cNvGraphicFramePr>
              <a:graphicFrameLocks noChangeAspect="1"/>
            </p:cNvGraphicFramePr>
            <p:nvPr/>
          </p:nvGraphicFramePr>
          <p:xfrm>
            <a:off x="260" y="68"/>
            <a:ext cx="22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43" r:id="rId14" imgW="140126" imgH="165603" progId="Equation.DSMT4">
                    <p:embed/>
                  </p:oleObj>
                </mc:Choice>
                <mc:Fallback>
                  <p:oleObj r:id="rId14" imgW="140126" imgH="16560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" y="68"/>
                          <a:ext cx="22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13" name="Object 25"/>
            <p:cNvGraphicFramePr>
              <a:graphicFrameLocks noChangeAspect="1"/>
            </p:cNvGraphicFramePr>
            <p:nvPr/>
          </p:nvGraphicFramePr>
          <p:xfrm>
            <a:off x="1824" y="0"/>
            <a:ext cx="1400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44" r:id="rId16" imgW="889772" imgH="228799" progId="Equation.DSMT4">
                    <p:embed/>
                  </p:oleObj>
                </mc:Choice>
                <mc:Fallback>
                  <p:oleObj r:id="rId16" imgW="889772" imgH="22879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0"/>
                          <a:ext cx="1400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14" name="Rectangle 25"/>
            <p:cNvSpPr>
              <a:spLocks noChangeArrowheads="1"/>
            </p:cNvSpPr>
            <p:nvPr/>
          </p:nvSpPr>
          <p:spPr bwMode="auto">
            <a:xfrm>
              <a:off x="3120" y="57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，</a:t>
              </a:r>
            </a:p>
          </p:txBody>
        </p:sp>
        <p:sp>
          <p:nvSpPr>
            <p:cNvPr id="102415" name="Rectangle 26"/>
            <p:cNvSpPr>
              <a:spLocks noChangeArrowheads="1"/>
            </p:cNvSpPr>
            <p:nvPr/>
          </p:nvSpPr>
          <p:spPr bwMode="auto">
            <a:xfrm>
              <a:off x="412" y="0"/>
              <a:ext cx="14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是函数，所以</a:t>
              </a:r>
            </a:p>
          </p:txBody>
        </p:sp>
      </p:grpSp>
      <p:grpSp>
        <p:nvGrpSpPr>
          <p:cNvPr id="93212" name="Group 28"/>
          <p:cNvGrpSpPr>
            <a:grpSpLocks/>
          </p:cNvGrpSpPr>
          <p:nvPr/>
        </p:nvGrpSpPr>
        <p:grpSpPr bwMode="auto">
          <a:xfrm>
            <a:off x="541338" y="4902200"/>
            <a:ext cx="2755900" cy="555625"/>
            <a:chOff x="0" y="0"/>
            <a:chExt cx="1736" cy="350"/>
          </a:xfrm>
        </p:grpSpPr>
        <p:sp>
          <p:nvSpPr>
            <p:cNvPr id="102408" name="Text Box 28"/>
            <p:cNvSpPr txBox="1">
              <a:spLocks noChangeArrowheads="1"/>
            </p:cNvSpPr>
            <p:nvPr/>
          </p:nvSpPr>
          <p:spPr bwMode="auto">
            <a:xfrm>
              <a:off x="0" y="0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所以</a:t>
              </a:r>
            </a:p>
          </p:txBody>
        </p:sp>
        <p:graphicFrame>
          <p:nvGraphicFramePr>
            <p:cNvPr id="102409" name="Object 30"/>
            <p:cNvGraphicFramePr>
              <a:graphicFrameLocks noChangeAspect="1"/>
            </p:cNvGraphicFramePr>
            <p:nvPr/>
          </p:nvGraphicFramePr>
          <p:xfrm>
            <a:off x="518" y="24"/>
            <a:ext cx="24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45" r:id="rId18" imgW="152798" imgH="203731" progId="Equation.DSMT4">
                    <p:embed/>
                  </p:oleObj>
                </mc:Choice>
                <mc:Fallback>
                  <p:oleObj r:id="rId18" imgW="152798" imgH="20373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" y="24"/>
                          <a:ext cx="240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10" name="Rectangle 30"/>
            <p:cNvSpPr>
              <a:spLocks noChangeArrowheads="1"/>
            </p:cNvSpPr>
            <p:nvPr/>
          </p:nvSpPr>
          <p:spPr bwMode="auto">
            <a:xfrm>
              <a:off x="720" y="23"/>
              <a:ext cx="10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是单射。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263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_Pixel">
  <a:themeElements>
    <a:clrScheme name="2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2_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2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Pixel">
  <a:themeElements>
    <a:clrScheme name="3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3_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3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10711</TotalTime>
  <Words>17152</Words>
  <Application>Microsoft Office PowerPoint</Application>
  <PresentationFormat>全屏显示(4:3)</PresentationFormat>
  <Paragraphs>1884</Paragraphs>
  <Slides>153</Slides>
  <Notes>108</Notes>
  <HiddenSlides>0</HiddenSlides>
  <MMClips>0</MMClips>
  <ScaleCrop>false</ScaleCrop>
  <HeadingPairs>
    <vt:vector size="6" baseType="variant">
      <vt:variant>
        <vt:lpstr>主题</vt:lpstr>
      </vt:variant>
      <vt:variant>
        <vt:i4>3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153</vt:i4>
      </vt:variant>
    </vt:vector>
  </HeadingPairs>
  <TitlesOfParts>
    <vt:vector size="159" baseType="lpstr">
      <vt:lpstr>2_Pixel</vt:lpstr>
      <vt:lpstr>3_Pixel</vt:lpstr>
      <vt:lpstr>Pixel</vt:lpstr>
      <vt:lpstr>公式</vt:lpstr>
      <vt:lpstr>MathType 7.0 Equation</vt:lpstr>
      <vt:lpstr>Equation.3</vt:lpstr>
      <vt:lpstr>第4章 二元关系与函数</vt:lpstr>
      <vt:lpstr>4.1  集合的笛卡儿积和二元关系</vt:lpstr>
      <vt:lpstr>有序对</vt:lpstr>
      <vt:lpstr>有序 n 元组</vt:lpstr>
      <vt:lpstr>笛卡儿积</vt:lpstr>
      <vt:lpstr>笛卡儿积的性质</vt:lpstr>
      <vt:lpstr>性质的证明</vt:lpstr>
      <vt:lpstr>例题: </vt:lpstr>
      <vt:lpstr>PowerPoint 演示文稿</vt:lpstr>
      <vt:lpstr>PowerPoint 演示文稿</vt:lpstr>
      <vt:lpstr>二元关系的定义</vt:lpstr>
      <vt:lpstr>从A到B的关系与A上的关系</vt:lpstr>
      <vt:lpstr>A上重要关系的实例</vt:lpstr>
      <vt:lpstr>A上重要关系的实例（续）</vt:lpstr>
      <vt:lpstr>例题 </vt:lpstr>
      <vt:lpstr>关系的表示</vt:lpstr>
      <vt:lpstr>关系的表示(续)</vt:lpstr>
      <vt:lpstr>PowerPoint 演示文稿</vt:lpstr>
      <vt:lpstr>PowerPoint 演示文稿</vt:lpstr>
      <vt:lpstr>4.2  关系的运算</vt:lpstr>
      <vt:lpstr>关系的基本运算定义</vt:lpstr>
      <vt:lpstr>关系的运算—域</vt:lpstr>
      <vt:lpstr>关系的运算—域</vt:lpstr>
      <vt:lpstr>关系的运算—域</vt:lpstr>
      <vt:lpstr>关系的运算—域</vt:lpstr>
      <vt:lpstr>关系的基本运算定义（续）</vt:lpstr>
      <vt:lpstr>合成运算的图示方法</vt:lpstr>
      <vt:lpstr>逆和合成运算的矩阵方法</vt:lpstr>
      <vt:lpstr>PowerPoint 演示文稿</vt:lpstr>
      <vt:lpstr>合成运算的图示方法</vt:lpstr>
      <vt:lpstr>PowerPoint 演示文稿</vt:lpstr>
      <vt:lpstr>PowerPoint 演示文稿</vt:lpstr>
      <vt:lpstr>PowerPoint 演示文稿</vt:lpstr>
      <vt:lpstr>限制与像</vt:lpstr>
      <vt:lpstr>关系基本运算的性质 </vt:lpstr>
      <vt:lpstr>关系基本运算的性质（续） </vt:lpstr>
      <vt:lpstr>关系基本运算的性质（续） </vt:lpstr>
      <vt:lpstr>PowerPoint 演示文稿</vt:lpstr>
      <vt:lpstr>PowerPoint 演示文稿</vt:lpstr>
      <vt:lpstr>PowerPoint 演示文稿</vt:lpstr>
      <vt:lpstr>PowerPoint 演示文稿</vt:lpstr>
      <vt:lpstr>A上关系的幂运算</vt:lpstr>
      <vt:lpstr>幂的求法</vt:lpstr>
      <vt:lpstr>幂的求法（续）</vt:lpstr>
      <vt:lpstr>幂的求法（续）</vt:lpstr>
      <vt:lpstr>幂运算的性质</vt:lpstr>
      <vt:lpstr>幂运算的性质（续）</vt:lpstr>
      <vt:lpstr>幂运算的性质（续）</vt:lpstr>
      <vt:lpstr>PowerPoint 演示文稿</vt:lpstr>
      <vt:lpstr>4.3 关系的性质</vt:lpstr>
      <vt:lpstr>自反性与反自反性</vt:lpstr>
      <vt:lpstr>实例</vt:lpstr>
      <vt:lpstr>对称性与反对称性</vt:lpstr>
      <vt:lpstr>实例</vt:lpstr>
      <vt:lpstr>传递性  </vt:lpstr>
      <vt:lpstr>实例</vt:lpstr>
      <vt:lpstr>关系性质的充要条件</vt:lpstr>
      <vt:lpstr>关系性质判别</vt:lpstr>
      <vt:lpstr>实例</vt:lpstr>
      <vt:lpstr>自反性证明</vt:lpstr>
      <vt:lpstr>对称性证明</vt:lpstr>
      <vt:lpstr>反对称性证明</vt:lpstr>
      <vt:lpstr>传递性证明</vt:lpstr>
      <vt:lpstr>运算与性质的关系</vt:lpstr>
      <vt:lpstr>PowerPoint 演示文稿</vt:lpstr>
      <vt:lpstr>4.4 关系的闭包</vt:lpstr>
      <vt:lpstr>闭包定义</vt:lpstr>
      <vt:lpstr>闭包的构造方法</vt:lpstr>
      <vt:lpstr>闭包的构造方法（续）</vt:lpstr>
      <vt:lpstr>闭包的构造方法（续）</vt:lpstr>
      <vt:lpstr>实例</vt:lpstr>
      <vt:lpstr>PowerPoint 演示文稿</vt:lpstr>
      <vt:lpstr>PowerPoint 演示文稿</vt:lpstr>
      <vt:lpstr>PowerPoint 演示文稿</vt:lpstr>
      <vt:lpstr>4.5 等价关系与偏序关系</vt:lpstr>
      <vt:lpstr>等价关系的定义与实例</vt:lpstr>
      <vt:lpstr>等价关系的验证</vt:lpstr>
      <vt:lpstr>A上模3等价关系的关系图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等价类</vt:lpstr>
      <vt:lpstr>等价类的性质</vt:lpstr>
      <vt:lpstr>实例</vt:lpstr>
      <vt:lpstr>商集</vt:lpstr>
      <vt:lpstr>实例(续)</vt:lpstr>
      <vt:lpstr>课堂练习</vt:lpstr>
      <vt:lpstr>PowerPoint 演示文稿</vt:lpstr>
      <vt:lpstr>集合的划分</vt:lpstr>
      <vt:lpstr>例题</vt:lpstr>
      <vt:lpstr>等价关系与划分的一一对应</vt:lpstr>
      <vt:lpstr>等价关系与划分之间的对应</vt:lpstr>
      <vt:lpstr>实例</vt:lpstr>
      <vt:lpstr>实例（续）</vt:lpstr>
      <vt:lpstr>偏序关系</vt:lpstr>
      <vt:lpstr>PowerPoint 演示文稿</vt:lpstr>
      <vt:lpstr>相关概念</vt:lpstr>
      <vt:lpstr>相关概念（续）</vt:lpstr>
      <vt:lpstr>偏序集与哈斯图</vt:lpstr>
      <vt:lpstr>偏序集与哈斯图（续）</vt:lpstr>
      <vt:lpstr>哈斯图实例</vt:lpstr>
      <vt:lpstr>哈斯图实例（续）</vt:lpstr>
      <vt:lpstr>偏序集的特定元素</vt:lpstr>
      <vt:lpstr>PowerPoint 演示文稿</vt:lpstr>
      <vt:lpstr>特殊元素的性质</vt:lpstr>
      <vt:lpstr>偏序集的特定元素(续)</vt:lpstr>
      <vt:lpstr>PowerPoint 演示文稿</vt:lpstr>
      <vt:lpstr>特殊元素的性质</vt:lpstr>
      <vt:lpstr>PowerPoint 演示文稿</vt:lpstr>
      <vt:lpstr>PowerPoint 演示文稿</vt:lpstr>
      <vt:lpstr>PowerPoint 演示文稿</vt:lpstr>
      <vt:lpstr>4.6 函数的定义与性质</vt:lpstr>
      <vt:lpstr>函数定义</vt:lpstr>
      <vt:lpstr>函数相等</vt:lpstr>
      <vt:lpstr>从 A 到 B 的函数</vt:lpstr>
      <vt:lpstr>B上A</vt:lpstr>
      <vt:lpstr>实例</vt:lpstr>
      <vt:lpstr>函数的像</vt:lpstr>
      <vt:lpstr>函数的性质</vt:lpstr>
      <vt:lpstr>实例</vt:lpstr>
      <vt:lpstr>实例（续）</vt:lpstr>
      <vt:lpstr>构造从A到B的双射函数</vt:lpstr>
      <vt:lpstr>构造从A到B的双射函数（续）</vt:lpstr>
      <vt:lpstr>构造从A到B的双射函数（续）</vt:lpstr>
      <vt:lpstr>常函数、恒等函数、单调函数</vt:lpstr>
      <vt:lpstr>集合的特征函数</vt:lpstr>
      <vt:lpstr> 自然映射 </vt:lpstr>
      <vt:lpstr>实例</vt:lpstr>
      <vt:lpstr>PowerPoint 演示文稿</vt:lpstr>
      <vt:lpstr>PowerPoint 演示文稿</vt:lpstr>
      <vt:lpstr>PowerPoint 演示文稿</vt:lpstr>
      <vt:lpstr>PowerPoint 演示文稿</vt:lpstr>
      <vt:lpstr>4.7 函数的复合与反函数</vt:lpstr>
      <vt:lpstr>函数复合的定理</vt:lpstr>
      <vt:lpstr>函数复合运算的性质</vt:lpstr>
      <vt:lpstr>函数复合运算的性质（续）</vt:lpstr>
      <vt:lpstr>反函数存在的条件</vt:lpstr>
      <vt:lpstr>反函数</vt:lpstr>
      <vt:lpstr>反函数</vt:lpstr>
      <vt:lpstr>反函数的定义及性质</vt:lpstr>
      <vt:lpstr>课堂练习：</vt:lpstr>
      <vt:lpstr>解：</vt:lpstr>
      <vt:lpstr>函数复合与反函数计算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集合论</dc:title>
  <dc:creator>Caisd</dc:creator>
  <cp:lastModifiedBy>Windows 用户</cp:lastModifiedBy>
  <cp:revision>564</cp:revision>
  <cp:lastPrinted>1601-01-01T00:00:00Z</cp:lastPrinted>
  <dcterms:created xsi:type="dcterms:W3CDTF">2004-11-29T12:10:45Z</dcterms:created>
  <dcterms:modified xsi:type="dcterms:W3CDTF">2021-11-07T02:23:50Z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