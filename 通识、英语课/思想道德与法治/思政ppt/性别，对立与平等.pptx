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5" r:id="rId9"/>
    <p:sldId id="266" r:id="rId10"/>
    <p:sldId id="268" r:id="rId11"/>
    <p:sldId id="267" r:id="rId12"/>
    <p:sldId id="264" r:id="rId13"/>
    <p:sldId id="272" r:id="rId14"/>
    <p:sldId id="274" r:id="rId15"/>
    <p:sldId id="277" r:id="rId16"/>
    <p:sldId id="280" r:id="rId17"/>
    <p:sldId id="281" r:id="rId18"/>
    <p:sldId id="282" r:id="rId19"/>
    <p:sldId id="283" r:id="rId20"/>
    <p:sldId id="287" r:id="rId21"/>
    <p:sldId id="285" r:id="rId22"/>
    <p:sldId id="275" r:id="rId23"/>
    <p:sldId id="288" r:id="rId24"/>
    <p:sldId id="289" r:id="rId25"/>
    <p:sldId id="291" r:id="rId26"/>
    <p:sldId id="290" r:id="rId27"/>
    <p:sldId id="292" r:id="rId28"/>
    <p:sldId id="293" r:id="rId29"/>
    <p:sldId id="295" r:id="rId30"/>
    <p:sldId id="294" r:id="rId31"/>
    <p:sldId id="273" r:id="rId32"/>
    <p:sldId id="296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35915"/>
            <a:ext cx="9144000" cy="1409700"/>
          </a:xfrm>
        </p:spPr>
        <p:txBody>
          <a:bodyPr/>
          <a:p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性别，对立与平等</a:t>
            </a:r>
            <a:endParaRPr lang="zh-CN" altLang="en-US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51150" y="1817688"/>
            <a:ext cx="9144000" cy="1655762"/>
          </a:xfrm>
        </p:spPr>
        <p:txBody>
          <a:bodyPr/>
          <a:p>
            <a:pPr algn="r"/>
            <a:r>
              <a:rPr lang="en-US" altLang="zh-CN" sz="3600"/>
              <a:t>—</a:t>
            </a:r>
            <a:r>
              <a:rPr lang="zh-CN" altLang="en-US" sz="3600"/>
              <a:t>极端</a:t>
            </a:r>
            <a:r>
              <a:rPr lang="zh-CN" altLang="en-US" sz="3600"/>
              <a:t>主义与真正的</a:t>
            </a:r>
            <a:r>
              <a:rPr lang="en-US" altLang="zh-CN" sz="3600"/>
              <a:t>“</a:t>
            </a:r>
            <a:r>
              <a:rPr lang="zh-CN" altLang="en-US" sz="3600"/>
              <a:t>平等</a:t>
            </a:r>
            <a:r>
              <a:rPr lang="en-US" altLang="zh-CN" sz="3600"/>
              <a:t>”</a:t>
            </a:r>
            <a:endParaRPr lang="en-US" altLang="zh-CN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1940" y="1965325"/>
            <a:ext cx="4008120" cy="976630"/>
          </a:xfrm>
        </p:spPr>
        <p:txBody>
          <a:bodyPr>
            <a:noAutofit/>
          </a:bodyPr>
          <a:p>
            <a:r>
              <a:rPr lang="zh-CN" altLang="en-US" sz="6600"/>
              <a:t>一、</a:t>
            </a:r>
            <a:r>
              <a:rPr lang="zh-CN" altLang="en-US" sz="6600"/>
              <a:t>引入</a:t>
            </a:r>
            <a:endParaRPr lang="zh-CN" altLang="en-US" sz="6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2900045" cy="976630"/>
          </a:xfrm>
        </p:spPr>
        <p:txBody>
          <a:bodyPr/>
          <a:p>
            <a:r>
              <a:rPr lang="zh-CN" altLang="en-US"/>
              <a:t>一、</a:t>
            </a:r>
            <a:r>
              <a:rPr lang="zh-CN" altLang="en-US"/>
              <a:t>引入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0740" y="1189355"/>
            <a:ext cx="5447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在网上，大家或许看到过这些言论：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210" y="1293495"/>
            <a:ext cx="2618105" cy="12172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828" t="-1588" r="-630" b="51874"/>
          <a:stretch>
            <a:fillRect/>
          </a:stretch>
        </p:blipFill>
        <p:spPr>
          <a:xfrm>
            <a:off x="6288405" y="2510790"/>
            <a:ext cx="5699125" cy="3670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" y="1979930"/>
            <a:ext cx="5149850" cy="1346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723005"/>
            <a:ext cx="3227705" cy="866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40" y="5237480"/>
            <a:ext cx="3276600" cy="654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7255" y="1936115"/>
            <a:ext cx="10396855" cy="976630"/>
          </a:xfrm>
        </p:spPr>
        <p:txBody>
          <a:bodyPr>
            <a:noAutofit/>
          </a:bodyPr>
          <a:p>
            <a:r>
              <a:rPr lang="zh-CN" altLang="en-US" sz="6600"/>
              <a:t>二、一些概念和讨论的前提</a:t>
            </a:r>
            <a:endParaRPr lang="zh-CN" altLang="en-US" sz="6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二、一些概念和讨论的前提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0550" y="1682750"/>
            <a:ext cx="45821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原则：实事求是</a:t>
            </a:r>
            <a:endParaRPr lang="zh-CN" altLang="en-US" sz="44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741795" y="1008380"/>
            <a:ext cx="3856355" cy="21164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57935" y="3768725"/>
            <a:ext cx="877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真实情况是什么样，那就是什么样。</a:t>
            </a:r>
            <a:endParaRPr lang="zh-CN" altLang="en-US" sz="3200"/>
          </a:p>
          <a:p>
            <a:r>
              <a:rPr lang="zh-CN" altLang="en-US" sz="3200"/>
              <a:t>我们能做的就是发挥自己的</a:t>
            </a:r>
            <a:r>
              <a:rPr lang="zh-CN" altLang="en-US" sz="3200"/>
              <a:t>主观能动性，</a:t>
            </a:r>
            <a:endParaRPr lang="zh-CN" altLang="en-US" sz="3200"/>
          </a:p>
          <a:p>
            <a:r>
              <a:rPr lang="zh-CN" altLang="en-US" sz="3200"/>
              <a:t>去研究和理解事情本身，以此进行对应的改造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二、一些概念和讨论的前提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2775" y="1133475"/>
            <a:ext cx="5657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纠偏一：选择性事实</a:t>
            </a:r>
            <a:endParaRPr lang="zh-CN" altLang="en-US" sz="40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708785" y="2488565"/>
            <a:ext cx="877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他</a:t>
            </a:r>
            <a:r>
              <a:rPr lang="en-US" altLang="zh-CN" sz="3200"/>
              <a:t>/</a:t>
            </a:r>
            <a:r>
              <a:rPr lang="zh-CN" altLang="en-US" sz="3200"/>
              <a:t>她的确做了那样的事情啊，这样就是不对</a:t>
            </a:r>
            <a:r>
              <a:rPr lang="zh-CN" altLang="en-US" sz="3200"/>
              <a:t>的</a:t>
            </a:r>
            <a:endParaRPr lang="zh-CN" altLang="en-US" sz="3200"/>
          </a:p>
          <a:p>
            <a:r>
              <a:rPr lang="zh-CN" altLang="en-US" sz="3200"/>
              <a:t>所谓的</a:t>
            </a:r>
            <a:r>
              <a:rPr lang="en-US" altLang="zh-CN" sz="3200"/>
              <a:t>“xx</a:t>
            </a:r>
            <a:r>
              <a:rPr lang="zh-CN" altLang="en-US" sz="3200"/>
              <a:t>打人</a:t>
            </a:r>
            <a:r>
              <a:rPr lang="en-US" altLang="zh-CN" sz="3200"/>
              <a:t>”</a:t>
            </a:r>
            <a:endParaRPr lang="en-US" altLang="zh-CN" sz="3200"/>
          </a:p>
          <a:p>
            <a:r>
              <a:rPr lang="zh-CN" altLang="en-US" sz="3200"/>
              <a:t>淀粉肠事件</a:t>
            </a:r>
            <a:r>
              <a:rPr lang="zh-CN" altLang="en-US" sz="3200"/>
              <a:t>等等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1602105" y="4569460"/>
            <a:ext cx="93084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接下来讨论的差别，就是基于全面的事实来讨论的，特殊无法作为整体的概括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二、一些概念和讨论的前提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56210" y="1144270"/>
            <a:ext cx="4471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 </a:t>
            </a:r>
            <a:r>
              <a:rPr lang="en-US" altLang="zh-CN" sz="3600" b="1">
                <a:sym typeface="+mn-ea"/>
              </a:rPr>
              <a:t>「</a:t>
            </a:r>
            <a:r>
              <a:rPr lang="zh-CN" altLang="en-US" sz="3600" b="1"/>
              <a:t>男女之间的区别</a:t>
            </a:r>
            <a:r>
              <a:rPr lang="en-US" altLang="zh-CN" sz="3600">
                <a:sym typeface="+mn-ea"/>
              </a:rPr>
              <a:t>」</a:t>
            </a:r>
            <a:endParaRPr lang="en-US" altLang="zh-CN" sz="3600"/>
          </a:p>
        </p:txBody>
      </p:sp>
      <p:sp>
        <p:nvSpPr>
          <p:cNvPr id="3" name="文本框 2"/>
          <p:cNvSpPr txBox="1"/>
          <p:nvPr/>
        </p:nvSpPr>
        <p:spPr>
          <a:xfrm>
            <a:off x="817880" y="2623820"/>
            <a:ext cx="6717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男女之间最大的区别，来自于哪里呢？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817880" y="3940810"/>
            <a:ext cx="49980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没错，就是生理上的区别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二、一些概念和讨论的前提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0" y="1076960"/>
            <a:ext cx="4471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 </a:t>
            </a:r>
            <a:r>
              <a:rPr lang="en-US" altLang="zh-CN" sz="3600" b="1">
                <a:sym typeface="+mn-ea"/>
              </a:rPr>
              <a:t>「</a:t>
            </a:r>
            <a:r>
              <a:rPr lang="zh-CN" altLang="en-US" sz="3600" b="1"/>
              <a:t>男女之间的区别</a:t>
            </a:r>
            <a:r>
              <a:rPr lang="en-US" altLang="zh-CN" sz="3600" b="1">
                <a:sym typeface="+mn-ea"/>
              </a:rPr>
              <a:t>」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767715" y="2976245"/>
            <a:ext cx="109391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男性在基因上，大部分在体力和运动能力上是要大于女性的；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767715" y="3924935"/>
            <a:ext cx="6110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第一、第二性征上的区别；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767715" y="2125345"/>
            <a:ext cx="5180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染色体X与Y之间的不同；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767715" y="4723765"/>
            <a:ext cx="89693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身体形态上，皮下脂肪的不同，骨架的不同等等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二、一些概念和讨论的前提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63245" y="1167130"/>
            <a:ext cx="4471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逻辑谬误</a:t>
            </a:r>
            <a:r>
              <a:rPr lang="zh-CN" altLang="en-US" sz="3600" b="1"/>
              <a:t>介绍：</a:t>
            </a:r>
            <a:endParaRPr lang="zh-CN" altLang="en-US" sz="3600" b="1"/>
          </a:p>
        </p:txBody>
      </p:sp>
      <p:sp>
        <p:nvSpPr>
          <p:cNvPr id="6" name="文本框 5"/>
          <p:cNvSpPr txBox="1"/>
          <p:nvPr/>
        </p:nvSpPr>
        <p:spPr>
          <a:xfrm>
            <a:off x="767715" y="2125345"/>
            <a:ext cx="5180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归纳</a:t>
            </a:r>
            <a:r>
              <a:rPr lang="zh-CN" altLang="en-US" sz="2800"/>
              <a:t>谬误</a:t>
            </a:r>
            <a:endParaRPr lang="zh-CN" altLang="en-US" sz="2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2808605"/>
            <a:ext cx="8818245" cy="3506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0210" y="2059940"/>
            <a:ext cx="10396855" cy="976630"/>
          </a:xfrm>
        </p:spPr>
        <p:txBody>
          <a:bodyPr>
            <a:noAutofit/>
          </a:bodyPr>
          <a:p>
            <a:r>
              <a:rPr lang="zh-CN" altLang="en-US" sz="6600">
                <a:sym typeface="+mn-ea"/>
              </a:rPr>
              <a:t>三、什么是真正的</a:t>
            </a:r>
            <a:r>
              <a:rPr lang="zh-CN" altLang="en-US" sz="6600">
                <a:sym typeface="+mn-ea"/>
              </a:rPr>
              <a:t>平等</a:t>
            </a:r>
            <a:endParaRPr lang="zh-CN" altLang="en-US" sz="66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三、什么是真正的平等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320800" y="1523365"/>
            <a:ext cx="7204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平等是我们必须要做到的事情，但是单纯的平等并不是真正的</a:t>
            </a:r>
            <a:r>
              <a:rPr lang="zh-CN" altLang="en-US" sz="3600"/>
              <a:t>平等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1320800" y="4197350"/>
            <a:ext cx="10589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让我们先来看看为什么不能单纯</a:t>
            </a:r>
            <a:r>
              <a:rPr lang="zh-CN" altLang="en-US" sz="3600"/>
              <a:t>的平等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三、什么是真正的平等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0" y="1396365"/>
            <a:ext cx="3829685" cy="18497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0" y="3819525"/>
            <a:ext cx="5943600" cy="1600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88200" y="4343400"/>
            <a:ext cx="47752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这一段话，请大家思考一下，犯了什么逻辑错误？</a:t>
            </a:r>
            <a:endParaRPr lang="zh-CN" altLang="en-US" sz="3200"/>
          </a:p>
        </p:txBody>
      </p:sp>
      <p:sp>
        <p:nvSpPr>
          <p:cNvPr id="10" name="文本框 9"/>
          <p:cNvSpPr txBox="1"/>
          <p:nvPr/>
        </p:nvSpPr>
        <p:spPr>
          <a:xfrm>
            <a:off x="1361440" y="1396365"/>
            <a:ext cx="48387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一个典型例子便是公安、消防院校的男女招生比例。</a:t>
            </a:r>
            <a:endParaRPr lang="zh-CN" altLang="en-US" sz="3200"/>
          </a:p>
        </p:txBody>
      </p:sp>
      <p:sp>
        <p:nvSpPr>
          <p:cNvPr id="12" name="文本框 11"/>
          <p:cNvSpPr txBox="1"/>
          <p:nvPr/>
        </p:nvSpPr>
        <p:spPr>
          <a:xfrm>
            <a:off x="1361440" y="2662555"/>
            <a:ext cx="4953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自然有人觉得不公平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三、什么是真正的平等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361440" y="1396365"/>
            <a:ext cx="55492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实际上：由于男女之间的生理区别，才有这种规定</a:t>
            </a:r>
            <a:r>
              <a:rPr lang="zh-CN" altLang="en-US" sz="3200"/>
              <a:t>的</a:t>
            </a: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" y="2560955"/>
            <a:ext cx="6642100" cy="1593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" y="4420870"/>
            <a:ext cx="6762750" cy="1860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710" y="1754505"/>
            <a:ext cx="453517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三、什么是真正的平等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2341"/>
          <a:stretch>
            <a:fillRect/>
          </a:stretch>
        </p:blipFill>
        <p:spPr>
          <a:xfrm>
            <a:off x="661035" y="1331595"/>
            <a:ext cx="8794750" cy="9296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1035" y="2872105"/>
            <a:ext cx="970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由于基因决定的生育特性，女生与小孩子的</a:t>
            </a:r>
            <a:r>
              <a:rPr lang="zh-CN" altLang="en-US"/>
              <a:t>亲和力更强，也就相对与男生更加适合幼师的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1035" y="3633470"/>
            <a:ext cx="91611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很明显可以看的出来，男女生之间是有区别的，如果说在类似的事情</a:t>
            </a:r>
            <a:r>
              <a:rPr lang="zh-CN" altLang="en-US" sz="2400"/>
              <a:t>之上，男女直接平等的话，会造成实际上的不平等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789940" y="4745355"/>
            <a:ext cx="3681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这是我们应该避免的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0210" y="2059940"/>
            <a:ext cx="10396855" cy="976630"/>
          </a:xfrm>
        </p:spPr>
        <p:txBody>
          <a:bodyPr>
            <a:noAutofit/>
          </a:bodyPr>
          <a:p>
            <a:r>
              <a:rPr lang="zh-CN" altLang="en-US" sz="6600">
                <a:sym typeface="+mn-ea"/>
              </a:rPr>
              <a:t>四、他们怎么</a:t>
            </a:r>
            <a:r>
              <a:rPr lang="zh-CN" altLang="en-US" sz="6600">
                <a:sym typeface="+mn-ea"/>
              </a:rPr>
              <a:t>错了？</a:t>
            </a:r>
            <a:endParaRPr lang="zh-CN" altLang="en-US" sz="660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四、他们怎么错了？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15" y="1337945"/>
            <a:ext cx="5683250" cy="1619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5" y="3415665"/>
            <a:ext cx="5753100" cy="1308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00190" y="1393825"/>
            <a:ext cx="3783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国外的女权抗议常常赤裸上衣</a:t>
            </a:r>
            <a:r>
              <a:rPr lang="zh-CN" altLang="en-US"/>
              <a:t>抗议</a:t>
            </a:r>
            <a:endParaRPr lang="zh-CN" altLang="en-US"/>
          </a:p>
          <a:p>
            <a:r>
              <a:rPr lang="zh-CN" altLang="en-US"/>
              <a:t>以追求绝对</a:t>
            </a:r>
            <a:r>
              <a:rPr lang="zh-CN" altLang="en-US"/>
              <a:t>平等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00190" y="2483485"/>
            <a:ext cx="3629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请大家想一想，为什么会这样</a:t>
            </a:r>
            <a:r>
              <a:rPr lang="zh-CN" altLang="en-US"/>
              <a:t>呢？</a:t>
            </a:r>
            <a:endParaRPr lang="zh-CN" altLang="en-US"/>
          </a:p>
          <a:p>
            <a:r>
              <a:rPr lang="zh-CN" altLang="en-US"/>
              <a:t>这样实际上是</a:t>
            </a:r>
            <a:r>
              <a:rPr lang="zh-CN" altLang="en-US"/>
              <a:t>什么？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00190" y="3347720"/>
            <a:ext cx="5568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没错，因为第二</a:t>
            </a:r>
            <a:r>
              <a:rPr lang="zh-CN" altLang="en-US"/>
              <a:t>性征。</a:t>
            </a:r>
            <a:endParaRPr lang="zh-CN" altLang="en-US"/>
          </a:p>
          <a:p>
            <a:r>
              <a:rPr lang="zh-CN" altLang="en-US"/>
              <a:t>男性本身是应该完全没有这个性征的（无用</a:t>
            </a:r>
            <a:r>
              <a:rPr lang="zh-CN" altLang="en-US"/>
              <a:t>器官）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00190" y="4211955"/>
            <a:ext cx="48152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看起来好像是抗议对吧，</a:t>
            </a:r>
            <a:r>
              <a:rPr lang="zh-CN" altLang="en-US"/>
              <a:t>但生理结构实际上的不同反而造成了实质上的不平等（造成的实际裸露是不同</a:t>
            </a:r>
            <a:r>
              <a:rPr lang="zh-CN" altLang="en-US"/>
              <a:t>的）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四、他们怎么错了？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5" y="1294130"/>
            <a:ext cx="4387850" cy="50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5" y="2040890"/>
            <a:ext cx="4425950" cy="50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4215" y="2657475"/>
            <a:ext cx="43872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第二个是给女生宿舍送饮水机大桶水的大爷被举报，从而导致一整个宿舍都失去了送门上水的服务，还让大爷失去了经济来源。</a:t>
            </a:r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15" y="4904740"/>
            <a:ext cx="4305300" cy="698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04215" y="5980430"/>
            <a:ext cx="366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“</a:t>
            </a:r>
            <a:r>
              <a:rPr lang="zh-CN" altLang="en-US" sz="2400"/>
              <a:t>不等式</a:t>
            </a:r>
            <a:r>
              <a:rPr lang="en-US" altLang="zh-CN" sz="2400"/>
              <a:t>”</a:t>
            </a:r>
            <a:endParaRPr lang="en-US" altLang="zh-CN" sz="2400"/>
          </a:p>
        </p:txBody>
      </p:sp>
      <p:sp>
        <p:nvSpPr>
          <p:cNvPr id="14" name="文本框 13"/>
          <p:cNvSpPr txBox="1"/>
          <p:nvPr/>
        </p:nvSpPr>
        <p:spPr>
          <a:xfrm>
            <a:off x="6293485" y="1294130"/>
            <a:ext cx="43757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左边这些就是在贴吧和</a:t>
            </a:r>
            <a:r>
              <a:rPr lang="en-US" altLang="zh-CN" sz="2400"/>
              <a:t>B</a:t>
            </a:r>
            <a:r>
              <a:rPr lang="zh-CN" altLang="en-US" sz="2400"/>
              <a:t>站主要流行的所谓</a:t>
            </a:r>
            <a:r>
              <a:rPr lang="en-US" altLang="zh-CN" sz="2400"/>
              <a:t>“</a:t>
            </a:r>
            <a:r>
              <a:rPr lang="zh-CN" altLang="en-US" sz="2400"/>
              <a:t>小仙女</a:t>
            </a:r>
            <a:r>
              <a:rPr lang="en-US" altLang="zh-CN" sz="2400"/>
              <a:t>”</a:t>
            </a:r>
            <a:r>
              <a:rPr lang="zh-CN" altLang="en-US" sz="2400"/>
              <a:t>例子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四、他们怎么错了？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5831840" y="4898390"/>
            <a:ext cx="4293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请大家想想，这些东西和性别有关</a:t>
            </a:r>
            <a:r>
              <a:rPr lang="zh-CN" altLang="en-US"/>
              <a:t>吗？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0375" y="1539875"/>
            <a:ext cx="462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但是评论区却出现了这些</a:t>
            </a:r>
            <a:r>
              <a:rPr lang="zh-CN" altLang="en-US"/>
              <a:t>东西：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1988820"/>
            <a:ext cx="3733800" cy="2381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4733290"/>
            <a:ext cx="2235200" cy="698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840" y="2299970"/>
            <a:ext cx="3536950" cy="1028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31840" y="1620520"/>
            <a:ext cx="287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也有</a:t>
            </a:r>
            <a:r>
              <a:rPr lang="zh-CN" altLang="en-US"/>
              <a:t>这种：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840" y="3421380"/>
            <a:ext cx="3028950" cy="10985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909445" y="5586730"/>
            <a:ext cx="7779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是的</a:t>
            </a:r>
            <a:r>
              <a:rPr lang="zh-CN" altLang="en-US"/>
              <a:t>，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094990" y="5506720"/>
            <a:ext cx="8115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/>
              <a:t>无关，只与个人</a:t>
            </a:r>
            <a:r>
              <a:rPr lang="zh-CN" altLang="en-US" sz="5400"/>
              <a:t>有关。</a:t>
            </a:r>
            <a:endParaRPr lang="zh-CN" altLang="en-US" sz="5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0210" y="2059940"/>
            <a:ext cx="10396855" cy="976630"/>
          </a:xfrm>
        </p:spPr>
        <p:txBody>
          <a:bodyPr>
            <a:noAutofit/>
          </a:bodyPr>
          <a:p>
            <a:r>
              <a:rPr lang="zh-CN" altLang="en-US" sz="6600">
                <a:sym typeface="+mn-ea"/>
              </a:rPr>
              <a:t>五、为什么会变成</a:t>
            </a:r>
            <a:r>
              <a:rPr lang="zh-CN" altLang="en-US" sz="6600">
                <a:sym typeface="+mn-ea"/>
              </a:rPr>
              <a:t>这样？</a:t>
            </a:r>
            <a:endParaRPr lang="zh-CN" altLang="en-US" sz="660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五、为什么会变成这样？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" y="1338580"/>
            <a:ext cx="5702300" cy="2362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45880" r="-134"/>
          <a:stretch>
            <a:fillRect/>
          </a:stretch>
        </p:blipFill>
        <p:spPr>
          <a:xfrm>
            <a:off x="644525" y="4144645"/>
            <a:ext cx="5213985" cy="9759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427595" y="1350010"/>
            <a:ext cx="37318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国内大部分的所谓女权，都不外乎这两种。</a:t>
            </a:r>
            <a:endParaRPr lang="zh-CN" altLang="en-US" sz="2800"/>
          </a:p>
        </p:txBody>
      </p:sp>
      <p:sp>
        <p:nvSpPr>
          <p:cNvPr id="12" name="文本框 11"/>
          <p:cNvSpPr txBox="1"/>
          <p:nvPr/>
        </p:nvSpPr>
        <p:spPr>
          <a:xfrm>
            <a:off x="7458710" y="2755265"/>
            <a:ext cx="347662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女权作为现代化必经之路，作为社会主义</a:t>
            </a:r>
            <a:r>
              <a:rPr lang="en-US" altLang="zh-CN" sz="2800"/>
              <a:t>/</a:t>
            </a:r>
            <a:r>
              <a:rPr lang="zh-CN" altLang="en-US" sz="2800"/>
              <a:t>共产主义是必须要做的</a:t>
            </a:r>
            <a:endParaRPr lang="zh-CN" altLang="en-US" sz="2800"/>
          </a:p>
        </p:txBody>
      </p:sp>
      <p:sp>
        <p:nvSpPr>
          <p:cNvPr id="14" name="文本框 13"/>
          <p:cNvSpPr txBox="1"/>
          <p:nvPr/>
        </p:nvSpPr>
        <p:spPr>
          <a:xfrm>
            <a:off x="7458710" y="5022215"/>
            <a:ext cx="50349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真正的女权在哪里？</a:t>
            </a:r>
            <a:endParaRPr lang="zh-CN" altLang="en-US" sz="2800"/>
          </a:p>
        </p:txBody>
      </p:sp>
      <p:sp>
        <p:nvSpPr>
          <p:cNvPr id="19" name="文本框 18"/>
          <p:cNvSpPr txBox="1"/>
          <p:nvPr/>
        </p:nvSpPr>
        <p:spPr>
          <a:xfrm>
            <a:off x="3876675" y="5733415"/>
            <a:ext cx="7442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在妇联、宪法、党</a:t>
            </a:r>
            <a:endParaRPr lang="zh-CN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五、为什么会变成这样？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" y="1774190"/>
            <a:ext cx="5267960" cy="22536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78930" y="1774190"/>
            <a:ext cx="50825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男女平等是社会主义国家的立国之本，我们不可能也绝对不会允许其加深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五、为什么会变成这样？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81710" y="1664335"/>
            <a:ext cx="10229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那网上的那些言论，除了某些人犯了</a:t>
            </a:r>
            <a:r>
              <a:rPr lang="zh-CN" altLang="en-US" sz="2800"/>
              <a:t>某些错误</a:t>
            </a:r>
            <a:r>
              <a:rPr lang="zh-CN" altLang="en-US" sz="2800"/>
              <a:t>之外，还有什么呢？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060450" y="2724785"/>
            <a:ext cx="98723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还有流量、阶级的本质内容</a:t>
            </a:r>
            <a:endParaRPr lang="zh-CN" altLang="en-US" sz="3600"/>
          </a:p>
          <a:p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981710" y="4174490"/>
            <a:ext cx="106032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ym typeface="+mn-ea"/>
              </a:rPr>
              <a:t>以及互联网由于抽象和比喻向外扩张而导致的争论和骂战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五、为什么会变成这样？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" y="1292860"/>
            <a:ext cx="6673850" cy="2222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56525" y="301815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-觅2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72490" y="4196080"/>
            <a:ext cx="4119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从阶级问题上，压迫和剥削是来源于阶级的差距</a:t>
            </a:r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872490" y="5528310"/>
            <a:ext cx="3951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跟性别无关</a:t>
            </a:r>
            <a:endParaRPr lang="zh-CN" altLang="en-US" sz="3200"/>
          </a:p>
        </p:txBody>
      </p:sp>
      <p:sp>
        <p:nvSpPr>
          <p:cNvPr id="10" name="文本框 9"/>
          <p:cNvSpPr txBox="1"/>
          <p:nvPr/>
        </p:nvSpPr>
        <p:spPr>
          <a:xfrm>
            <a:off x="8561705" y="1825625"/>
            <a:ext cx="2868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西方水军的舆论引导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61705" y="2560320"/>
            <a:ext cx="2728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微博乌克兰关键词</a:t>
            </a:r>
            <a:r>
              <a:rPr lang="zh-CN" altLang="en-US"/>
              <a:t>事件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五、为什么会变成这样？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57935" y="1743710"/>
            <a:ext cx="8729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网络骂战的产生原因之一：《在亲自测量一场网络骂战之后，我们找到了从中脱身的方法》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57935" y="2388870"/>
            <a:ext cx="8108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https://www.bilibili.com/video/BV1uM411u7tN/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0210" y="2059940"/>
            <a:ext cx="10396855" cy="976630"/>
          </a:xfrm>
        </p:spPr>
        <p:txBody>
          <a:bodyPr>
            <a:noAutofit/>
          </a:bodyPr>
          <a:p>
            <a:r>
              <a:rPr lang="zh-CN" altLang="en-US" sz="6600">
                <a:sym typeface="+mn-ea"/>
              </a:rPr>
              <a:t>六、我们能做些</a:t>
            </a:r>
            <a:r>
              <a:rPr lang="zh-CN" altLang="en-US" sz="6600">
                <a:sym typeface="+mn-ea"/>
              </a:rPr>
              <a:t>什么？</a:t>
            </a:r>
            <a:endParaRPr lang="zh-CN" altLang="en-US" sz="6600"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六、我们能做些什么？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57935" y="1743710"/>
            <a:ext cx="8729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总结：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1257935" y="2725420"/>
            <a:ext cx="81089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性别根本不是矛盾和抵触的真正来源，具体情况具体对待才是平等，而我们已经在这样做</a:t>
            </a:r>
            <a:r>
              <a:rPr lang="zh-CN" altLang="en-US" sz="2800"/>
              <a:t>了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1257935" y="3881755"/>
            <a:ext cx="8935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从大家的周围来看，男女对立真的有那么尖锐吗？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1257935" y="4744720"/>
            <a:ext cx="7961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是没有的，我们应该放下对于男女对立的意见</a:t>
            </a:r>
            <a:endParaRPr lang="zh-CN" altLang="en-US" sz="2800"/>
          </a:p>
        </p:txBody>
      </p:sp>
      <p:sp>
        <p:nvSpPr>
          <p:cNvPr id="8" name="文本框 7"/>
          <p:cNvSpPr txBox="1"/>
          <p:nvPr/>
        </p:nvSpPr>
        <p:spPr>
          <a:xfrm>
            <a:off x="1257935" y="5499100"/>
            <a:ext cx="83794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着眼于具体的事情或者人，而不是扩展到一个大群体之中，去无差别攻击里面的群体，不仅逻辑错误，也会造成更大的伤害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61155" y="2940685"/>
            <a:ext cx="10396855" cy="976630"/>
          </a:xfrm>
        </p:spPr>
        <p:txBody>
          <a:bodyPr>
            <a:noAutofit/>
          </a:bodyPr>
          <a:p>
            <a:r>
              <a:rPr lang="zh-CN" altLang="en-US" sz="6600">
                <a:sym typeface="+mn-ea"/>
              </a:rPr>
              <a:t>七、</a:t>
            </a:r>
            <a:r>
              <a:rPr lang="zh-CN" altLang="en-US" sz="6600">
                <a:sym typeface="+mn-ea"/>
              </a:rPr>
              <a:t>彩蛋</a:t>
            </a:r>
            <a:endParaRPr lang="zh-CN" altLang="en-US" sz="6600"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5885180" cy="976630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彩蛋：</a:t>
            </a:r>
            <a:r>
              <a:rPr lang="en-US" altLang="zh-CN">
                <a:sym typeface="+mn-ea"/>
              </a:rPr>
              <a:t>LGBTQ</a:t>
            </a:r>
            <a:r>
              <a:rPr lang="zh-CN" altLang="en-US">
                <a:sym typeface="+mn-ea"/>
              </a:rPr>
              <a:t>群体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0740" y="1189355"/>
            <a:ext cx="5447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在网上，大家或许看到过这些讨论：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879600"/>
            <a:ext cx="7727950" cy="50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0740" y="2617470"/>
            <a:ext cx="2166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“</a:t>
            </a:r>
            <a:r>
              <a:rPr lang="zh-CN" altLang="en-US" sz="2800"/>
              <a:t>男娘</a:t>
            </a:r>
            <a:r>
              <a:rPr lang="en-US" altLang="zh-CN" sz="2800"/>
              <a:t>”</a:t>
            </a:r>
            <a:endParaRPr lang="en-US" altLang="zh-CN" sz="2800"/>
          </a:p>
        </p:txBody>
      </p:sp>
      <p:sp>
        <p:nvSpPr>
          <p:cNvPr id="12" name="文本框 11"/>
          <p:cNvSpPr txBox="1"/>
          <p:nvPr/>
        </p:nvSpPr>
        <p:spPr>
          <a:xfrm>
            <a:off x="840740" y="3358515"/>
            <a:ext cx="26346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LGBTQ</a:t>
            </a:r>
            <a:endParaRPr lang="en-US" altLang="zh-CN" sz="3200"/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840740" y="4399915"/>
            <a:ext cx="2480945" cy="1722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2645410" y="326644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400"/>
              <a:t>“LGBTQIAPKD”</a:t>
            </a:r>
            <a:endParaRPr lang="en-US" altLang="zh-CN" sz="4400"/>
          </a:p>
        </p:txBody>
      </p:sp>
      <p:sp>
        <p:nvSpPr>
          <p:cNvPr id="15" name="文本框 14"/>
          <p:cNvSpPr txBox="1"/>
          <p:nvPr/>
        </p:nvSpPr>
        <p:spPr>
          <a:xfrm>
            <a:off x="4006215" y="4521200"/>
            <a:ext cx="2429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“出柜”</a:t>
            </a:r>
            <a:endParaRPr lang="en-US" altLang="zh-CN" sz="3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570" y="3190240"/>
            <a:ext cx="3010535" cy="8375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13270" y="4694555"/>
            <a:ext cx="287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我的性别是武装</a:t>
            </a:r>
            <a:r>
              <a:rPr lang="zh-CN" altLang="en-US"/>
              <a:t>直升机</a:t>
            </a:r>
            <a:endParaRPr lang="zh-CN" altLang="en-US"/>
          </a:p>
          <a:p>
            <a:r>
              <a:rPr lang="zh-CN" altLang="en-US"/>
              <a:t>我的性别是沃尔玛</a:t>
            </a:r>
            <a:r>
              <a:rPr lang="zh-CN" altLang="en-US"/>
              <a:t>购物袋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  <p:bldP spid="15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" y="100330"/>
            <a:ext cx="7302500" cy="976630"/>
          </a:xfrm>
        </p:spPr>
        <p:txBody>
          <a:bodyPr>
            <a:normAutofit/>
          </a:bodyPr>
          <a:p>
            <a:r>
              <a:rPr lang="zh-CN" altLang="en-US"/>
              <a:t>彩蛋：</a:t>
            </a:r>
            <a:r>
              <a:rPr lang="en-US" altLang="zh-CN"/>
              <a:t>LGBTQ</a:t>
            </a:r>
            <a:r>
              <a:rPr lang="zh-CN" altLang="en-US"/>
              <a:t>群体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38030" y="179070"/>
            <a:ext cx="2553970" cy="1344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99440" y="1523365"/>
            <a:ext cx="845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国外的一个主要的政治因素</a:t>
            </a:r>
            <a:endParaRPr lang="zh-CN" altLang="en-US" sz="2800"/>
          </a:p>
        </p:txBody>
      </p:sp>
      <p:sp>
        <p:nvSpPr>
          <p:cNvPr id="9" name="文本框 8"/>
          <p:cNvSpPr txBox="1"/>
          <p:nvPr/>
        </p:nvSpPr>
        <p:spPr>
          <a:xfrm>
            <a:off x="599440" y="2265045"/>
            <a:ext cx="95300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但我们翻看</a:t>
            </a:r>
            <a:r>
              <a:rPr lang="en-US" altLang="zh-CN" sz="2800"/>
              <a:t>LGBTQ</a:t>
            </a:r>
            <a:r>
              <a:rPr lang="zh-CN" altLang="en-US" sz="2800"/>
              <a:t>群体的定义时，</a:t>
            </a:r>
            <a:r>
              <a:rPr lang="en-US" altLang="zh-CN" sz="2800"/>
              <a:t>LGBTQ</a:t>
            </a:r>
            <a:r>
              <a:rPr lang="zh-CN" altLang="en-US" sz="2800"/>
              <a:t>是由什么定义的？</a:t>
            </a:r>
            <a:endParaRPr lang="zh-CN" altLang="en-US" sz="2800"/>
          </a:p>
        </p:txBody>
      </p:sp>
      <p:sp>
        <p:nvSpPr>
          <p:cNvPr id="10" name="文本框 9"/>
          <p:cNvSpPr txBox="1"/>
          <p:nvPr/>
        </p:nvSpPr>
        <p:spPr>
          <a:xfrm>
            <a:off x="599440" y="3007360"/>
            <a:ext cx="8715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是性取向和性别认同。实质上与自身的生理性别无关</a:t>
            </a:r>
            <a:endParaRPr lang="zh-CN" altLang="en-US" sz="2800"/>
          </a:p>
        </p:txBody>
      </p:sp>
      <p:sp>
        <p:nvSpPr>
          <p:cNvPr id="11" name="文本框 10"/>
          <p:cNvSpPr txBox="1"/>
          <p:nvPr/>
        </p:nvSpPr>
        <p:spPr>
          <a:xfrm>
            <a:off x="599440" y="4796155"/>
            <a:ext cx="109531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也就是，他们和我们一样，都是平等的，也有要危害社会的坏人，也有平平淡淡只想成为自己的人，也有的只是寻求认同</a:t>
            </a:r>
            <a:r>
              <a:rPr lang="zh-CN" altLang="en-US" sz="2800"/>
              <a:t>而已</a:t>
            </a:r>
            <a:endParaRPr lang="zh-CN" altLang="en-US" sz="2800"/>
          </a:p>
        </p:txBody>
      </p:sp>
      <p:sp>
        <p:nvSpPr>
          <p:cNvPr id="12" name="文本框 11"/>
          <p:cNvSpPr txBox="1"/>
          <p:nvPr/>
        </p:nvSpPr>
        <p:spPr>
          <a:xfrm>
            <a:off x="599440" y="3975100"/>
            <a:ext cx="9558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例子：国外的厕所性别已经快没有区别了</a:t>
            </a:r>
            <a:endParaRPr lang="zh-CN" altLang="en-US" sz="28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75" y="3945890"/>
            <a:ext cx="3446145" cy="5511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46125" y="5989320"/>
            <a:ext cx="102596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政治权力上面，</a:t>
            </a:r>
            <a:r>
              <a:rPr lang="en-US" altLang="zh-CN" sz="2400"/>
              <a:t>LGBTQ</a:t>
            </a:r>
            <a:r>
              <a:rPr lang="zh-CN" altLang="en-US" sz="2400"/>
              <a:t>群体本来就很少，政治中没有他们的声量是很正常的。如果说硬要拉出来搞什么所谓的政治正确，才是对他们的伤害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1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引用：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1691005"/>
            <a:ext cx="9574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「</a:t>
            </a:r>
            <a:r>
              <a:rPr lang="zh-CN" altLang="en-US" sz="2400" b="1"/>
              <a:t>关注」继@中国警察网 之后，@中国消防 也挨“锤”了？</a:t>
            </a:r>
            <a:r>
              <a:rPr lang="en-US" altLang="zh-CN" sz="2400" b="1"/>
              <a:t>-</a:t>
            </a:r>
            <a:r>
              <a:rPr lang="zh-CN" altLang="en-US" sz="2400" b="1"/>
              <a:t>人民日报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838200" y="2442845"/>
            <a:ext cx="689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《(ง'̀-'́)ง 🤜🤛Q(’̀-’̀Q )》</a:t>
            </a:r>
            <a:r>
              <a:rPr lang="zh-CN" altLang="en-US" sz="2400" b="1"/>
              <a:t>简介-觅2</a:t>
            </a:r>
            <a:endParaRPr lang="zh-CN" altLang="en-US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948055" y="3255645"/>
            <a:ext cx="10405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在亲自测量一场网络骂战之后，我们找到了从中脱身的方法》</a:t>
            </a:r>
            <a:r>
              <a:rPr lang="en-US" altLang="zh-CN" sz="2400" b="1">
                <a:sym typeface="+mn-ea"/>
              </a:rPr>
              <a:t>-eyesopener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948055" y="4083050"/>
            <a:ext cx="10887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避坑！用政治正确祸害游戏圈的组织SweetBaby，被玩家列了一个黑名单</a:t>
            </a:r>
            <a:endParaRPr lang="zh-CN" altLang="en-US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10647045" y="4145280"/>
            <a:ext cx="15449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-</a:t>
            </a:r>
            <a:r>
              <a:rPr lang="zh-CN" altLang="en-US" sz="2000" b="1"/>
              <a:t>碎碎念工坊</a:t>
            </a:r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948055" y="5022850"/>
            <a:ext cx="4462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斯图卡</a:t>
            </a:r>
            <a:r>
              <a:rPr lang="en-US" altLang="zh-CN" sz="2400" b="1"/>
              <a:t>98</a:t>
            </a:r>
            <a:r>
              <a:rPr lang="zh-CN" altLang="en-US" sz="2400" b="1"/>
              <a:t>、</a:t>
            </a:r>
            <a:r>
              <a:rPr lang="en-US" altLang="zh-CN" sz="2400" b="1"/>
              <a:t>RT</a:t>
            </a:r>
            <a:r>
              <a:rPr lang="zh-CN" altLang="en-US" sz="2400" b="1"/>
              <a:t>今日俄罗斯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100" y="4074160"/>
            <a:ext cx="10515600" cy="1325563"/>
          </a:xfrm>
        </p:spPr>
        <p:txBody>
          <a:bodyPr/>
          <a:p>
            <a:pPr algn="ctr"/>
            <a:r>
              <a:rPr lang="zh-CN" altLang="en-US" sz="6000">
                <a:ln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谢谢大家！</a:t>
            </a:r>
            <a:endParaRPr lang="zh-CN" altLang="en-US" sz="6000">
              <a:ln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a1afc99-5541-4d8c-826a-3a8115eb9f3d"/>
  <p:tag name="COMMONDATA" val="eyJoZGlkIjoiMGUwMzM5OTI4YTM0YjQ0ODhlODJlNjE0OWNjODk0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1935</Words>
  <Application>WPS 演示</Application>
  <PresentationFormat>宽屏</PresentationFormat>
  <Paragraphs>225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宋体</vt:lpstr>
      <vt:lpstr>Wingdings</vt:lpstr>
      <vt:lpstr>华文中宋</vt:lpstr>
      <vt:lpstr>Calibri</vt:lpstr>
      <vt:lpstr>微软雅黑</vt:lpstr>
      <vt:lpstr>Arial Unicode MS</vt:lpstr>
      <vt:lpstr>Cordia New</vt:lpstr>
      <vt:lpstr>Segoe Print</vt:lpstr>
      <vt:lpstr>Office 主题</vt:lpstr>
      <vt:lpstr>性别，对立与平等</vt:lpstr>
      <vt:lpstr>一、引入</vt:lpstr>
      <vt:lpstr>一、引入</vt:lpstr>
      <vt:lpstr>二、一些概念和讨论的前提</vt:lpstr>
      <vt:lpstr>二、一些概念和讨论的前提</vt:lpstr>
      <vt:lpstr>二、一些概念和讨论的前提</vt:lpstr>
      <vt:lpstr>二、一些概念和讨论的前提</vt:lpstr>
      <vt:lpstr>二、一些概念和讨论的前提</vt:lpstr>
      <vt:lpstr>二、一些概念和讨论的前提</vt:lpstr>
      <vt:lpstr>三、「绝对但有区别的平等」</vt:lpstr>
      <vt:lpstr>三、「绝对但有区别的平等」</vt:lpstr>
      <vt:lpstr>三、「绝对但有区别的平等」</vt:lpstr>
      <vt:lpstr>三、「绝对但有区别的平等」</vt:lpstr>
      <vt:lpstr>三、「绝对但有区别的平等」</vt:lpstr>
      <vt:lpstr>三、什么是真正的平等</vt:lpstr>
      <vt:lpstr>三、「绝对但有区别的平等」</vt:lpstr>
      <vt:lpstr>四、他们怎么错了？</vt:lpstr>
      <vt:lpstr>四、他们怎么错了？</vt:lpstr>
      <vt:lpstr>四、他们怎么错了？</vt:lpstr>
      <vt:lpstr>四、他们怎么错了？</vt:lpstr>
      <vt:lpstr>三、「绝对但有区别的平等」</vt:lpstr>
      <vt:lpstr>五、为什么会变成这样？</vt:lpstr>
      <vt:lpstr>五、为什么会变成这样？</vt:lpstr>
      <vt:lpstr>五、为什么会变成这样？</vt:lpstr>
      <vt:lpstr>四、他们怎么错了？</vt:lpstr>
      <vt:lpstr>五、为什么会变成这样？</vt:lpstr>
      <vt:lpstr>六、我们能做些什么？</vt:lpstr>
      <vt:lpstr>一、引入</vt:lpstr>
      <vt:lpstr>六、我们能做些什么？</vt:lpstr>
      <vt:lpstr>引用：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Chino</dc:creator>
  <cp:lastModifiedBy>嘉聪</cp:lastModifiedBy>
  <cp:revision>8</cp:revision>
  <dcterms:created xsi:type="dcterms:W3CDTF">2024-05-04T14:18:00Z</dcterms:created>
  <dcterms:modified xsi:type="dcterms:W3CDTF">2024-05-09T04:46:37Z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5D09BFFFB7084C4F809F1DF99B5135C9</vt:lpwstr>
  </property>
  <property fmtid="{D5CDD505-2E9C-101B-9397-08002B2CF9AE}" pid="3" name="KSOProductBuildVer">
    <vt:lpwstr>2052-11.1.0.12165</vt:lpwstr>
  </property>
</Properties>
</file>