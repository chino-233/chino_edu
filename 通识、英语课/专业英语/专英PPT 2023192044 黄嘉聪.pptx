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8.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314" r:id="rId3"/>
    <p:sldId id="368" r:id="rId4"/>
    <p:sldId id="369" r:id="rId5"/>
    <p:sldId id="499" r:id="rId6"/>
    <p:sldId id="500" r:id="rId7"/>
    <p:sldId id="501" r:id="rId8"/>
    <p:sldId id="457" r:id="rId9"/>
    <p:sldId id="275" r:id="rId10"/>
    <p:sldId id="502" r:id="rId11"/>
    <p:sldId id="503" r:id="rId12"/>
    <p:sldId id="453" r:id="rId13"/>
    <p:sldId id="504" r:id="rId14"/>
    <p:sldId id="505" r:id="rId15"/>
    <p:sldId id="50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09FB"/>
    <a:srgbClr val="7A68FC"/>
    <a:srgbClr val="1A04BC"/>
    <a:srgbClr val="2007B9"/>
    <a:srgbClr val="39F35C"/>
    <a:srgbClr val="FAFCFE"/>
    <a:srgbClr val="BE02A3"/>
    <a:srgbClr val="2602BE"/>
    <a:srgbClr val="1A2BA6"/>
    <a:srgbClr val="DECF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1ADEA2-2BB5-4C0B-A72A-A32E35662266}" v="40" dt="2024-12-08T13:37:33.4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27" autoAdjust="0"/>
    <p:restoredTop sz="94660"/>
  </p:normalViewPr>
  <p:slideViewPr>
    <p:cSldViewPr snapToGrid="0">
      <p:cViewPr varScale="1">
        <p:scale>
          <a:sx n="90" d="100"/>
          <a:sy n="90" d="100"/>
        </p:scale>
        <p:origin x="80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E5E05-BCB7-49CF-B5DA-D0999719F8DC}" type="datetimeFigureOut">
              <a:rPr lang="en-US" smtClean="0"/>
              <a:t>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7B5B5-DE13-4FC8-85F2-F4CC28074F9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7B5B5-DE13-4FC8-85F2-F4CC28074F98}"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7B5B5-DE13-4FC8-85F2-F4CC28074F98}"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a:solidFill>
              <a:srgbClr val="000000">
                <a:alpha val="100000"/>
              </a:srgbClr>
            </a:solidFill>
            <a:miter lim="800000"/>
          </a:ln>
        </p:spPr>
      </p:sp>
      <p:sp>
        <p:nvSpPr>
          <p:cNvPr id="20483" name="Notes Placeholder 2"/>
          <p:cNvSpPr>
            <a:spLocks noGrp="1"/>
          </p:cNvSpPr>
          <p:nvPr>
            <p:ph type="body" idx="1"/>
          </p:nvPr>
        </p:nvSpPr>
        <p:spPr>
          <a:noFill/>
          <a:ln>
            <a:noFill/>
          </a:ln>
        </p:spPr>
        <p:txBody>
          <a:bodyPr wrap="square" lIns="92446" tIns="46223" rIns="92446" bIns="46223" anchor="t" anchorCtr="0"/>
          <a:lstStyle/>
          <a:p>
            <a:pPr lvl="0" eaLnBrk="1" hangingPunct="1">
              <a:spcBef>
                <a:spcPct val="0"/>
              </a:spcBef>
            </a:pPr>
            <a:endParaRPr lang="en-US" altLang="en-US" dirty="0"/>
          </a:p>
        </p:txBody>
      </p:sp>
      <p:sp>
        <p:nvSpPr>
          <p:cNvPr id="20484" name="Slide Number Placeholder 3"/>
          <p:cNvSpPr txBox="1">
            <a:spLocks noGrp="1"/>
          </p:cNvSpPr>
          <p:nvPr>
            <p:ph type="sldNum" sz="quarter"/>
          </p:nvPr>
        </p:nvSpPr>
        <p:spPr>
          <a:xfrm>
            <a:off x="3897313" y="8829675"/>
            <a:ext cx="2982912" cy="466725"/>
          </a:xfrm>
          <a:prstGeom prst="rect">
            <a:avLst/>
          </a:prstGeom>
          <a:noFill/>
          <a:ln w="9525">
            <a:noFill/>
          </a:ln>
        </p:spPr>
        <p:txBody>
          <a:bodyPr lIns="92446" tIns="46223" rIns="92446" bIns="46223" anchor="b" anchorCtr="0"/>
          <a:lstStyle/>
          <a:p>
            <a:pPr lvl="0" algn="r" eaLnBrk="1" hangingPunct="1"/>
            <a:fld id="{9A0DB2DC-4C9A-4742-B13C-FB6460FD3503}" type="slidenum">
              <a:rPr lang="en-US" altLang="en-US" sz="1200" dirty="0"/>
              <a:t>4</a:t>
            </a:fld>
            <a:endParaRPr lang="en-US"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4299E-750A-BCE0-F832-D402D1308450}"/>
            </a:ext>
          </a:extLst>
        </p:cNvPr>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119EB0CD-9C13-E4CB-8ABB-6B35C74E0A08}"/>
              </a:ext>
            </a:extLst>
          </p:cNvPr>
          <p:cNvSpPr>
            <a:spLocks noGrp="1" noRot="1" noChangeAspect="1" noTextEdit="1"/>
          </p:cNvSpPr>
          <p:nvPr>
            <p:ph type="sldImg"/>
          </p:nvPr>
        </p:nvSpPr>
        <p:spPr>
          <a:ln>
            <a:solidFill>
              <a:srgbClr val="000000">
                <a:alpha val="100000"/>
              </a:srgbClr>
            </a:solidFill>
            <a:miter lim="800000"/>
          </a:ln>
        </p:spPr>
      </p:sp>
      <p:sp>
        <p:nvSpPr>
          <p:cNvPr id="20483" name="Notes Placeholder 2">
            <a:extLst>
              <a:ext uri="{FF2B5EF4-FFF2-40B4-BE49-F238E27FC236}">
                <a16:creationId xmlns:a16="http://schemas.microsoft.com/office/drawing/2014/main" id="{39DAC00F-396A-A2C3-8586-BD78E8FFCF04}"/>
              </a:ext>
            </a:extLst>
          </p:cNvPr>
          <p:cNvSpPr>
            <a:spLocks noGrp="1"/>
          </p:cNvSpPr>
          <p:nvPr>
            <p:ph type="body" idx="1"/>
          </p:nvPr>
        </p:nvSpPr>
        <p:spPr>
          <a:noFill/>
          <a:ln>
            <a:noFill/>
          </a:ln>
        </p:spPr>
        <p:txBody>
          <a:bodyPr wrap="square" lIns="92446" tIns="46223" rIns="92446" bIns="46223" anchor="t" anchorCtr="0"/>
          <a:lstStyle/>
          <a:p>
            <a:pPr lvl="0" eaLnBrk="1" hangingPunct="1">
              <a:spcBef>
                <a:spcPct val="0"/>
              </a:spcBef>
            </a:pPr>
            <a:endParaRPr lang="en-US" altLang="en-US" dirty="0"/>
          </a:p>
        </p:txBody>
      </p:sp>
      <p:sp>
        <p:nvSpPr>
          <p:cNvPr id="20484" name="Slide Number Placeholder 3">
            <a:extLst>
              <a:ext uri="{FF2B5EF4-FFF2-40B4-BE49-F238E27FC236}">
                <a16:creationId xmlns:a16="http://schemas.microsoft.com/office/drawing/2014/main" id="{06393CD9-4C83-6F38-EB57-D498F1FC6D31}"/>
              </a:ext>
            </a:extLst>
          </p:cNvPr>
          <p:cNvSpPr txBox="1">
            <a:spLocks noGrp="1"/>
          </p:cNvSpPr>
          <p:nvPr>
            <p:ph type="sldNum" sz="quarter"/>
          </p:nvPr>
        </p:nvSpPr>
        <p:spPr>
          <a:xfrm>
            <a:off x="3897313" y="8829675"/>
            <a:ext cx="2982912" cy="466725"/>
          </a:xfrm>
          <a:prstGeom prst="rect">
            <a:avLst/>
          </a:prstGeom>
          <a:noFill/>
          <a:ln w="9525">
            <a:noFill/>
          </a:ln>
        </p:spPr>
        <p:txBody>
          <a:bodyPr lIns="92446" tIns="46223" rIns="92446" bIns="46223" anchor="b" anchorCtr="0"/>
          <a:lstStyle/>
          <a:p>
            <a:pPr lvl="0" algn="r" eaLnBrk="1" hangingPunct="1"/>
            <a:fld id="{9A0DB2DC-4C9A-4742-B13C-FB6460FD3503}" type="slidenum">
              <a:rPr lang="en-US" altLang="en-US" sz="1200" dirty="0"/>
              <a:t>5</a:t>
            </a:fld>
            <a:endParaRPr lang="en-US" altLang="en-US" sz="1200" dirty="0"/>
          </a:p>
        </p:txBody>
      </p:sp>
    </p:spTree>
    <p:extLst>
      <p:ext uri="{BB962C8B-B14F-4D97-AF65-F5344CB8AC3E}">
        <p14:creationId xmlns:p14="http://schemas.microsoft.com/office/powerpoint/2010/main" val="2049398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3E62C-2D9F-24E2-DA12-3434136C2C24}"/>
            </a:ext>
          </a:extLst>
        </p:cNvPr>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376FB22C-13ED-DD18-229C-44653AEF2788}"/>
              </a:ext>
            </a:extLst>
          </p:cNvPr>
          <p:cNvSpPr>
            <a:spLocks noGrp="1" noRot="1" noChangeAspect="1" noTextEdit="1"/>
          </p:cNvSpPr>
          <p:nvPr>
            <p:ph type="sldImg"/>
          </p:nvPr>
        </p:nvSpPr>
        <p:spPr>
          <a:ln>
            <a:solidFill>
              <a:srgbClr val="000000">
                <a:alpha val="100000"/>
              </a:srgbClr>
            </a:solidFill>
            <a:miter lim="800000"/>
          </a:ln>
        </p:spPr>
      </p:sp>
      <p:sp>
        <p:nvSpPr>
          <p:cNvPr id="20483" name="Notes Placeholder 2">
            <a:extLst>
              <a:ext uri="{FF2B5EF4-FFF2-40B4-BE49-F238E27FC236}">
                <a16:creationId xmlns:a16="http://schemas.microsoft.com/office/drawing/2014/main" id="{73E26FB6-114D-8114-5972-4B475F9CA9BC}"/>
              </a:ext>
            </a:extLst>
          </p:cNvPr>
          <p:cNvSpPr>
            <a:spLocks noGrp="1"/>
          </p:cNvSpPr>
          <p:nvPr>
            <p:ph type="body" idx="1"/>
          </p:nvPr>
        </p:nvSpPr>
        <p:spPr>
          <a:noFill/>
          <a:ln>
            <a:noFill/>
          </a:ln>
        </p:spPr>
        <p:txBody>
          <a:bodyPr wrap="square" lIns="92446" tIns="46223" rIns="92446" bIns="46223" anchor="t" anchorCtr="0"/>
          <a:lstStyle/>
          <a:p>
            <a:pPr lvl="0" eaLnBrk="1" hangingPunct="1">
              <a:spcBef>
                <a:spcPct val="0"/>
              </a:spcBef>
            </a:pPr>
            <a:endParaRPr lang="en-US" altLang="en-US" dirty="0"/>
          </a:p>
        </p:txBody>
      </p:sp>
      <p:sp>
        <p:nvSpPr>
          <p:cNvPr id="20484" name="Slide Number Placeholder 3">
            <a:extLst>
              <a:ext uri="{FF2B5EF4-FFF2-40B4-BE49-F238E27FC236}">
                <a16:creationId xmlns:a16="http://schemas.microsoft.com/office/drawing/2014/main" id="{886DAC76-5610-DCAF-370E-7CF440D07661}"/>
              </a:ext>
            </a:extLst>
          </p:cNvPr>
          <p:cNvSpPr txBox="1">
            <a:spLocks noGrp="1"/>
          </p:cNvSpPr>
          <p:nvPr>
            <p:ph type="sldNum" sz="quarter"/>
          </p:nvPr>
        </p:nvSpPr>
        <p:spPr>
          <a:xfrm>
            <a:off x="3897313" y="8829675"/>
            <a:ext cx="2982912" cy="466725"/>
          </a:xfrm>
          <a:prstGeom prst="rect">
            <a:avLst/>
          </a:prstGeom>
          <a:noFill/>
          <a:ln w="9525">
            <a:noFill/>
          </a:ln>
        </p:spPr>
        <p:txBody>
          <a:bodyPr lIns="92446" tIns="46223" rIns="92446" bIns="46223" anchor="b" anchorCtr="0"/>
          <a:lstStyle/>
          <a:p>
            <a:pPr lvl="0" algn="r" eaLnBrk="1" hangingPunct="1"/>
            <a:fld id="{9A0DB2DC-4C9A-4742-B13C-FB6460FD3503}" type="slidenum">
              <a:rPr lang="en-US" altLang="en-US" sz="1200" dirty="0"/>
              <a:t>6</a:t>
            </a:fld>
            <a:endParaRPr lang="en-US" altLang="en-US" sz="1200" dirty="0"/>
          </a:p>
        </p:txBody>
      </p:sp>
    </p:spTree>
    <p:extLst>
      <p:ext uri="{BB962C8B-B14F-4D97-AF65-F5344CB8AC3E}">
        <p14:creationId xmlns:p14="http://schemas.microsoft.com/office/powerpoint/2010/main" val="2536162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D1814-F404-4C62-AA0F-EC2D5AFFE07E}"/>
            </a:ext>
          </a:extLst>
        </p:cNvPr>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E671EFE6-0A13-878E-9DC2-AB4C917E3364}"/>
              </a:ext>
            </a:extLst>
          </p:cNvPr>
          <p:cNvSpPr>
            <a:spLocks noGrp="1" noRot="1" noChangeAspect="1" noTextEdit="1"/>
          </p:cNvSpPr>
          <p:nvPr>
            <p:ph type="sldImg"/>
          </p:nvPr>
        </p:nvSpPr>
        <p:spPr>
          <a:ln>
            <a:solidFill>
              <a:srgbClr val="000000">
                <a:alpha val="100000"/>
              </a:srgbClr>
            </a:solidFill>
            <a:miter lim="800000"/>
          </a:ln>
        </p:spPr>
      </p:sp>
      <p:sp>
        <p:nvSpPr>
          <p:cNvPr id="20483" name="Notes Placeholder 2">
            <a:extLst>
              <a:ext uri="{FF2B5EF4-FFF2-40B4-BE49-F238E27FC236}">
                <a16:creationId xmlns:a16="http://schemas.microsoft.com/office/drawing/2014/main" id="{E095E20B-0738-8D43-05B7-353B3407B081}"/>
              </a:ext>
            </a:extLst>
          </p:cNvPr>
          <p:cNvSpPr>
            <a:spLocks noGrp="1"/>
          </p:cNvSpPr>
          <p:nvPr>
            <p:ph type="body" idx="1"/>
          </p:nvPr>
        </p:nvSpPr>
        <p:spPr>
          <a:noFill/>
          <a:ln>
            <a:noFill/>
          </a:ln>
        </p:spPr>
        <p:txBody>
          <a:bodyPr wrap="square" lIns="92446" tIns="46223" rIns="92446" bIns="46223" anchor="t" anchorCtr="0"/>
          <a:lstStyle/>
          <a:p>
            <a:pPr lvl="0" eaLnBrk="1" hangingPunct="1">
              <a:spcBef>
                <a:spcPct val="0"/>
              </a:spcBef>
            </a:pPr>
            <a:endParaRPr lang="en-US" altLang="en-US" dirty="0"/>
          </a:p>
        </p:txBody>
      </p:sp>
      <p:sp>
        <p:nvSpPr>
          <p:cNvPr id="20484" name="Slide Number Placeholder 3">
            <a:extLst>
              <a:ext uri="{FF2B5EF4-FFF2-40B4-BE49-F238E27FC236}">
                <a16:creationId xmlns:a16="http://schemas.microsoft.com/office/drawing/2014/main" id="{11B67C34-BF54-F5D9-3AFE-ECEE426DCAC6}"/>
              </a:ext>
            </a:extLst>
          </p:cNvPr>
          <p:cNvSpPr txBox="1">
            <a:spLocks noGrp="1"/>
          </p:cNvSpPr>
          <p:nvPr>
            <p:ph type="sldNum" sz="quarter"/>
          </p:nvPr>
        </p:nvSpPr>
        <p:spPr>
          <a:xfrm>
            <a:off x="3897313" y="8829675"/>
            <a:ext cx="2982912" cy="466725"/>
          </a:xfrm>
          <a:prstGeom prst="rect">
            <a:avLst/>
          </a:prstGeom>
          <a:noFill/>
          <a:ln w="9525">
            <a:noFill/>
          </a:ln>
        </p:spPr>
        <p:txBody>
          <a:bodyPr lIns="92446" tIns="46223" rIns="92446" bIns="46223" anchor="b" anchorCtr="0"/>
          <a:lstStyle/>
          <a:p>
            <a:pPr lvl="0" algn="r" eaLnBrk="1" hangingPunct="1"/>
            <a:fld id="{9A0DB2DC-4C9A-4742-B13C-FB6460FD3503}" type="slidenum">
              <a:rPr lang="en-US" altLang="en-US" sz="1200" dirty="0"/>
              <a:t>7</a:t>
            </a:fld>
            <a:endParaRPr lang="en-US" altLang="en-US" sz="1200" dirty="0"/>
          </a:p>
        </p:txBody>
      </p:sp>
    </p:spTree>
    <p:extLst>
      <p:ext uri="{BB962C8B-B14F-4D97-AF65-F5344CB8AC3E}">
        <p14:creationId xmlns:p14="http://schemas.microsoft.com/office/powerpoint/2010/main" val="2052057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7B5B5-DE13-4FC8-85F2-F4CC28074F98}" type="slidenum">
              <a:rPr lang="en-US" smtClean="0"/>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17B5B5-DE13-4FC8-85F2-F4CC28074F98}" type="slidenum">
              <a:rPr lang="en-US" smtClean="0"/>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A0BD64B-D370-4038-8044-D5630B27533B}" type="datetime1">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8FC4D9-CEB1-4779-B81C-062997A0869C}" type="datetime1">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3F2635C-0C3D-495D-BBF5-EFB373F3682C}" type="datetime1">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7B977C-A37D-44A5-998A-C16D363F582D}" type="datetime1">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3D0F6A-8B3A-4C64-BC9A-0DAE605257BF}" type="datetime1">
              <a:rPr lang="en-US" smtClean="0"/>
              <a:t>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7E8BC5-5502-48BE-8292-644D57AD6C55}" type="datetime1">
              <a:rPr lang="en-US" smtClean="0"/>
              <a:t>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25D513-5233-4068-ACBB-430896BA56D1}" type="datetime1">
              <a:rPr lang="en-US" smtClean="0"/>
              <a:t>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EF61C63-19E1-4C03-AE76-46F2663A597C}" type="datetime1">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449ED6B-688A-45F7-A15D-9A32FA9C0100}" type="datetime1">
              <a:rPr lang="en-US" smtClean="0"/>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0D821F-40C2-4526-B067-872ECD9F5A5A}" type="datetime1">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044531-71AE-42C5-86A9-13CFCC47F9D2}" type="datetime1">
              <a:rPr lang="en-US" smtClean="0"/>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04D65-EEE5-467D-A240-EF96AD461DB8}"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6A555E-7C04-4325-BEC5-83779E07C5D0}" type="datetime1">
              <a:rPr lang="en-US" smtClean="0"/>
              <a:t>12/8/2024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B04D65-EEE5-467D-A240-EF96AD461DB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jpe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jpe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1.jpeg"/><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59210"/>
            <a:ext cx="12179935" cy="1111250"/>
          </a:xfrm>
          <a:solidFill>
            <a:schemeClr val="accent6">
              <a:lumMod val="50000"/>
            </a:schemeClr>
          </a:solidFill>
        </p:spPr>
        <p:txBody>
          <a:bodyPr>
            <a:normAutofit fontScale="90000"/>
          </a:bodyPr>
          <a:lstStyle/>
          <a:p>
            <a:r>
              <a:rPr lang="en-US" altLang="zh-CN" sz="3600" b="1" dirty="0">
                <a:solidFill>
                  <a:schemeClr val="bg1"/>
                </a:solidFill>
                <a:latin typeface="Times New Roman" panose="02020603050405020304" pitchFamily="18" charset="0"/>
                <a:ea typeface="+mn-ea"/>
                <a:cs typeface="Times New Roman" panose="02020603050405020304" pitchFamily="18" charset="0"/>
              </a:rPr>
              <a:t>AI Assisted In-Game Non-Player Character Behavior Interaction</a:t>
            </a:r>
            <a:br>
              <a:rPr lang="zh-CN" altLang="zh-CN" sz="1800" b="1" kern="2200" dirty="0">
                <a:effectLst/>
                <a:latin typeface="Times New Roman" panose="02020603050405020304" pitchFamily="18" charset="0"/>
                <a:ea typeface="宋体" panose="02010600030101010101" pitchFamily="2" charset="-122"/>
              </a:rPr>
            </a:br>
            <a:endParaRPr lang="en-US" sz="3600" b="1" dirty="0">
              <a:solidFill>
                <a:schemeClr val="bg1"/>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3882623" y="3170533"/>
            <a:ext cx="3929149" cy="466542"/>
          </a:xfrm>
        </p:spPr>
        <p:txBody>
          <a:bodyPr>
            <a:normAutofit fontScale="97500"/>
          </a:bodyPr>
          <a:lstStyle/>
          <a:p>
            <a:r>
              <a:rPr lang="en-US" altLang="zh-TW" sz="2800" b="1" dirty="0">
                <a:latin typeface="Times New Roman" panose="02020603050405020304" pitchFamily="18" charset="0"/>
                <a:cs typeface="Times New Roman" panose="02020603050405020304" pitchFamily="18" charset="0"/>
              </a:rPr>
              <a:t>Jiacong</a:t>
            </a:r>
            <a:r>
              <a:rPr lang="en-US" altLang="zh-TW" sz="2800" b="1" dirty="0">
                <a:solidFill>
                  <a:schemeClr val="tx1"/>
                </a:solidFill>
                <a:latin typeface="Times New Roman" panose="02020603050405020304" pitchFamily="18" charset="0"/>
                <a:cs typeface="Times New Roman" panose="02020603050405020304" pitchFamily="18" charset="0"/>
              </a:rPr>
              <a:t> Huang</a:t>
            </a:r>
            <a:r>
              <a:rPr lang="zh-CN" altLang="en-US" sz="2800" b="1"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a:t>
            </a:r>
            <a:r>
              <a:rPr lang="zh-CN" altLang="en-US" sz="2800" b="1" dirty="0">
                <a:latin typeface="华文中宋" panose="02010600040101010101" pitchFamily="2" charset="-122"/>
                <a:ea typeface="华文中宋" panose="02010600040101010101" pitchFamily="2" charset="-122"/>
                <a:cs typeface="Times New Roman" panose="02020603050405020304" pitchFamily="18" charset="0"/>
              </a:rPr>
              <a:t>黄嘉聪</a:t>
            </a:r>
            <a:r>
              <a:rPr lang="zh-CN" altLang="en-US" sz="2800" b="1" dirty="0">
                <a:solidFill>
                  <a:schemeClr val="tx1"/>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TW" sz="2800" b="1" dirty="0">
              <a:solidFill>
                <a:schemeClr val="tx1"/>
              </a:solidFill>
              <a:latin typeface="Times New Roman" panose="02020603050405020304" pitchFamily="18" charset="0"/>
              <a:cs typeface="Times New Roman" panose="02020603050405020304" pitchFamily="18" charset="0"/>
            </a:endParaRPr>
          </a:p>
          <a:p>
            <a:endParaRPr lang="en-US" sz="3600" b="1" dirty="0">
              <a:solidFill>
                <a:schemeClr val="tx1"/>
              </a:solidFill>
            </a:endParaRPr>
          </a:p>
        </p:txBody>
      </p:sp>
      <p:sp>
        <p:nvSpPr>
          <p:cNvPr id="5" name="Rectangle 4"/>
          <p:cNvSpPr/>
          <p:nvPr/>
        </p:nvSpPr>
        <p:spPr>
          <a:xfrm>
            <a:off x="538480" y="989330"/>
            <a:ext cx="11652885" cy="16192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992" y="777385"/>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p:cNvSpPr txBox="1"/>
          <p:nvPr/>
        </p:nvSpPr>
        <p:spPr>
          <a:xfrm>
            <a:off x="2321996" y="4237149"/>
            <a:ext cx="7050405" cy="15779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2000" dirty="0">
                <a:latin typeface="Times New Roman" panose="02020603050405020304" pitchFamily="18" charset="0"/>
                <a:cs typeface="Times New Roman" panose="02020603050405020304" pitchFamily="18" charset="0"/>
              </a:rPr>
              <a:t> College of Computer Science and Software Engineering</a:t>
            </a:r>
          </a:p>
          <a:p>
            <a:r>
              <a:rPr lang="en-US" altLang="zh-CN" sz="1900" dirty="0">
                <a:latin typeface="Times New Roman" panose="02020603050405020304" pitchFamily="18" charset="0"/>
                <a:cs typeface="Times New Roman" panose="02020603050405020304" pitchFamily="18" charset="0"/>
              </a:rPr>
              <a:t>Shenzhen University</a:t>
            </a:r>
          </a:p>
        </p:txBody>
      </p:sp>
      <p:sp>
        <p:nvSpPr>
          <p:cNvPr id="17" name="Slide Number Placeholder 16"/>
          <p:cNvSpPr>
            <a:spLocks noGrp="1"/>
          </p:cNvSpPr>
          <p:nvPr>
            <p:ph type="sldNum" sz="quarter" idx="12"/>
          </p:nvPr>
        </p:nvSpPr>
        <p:spPr/>
        <p:txBody>
          <a:bodyPr/>
          <a:lstStyle/>
          <a:p>
            <a:fld id="{AFB04D65-EEE5-467D-A240-EF96AD461DB8}" type="slidenum">
              <a:rPr lang="en-US" smtClean="0"/>
              <a:t>1</a:t>
            </a:fld>
            <a:endParaRPr lang="en-US"/>
          </a:p>
        </p:txBody>
      </p:sp>
      <p:sp>
        <p:nvSpPr>
          <p:cNvPr id="18" name="Subtitle 2"/>
          <p:cNvSpPr txBox="1"/>
          <p:nvPr/>
        </p:nvSpPr>
        <p:spPr>
          <a:xfrm>
            <a:off x="4761441" y="5506126"/>
            <a:ext cx="2171517" cy="4059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2000" dirty="0">
                <a:latin typeface="Times New Roman" panose="02020603050405020304" pitchFamily="18" charset="0"/>
                <a:cs typeface="Times New Roman" panose="02020603050405020304" pitchFamily="18" charset="0"/>
              </a:rPr>
              <a:t>2024-12-8</a:t>
            </a:r>
          </a:p>
        </p:txBody>
      </p:sp>
      <p:pic>
        <p:nvPicPr>
          <p:cNvPr id="8" name="图片 7"/>
          <p:cNvPicPr/>
          <p:nvPr/>
        </p:nvPicPr>
        <p:blipFill>
          <a:blip r:embed="rId2"/>
          <a:stretch>
            <a:fillRect/>
          </a:stretch>
        </p:blipFill>
        <p:spPr>
          <a:xfrm>
            <a:off x="11100435" y="21590"/>
            <a:ext cx="1090930" cy="9340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91638" y="1339967"/>
            <a:ext cx="3746730" cy="586737"/>
          </a:xfrm>
        </p:spPr>
        <p:txBody>
          <a:bodyPr>
            <a:noAutofit/>
          </a:body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1. T</a:t>
            </a: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he Group Project</a:t>
            </a: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  </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39115" y="989330"/>
            <a:ext cx="10976610" cy="14351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p:cNvSpPr>
            <a:spLocks noGrp="1"/>
          </p:cNvSpPr>
          <p:nvPr>
            <p:ph type="sldNum" sz="quarter" idx="12"/>
          </p:nvPr>
        </p:nvSpPr>
        <p:spPr/>
        <p:txBody>
          <a:bodyPr/>
          <a:lstStyle/>
          <a:p>
            <a:fld id="{AFB04D65-EEE5-467D-A240-EF96AD461DB8}" type="slidenum">
              <a:rPr lang="en-US" smtClean="0"/>
              <a:t>2</a:t>
            </a:fld>
            <a:endParaRPr lang="en-US" dirty="0"/>
          </a:p>
        </p:txBody>
      </p:sp>
      <p:sp>
        <p:nvSpPr>
          <p:cNvPr id="10" name="Title 3"/>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2. Types of AINPC and It’s Introduction</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Title 1"/>
          <p:cNvSpPr txBox="1"/>
          <p:nvPr>
            <p:custDataLst>
              <p:tags r:id="rId2"/>
            </p:custDataLst>
          </p:nvPr>
        </p:nvSpPr>
        <p:spPr>
          <a:xfrm>
            <a:off x="492125" y="246380"/>
            <a:ext cx="10647680" cy="7429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0070C0"/>
                </a:solidFill>
                <a:latin typeface="Times New Roman" panose="02020603050405020304" pitchFamily="18" charset="0"/>
                <a:ea typeface="+mn-ea"/>
                <a:cs typeface="Times New Roman" panose="02020603050405020304" pitchFamily="18" charset="0"/>
                <a:sym typeface="+mn-ea"/>
              </a:rPr>
              <a:t>Outline</a:t>
            </a:r>
          </a:p>
        </p:txBody>
      </p:sp>
      <p:sp>
        <p:nvSpPr>
          <p:cNvPr id="2" name="Title 3"/>
          <p:cNvSpPr txBox="1"/>
          <p:nvPr>
            <p:custDataLst>
              <p:tags r:id="rId3"/>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3. The Response and Conclusion</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 name="图片 4"/>
          <p:cNvPicPr/>
          <p:nvPr/>
        </p:nvPicPr>
        <p:blipFill>
          <a:blip r:embed="rId6"/>
          <a:stretch>
            <a:fillRect/>
          </a:stretch>
        </p:blipFill>
        <p:spPr>
          <a:xfrm>
            <a:off x="11100435" y="21590"/>
            <a:ext cx="1090930" cy="934085"/>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91638" y="1359017"/>
            <a:ext cx="3549022" cy="586737"/>
          </a:xfrm>
        </p:spPr>
        <p:txBody>
          <a:bodyPr>
            <a:noAutofit/>
          </a:body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1. The Group Project </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39115" y="989330"/>
            <a:ext cx="10976610" cy="15367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rgbClr val="0070C0"/>
                </a:solidFill>
                <a:latin typeface="Times New Roman" panose="02020603050405020304" pitchFamily="18" charset="0"/>
                <a:ea typeface="+mn-ea"/>
                <a:cs typeface="Times New Roman" panose="02020603050405020304" pitchFamily="18" charset="0"/>
              </a:rPr>
              <a:t>Outline</a:t>
            </a:r>
            <a:endParaRPr lang="en-US" sz="3200" dirty="0">
              <a:solidFill>
                <a:srgbClr val="0070C0"/>
              </a:solidFill>
              <a:latin typeface="Times New Roman" panose="02020603050405020304" pitchFamily="18" charset="0"/>
              <a:ea typeface="+mn-ea"/>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AFB04D65-EEE5-467D-A240-EF96AD461DB8}" type="slidenum">
              <a:rPr lang="en-US" smtClean="0"/>
              <a:t>3</a:t>
            </a:fld>
            <a:endParaRPr lang="en-US" dirty="0"/>
          </a:p>
        </p:txBody>
      </p:sp>
      <p:sp>
        <p:nvSpPr>
          <p:cNvPr id="10" name="Title 3"/>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2. Types of AINPC and It’s Introduction</a:t>
            </a:r>
          </a:p>
        </p:txBody>
      </p:sp>
      <p:sp>
        <p:nvSpPr>
          <p:cNvPr id="2" name="Title 3"/>
          <p:cNvSpPr txBox="1"/>
          <p:nvPr>
            <p:custDataLst>
              <p:tags r:id="rId2"/>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3. The Response and Conclusion</a:t>
            </a:r>
          </a:p>
        </p:txBody>
      </p:sp>
      <p:pic>
        <p:nvPicPr>
          <p:cNvPr id="6" name="图片 5"/>
          <p:cNvPicPr/>
          <p:nvPr/>
        </p:nvPicPr>
        <p:blipFill>
          <a:blip r:embed="rId5"/>
          <a:stretch>
            <a:fillRect/>
          </a:stretch>
        </p:blipFill>
        <p:spPr>
          <a:xfrm>
            <a:off x="11100435" y="21590"/>
            <a:ext cx="1090930" cy="934085"/>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5"/>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3" name="Rectangle 4"/>
          <p:cNvSpPr/>
          <p:nvPr/>
        </p:nvSpPr>
        <p:spPr>
          <a:xfrm>
            <a:off x="511175" y="731838"/>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19460" name="灯片编号占位符 3"/>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US" altLang="zh-CN" sz="1200" smtClean="0">
                <a:solidFill>
                  <a:srgbClr val="898989"/>
                </a:solidFill>
                <a:ea typeface="宋体" panose="02010600030101010101" pitchFamily="2" charset="-122"/>
              </a:rPr>
              <a:t>4</a:t>
            </a:fld>
            <a:endParaRPr lang="en-US" altLang="zh-CN" sz="1200" dirty="0">
              <a:solidFill>
                <a:srgbClr val="898989"/>
              </a:solidFill>
              <a:ea typeface="宋体" panose="02010600030101010101" pitchFamily="2" charset="-122"/>
            </a:endParaRPr>
          </a:p>
        </p:txBody>
      </p:sp>
      <p:sp>
        <p:nvSpPr>
          <p:cNvPr id="19462" name="Title 1"/>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The Group Project </a:t>
            </a:r>
            <a:endParaRPr lang="en-US" altLang="en-US" b="1" dirty="0">
              <a:latin typeface="楷体" panose="02010609060101010101" pitchFamily="49" charset="-122"/>
              <a:ea typeface="楷体" panose="02010609060101010101" pitchFamily="49" charset="-122"/>
            </a:endParaRPr>
          </a:p>
        </p:txBody>
      </p:sp>
      <p:pic>
        <p:nvPicPr>
          <p:cNvPr id="5" name="图片 4"/>
          <p:cNvPicPr/>
          <p:nvPr/>
        </p:nvPicPr>
        <p:blipFill>
          <a:blip r:embed="rId3"/>
          <a:stretch>
            <a:fillRect/>
          </a:stretch>
        </p:blipFill>
        <p:spPr>
          <a:xfrm>
            <a:off x="11100435" y="21590"/>
            <a:ext cx="1090930" cy="934085"/>
          </a:xfrm>
          <a:prstGeom prst="rect">
            <a:avLst/>
          </a:prstGeom>
        </p:spPr>
      </p:pic>
      <p:sp>
        <p:nvSpPr>
          <p:cNvPr id="7" name="文本框 6">
            <a:extLst>
              <a:ext uri="{FF2B5EF4-FFF2-40B4-BE49-F238E27FC236}">
                <a16:creationId xmlns:a16="http://schemas.microsoft.com/office/drawing/2014/main" id="{41FED07C-0C88-A117-D694-3A74268418F8}"/>
              </a:ext>
            </a:extLst>
          </p:cNvPr>
          <p:cNvSpPr txBox="1"/>
          <p:nvPr/>
        </p:nvSpPr>
        <p:spPr>
          <a:xfrm>
            <a:off x="319789" y="1905506"/>
            <a:ext cx="5088639" cy="3046988"/>
          </a:xfrm>
          <a:prstGeom prst="rect">
            <a:avLst/>
          </a:prstGeom>
          <a:noFill/>
        </p:spPr>
        <p:txBody>
          <a:bodyPr wrap="square" rtlCol="0">
            <a:spAutoFit/>
          </a:bodyPr>
          <a:lstStyle/>
          <a:p>
            <a:r>
              <a:rPr lang="en-US" altLang="zh-CN" sz="2400" b="1" dirty="0"/>
              <a:t>Abstract</a:t>
            </a:r>
          </a:p>
          <a:p>
            <a:r>
              <a:rPr lang="en-US" altLang="zh-CN" sz="2400" dirty="0"/>
              <a:t>The use of AI in MMORPGs is evolving, particularly in improving NPC interactions. Developers are using context-aware AI to create more natural, personalized NPC responses, enhancing player immersion and autonomy within the game world.</a:t>
            </a:r>
          </a:p>
        </p:txBody>
      </p:sp>
      <p:pic>
        <p:nvPicPr>
          <p:cNvPr id="14" name="图片 13">
            <a:extLst>
              <a:ext uri="{FF2B5EF4-FFF2-40B4-BE49-F238E27FC236}">
                <a16:creationId xmlns:a16="http://schemas.microsoft.com/office/drawing/2014/main" id="{A904C16E-29DE-ED91-4B41-80C95E2017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86103" y="1905506"/>
            <a:ext cx="6060855" cy="3409722"/>
          </a:xfrm>
          <a:prstGeom prst="rect">
            <a:avLst/>
          </a:prstGeom>
        </p:spPr>
      </p:pic>
      <p:sp>
        <p:nvSpPr>
          <p:cNvPr id="15" name="Slide Number Placeholder 98">
            <a:extLst>
              <a:ext uri="{FF2B5EF4-FFF2-40B4-BE49-F238E27FC236}">
                <a16:creationId xmlns:a16="http://schemas.microsoft.com/office/drawing/2014/main" id="{20694681-558E-A9F5-8912-5FA6B00B1770}"/>
              </a:ext>
            </a:extLst>
          </p:cNvPr>
          <p:cNvSpPr>
            <a:spLocks noGrp="1"/>
          </p:cNvSpPr>
          <p:nvPr>
            <p:ph type="sldNum" sz="quarter" idx="12"/>
          </p:nvPr>
        </p:nvSpPr>
        <p:spPr>
          <a:xfrm>
            <a:off x="8610600" y="6356350"/>
            <a:ext cx="2743200" cy="365125"/>
          </a:xfrm>
        </p:spPr>
        <p:txBody>
          <a:bodyPr/>
          <a:lstStyle/>
          <a:p>
            <a:fld id="{AFB04D65-EEE5-467D-A240-EF96AD461DB8}" type="slidenum">
              <a:rPr lang="en-US" smtClean="0"/>
              <a:t>4</a:t>
            </a:fld>
            <a:endParaRPr 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A7D48-43EE-6D97-9FDB-34B920C527B2}"/>
            </a:ext>
          </a:extLst>
        </p:cNvPr>
        <p:cNvGrpSpPr/>
        <p:nvPr/>
      </p:nvGrpSpPr>
      <p:grpSpPr>
        <a:xfrm>
          <a:off x="0" y="0"/>
          <a:ext cx="0" cy="0"/>
          <a:chOff x="0" y="0"/>
          <a:chExt cx="0" cy="0"/>
        </a:xfrm>
      </p:grpSpPr>
      <p:sp>
        <p:nvSpPr>
          <p:cNvPr id="2" name="Oval 5">
            <a:extLst>
              <a:ext uri="{FF2B5EF4-FFF2-40B4-BE49-F238E27FC236}">
                <a16:creationId xmlns:a16="http://schemas.microsoft.com/office/drawing/2014/main" id="{F9B48567-E64F-A09C-1B3E-E7DD021ABED8}"/>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3" name="Rectangle 4">
            <a:extLst>
              <a:ext uri="{FF2B5EF4-FFF2-40B4-BE49-F238E27FC236}">
                <a16:creationId xmlns:a16="http://schemas.microsoft.com/office/drawing/2014/main" id="{4402C4AC-6D9D-E629-BE29-FFCA9D4EC124}"/>
              </a:ext>
            </a:extLst>
          </p:cNvPr>
          <p:cNvSpPr/>
          <p:nvPr/>
        </p:nvSpPr>
        <p:spPr>
          <a:xfrm>
            <a:off x="511175" y="731838"/>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19460" name="灯片编号占位符 3">
            <a:extLst>
              <a:ext uri="{FF2B5EF4-FFF2-40B4-BE49-F238E27FC236}">
                <a16:creationId xmlns:a16="http://schemas.microsoft.com/office/drawing/2014/main" id="{8CCDBD36-1837-51BA-9FF2-B725EFCE0CDD}"/>
              </a:ext>
            </a:extLst>
          </p:cNvPr>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US" altLang="zh-CN" sz="1200" smtClean="0">
                <a:solidFill>
                  <a:srgbClr val="898989"/>
                </a:solidFill>
                <a:ea typeface="宋体" panose="02010600030101010101" pitchFamily="2" charset="-122"/>
              </a:rPr>
              <a:t>5</a:t>
            </a:fld>
            <a:endParaRPr lang="en-US" altLang="zh-CN" sz="1200" dirty="0">
              <a:solidFill>
                <a:srgbClr val="898989"/>
              </a:solidFill>
              <a:ea typeface="宋体" panose="02010600030101010101" pitchFamily="2" charset="-122"/>
            </a:endParaRPr>
          </a:p>
        </p:txBody>
      </p:sp>
      <p:sp>
        <p:nvSpPr>
          <p:cNvPr id="19462" name="Title 1">
            <a:extLst>
              <a:ext uri="{FF2B5EF4-FFF2-40B4-BE49-F238E27FC236}">
                <a16:creationId xmlns:a16="http://schemas.microsoft.com/office/drawing/2014/main" id="{DE85EFE6-587C-B09C-FE9C-94B5D7220E29}"/>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The Group Project </a:t>
            </a:r>
            <a:endParaRPr lang="en-US" altLang="en-US" b="1" dirty="0">
              <a:latin typeface="楷体" panose="02010609060101010101" pitchFamily="49" charset="-122"/>
              <a:ea typeface="楷体" panose="02010609060101010101" pitchFamily="49" charset="-122"/>
            </a:endParaRPr>
          </a:p>
        </p:txBody>
      </p:sp>
      <p:pic>
        <p:nvPicPr>
          <p:cNvPr id="5" name="图片 4">
            <a:extLst>
              <a:ext uri="{FF2B5EF4-FFF2-40B4-BE49-F238E27FC236}">
                <a16:creationId xmlns:a16="http://schemas.microsoft.com/office/drawing/2014/main" id="{2418704A-82D7-8E31-0E8A-2EA99B337C4A}"/>
              </a:ext>
            </a:extLst>
          </p:cNvPr>
          <p:cNvPicPr/>
          <p:nvPr/>
        </p:nvPicPr>
        <p:blipFill>
          <a:blip r:embed="rId3"/>
          <a:stretch>
            <a:fillRect/>
          </a:stretch>
        </p:blipFill>
        <p:spPr>
          <a:xfrm>
            <a:off x="11100435" y="21590"/>
            <a:ext cx="1090930" cy="934085"/>
          </a:xfrm>
          <a:prstGeom prst="rect">
            <a:avLst/>
          </a:prstGeom>
        </p:spPr>
      </p:pic>
      <p:sp>
        <p:nvSpPr>
          <p:cNvPr id="7" name="文本框 6">
            <a:extLst>
              <a:ext uri="{FF2B5EF4-FFF2-40B4-BE49-F238E27FC236}">
                <a16:creationId xmlns:a16="http://schemas.microsoft.com/office/drawing/2014/main" id="{18D4D66F-9577-7FA3-BA96-4FF6124B607A}"/>
              </a:ext>
            </a:extLst>
          </p:cNvPr>
          <p:cNvSpPr txBox="1"/>
          <p:nvPr/>
        </p:nvSpPr>
        <p:spPr>
          <a:xfrm>
            <a:off x="264319" y="1575436"/>
            <a:ext cx="5152434" cy="3785652"/>
          </a:xfrm>
          <a:prstGeom prst="rect">
            <a:avLst/>
          </a:prstGeom>
          <a:noFill/>
        </p:spPr>
        <p:txBody>
          <a:bodyPr wrap="square" rtlCol="0">
            <a:spAutoFit/>
          </a:bodyPr>
          <a:lstStyle/>
          <a:p>
            <a:r>
              <a:rPr lang="en-US" altLang="zh-CN" sz="2400" b="1" dirty="0"/>
              <a:t>I. Introduction</a:t>
            </a:r>
          </a:p>
          <a:p>
            <a:r>
              <a:rPr lang="en-US" altLang="zh-CN" sz="2400" dirty="0"/>
              <a:t>AI technology is transforming MMORPGs, traditionally used in combat systems, by introducing more dynamic and context-aware NPC interactions. This approach enhances narrative depth and player autonomy, moving away from pre-scripted dialogues to adaptive, personalized NPC behaviors.</a:t>
            </a:r>
          </a:p>
          <a:p>
            <a:endParaRPr lang="zh-CN" altLang="en-US" sz="2400" dirty="0"/>
          </a:p>
        </p:txBody>
      </p:sp>
      <p:pic>
        <p:nvPicPr>
          <p:cNvPr id="9" name="图片 8">
            <a:extLst>
              <a:ext uri="{FF2B5EF4-FFF2-40B4-BE49-F238E27FC236}">
                <a16:creationId xmlns:a16="http://schemas.microsoft.com/office/drawing/2014/main" id="{946DF8A7-00B7-ECE9-986B-858625B82D5E}"/>
              </a:ext>
            </a:extLst>
          </p:cNvPr>
          <p:cNvPicPr>
            <a:picLocks noChangeAspect="1"/>
          </p:cNvPicPr>
          <p:nvPr/>
        </p:nvPicPr>
        <p:blipFill>
          <a:blip r:embed="rId4"/>
          <a:stretch>
            <a:fillRect/>
          </a:stretch>
        </p:blipFill>
        <p:spPr>
          <a:xfrm>
            <a:off x="5473900" y="1587841"/>
            <a:ext cx="6172000" cy="3785652"/>
          </a:xfrm>
          <a:prstGeom prst="rect">
            <a:avLst/>
          </a:prstGeom>
        </p:spPr>
      </p:pic>
      <p:sp>
        <p:nvSpPr>
          <p:cNvPr id="10" name="Slide Number Placeholder 98">
            <a:extLst>
              <a:ext uri="{FF2B5EF4-FFF2-40B4-BE49-F238E27FC236}">
                <a16:creationId xmlns:a16="http://schemas.microsoft.com/office/drawing/2014/main" id="{4B959F0B-39BF-6803-9EF1-DFCC7F1A87AC}"/>
              </a:ext>
            </a:extLst>
          </p:cNvPr>
          <p:cNvSpPr>
            <a:spLocks noGrp="1"/>
          </p:cNvSpPr>
          <p:nvPr>
            <p:ph type="sldNum" sz="quarter" idx="12"/>
          </p:nvPr>
        </p:nvSpPr>
        <p:spPr>
          <a:xfrm>
            <a:off x="8610600" y="6356350"/>
            <a:ext cx="2743200" cy="365125"/>
          </a:xfrm>
        </p:spPr>
        <p:txBody>
          <a:bodyPr/>
          <a:lstStyle/>
          <a:p>
            <a:fld id="{AFB04D65-EEE5-467D-A240-EF96AD461DB8}" type="slidenum">
              <a:rPr lang="en-US" smtClean="0"/>
              <a:t>5</a:t>
            </a:fld>
            <a:endParaRPr lang="en-US"/>
          </a:p>
        </p:txBody>
      </p:sp>
    </p:spTree>
    <p:extLst>
      <p:ext uri="{BB962C8B-B14F-4D97-AF65-F5344CB8AC3E}">
        <p14:creationId xmlns:p14="http://schemas.microsoft.com/office/powerpoint/2010/main" val="280112370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6C3DB-6479-38F1-625D-9AC19AA6941E}"/>
            </a:ext>
          </a:extLst>
        </p:cNvPr>
        <p:cNvGrpSpPr/>
        <p:nvPr/>
      </p:nvGrpSpPr>
      <p:grpSpPr>
        <a:xfrm>
          <a:off x="0" y="0"/>
          <a:ext cx="0" cy="0"/>
          <a:chOff x="0" y="0"/>
          <a:chExt cx="0" cy="0"/>
        </a:xfrm>
      </p:grpSpPr>
      <p:sp>
        <p:nvSpPr>
          <p:cNvPr id="2" name="Oval 5">
            <a:extLst>
              <a:ext uri="{FF2B5EF4-FFF2-40B4-BE49-F238E27FC236}">
                <a16:creationId xmlns:a16="http://schemas.microsoft.com/office/drawing/2014/main" id="{647E9199-5A62-E0DE-9BD4-1CC85B097351}"/>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3" name="Rectangle 4">
            <a:extLst>
              <a:ext uri="{FF2B5EF4-FFF2-40B4-BE49-F238E27FC236}">
                <a16:creationId xmlns:a16="http://schemas.microsoft.com/office/drawing/2014/main" id="{1C210A53-D572-2D83-8103-4E1131BC9058}"/>
              </a:ext>
            </a:extLst>
          </p:cNvPr>
          <p:cNvSpPr/>
          <p:nvPr/>
        </p:nvSpPr>
        <p:spPr>
          <a:xfrm>
            <a:off x="511175" y="731838"/>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19460" name="灯片编号占位符 3">
            <a:extLst>
              <a:ext uri="{FF2B5EF4-FFF2-40B4-BE49-F238E27FC236}">
                <a16:creationId xmlns:a16="http://schemas.microsoft.com/office/drawing/2014/main" id="{4E3B0BE1-4250-CE13-476C-C890A7F7A088}"/>
              </a:ext>
            </a:extLst>
          </p:cNvPr>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US" altLang="zh-CN" sz="1200" smtClean="0">
                <a:solidFill>
                  <a:srgbClr val="898989"/>
                </a:solidFill>
                <a:ea typeface="宋体" panose="02010600030101010101" pitchFamily="2" charset="-122"/>
              </a:rPr>
              <a:t>6</a:t>
            </a:fld>
            <a:endParaRPr lang="en-US" altLang="zh-CN" sz="1200" dirty="0">
              <a:solidFill>
                <a:srgbClr val="898989"/>
              </a:solidFill>
              <a:ea typeface="宋体" panose="02010600030101010101" pitchFamily="2" charset="-122"/>
            </a:endParaRPr>
          </a:p>
        </p:txBody>
      </p:sp>
      <p:sp>
        <p:nvSpPr>
          <p:cNvPr id="19462" name="Title 1">
            <a:extLst>
              <a:ext uri="{FF2B5EF4-FFF2-40B4-BE49-F238E27FC236}">
                <a16:creationId xmlns:a16="http://schemas.microsoft.com/office/drawing/2014/main" id="{002DDCDF-FF0C-1887-0EEB-7F9CD245C8D4}"/>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The Group Project </a:t>
            </a:r>
            <a:endParaRPr lang="en-US" altLang="en-US" b="1" dirty="0">
              <a:latin typeface="楷体" panose="02010609060101010101" pitchFamily="49" charset="-122"/>
              <a:ea typeface="楷体" panose="02010609060101010101" pitchFamily="49" charset="-122"/>
            </a:endParaRPr>
          </a:p>
        </p:txBody>
      </p:sp>
      <p:pic>
        <p:nvPicPr>
          <p:cNvPr id="5" name="图片 4">
            <a:extLst>
              <a:ext uri="{FF2B5EF4-FFF2-40B4-BE49-F238E27FC236}">
                <a16:creationId xmlns:a16="http://schemas.microsoft.com/office/drawing/2014/main" id="{209F8AAE-2827-3ADC-B497-90D08945BB83}"/>
              </a:ext>
            </a:extLst>
          </p:cNvPr>
          <p:cNvPicPr/>
          <p:nvPr/>
        </p:nvPicPr>
        <p:blipFill>
          <a:blip r:embed="rId3"/>
          <a:stretch>
            <a:fillRect/>
          </a:stretch>
        </p:blipFill>
        <p:spPr>
          <a:xfrm>
            <a:off x="11100435" y="21590"/>
            <a:ext cx="1090930" cy="934085"/>
          </a:xfrm>
          <a:prstGeom prst="rect">
            <a:avLst/>
          </a:prstGeom>
        </p:spPr>
      </p:pic>
      <p:sp>
        <p:nvSpPr>
          <p:cNvPr id="7" name="文本框 6">
            <a:extLst>
              <a:ext uri="{FF2B5EF4-FFF2-40B4-BE49-F238E27FC236}">
                <a16:creationId xmlns:a16="http://schemas.microsoft.com/office/drawing/2014/main" id="{AA15C128-2BF8-63F4-432A-EF7C9164DE7A}"/>
              </a:ext>
            </a:extLst>
          </p:cNvPr>
          <p:cNvSpPr txBox="1"/>
          <p:nvPr/>
        </p:nvSpPr>
        <p:spPr>
          <a:xfrm>
            <a:off x="264319" y="1575436"/>
            <a:ext cx="5152434" cy="3416320"/>
          </a:xfrm>
          <a:prstGeom prst="rect">
            <a:avLst/>
          </a:prstGeom>
          <a:noFill/>
        </p:spPr>
        <p:txBody>
          <a:bodyPr wrap="square" rtlCol="0">
            <a:spAutoFit/>
          </a:bodyPr>
          <a:lstStyle/>
          <a:p>
            <a:r>
              <a:rPr lang="en-US" altLang="zh-CN" sz="2400" b="1" dirty="0"/>
              <a:t>II. Methodology</a:t>
            </a:r>
          </a:p>
          <a:p>
            <a:r>
              <a:rPr lang="en-US" altLang="zh-CN" sz="2400" dirty="0"/>
              <a:t>The study introduces an intelligent agent framework that incorporates context awareness and decision-making algorithms. This system allows NPCs to respond dynamically to player actions, creating more realistic and adaptive behaviors in an MMORPG setting.</a:t>
            </a:r>
          </a:p>
          <a:p>
            <a:endParaRPr lang="zh-CN" altLang="en-US" sz="2400" dirty="0"/>
          </a:p>
        </p:txBody>
      </p:sp>
      <p:pic>
        <p:nvPicPr>
          <p:cNvPr id="44038" name="Picture 6">
            <a:extLst>
              <a:ext uri="{FF2B5EF4-FFF2-40B4-BE49-F238E27FC236}">
                <a16:creationId xmlns:a16="http://schemas.microsoft.com/office/drawing/2014/main" id="{37F07D2D-E7F2-4747-07AE-5E7B10E0AA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754" y="1442086"/>
            <a:ext cx="5933560" cy="398760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98">
            <a:extLst>
              <a:ext uri="{FF2B5EF4-FFF2-40B4-BE49-F238E27FC236}">
                <a16:creationId xmlns:a16="http://schemas.microsoft.com/office/drawing/2014/main" id="{90086DCE-9403-0D83-A5F6-8910F21CECB1}"/>
              </a:ext>
            </a:extLst>
          </p:cNvPr>
          <p:cNvSpPr>
            <a:spLocks noGrp="1"/>
          </p:cNvSpPr>
          <p:nvPr>
            <p:ph type="sldNum" sz="quarter" idx="12"/>
          </p:nvPr>
        </p:nvSpPr>
        <p:spPr>
          <a:xfrm>
            <a:off x="8610600" y="6356350"/>
            <a:ext cx="2743200" cy="365125"/>
          </a:xfrm>
        </p:spPr>
        <p:txBody>
          <a:bodyPr/>
          <a:lstStyle/>
          <a:p>
            <a:fld id="{AFB04D65-EEE5-467D-A240-EF96AD461DB8}" type="slidenum">
              <a:rPr lang="en-US" smtClean="0"/>
              <a:t>6</a:t>
            </a:fld>
            <a:endParaRPr lang="en-US"/>
          </a:p>
        </p:txBody>
      </p:sp>
    </p:spTree>
    <p:extLst>
      <p:ext uri="{BB962C8B-B14F-4D97-AF65-F5344CB8AC3E}">
        <p14:creationId xmlns:p14="http://schemas.microsoft.com/office/powerpoint/2010/main" val="213834826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nodeType="withEffect">
                                  <p:stCondLst>
                                    <p:cond delay="0"/>
                                  </p:stCondLst>
                                  <p:childTnLst>
                                    <p:set>
                                      <p:cBhvr>
                                        <p:cTn id="9" dur="1" fill="hold">
                                          <p:stCondLst>
                                            <p:cond delay="0"/>
                                          </p:stCondLst>
                                        </p:cTn>
                                        <p:tgtEl>
                                          <p:spTgt spid="44038"/>
                                        </p:tgtEl>
                                        <p:attrNameLst>
                                          <p:attrName>style.visibility</p:attrName>
                                        </p:attrNameLst>
                                      </p:cBhvr>
                                      <p:to>
                                        <p:strVal val="visible"/>
                                      </p:to>
                                    </p:set>
                                    <p:animEffect transition="in" filter="dissolve">
                                      <p:cBhvr>
                                        <p:cTn id="10" dur="500"/>
                                        <p:tgtEl>
                                          <p:spTgt spid="4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E1D6F-9E43-F909-7390-2B0773C67131}"/>
            </a:ext>
          </a:extLst>
        </p:cNvPr>
        <p:cNvGrpSpPr/>
        <p:nvPr/>
      </p:nvGrpSpPr>
      <p:grpSpPr>
        <a:xfrm>
          <a:off x="0" y="0"/>
          <a:ext cx="0" cy="0"/>
          <a:chOff x="0" y="0"/>
          <a:chExt cx="0" cy="0"/>
        </a:xfrm>
      </p:grpSpPr>
      <p:sp>
        <p:nvSpPr>
          <p:cNvPr id="2" name="Oval 5">
            <a:extLst>
              <a:ext uri="{FF2B5EF4-FFF2-40B4-BE49-F238E27FC236}">
                <a16:creationId xmlns:a16="http://schemas.microsoft.com/office/drawing/2014/main" id="{3B3C2656-6941-C016-A67C-230364D67203}"/>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p>
        </p:txBody>
      </p:sp>
      <p:sp>
        <p:nvSpPr>
          <p:cNvPr id="3" name="Rectangle 4">
            <a:extLst>
              <a:ext uri="{FF2B5EF4-FFF2-40B4-BE49-F238E27FC236}">
                <a16:creationId xmlns:a16="http://schemas.microsoft.com/office/drawing/2014/main" id="{44B74BB7-1235-CAC6-2655-EBF2431A81D7}"/>
              </a:ext>
            </a:extLst>
          </p:cNvPr>
          <p:cNvSpPr/>
          <p:nvPr/>
        </p:nvSpPr>
        <p:spPr>
          <a:xfrm>
            <a:off x="511175" y="731838"/>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19460" name="灯片编号占位符 3">
            <a:extLst>
              <a:ext uri="{FF2B5EF4-FFF2-40B4-BE49-F238E27FC236}">
                <a16:creationId xmlns:a16="http://schemas.microsoft.com/office/drawing/2014/main" id="{5FA2FBF0-9548-C72D-C8FE-FC452A0CB562}"/>
              </a:ext>
            </a:extLst>
          </p:cNvPr>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US" altLang="zh-CN" sz="1200" smtClean="0">
                <a:solidFill>
                  <a:srgbClr val="898989"/>
                </a:solidFill>
                <a:ea typeface="宋体" panose="02010600030101010101" pitchFamily="2" charset="-122"/>
              </a:rPr>
              <a:t>7</a:t>
            </a:fld>
            <a:endParaRPr lang="en-US" altLang="zh-CN" sz="1200" dirty="0">
              <a:solidFill>
                <a:srgbClr val="898989"/>
              </a:solidFill>
              <a:ea typeface="宋体" panose="02010600030101010101" pitchFamily="2" charset="-122"/>
            </a:endParaRPr>
          </a:p>
        </p:txBody>
      </p:sp>
      <p:sp>
        <p:nvSpPr>
          <p:cNvPr id="19462" name="Title 1">
            <a:extLst>
              <a:ext uri="{FF2B5EF4-FFF2-40B4-BE49-F238E27FC236}">
                <a16:creationId xmlns:a16="http://schemas.microsoft.com/office/drawing/2014/main" id="{ACB7EBED-5FD6-C3FE-F1BF-95262F5C5619}"/>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The Group Project </a:t>
            </a:r>
            <a:endParaRPr lang="en-US" altLang="en-US" b="1" dirty="0">
              <a:latin typeface="楷体" panose="02010609060101010101" pitchFamily="49" charset="-122"/>
              <a:ea typeface="楷体" panose="02010609060101010101" pitchFamily="49" charset="-122"/>
            </a:endParaRPr>
          </a:p>
        </p:txBody>
      </p:sp>
      <p:pic>
        <p:nvPicPr>
          <p:cNvPr id="5" name="图片 4">
            <a:extLst>
              <a:ext uri="{FF2B5EF4-FFF2-40B4-BE49-F238E27FC236}">
                <a16:creationId xmlns:a16="http://schemas.microsoft.com/office/drawing/2014/main" id="{03989729-31DC-3A46-485F-21542542767F}"/>
              </a:ext>
            </a:extLst>
          </p:cNvPr>
          <p:cNvPicPr/>
          <p:nvPr/>
        </p:nvPicPr>
        <p:blipFill>
          <a:blip r:embed="rId3"/>
          <a:stretch>
            <a:fillRect/>
          </a:stretch>
        </p:blipFill>
        <p:spPr>
          <a:xfrm>
            <a:off x="11100435" y="21590"/>
            <a:ext cx="1090930" cy="934085"/>
          </a:xfrm>
          <a:prstGeom prst="rect">
            <a:avLst/>
          </a:prstGeom>
        </p:spPr>
      </p:pic>
      <p:sp>
        <p:nvSpPr>
          <p:cNvPr id="7" name="文本框 6">
            <a:extLst>
              <a:ext uri="{FF2B5EF4-FFF2-40B4-BE49-F238E27FC236}">
                <a16:creationId xmlns:a16="http://schemas.microsoft.com/office/drawing/2014/main" id="{280853C2-4F4C-02A2-8E33-CF260D941774}"/>
              </a:ext>
            </a:extLst>
          </p:cNvPr>
          <p:cNvSpPr txBox="1"/>
          <p:nvPr/>
        </p:nvSpPr>
        <p:spPr>
          <a:xfrm>
            <a:off x="264319" y="1575436"/>
            <a:ext cx="4853486" cy="3804638"/>
          </a:xfrm>
          <a:prstGeom prst="rect">
            <a:avLst/>
          </a:prstGeom>
          <a:noFill/>
        </p:spPr>
        <p:txBody>
          <a:bodyPr wrap="square" rtlCol="0">
            <a:spAutoFit/>
          </a:bodyPr>
          <a:lstStyle/>
          <a:p>
            <a:r>
              <a:rPr lang="en-US" altLang="zh-CN" sz="2400" b="1" dirty="0"/>
              <a:t>IV. Conclusion</a:t>
            </a:r>
          </a:p>
          <a:p>
            <a:r>
              <a:rPr lang="en-US" altLang="zh-CN" sz="2400" dirty="0"/>
              <a:t>The AI-assisted system significantly improves NPC realism and interactivity, making MMORPGs more immersive. As AI continues to develop, it is poised to revolutionize NPC behavior and player engagement, offering more satisfying and memorable gameplay experiences.</a:t>
            </a:r>
          </a:p>
          <a:p>
            <a:endParaRPr lang="zh-CN" altLang="en-US" sz="2400" dirty="0"/>
          </a:p>
        </p:txBody>
      </p:sp>
      <p:pic>
        <p:nvPicPr>
          <p:cNvPr id="45058" name="Picture 2">
            <a:extLst>
              <a:ext uri="{FF2B5EF4-FFF2-40B4-BE49-F238E27FC236}">
                <a16:creationId xmlns:a16="http://schemas.microsoft.com/office/drawing/2014/main" id="{82A6A2EE-B885-5714-B49D-3A227C9488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454" y="1663290"/>
            <a:ext cx="5807925" cy="362892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98">
            <a:extLst>
              <a:ext uri="{FF2B5EF4-FFF2-40B4-BE49-F238E27FC236}">
                <a16:creationId xmlns:a16="http://schemas.microsoft.com/office/drawing/2014/main" id="{472B2879-DB77-C82D-0193-656676D8BE62}"/>
              </a:ext>
            </a:extLst>
          </p:cNvPr>
          <p:cNvSpPr>
            <a:spLocks noGrp="1"/>
          </p:cNvSpPr>
          <p:nvPr>
            <p:ph type="sldNum" sz="quarter" idx="12"/>
          </p:nvPr>
        </p:nvSpPr>
        <p:spPr>
          <a:xfrm>
            <a:off x="8610600" y="6356350"/>
            <a:ext cx="2743200" cy="365125"/>
          </a:xfrm>
        </p:spPr>
        <p:txBody>
          <a:bodyPr/>
          <a:lstStyle/>
          <a:p>
            <a:fld id="{AFB04D65-EEE5-467D-A240-EF96AD461DB8}" type="slidenum">
              <a:rPr lang="en-US" smtClean="0"/>
              <a:t>7</a:t>
            </a:fld>
            <a:endParaRPr lang="en-US"/>
          </a:p>
        </p:txBody>
      </p:sp>
    </p:spTree>
    <p:extLst>
      <p:ext uri="{BB962C8B-B14F-4D97-AF65-F5344CB8AC3E}">
        <p14:creationId xmlns:p14="http://schemas.microsoft.com/office/powerpoint/2010/main" val="27888718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45058"/>
                                        </p:tgtEl>
                                        <p:attrNameLst>
                                          <p:attrName>style.visibility</p:attrName>
                                        </p:attrNameLst>
                                      </p:cBhvr>
                                      <p:to>
                                        <p:strVal val="visible"/>
                                      </p:to>
                                    </p:set>
                                    <p:animEffect transition="in" filter="blinds(horizontal)">
                                      <p:cBhvr>
                                        <p:cTn id="10" dur="500"/>
                                        <p:tgtEl>
                                          <p:spTgt spid="4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91638" y="1359017"/>
            <a:ext cx="3777622" cy="586737"/>
          </a:xfrm>
        </p:spPr>
        <p:txBody>
          <a:bodyPr>
            <a:noAutofit/>
          </a:bodyPr>
          <a:lstStyle/>
          <a:p>
            <a:pPr algn="l">
              <a:lnSpc>
                <a:spcPct val="130000"/>
              </a:lnSpc>
              <a:spcAft>
                <a:spcPts val="600"/>
              </a:spcAft>
            </a:pPr>
            <a:r>
              <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1. The Group Project </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39115" y="989330"/>
            <a:ext cx="10976610" cy="15367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rgbClr val="0070C0"/>
                </a:solidFill>
                <a:latin typeface="Times New Roman" panose="02020603050405020304" pitchFamily="18" charset="0"/>
                <a:ea typeface="+mn-ea"/>
                <a:cs typeface="Times New Roman" panose="02020603050405020304" pitchFamily="18" charset="0"/>
              </a:rPr>
              <a:t>Outline</a:t>
            </a:r>
            <a:endParaRPr lang="en-US" sz="3200" dirty="0">
              <a:solidFill>
                <a:srgbClr val="0070C0"/>
              </a:solidFill>
              <a:latin typeface="Times New Roman" panose="02020603050405020304" pitchFamily="18" charset="0"/>
              <a:ea typeface="+mn-ea"/>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AFB04D65-EEE5-467D-A240-EF96AD461DB8}" type="slidenum">
              <a:rPr lang="en-US" smtClean="0"/>
              <a:t>8</a:t>
            </a:fld>
            <a:endParaRPr lang="en-US" dirty="0"/>
          </a:p>
        </p:txBody>
      </p:sp>
      <p:sp>
        <p:nvSpPr>
          <p:cNvPr id="10" name="Title 3"/>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2. Types of AINPC and It’s Introduction</a:t>
            </a:r>
            <a:endParaRPr lang="en-US" altLang="zh-CN"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Title 3"/>
          <p:cNvSpPr txBox="1"/>
          <p:nvPr>
            <p:custDataLst>
              <p:tags r:id="rId2"/>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3. The Response and Conclusion</a:t>
            </a:r>
          </a:p>
        </p:txBody>
      </p:sp>
      <p:pic>
        <p:nvPicPr>
          <p:cNvPr id="6" name="图片 5"/>
          <p:cNvPicPr/>
          <p:nvPr/>
        </p:nvPicPr>
        <p:blipFill>
          <a:blip r:embed="rId5"/>
          <a:stretch>
            <a:fillRect/>
          </a:stretch>
        </p:blipFill>
        <p:spPr>
          <a:xfrm>
            <a:off x="11100435" y="21590"/>
            <a:ext cx="1090930" cy="934085"/>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Slide Number Placeholder 98"/>
          <p:cNvSpPr>
            <a:spLocks noGrp="1"/>
          </p:cNvSpPr>
          <p:nvPr>
            <p:ph type="sldNum" sz="quarter" idx="12"/>
          </p:nvPr>
        </p:nvSpPr>
        <p:spPr/>
        <p:txBody>
          <a:bodyPr/>
          <a:lstStyle/>
          <a:p>
            <a:fld id="{AFB04D65-EEE5-467D-A240-EF96AD461DB8}" type="slidenum">
              <a:rPr lang="en-US" smtClean="0"/>
              <a:t>9</a:t>
            </a:fld>
            <a:endParaRPr lang="en-US"/>
          </a:p>
        </p:txBody>
      </p:sp>
      <p:sp>
        <p:nvSpPr>
          <p:cNvPr id="5" name="Oval 5"/>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2" name="Rectangle 10"/>
          <p:cNvSpPr/>
          <p:nvPr/>
        </p:nvSpPr>
        <p:spPr>
          <a:xfrm>
            <a:off x="518795" y="726440"/>
            <a:ext cx="11155045" cy="13208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Types of AINPC and It’s Introduction</a:t>
            </a:r>
            <a:endParaRPr lang="en-US" altLang="en-US" b="1" dirty="0">
              <a:latin typeface="楷体" panose="02010609060101010101" pitchFamily="49" charset="-122"/>
              <a:ea typeface="楷体" panose="02010609060101010101" pitchFamily="49" charset="-122"/>
            </a:endParaRPr>
          </a:p>
        </p:txBody>
      </p:sp>
      <p:pic>
        <p:nvPicPr>
          <p:cNvPr id="4" name="图片 3"/>
          <p:cNvPicPr/>
          <p:nvPr/>
        </p:nvPicPr>
        <p:blipFill>
          <a:blip r:embed="rId3"/>
          <a:stretch>
            <a:fillRect/>
          </a:stretch>
        </p:blipFill>
        <p:spPr>
          <a:xfrm>
            <a:off x="11061065" y="21590"/>
            <a:ext cx="1130300" cy="967740"/>
          </a:xfrm>
          <a:prstGeom prst="rect">
            <a:avLst/>
          </a:prstGeom>
        </p:spPr>
      </p:pic>
      <p:pic>
        <p:nvPicPr>
          <p:cNvPr id="7" name="图片 6">
            <a:extLst>
              <a:ext uri="{FF2B5EF4-FFF2-40B4-BE49-F238E27FC236}">
                <a16:creationId xmlns:a16="http://schemas.microsoft.com/office/drawing/2014/main" id="{9B1F6991-0E05-2684-E9AC-3AA570131330}"/>
              </a:ext>
            </a:extLst>
          </p:cNvPr>
          <p:cNvPicPr>
            <a:picLocks noChangeAspect="1"/>
          </p:cNvPicPr>
          <p:nvPr/>
        </p:nvPicPr>
        <p:blipFill>
          <a:blip r:embed="rId4"/>
          <a:stretch>
            <a:fillRect/>
          </a:stretch>
        </p:blipFill>
        <p:spPr>
          <a:xfrm>
            <a:off x="6254115" y="2355720"/>
            <a:ext cx="4806950" cy="2703910"/>
          </a:xfrm>
          <a:prstGeom prst="rect">
            <a:avLst/>
          </a:prstGeom>
        </p:spPr>
      </p:pic>
      <p:sp>
        <p:nvSpPr>
          <p:cNvPr id="9" name="文本框 8">
            <a:extLst>
              <a:ext uri="{FF2B5EF4-FFF2-40B4-BE49-F238E27FC236}">
                <a16:creationId xmlns:a16="http://schemas.microsoft.com/office/drawing/2014/main" id="{BB16BC8E-184E-3AD2-FF4C-E200947DF91B}"/>
              </a:ext>
            </a:extLst>
          </p:cNvPr>
          <p:cNvSpPr txBox="1"/>
          <p:nvPr/>
        </p:nvSpPr>
        <p:spPr>
          <a:xfrm>
            <a:off x="264319" y="1133195"/>
            <a:ext cx="10467476" cy="646331"/>
          </a:xfrm>
          <a:prstGeom prst="rect">
            <a:avLst/>
          </a:prstGeom>
          <a:noFill/>
        </p:spPr>
        <p:txBody>
          <a:bodyPr wrap="square" rtlCol="0">
            <a:spAutoFit/>
          </a:bodyPr>
          <a:lstStyle/>
          <a:p>
            <a:r>
              <a:rPr lang="en-US" altLang="zh-CN" sz="3600" b="1" dirty="0"/>
              <a:t>The first type: </a:t>
            </a:r>
            <a:r>
              <a:rPr lang="en-US" altLang="zh-CN" sz="3600" dirty="0"/>
              <a:t>large language model dialog AI NPC</a:t>
            </a:r>
            <a:endParaRPr lang="zh-CN" altLang="en-US" sz="3600" dirty="0"/>
          </a:p>
        </p:txBody>
      </p:sp>
      <p:sp>
        <p:nvSpPr>
          <p:cNvPr id="15" name="文本框 14">
            <a:extLst>
              <a:ext uri="{FF2B5EF4-FFF2-40B4-BE49-F238E27FC236}">
                <a16:creationId xmlns:a16="http://schemas.microsoft.com/office/drawing/2014/main" id="{93F6F761-7373-F203-77ED-AB9E557746AD}"/>
              </a:ext>
            </a:extLst>
          </p:cNvPr>
          <p:cNvSpPr txBox="1"/>
          <p:nvPr/>
        </p:nvSpPr>
        <p:spPr>
          <a:xfrm>
            <a:off x="2153369" y="5263140"/>
            <a:ext cx="1679944" cy="461665"/>
          </a:xfrm>
          <a:prstGeom prst="rect">
            <a:avLst/>
          </a:prstGeom>
          <a:noFill/>
        </p:spPr>
        <p:txBody>
          <a:bodyPr wrap="square" rtlCol="0">
            <a:spAutoFit/>
          </a:bodyPr>
          <a:lstStyle/>
          <a:p>
            <a:r>
              <a:rPr lang="en-US" altLang="zh-CN" sz="2400" dirty="0"/>
              <a:t>Take typing</a:t>
            </a:r>
            <a:endParaRPr lang="zh-CN" altLang="en-US" sz="2400" dirty="0"/>
          </a:p>
        </p:txBody>
      </p:sp>
      <p:sp>
        <p:nvSpPr>
          <p:cNvPr id="16" name="文本框 15">
            <a:extLst>
              <a:ext uri="{FF2B5EF4-FFF2-40B4-BE49-F238E27FC236}">
                <a16:creationId xmlns:a16="http://schemas.microsoft.com/office/drawing/2014/main" id="{955ED40F-E8C0-BE6D-DF88-3FFD4AC6D636}"/>
              </a:ext>
            </a:extLst>
          </p:cNvPr>
          <p:cNvSpPr txBox="1"/>
          <p:nvPr/>
        </p:nvSpPr>
        <p:spPr>
          <a:xfrm>
            <a:off x="7018832" y="5263140"/>
            <a:ext cx="3183535" cy="461665"/>
          </a:xfrm>
          <a:prstGeom prst="rect">
            <a:avLst/>
          </a:prstGeom>
          <a:noFill/>
        </p:spPr>
        <p:txBody>
          <a:bodyPr wrap="square" rtlCol="0">
            <a:spAutoFit/>
          </a:bodyPr>
          <a:lstStyle/>
          <a:p>
            <a:r>
              <a:rPr lang="en-US" altLang="zh-CN" sz="2400" dirty="0"/>
              <a:t>Conversing with speech</a:t>
            </a:r>
            <a:endParaRPr lang="zh-CN" altLang="en-US" sz="2400" dirty="0"/>
          </a:p>
        </p:txBody>
      </p:sp>
      <p:pic>
        <p:nvPicPr>
          <p:cNvPr id="21" name="图片 20">
            <a:extLst>
              <a:ext uri="{FF2B5EF4-FFF2-40B4-BE49-F238E27FC236}">
                <a16:creationId xmlns:a16="http://schemas.microsoft.com/office/drawing/2014/main" id="{BA7AB2F0-8E3C-A59A-E2AA-93B53FB1A18A}"/>
              </a:ext>
            </a:extLst>
          </p:cNvPr>
          <p:cNvPicPr>
            <a:picLocks noChangeAspect="1"/>
          </p:cNvPicPr>
          <p:nvPr/>
        </p:nvPicPr>
        <p:blipFill>
          <a:blip r:embed="rId5"/>
          <a:stretch>
            <a:fillRect/>
          </a:stretch>
        </p:blipFill>
        <p:spPr>
          <a:xfrm>
            <a:off x="1655228" y="2054202"/>
            <a:ext cx="2895508" cy="3084860"/>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032D9-310D-1A4E-537F-7A3B29BAB083}"/>
            </a:ext>
          </a:extLst>
        </p:cNvPr>
        <p:cNvGrpSpPr/>
        <p:nvPr/>
      </p:nvGrpSpPr>
      <p:grpSpPr>
        <a:xfrm>
          <a:off x="0" y="0"/>
          <a:ext cx="0" cy="0"/>
          <a:chOff x="0" y="0"/>
          <a:chExt cx="0" cy="0"/>
        </a:xfrm>
      </p:grpSpPr>
      <p:sp>
        <p:nvSpPr>
          <p:cNvPr id="99" name="Slide Number Placeholder 98">
            <a:extLst>
              <a:ext uri="{FF2B5EF4-FFF2-40B4-BE49-F238E27FC236}">
                <a16:creationId xmlns:a16="http://schemas.microsoft.com/office/drawing/2014/main" id="{3C21D867-D99E-2720-5AC9-2DA3D02C7787}"/>
              </a:ext>
            </a:extLst>
          </p:cNvPr>
          <p:cNvSpPr>
            <a:spLocks noGrp="1"/>
          </p:cNvSpPr>
          <p:nvPr>
            <p:ph type="sldNum" sz="quarter" idx="12"/>
          </p:nvPr>
        </p:nvSpPr>
        <p:spPr/>
        <p:txBody>
          <a:bodyPr/>
          <a:lstStyle/>
          <a:p>
            <a:fld id="{AFB04D65-EEE5-467D-A240-EF96AD461DB8}" type="slidenum">
              <a:rPr lang="en-US" smtClean="0"/>
              <a:t>10</a:t>
            </a:fld>
            <a:endParaRPr lang="en-US"/>
          </a:p>
        </p:txBody>
      </p:sp>
      <p:sp>
        <p:nvSpPr>
          <p:cNvPr id="5" name="Oval 5">
            <a:extLst>
              <a:ext uri="{FF2B5EF4-FFF2-40B4-BE49-F238E27FC236}">
                <a16:creationId xmlns:a16="http://schemas.microsoft.com/office/drawing/2014/main" id="{16180421-F9A5-9136-8B90-8FFEF88BCAEA}"/>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2" name="Rectangle 10">
            <a:extLst>
              <a:ext uri="{FF2B5EF4-FFF2-40B4-BE49-F238E27FC236}">
                <a16:creationId xmlns:a16="http://schemas.microsoft.com/office/drawing/2014/main" id="{83CBF4F0-BFCC-A254-73E6-E39AC9D876FD}"/>
              </a:ext>
            </a:extLst>
          </p:cNvPr>
          <p:cNvSpPr/>
          <p:nvPr/>
        </p:nvSpPr>
        <p:spPr>
          <a:xfrm>
            <a:off x="518795" y="726440"/>
            <a:ext cx="11155045" cy="13208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a:extLst>
              <a:ext uri="{FF2B5EF4-FFF2-40B4-BE49-F238E27FC236}">
                <a16:creationId xmlns:a16="http://schemas.microsoft.com/office/drawing/2014/main" id="{6A95E6E8-A279-9AF6-5083-5C326F2F46E2}"/>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Types of AINPC and It’s Introduction</a:t>
            </a:r>
            <a:endParaRPr lang="en-US" altLang="en-US" b="1" dirty="0">
              <a:latin typeface="楷体" panose="02010609060101010101" pitchFamily="49" charset="-122"/>
              <a:ea typeface="楷体" panose="02010609060101010101" pitchFamily="49" charset="-122"/>
            </a:endParaRPr>
          </a:p>
        </p:txBody>
      </p:sp>
      <p:pic>
        <p:nvPicPr>
          <p:cNvPr id="4" name="图片 3">
            <a:extLst>
              <a:ext uri="{FF2B5EF4-FFF2-40B4-BE49-F238E27FC236}">
                <a16:creationId xmlns:a16="http://schemas.microsoft.com/office/drawing/2014/main" id="{5452B493-0922-6B96-C061-F58672A2165A}"/>
              </a:ext>
            </a:extLst>
          </p:cNvPr>
          <p:cNvPicPr/>
          <p:nvPr/>
        </p:nvPicPr>
        <p:blipFill>
          <a:blip r:embed="rId3"/>
          <a:stretch>
            <a:fillRect/>
          </a:stretch>
        </p:blipFill>
        <p:spPr>
          <a:xfrm>
            <a:off x="11061065" y="21590"/>
            <a:ext cx="1130300" cy="967740"/>
          </a:xfrm>
          <a:prstGeom prst="rect">
            <a:avLst/>
          </a:prstGeom>
        </p:spPr>
      </p:pic>
      <p:sp>
        <p:nvSpPr>
          <p:cNvPr id="9" name="文本框 8">
            <a:extLst>
              <a:ext uri="{FF2B5EF4-FFF2-40B4-BE49-F238E27FC236}">
                <a16:creationId xmlns:a16="http://schemas.microsoft.com/office/drawing/2014/main" id="{2F1D133A-DB80-A05F-7762-7E1F7E98B6A5}"/>
              </a:ext>
            </a:extLst>
          </p:cNvPr>
          <p:cNvSpPr txBox="1"/>
          <p:nvPr/>
        </p:nvSpPr>
        <p:spPr>
          <a:xfrm>
            <a:off x="264319" y="1133195"/>
            <a:ext cx="10467476" cy="646331"/>
          </a:xfrm>
          <a:prstGeom prst="rect">
            <a:avLst/>
          </a:prstGeom>
          <a:noFill/>
        </p:spPr>
        <p:txBody>
          <a:bodyPr wrap="square" rtlCol="0">
            <a:spAutoFit/>
          </a:bodyPr>
          <a:lstStyle/>
          <a:p>
            <a:r>
              <a:rPr lang="en-US" altLang="zh-CN" sz="3600" b="1" dirty="0"/>
              <a:t>The second type</a:t>
            </a:r>
            <a:r>
              <a:rPr lang="en-US" altLang="zh-CN" sz="3600" b="1"/>
              <a:t>: </a:t>
            </a:r>
            <a:r>
              <a:rPr lang="en-US" altLang="zh-CN" sz="3600"/>
              <a:t>situational dialog NPC</a:t>
            </a:r>
            <a:endParaRPr lang="zh-CN" altLang="en-US" sz="3600" dirty="0"/>
          </a:p>
        </p:txBody>
      </p:sp>
      <p:sp>
        <p:nvSpPr>
          <p:cNvPr id="15" name="文本框 14">
            <a:extLst>
              <a:ext uri="{FF2B5EF4-FFF2-40B4-BE49-F238E27FC236}">
                <a16:creationId xmlns:a16="http://schemas.microsoft.com/office/drawing/2014/main" id="{0892A357-1CE7-CD25-B7F4-DD7245909E42}"/>
              </a:ext>
            </a:extLst>
          </p:cNvPr>
          <p:cNvSpPr txBox="1"/>
          <p:nvPr/>
        </p:nvSpPr>
        <p:spPr>
          <a:xfrm>
            <a:off x="2131942" y="5470106"/>
            <a:ext cx="2120919" cy="461665"/>
          </a:xfrm>
          <a:prstGeom prst="rect">
            <a:avLst/>
          </a:prstGeom>
          <a:noFill/>
        </p:spPr>
        <p:txBody>
          <a:bodyPr wrap="square" rtlCol="0">
            <a:spAutoFit/>
          </a:bodyPr>
          <a:lstStyle/>
          <a:p>
            <a:r>
              <a:rPr lang="en-US" altLang="zh-CN" sz="2400" dirty="0"/>
              <a:t>In </a:t>
            </a:r>
            <a:r>
              <a:rPr lang="en-US" altLang="zh-CN" sz="2400" dirty="0" err="1"/>
              <a:t>NiShuiHan</a:t>
            </a:r>
            <a:endParaRPr lang="zh-CN" altLang="en-US" sz="2400" dirty="0"/>
          </a:p>
        </p:txBody>
      </p:sp>
      <p:sp>
        <p:nvSpPr>
          <p:cNvPr id="16" name="文本框 15">
            <a:extLst>
              <a:ext uri="{FF2B5EF4-FFF2-40B4-BE49-F238E27FC236}">
                <a16:creationId xmlns:a16="http://schemas.microsoft.com/office/drawing/2014/main" id="{2BA1DCF5-EFC9-E47D-4E39-212876CF55E8}"/>
              </a:ext>
            </a:extLst>
          </p:cNvPr>
          <p:cNvSpPr txBox="1"/>
          <p:nvPr/>
        </p:nvSpPr>
        <p:spPr>
          <a:xfrm>
            <a:off x="7939141" y="5493972"/>
            <a:ext cx="2337819" cy="461665"/>
          </a:xfrm>
          <a:prstGeom prst="rect">
            <a:avLst/>
          </a:prstGeom>
          <a:noFill/>
        </p:spPr>
        <p:txBody>
          <a:bodyPr wrap="square" rtlCol="0">
            <a:spAutoFit/>
          </a:bodyPr>
          <a:lstStyle/>
          <a:p>
            <a:r>
              <a:rPr lang="en-US" altLang="zh-CN" sz="2400" dirty="0"/>
              <a:t>Talk With police</a:t>
            </a:r>
            <a:endParaRPr lang="zh-CN" altLang="en-US" sz="2400" dirty="0"/>
          </a:p>
        </p:txBody>
      </p:sp>
      <p:pic>
        <p:nvPicPr>
          <p:cNvPr id="6" name="图片 5">
            <a:extLst>
              <a:ext uri="{FF2B5EF4-FFF2-40B4-BE49-F238E27FC236}">
                <a16:creationId xmlns:a16="http://schemas.microsoft.com/office/drawing/2014/main" id="{B40E9013-9852-4238-CC09-AA0373A8FA4C}"/>
              </a:ext>
            </a:extLst>
          </p:cNvPr>
          <p:cNvPicPr>
            <a:picLocks noChangeAspect="1"/>
          </p:cNvPicPr>
          <p:nvPr/>
        </p:nvPicPr>
        <p:blipFill>
          <a:blip r:embed="rId4"/>
          <a:stretch>
            <a:fillRect/>
          </a:stretch>
        </p:blipFill>
        <p:spPr>
          <a:xfrm>
            <a:off x="886747" y="2209370"/>
            <a:ext cx="4611310" cy="2996609"/>
          </a:xfrm>
          <a:prstGeom prst="rect">
            <a:avLst/>
          </a:prstGeom>
        </p:spPr>
      </p:pic>
      <p:pic>
        <p:nvPicPr>
          <p:cNvPr id="8" name="图片 7">
            <a:extLst>
              <a:ext uri="{FF2B5EF4-FFF2-40B4-BE49-F238E27FC236}">
                <a16:creationId xmlns:a16="http://schemas.microsoft.com/office/drawing/2014/main" id="{C9010628-50E1-5869-6B80-4CEFBECC2DF4}"/>
              </a:ext>
            </a:extLst>
          </p:cNvPr>
          <p:cNvPicPr>
            <a:picLocks noChangeAspect="1"/>
          </p:cNvPicPr>
          <p:nvPr/>
        </p:nvPicPr>
        <p:blipFill>
          <a:blip r:embed="rId5"/>
          <a:stretch>
            <a:fillRect/>
          </a:stretch>
        </p:blipFill>
        <p:spPr>
          <a:xfrm>
            <a:off x="6096000" y="2209370"/>
            <a:ext cx="5191760" cy="3023244"/>
          </a:xfrm>
          <a:prstGeom prst="rect">
            <a:avLst/>
          </a:prstGeom>
        </p:spPr>
      </p:pic>
    </p:spTree>
    <p:custDataLst>
      <p:tags r:id="rId1"/>
    </p:custDataLst>
    <p:extLst>
      <p:ext uri="{BB962C8B-B14F-4D97-AF65-F5344CB8AC3E}">
        <p14:creationId xmlns:p14="http://schemas.microsoft.com/office/powerpoint/2010/main" val="1045941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790C-2DA0-22CB-BFC9-64AA0B27AFBE}"/>
            </a:ext>
          </a:extLst>
        </p:cNvPr>
        <p:cNvGrpSpPr/>
        <p:nvPr/>
      </p:nvGrpSpPr>
      <p:grpSpPr>
        <a:xfrm>
          <a:off x="0" y="0"/>
          <a:ext cx="0" cy="0"/>
          <a:chOff x="0" y="0"/>
          <a:chExt cx="0" cy="0"/>
        </a:xfrm>
      </p:grpSpPr>
      <p:sp>
        <p:nvSpPr>
          <p:cNvPr id="99" name="Slide Number Placeholder 98">
            <a:extLst>
              <a:ext uri="{FF2B5EF4-FFF2-40B4-BE49-F238E27FC236}">
                <a16:creationId xmlns:a16="http://schemas.microsoft.com/office/drawing/2014/main" id="{1D9E2F46-9F07-E391-C8C1-F86DD7DBE186}"/>
              </a:ext>
            </a:extLst>
          </p:cNvPr>
          <p:cNvSpPr>
            <a:spLocks noGrp="1"/>
          </p:cNvSpPr>
          <p:nvPr>
            <p:ph type="sldNum" sz="quarter" idx="12"/>
          </p:nvPr>
        </p:nvSpPr>
        <p:spPr/>
        <p:txBody>
          <a:bodyPr/>
          <a:lstStyle/>
          <a:p>
            <a:fld id="{AFB04D65-EEE5-467D-A240-EF96AD461DB8}" type="slidenum">
              <a:rPr lang="en-US" smtClean="0"/>
              <a:t>11</a:t>
            </a:fld>
            <a:endParaRPr lang="en-US"/>
          </a:p>
        </p:txBody>
      </p:sp>
      <p:sp>
        <p:nvSpPr>
          <p:cNvPr id="5" name="Oval 5">
            <a:extLst>
              <a:ext uri="{FF2B5EF4-FFF2-40B4-BE49-F238E27FC236}">
                <a16:creationId xmlns:a16="http://schemas.microsoft.com/office/drawing/2014/main" id="{14037FB1-6819-C6CE-7B86-D145D62556B9}"/>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2</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2" name="Rectangle 10">
            <a:extLst>
              <a:ext uri="{FF2B5EF4-FFF2-40B4-BE49-F238E27FC236}">
                <a16:creationId xmlns:a16="http://schemas.microsoft.com/office/drawing/2014/main" id="{58885AFE-4824-AC72-610C-F994A5B90D73}"/>
              </a:ext>
            </a:extLst>
          </p:cNvPr>
          <p:cNvSpPr/>
          <p:nvPr/>
        </p:nvSpPr>
        <p:spPr>
          <a:xfrm>
            <a:off x="518795" y="726440"/>
            <a:ext cx="11155045" cy="13208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a:extLst>
              <a:ext uri="{FF2B5EF4-FFF2-40B4-BE49-F238E27FC236}">
                <a16:creationId xmlns:a16="http://schemas.microsoft.com/office/drawing/2014/main" id="{6246096C-8A17-8888-9538-5ADD122BA75A}"/>
              </a:ext>
            </a:extLst>
          </p:cNvPr>
          <p:cNvSpPr txBox="1"/>
          <p:nvPr/>
        </p:nvSpPr>
        <p:spPr>
          <a:xfrm>
            <a:off x="519430" y="177800"/>
            <a:ext cx="10383520"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Types of AINPC and It’s Introduction</a:t>
            </a:r>
            <a:endParaRPr lang="en-US" altLang="en-US" b="1" dirty="0">
              <a:latin typeface="楷体" panose="02010609060101010101" pitchFamily="49" charset="-122"/>
              <a:ea typeface="楷体" panose="02010609060101010101" pitchFamily="49" charset="-122"/>
            </a:endParaRPr>
          </a:p>
        </p:txBody>
      </p:sp>
      <p:pic>
        <p:nvPicPr>
          <p:cNvPr id="4" name="图片 3">
            <a:extLst>
              <a:ext uri="{FF2B5EF4-FFF2-40B4-BE49-F238E27FC236}">
                <a16:creationId xmlns:a16="http://schemas.microsoft.com/office/drawing/2014/main" id="{47E575A8-F3DC-5017-17F2-879948D70787}"/>
              </a:ext>
            </a:extLst>
          </p:cNvPr>
          <p:cNvPicPr/>
          <p:nvPr/>
        </p:nvPicPr>
        <p:blipFill>
          <a:blip r:embed="rId3"/>
          <a:stretch>
            <a:fillRect/>
          </a:stretch>
        </p:blipFill>
        <p:spPr>
          <a:xfrm>
            <a:off x="11061065" y="21590"/>
            <a:ext cx="1130300" cy="967740"/>
          </a:xfrm>
          <a:prstGeom prst="rect">
            <a:avLst/>
          </a:prstGeom>
        </p:spPr>
      </p:pic>
      <p:sp>
        <p:nvSpPr>
          <p:cNvPr id="9" name="文本框 8">
            <a:extLst>
              <a:ext uri="{FF2B5EF4-FFF2-40B4-BE49-F238E27FC236}">
                <a16:creationId xmlns:a16="http://schemas.microsoft.com/office/drawing/2014/main" id="{EC1BC1AF-DF71-740A-5A4D-1FBADFEBB3CC}"/>
              </a:ext>
            </a:extLst>
          </p:cNvPr>
          <p:cNvSpPr txBox="1"/>
          <p:nvPr/>
        </p:nvSpPr>
        <p:spPr>
          <a:xfrm>
            <a:off x="264318" y="1133195"/>
            <a:ext cx="11282639" cy="646331"/>
          </a:xfrm>
          <a:prstGeom prst="rect">
            <a:avLst/>
          </a:prstGeom>
          <a:noFill/>
        </p:spPr>
        <p:txBody>
          <a:bodyPr wrap="square" rtlCol="0">
            <a:spAutoFit/>
          </a:bodyPr>
          <a:lstStyle/>
          <a:p>
            <a:r>
              <a:rPr lang="en-US" altLang="zh-CN" sz="3600" b="1" dirty="0"/>
              <a:t>Third type</a:t>
            </a:r>
            <a:r>
              <a:rPr lang="en-US" altLang="zh-CN" sz="3600" dirty="0"/>
              <a:t>: performs appropriate actions based on dialogs</a:t>
            </a:r>
            <a:endParaRPr lang="zh-CN" altLang="en-US" sz="3600" dirty="0"/>
          </a:p>
        </p:txBody>
      </p:sp>
      <p:sp>
        <p:nvSpPr>
          <p:cNvPr id="15" name="文本框 14">
            <a:extLst>
              <a:ext uri="{FF2B5EF4-FFF2-40B4-BE49-F238E27FC236}">
                <a16:creationId xmlns:a16="http://schemas.microsoft.com/office/drawing/2014/main" id="{124D3445-C561-7B12-200B-61CBDC04434A}"/>
              </a:ext>
            </a:extLst>
          </p:cNvPr>
          <p:cNvSpPr txBox="1"/>
          <p:nvPr/>
        </p:nvSpPr>
        <p:spPr>
          <a:xfrm>
            <a:off x="1579049" y="5493971"/>
            <a:ext cx="2518030" cy="461665"/>
          </a:xfrm>
          <a:prstGeom prst="rect">
            <a:avLst/>
          </a:prstGeom>
          <a:noFill/>
        </p:spPr>
        <p:txBody>
          <a:bodyPr wrap="square" rtlCol="0">
            <a:spAutoFit/>
          </a:bodyPr>
          <a:lstStyle/>
          <a:p>
            <a:r>
              <a:rPr lang="en-US" altLang="zh-CN" sz="2400" dirty="0"/>
              <a:t>Turn off the light </a:t>
            </a:r>
            <a:endParaRPr lang="zh-CN" altLang="en-US" sz="2400" dirty="0"/>
          </a:p>
        </p:txBody>
      </p:sp>
      <p:sp>
        <p:nvSpPr>
          <p:cNvPr id="16" name="文本框 15">
            <a:extLst>
              <a:ext uri="{FF2B5EF4-FFF2-40B4-BE49-F238E27FC236}">
                <a16:creationId xmlns:a16="http://schemas.microsoft.com/office/drawing/2014/main" id="{D845EFD4-DE3B-7570-FBA6-F687937CD62F}"/>
              </a:ext>
            </a:extLst>
          </p:cNvPr>
          <p:cNvSpPr txBox="1"/>
          <p:nvPr/>
        </p:nvSpPr>
        <p:spPr>
          <a:xfrm>
            <a:off x="6909252" y="5493971"/>
            <a:ext cx="3785026" cy="461665"/>
          </a:xfrm>
          <a:prstGeom prst="rect">
            <a:avLst/>
          </a:prstGeom>
          <a:noFill/>
        </p:spPr>
        <p:txBody>
          <a:bodyPr wrap="square" rtlCol="0">
            <a:spAutoFit/>
          </a:bodyPr>
          <a:lstStyle/>
          <a:p>
            <a:r>
              <a:rPr lang="en-US" altLang="zh-CN" sz="2400" dirty="0"/>
              <a:t>Make and get something</a:t>
            </a:r>
            <a:endParaRPr lang="zh-CN" altLang="en-US" sz="2400" dirty="0"/>
          </a:p>
        </p:txBody>
      </p:sp>
      <p:pic>
        <p:nvPicPr>
          <p:cNvPr id="7" name="图片 6">
            <a:extLst>
              <a:ext uri="{FF2B5EF4-FFF2-40B4-BE49-F238E27FC236}">
                <a16:creationId xmlns:a16="http://schemas.microsoft.com/office/drawing/2014/main" id="{AE37DD86-213F-D3F1-6459-07500A9B35C2}"/>
              </a:ext>
            </a:extLst>
          </p:cNvPr>
          <p:cNvPicPr>
            <a:picLocks noChangeAspect="1"/>
          </p:cNvPicPr>
          <p:nvPr/>
        </p:nvPicPr>
        <p:blipFill>
          <a:blip r:embed="rId4"/>
          <a:stretch>
            <a:fillRect/>
          </a:stretch>
        </p:blipFill>
        <p:spPr>
          <a:xfrm>
            <a:off x="663317" y="2239843"/>
            <a:ext cx="4759288" cy="2962298"/>
          </a:xfrm>
          <a:prstGeom prst="rect">
            <a:avLst/>
          </a:prstGeom>
        </p:spPr>
      </p:pic>
      <p:pic>
        <p:nvPicPr>
          <p:cNvPr id="11" name="图片 10">
            <a:extLst>
              <a:ext uri="{FF2B5EF4-FFF2-40B4-BE49-F238E27FC236}">
                <a16:creationId xmlns:a16="http://schemas.microsoft.com/office/drawing/2014/main" id="{CDF93D6D-EBBA-A24F-A2F0-9C87B4CD95D9}"/>
              </a:ext>
            </a:extLst>
          </p:cNvPr>
          <p:cNvPicPr>
            <a:picLocks noChangeAspect="1"/>
          </p:cNvPicPr>
          <p:nvPr/>
        </p:nvPicPr>
        <p:blipFill>
          <a:blip r:embed="rId5"/>
          <a:stretch>
            <a:fillRect/>
          </a:stretch>
        </p:blipFill>
        <p:spPr>
          <a:xfrm>
            <a:off x="6464494" y="2180239"/>
            <a:ext cx="4674543" cy="3147293"/>
          </a:xfrm>
          <a:prstGeom prst="rect">
            <a:avLst/>
          </a:prstGeom>
        </p:spPr>
      </p:pic>
    </p:spTree>
    <p:custDataLst>
      <p:tags r:id="rId1"/>
    </p:custDataLst>
    <p:extLst>
      <p:ext uri="{BB962C8B-B14F-4D97-AF65-F5344CB8AC3E}">
        <p14:creationId xmlns:p14="http://schemas.microsoft.com/office/powerpoint/2010/main" val="2750908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91637" y="1359017"/>
            <a:ext cx="3598449" cy="586737"/>
          </a:xfrm>
        </p:spPr>
        <p:txBody>
          <a:bodyPr>
            <a:noAutofit/>
          </a:bodyPr>
          <a:lstStyle/>
          <a:p>
            <a:pPr algn="l">
              <a:lnSpc>
                <a:spcPct val="130000"/>
              </a:lnSpc>
              <a:spcAft>
                <a:spcPts val="600"/>
              </a:spcAft>
            </a:pPr>
            <a:r>
              <a:rPr lang="en-US"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1. The Group Project </a:t>
            </a:r>
            <a:endParaRPr lang="en-US" sz="2800"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Oval 8"/>
          <p:cNvSpPr/>
          <p:nvPr/>
        </p:nvSpPr>
        <p:spPr>
          <a:xfrm>
            <a:off x="10992" y="800831"/>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39115" y="989330"/>
            <a:ext cx="10976610"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txBox="1"/>
          <p:nvPr/>
        </p:nvSpPr>
        <p:spPr>
          <a:xfrm>
            <a:off x="424963" y="246186"/>
            <a:ext cx="2889737" cy="5581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rgbClr val="0070C0"/>
                </a:solidFill>
                <a:latin typeface="Times New Roman" panose="02020603050405020304" pitchFamily="18" charset="0"/>
                <a:ea typeface="+mn-ea"/>
                <a:cs typeface="Times New Roman" panose="02020603050405020304" pitchFamily="18" charset="0"/>
              </a:rPr>
              <a:t>Outline</a:t>
            </a:r>
            <a:endParaRPr lang="en-US" sz="3200" dirty="0">
              <a:solidFill>
                <a:srgbClr val="0070C0"/>
              </a:solidFill>
              <a:latin typeface="Times New Roman" panose="02020603050405020304" pitchFamily="18" charset="0"/>
              <a:ea typeface="+mn-ea"/>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AFB04D65-EEE5-467D-A240-EF96AD461DB8}" type="slidenum">
              <a:rPr lang="en-US" smtClean="0"/>
              <a:t>12</a:t>
            </a:fld>
            <a:endParaRPr lang="en-US" dirty="0"/>
          </a:p>
        </p:txBody>
      </p:sp>
      <p:sp>
        <p:nvSpPr>
          <p:cNvPr id="10" name="Title 3"/>
          <p:cNvSpPr txBox="1"/>
          <p:nvPr/>
        </p:nvSpPr>
        <p:spPr>
          <a:xfrm>
            <a:off x="474418" y="1911467"/>
            <a:ext cx="10422181" cy="586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rPr>
              <a:t>2. Types of AINPC and It’s Introduction</a:t>
            </a:r>
          </a:p>
        </p:txBody>
      </p:sp>
      <p:sp>
        <p:nvSpPr>
          <p:cNvPr id="2" name="Title 3"/>
          <p:cNvSpPr txBox="1"/>
          <p:nvPr>
            <p:custDataLst>
              <p:tags r:id="rId2"/>
            </p:custDataLst>
          </p:nvPr>
        </p:nvSpPr>
        <p:spPr>
          <a:xfrm>
            <a:off x="472440" y="2546985"/>
            <a:ext cx="11576685" cy="5867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spcAft>
                <a:spcPts val="600"/>
              </a:spcAft>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3. The Response and Conclusion</a:t>
            </a:r>
            <a:endParaRPr lang="en-US" altLang="zh-CN" sz="2800" dirty="0">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6" name="图片 5"/>
          <p:cNvPicPr/>
          <p:nvPr/>
        </p:nvPicPr>
        <p:blipFill>
          <a:blip r:embed="rId5"/>
          <a:stretch>
            <a:fillRect/>
          </a:stretch>
        </p:blipFill>
        <p:spPr>
          <a:xfrm>
            <a:off x="11100435" y="21590"/>
            <a:ext cx="1090930" cy="934085"/>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90085-31D4-538A-A7F0-60735378CEA3}"/>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1599C786-9F2F-1B62-C536-944D2F8811F1}"/>
              </a:ext>
            </a:extLst>
          </p:cNvPr>
          <p:cNvSpPr>
            <a:spLocks noGrp="1"/>
          </p:cNvSpPr>
          <p:nvPr>
            <p:ph type="sldNum" sz="quarter" idx="12"/>
          </p:nvPr>
        </p:nvSpPr>
        <p:spPr/>
        <p:txBody>
          <a:bodyPr/>
          <a:lstStyle/>
          <a:p>
            <a:fld id="{AFB04D65-EEE5-467D-A240-EF96AD461DB8}" type="slidenum">
              <a:rPr lang="en-US" smtClean="0"/>
              <a:t>13</a:t>
            </a:fld>
            <a:endParaRPr lang="en-US"/>
          </a:p>
        </p:txBody>
      </p:sp>
      <p:sp>
        <p:nvSpPr>
          <p:cNvPr id="3" name="Oval 5">
            <a:extLst>
              <a:ext uri="{FF2B5EF4-FFF2-40B4-BE49-F238E27FC236}">
                <a16:creationId xmlns:a16="http://schemas.microsoft.com/office/drawing/2014/main" id="{3992D02D-3AE8-C054-34F3-802B170EE56C}"/>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E04877D7-C76A-C61D-E4E7-65F873DD1211}"/>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The Response and Conclusion</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C1AB6D8F-2D3C-0229-37FD-5793C3A06F1E}"/>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图片 4">
            <a:extLst>
              <a:ext uri="{FF2B5EF4-FFF2-40B4-BE49-F238E27FC236}">
                <a16:creationId xmlns:a16="http://schemas.microsoft.com/office/drawing/2014/main" id="{F8913A28-4E70-40CA-C2B5-7BC8D195497E}"/>
              </a:ext>
            </a:extLst>
          </p:cNvPr>
          <p:cNvPicPr/>
          <p:nvPr/>
        </p:nvPicPr>
        <p:blipFill>
          <a:blip r:embed="rId3"/>
          <a:stretch>
            <a:fillRect/>
          </a:stretch>
        </p:blipFill>
        <p:spPr>
          <a:xfrm>
            <a:off x="11061065" y="21590"/>
            <a:ext cx="1130300" cy="967740"/>
          </a:xfrm>
          <a:prstGeom prst="rect">
            <a:avLst/>
          </a:prstGeom>
        </p:spPr>
      </p:pic>
      <p:pic>
        <p:nvPicPr>
          <p:cNvPr id="9" name="图片 8">
            <a:extLst>
              <a:ext uri="{FF2B5EF4-FFF2-40B4-BE49-F238E27FC236}">
                <a16:creationId xmlns:a16="http://schemas.microsoft.com/office/drawing/2014/main" id="{EB4D928C-FFDC-D00A-F0CC-316D72DAF9FF}"/>
              </a:ext>
            </a:extLst>
          </p:cNvPr>
          <p:cNvPicPr>
            <a:picLocks noChangeAspect="1"/>
          </p:cNvPicPr>
          <p:nvPr/>
        </p:nvPicPr>
        <p:blipFill>
          <a:blip r:embed="rId4"/>
          <a:stretch>
            <a:fillRect/>
          </a:stretch>
        </p:blipFill>
        <p:spPr>
          <a:xfrm>
            <a:off x="2790249" y="1903370"/>
            <a:ext cx="5588207" cy="530723"/>
          </a:xfrm>
          <a:prstGeom prst="rect">
            <a:avLst/>
          </a:prstGeom>
        </p:spPr>
      </p:pic>
      <p:sp>
        <p:nvSpPr>
          <p:cNvPr id="14" name="文本框 13">
            <a:extLst>
              <a:ext uri="{FF2B5EF4-FFF2-40B4-BE49-F238E27FC236}">
                <a16:creationId xmlns:a16="http://schemas.microsoft.com/office/drawing/2014/main" id="{6FEF0E0C-1620-ADFB-F249-5FC8A7F183F8}"/>
              </a:ext>
            </a:extLst>
          </p:cNvPr>
          <p:cNvSpPr txBox="1"/>
          <p:nvPr/>
        </p:nvSpPr>
        <p:spPr>
          <a:xfrm>
            <a:off x="850605" y="1079425"/>
            <a:ext cx="2502196" cy="523220"/>
          </a:xfrm>
          <a:prstGeom prst="rect">
            <a:avLst/>
          </a:prstGeom>
          <a:noFill/>
        </p:spPr>
        <p:txBody>
          <a:bodyPr wrap="square" rtlCol="0">
            <a:spAutoFit/>
          </a:bodyPr>
          <a:lstStyle/>
          <a:p>
            <a:r>
              <a:rPr lang="en-US" altLang="zh-CN" sz="2800" b="1" dirty="0"/>
              <a:t>The Response</a:t>
            </a:r>
            <a:endParaRPr lang="zh-CN" altLang="en-US" sz="2800" b="1" dirty="0"/>
          </a:p>
        </p:txBody>
      </p:sp>
      <p:pic>
        <p:nvPicPr>
          <p:cNvPr id="21" name="图片 20">
            <a:extLst>
              <a:ext uri="{FF2B5EF4-FFF2-40B4-BE49-F238E27FC236}">
                <a16:creationId xmlns:a16="http://schemas.microsoft.com/office/drawing/2014/main" id="{0221F110-4D3F-100F-580E-84D22EE8C067}"/>
              </a:ext>
            </a:extLst>
          </p:cNvPr>
          <p:cNvPicPr>
            <a:picLocks noChangeAspect="1"/>
          </p:cNvPicPr>
          <p:nvPr/>
        </p:nvPicPr>
        <p:blipFill>
          <a:blip r:embed="rId5"/>
          <a:stretch>
            <a:fillRect/>
          </a:stretch>
        </p:blipFill>
        <p:spPr>
          <a:xfrm>
            <a:off x="2885941" y="2934593"/>
            <a:ext cx="5396821" cy="883689"/>
          </a:xfrm>
          <a:prstGeom prst="rect">
            <a:avLst/>
          </a:prstGeom>
        </p:spPr>
      </p:pic>
      <p:pic>
        <p:nvPicPr>
          <p:cNvPr id="23" name="图片 22">
            <a:extLst>
              <a:ext uri="{FF2B5EF4-FFF2-40B4-BE49-F238E27FC236}">
                <a16:creationId xmlns:a16="http://schemas.microsoft.com/office/drawing/2014/main" id="{1FF2D0A6-F1F8-ED8F-F53D-4B0C2FB26636}"/>
              </a:ext>
            </a:extLst>
          </p:cNvPr>
          <p:cNvPicPr>
            <a:picLocks noChangeAspect="1"/>
          </p:cNvPicPr>
          <p:nvPr/>
        </p:nvPicPr>
        <p:blipFill>
          <a:blip r:embed="rId6"/>
          <a:stretch>
            <a:fillRect/>
          </a:stretch>
        </p:blipFill>
        <p:spPr>
          <a:xfrm>
            <a:off x="2021781" y="4033599"/>
            <a:ext cx="7337792" cy="780617"/>
          </a:xfrm>
          <a:prstGeom prst="rect">
            <a:avLst/>
          </a:prstGeom>
        </p:spPr>
      </p:pic>
    </p:spTree>
    <p:custDataLst>
      <p:tags r:id="rId1"/>
    </p:custDataLst>
    <p:extLst>
      <p:ext uri="{BB962C8B-B14F-4D97-AF65-F5344CB8AC3E}">
        <p14:creationId xmlns:p14="http://schemas.microsoft.com/office/powerpoint/2010/main" val="22320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randombar(horizontal)">
                                      <p:cBhvr>
                                        <p:cTn id="11" dur="500"/>
                                        <p:tgtEl>
                                          <p:spTgt spid="21"/>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randombar(horizontal)">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C4D6C-478A-19FB-1519-A44186C6CA1F}"/>
            </a:ext>
          </a:extLst>
        </p:cNvPr>
        <p:cNvGrpSpPr/>
        <p:nvPr/>
      </p:nvGrpSpPr>
      <p:grpSpPr>
        <a:xfrm>
          <a:off x="0" y="0"/>
          <a:ext cx="0" cy="0"/>
          <a:chOff x="0" y="0"/>
          <a:chExt cx="0" cy="0"/>
        </a:xfrm>
      </p:grpSpPr>
      <p:sp>
        <p:nvSpPr>
          <p:cNvPr id="45" name="Slide Number Placeholder 44">
            <a:extLst>
              <a:ext uri="{FF2B5EF4-FFF2-40B4-BE49-F238E27FC236}">
                <a16:creationId xmlns:a16="http://schemas.microsoft.com/office/drawing/2014/main" id="{70B93F3D-2E65-A64C-B9EA-118D24B64586}"/>
              </a:ext>
            </a:extLst>
          </p:cNvPr>
          <p:cNvSpPr>
            <a:spLocks noGrp="1"/>
          </p:cNvSpPr>
          <p:nvPr>
            <p:ph type="sldNum" sz="quarter" idx="12"/>
          </p:nvPr>
        </p:nvSpPr>
        <p:spPr/>
        <p:txBody>
          <a:bodyPr/>
          <a:lstStyle/>
          <a:p>
            <a:fld id="{AFB04D65-EEE5-467D-A240-EF96AD461DB8}" type="slidenum">
              <a:rPr lang="en-US" smtClean="0"/>
              <a:t>14</a:t>
            </a:fld>
            <a:endParaRPr lang="en-US"/>
          </a:p>
        </p:txBody>
      </p:sp>
      <p:sp>
        <p:nvSpPr>
          <p:cNvPr id="3" name="Oval 5">
            <a:extLst>
              <a:ext uri="{FF2B5EF4-FFF2-40B4-BE49-F238E27FC236}">
                <a16:creationId xmlns:a16="http://schemas.microsoft.com/office/drawing/2014/main" id="{214EE515-2EF8-FB27-C906-83902E268073}"/>
              </a:ext>
            </a:extLst>
          </p:cNvPr>
          <p:cNvSpPr/>
          <p:nvPr/>
        </p:nvSpPr>
        <p:spPr>
          <a:xfrm>
            <a:off x="0" y="506413"/>
            <a:ext cx="528638" cy="53498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lang="en-US" sz="2800" b="1"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3</a:t>
            </a:r>
            <a:endParaRPr kumimoji="0" lang="en-US"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4" name="Title 1">
            <a:extLst>
              <a:ext uri="{FF2B5EF4-FFF2-40B4-BE49-F238E27FC236}">
                <a16:creationId xmlns:a16="http://schemas.microsoft.com/office/drawing/2014/main" id="{37430F86-F982-DAAA-E6DA-01042A39827F}"/>
              </a:ext>
            </a:extLst>
          </p:cNvPr>
          <p:cNvSpPr txBox="1"/>
          <p:nvPr/>
        </p:nvSpPr>
        <p:spPr>
          <a:xfrm>
            <a:off x="519430" y="177800"/>
            <a:ext cx="11153775" cy="544830"/>
          </a:xfrm>
          <a:prstGeom prst="rect">
            <a:avLst/>
          </a:prstGeom>
          <a:noFill/>
          <a:ln w="9525">
            <a:noFill/>
          </a:ln>
        </p:spPr>
        <p:txBody>
          <a:bodyPr anchor="b"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sym typeface="+mn-ea"/>
              </a:rPr>
              <a:t> </a:t>
            </a:r>
          </a:p>
          <a:p>
            <a:pPr marL="0" lvl="0" indent="0" eaLnBrk="1" hangingPunct="1">
              <a:spcBef>
                <a:spcPct val="0"/>
              </a:spcBef>
              <a:buFontTx/>
              <a:buNone/>
            </a:pPr>
            <a:r>
              <a:rPr lang="en-US" altLang="zh-CN" sz="2800" b="1" dirty="0">
                <a:solidFill>
                  <a:srgbClr val="0070C0"/>
                </a:solidFill>
                <a:latin typeface="Times New Roman" panose="02020603050405020304" pitchFamily="18" charset="0"/>
                <a:ea typeface="等线" panose="02010600030101010101" pitchFamily="2" charset="-122"/>
                <a:cs typeface="Times New Roman" panose="02020603050405020304" pitchFamily="18" charset="0"/>
              </a:rPr>
              <a:t>The Response and Conclusion</a:t>
            </a:r>
            <a:endParaRPr lang="en-US" altLang="en-US" b="1" dirty="0">
              <a:latin typeface="楷体" panose="02010609060101010101" pitchFamily="49" charset="-122"/>
              <a:ea typeface="楷体" panose="02010609060101010101" pitchFamily="49" charset="-122"/>
            </a:endParaRPr>
          </a:p>
        </p:txBody>
      </p:sp>
      <p:sp>
        <p:nvSpPr>
          <p:cNvPr id="10" name="Rectangle 10">
            <a:extLst>
              <a:ext uri="{FF2B5EF4-FFF2-40B4-BE49-F238E27FC236}">
                <a16:creationId xmlns:a16="http://schemas.microsoft.com/office/drawing/2014/main" id="{65DEF096-BEF3-1138-624F-E9656150A2CB}"/>
              </a:ext>
            </a:extLst>
          </p:cNvPr>
          <p:cNvSpPr/>
          <p:nvPr/>
        </p:nvSpPr>
        <p:spPr>
          <a:xfrm>
            <a:off x="424816" y="72624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图片 4">
            <a:extLst>
              <a:ext uri="{FF2B5EF4-FFF2-40B4-BE49-F238E27FC236}">
                <a16:creationId xmlns:a16="http://schemas.microsoft.com/office/drawing/2014/main" id="{5CA356A7-A7C6-4AFD-5B5E-651775F6ADCE}"/>
              </a:ext>
            </a:extLst>
          </p:cNvPr>
          <p:cNvPicPr/>
          <p:nvPr/>
        </p:nvPicPr>
        <p:blipFill>
          <a:blip r:embed="rId3"/>
          <a:stretch>
            <a:fillRect/>
          </a:stretch>
        </p:blipFill>
        <p:spPr>
          <a:xfrm>
            <a:off x="11061065" y="21590"/>
            <a:ext cx="1130300" cy="967740"/>
          </a:xfrm>
          <a:prstGeom prst="rect">
            <a:avLst/>
          </a:prstGeom>
        </p:spPr>
      </p:pic>
      <p:sp>
        <p:nvSpPr>
          <p:cNvPr id="14" name="文本框 13">
            <a:extLst>
              <a:ext uri="{FF2B5EF4-FFF2-40B4-BE49-F238E27FC236}">
                <a16:creationId xmlns:a16="http://schemas.microsoft.com/office/drawing/2014/main" id="{D8B64846-D906-17A0-B7EE-9893D5AC0B03}"/>
              </a:ext>
            </a:extLst>
          </p:cNvPr>
          <p:cNvSpPr txBox="1"/>
          <p:nvPr/>
        </p:nvSpPr>
        <p:spPr>
          <a:xfrm>
            <a:off x="850605" y="1079425"/>
            <a:ext cx="2502196" cy="523220"/>
          </a:xfrm>
          <a:prstGeom prst="rect">
            <a:avLst/>
          </a:prstGeom>
          <a:noFill/>
        </p:spPr>
        <p:txBody>
          <a:bodyPr wrap="square" rtlCol="0">
            <a:spAutoFit/>
          </a:bodyPr>
          <a:lstStyle/>
          <a:p>
            <a:r>
              <a:rPr lang="en-US" altLang="zh-CN" sz="2800" b="1" dirty="0"/>
              <a:t>The Conclusion</a:t>
            </a:r>
            <a:endParaRPr lang="zh-CN" altLang="en-US" sz="2800" b="1" dirty="0"/>
          </a:p>
        </p:txBody>
      </p:sp>
      <p:sp>
        <p:nvSpPr>
          <p:cNvPr id="2" name="文本框 1">
            <a:extLst>
              <a:ext uri="{FF2B5EF4-FFF2-40B4-BE49-F238E27FC236}">
                <a16:creationId xmlns:a16="http://schemas.microsoft.com/office/drawing/2014/main" id="{508F2D23-4357-03D4-C048-23098EE75616}"/>
              </a:ext>
            </a:extLst>
          </p:cNvPr>
          <p:cNvSpPr txBox="1"/>
          <p:nvPr/>
        </p:nvSpPr>
        <p:spPr>
          <a:xfrm>
            <a:off x="1403497" y="2638476"/>
            <a:ext cx="8707725" cy="1938992"/>
          </a:xfrm>
          <a:prstGeom prst="rect">
            <a:avLst/>
          </a:prstGeom>
          <a:noFill/>
        </p:spPr>
        <p:txBody>
          <a:bodyPr wrap="square" rtlCol="0">
            <a:spAutoFit/>
          </a:bodyPr>
          <a:lstStyle/>
          <a:p>
            <a:r>
              <a:rPr lang="en-US" altLang="zh-CN" sz="2400" dirty="0"/>
              <a:t>AINPCs can greatly reduce the distinction between them and real players, and compared to traditional NPCs that only repeat and operate in a fixed way, they can greatly display behaviors that are more similar to those of real people, thus enhancing the immersion in multiplayer games.</a:t>
            </a:r>
            <a:endParaRPr lang="zh-CN" altLang="en-US" sz="2400" dirty="0"/>
          </a:p>
        </p:txBody>
      </p:sp>
    </p:spTree>
    <p:custDataLst>
      <p:tags r:id="rId1"/>
    </p:custDataLst>
    <p:extLst>
      <p:ext uri="{BB962C8B-B14F-4D97-AF65-F5344CB8AC3E}">
        <p14:creationId xmlns:p14="http://schemas.microsoft.com/office/powerpoint/2010/main" val="100325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0B522-8794-CE82-2E9E-A3AB6631B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1503C-9D2F-138A-62BD-05CF00671CA3}"/>
              </a:ext>
            </a:extLst>
          </p:cNvPr>
          <p:cNvSpPr>
            <a:spLocks noGrp="1"/>
          </p:cNvSpPr>
          <p:nvPr>
            <p:ph type="ctrTitle"/>
          </p:nvPr>
        </p:nvSpPr>
        <p:spPr>
          <a:xfrm>
            <a:off x="539053" y="1797889"/>
            <a:ext cx="10483814" cy="698986"/>
          </a:xfrm>
        </p:spPr>
        <p:txBody>
          <a:bodyPr>
            <a:normAutofit fontScale="90000"/>
          </a:bodyPr>
          <a:lstStyle/>
          <a:p>
            <a:br>
              <a:rPr lang="en-US" sz="3600" dirty="0">
                <a:latin typeface="Times New Roman" panose="02020603050405020304" pitchFamily="18" charset="0"/>
                <a:ea typeface="+mn-ea"/>
                <a:cs typeface="Times New Roman" panose="02020603050405020304" pitchFamily="18" charset="0"/>
              </a:rPr>
            </a:br>
            <a:r>
              <a:rPr lang="en-US" sz="4890" b="1" dirty="0">
                <a:solidFill>
                  <a:srgbClr val="0070C0"/>
                </a:solidFill>
                <a:latin typeface="Times New Roman" panose="02020603050405020304" pitchFamily="18" charset="0"/>
                <a:ea typeface="+mn-ea"/>
                <a:cs typeface="Times New Roman" panose="02020603050405020304" pitchFamily="18" charset="0"/>
              </a:rPr>
              <a:t>Thanks for your attention</a:t>
            </a:r>
          </a:p>
        </p:txBody>
      </p:sp>
      <p:sp>
        <p:nvSpPr>
          <p:cNvPr id="5" name="Rectangle 4">
            <a:extLst>
              <a:ext uri="{FF2B5EF4-FFF2-40B4-BE49-F238E27FC236}">
                <a16:creationId xmlns:a16="http://schemas.microsoft.com/office/drawing/2014/main" id="{61EA1F38-2591-5232-0C36-F2E3F84B79F6}"/>
              </a:ext>
            </a:extLst>
          </p:cNvPr>
          <p:cNvSpPr/>
          <p:nvPr/>
        </p:nvSpPr>
        <p:spPr>
          <a:xfrm>
            <a:off x="266701" y="989134"/>
            <a:ext cx="11249025" cy="13335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2745EE5-2864-9825-1012-F5F0F9DEDB92}"/>
              </a:ext>
            </a:extLst>
          </p:cNvPr>
          <p:cNvSpPr/>
          <p:nvPr/>
        </p:nvSpPr>
        <p:spPr>
          <a:xfrm>
            <a:off x="10992" y="777385"/>
            <a:ext cx="528271" cy="535598"/>
          </a:xfrm>
          <a:prstGeom prst="ellipse">
            <a:avLst/>
          </a:pr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DFD3B07F-3C80-0F71-D568-9F9432DBDE2F}"/>
              </a:ext>
            </a:extLst>
          </p:cNvPr>
          <p:cNvSpPr>
            <a:spLocks noGrp="1"/>
          </p:cNvSpPr>
          <p:nvPr>
            <p:ph type="sldNum" sz="quarter" idx="12"/>
          </p:nvPr>
        </p:nvSpPr>
        <p:spPr/>
        <p:txBody>
          <a:bodyPr/>
          <a:lstStyle/>
          <a:p>
            <a:fld id="{AFB04D65-EEE5-467D-A240-EF96AD461DB8}" type="slidenum">
              <a:rPr lang="en-US" smtClean="0"/>
              <a:t>15</a:t>
            </a:fld>
            <a:endParaRPr lang="en-US"/>
          </a:p>
        </p:txBody>
      </p:sp>
      <p:pic>
        <p:nvPicPr>
          <p:cNvPr id="4" name="图片 3">
            <a:extLst>
              <a:ext uri="{FF2B5EF4-FFF2-40B4-BE49-F238E27FC236}">
                <a16:creationId xmlns:a16="http://schemas.microsoft.com/office/drawing/2014/main" id="{5D2E5815-DC20-EC29-6611-D322695E3303}"/>
              </a:ext>
            </a:extLst>
          </p:cNvPr>
          <p:cNvPicPr/>
          <p:nvPr/>
        </p:nvPicPr>
        <p:blipFill>
          <a:blip r:embed="rId2"/>
          <a:stretch>
            <a:fillRect/>
          </a:stretch>
        </p:blipFill>
        <p:spPr>
          <a:xfrm>
            <a:off x="11100435" y="21590"/>
            <a:ext cx="1090930" cy="934085"/>
          </a:xfrm>
          <a:prstGeom prst="rect">
            <a:avLst/>
          </a:prstGeom>
        </p:spPr>
      </p:pic>
      <p:sp>
        <p:nvSpPr>
          <p:cNvPr id="13" name="AutoShape 8">
            <a:extLst>
              <a:ext uri="{FF2B5EF4-FFF2-40B4-BE49-F238E27FC236}">
                <a16:creationId xmlns:a16="http://schemas.microsoft.com/office/drawing/2014/main" id="{8F184937-AEF1-C58F-40BE-4C02FA395D8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5" name="图片 14">
            <a:extLst>
              <a:ext uri="{FF2B5EF4-FFF2-40B4-BE49-F238E27FC236}">
                <a16:creationId xmlns:a16="http://schemas.microsoft.com/office/drawing/2014/main" id="{8A48C3B4-C0BB-047A-4DE5-BB9C089466FF}"/>
              </a:ext>
            </a:extLst>
          </p:cNvPr>
          <p:cNvPicPr>
            <a:picLocks noChangeAspect="1"/>
          </p:cNvPicPr>
          <p:nvPr/>
        </p:nvPicPr>
        <p:blipFill>
          <a:blip r:embed="rId3"/>
          <a:stretch>
            <a:fillRect/>
          </a:stretch>
        </p:blipFill>
        <p:spPr>
          <a:xfrm>
            <a:off x="3258426" y="2557461"/>
            <a:ext cx="5045068" cy="3981451"/>
          </a:xfrm>
          <a:prstGeom prst="rect">
            <a:avLst/>
          </a:prstGeom>
        </p:spPr>
      </p:pic>
    </p:spTree>
    <p:extLst>
      <p:ext uri="{BB962C8B-B14F-4D97-AF65-F5344CB8AC3E}">
        <p14:creationId xmlns:p14="http://schemas.microsoft.com/office/powerpoint/2010/main" val="411965499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2aaf42ed-1dcc-47fa-8bd8-205f62f4d456"/>
  <p:tag name="COMMONDATA" val="eyJoZGlkIjoiMzMxYjExN2Y1ZGVhYjRlNWU0N2IwZjZlZmRjNWUyY2UifQ=="/>
</p:tagLst>
</file>

<file path=ppt/tags/tag2.xml><?xml version="1.0" encoding="utf-8"?>
<p:tagLst xmlns:a="http://schemas.openxmlformats.org/drawingml/2006/main" xmlns:r="http://schemas.openxmlformats.org/officeDocument/2006/relationships" xmlns:p="http://schemas.openxmlformats.org/presentationml/2006/main">
  <p:tag name="TIMING" val="|0.1|0|0|0.2|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IMING" val="|0.1|0|0|0.2|0"/>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IMING" val="|0.1|0|0|0.2|0"/>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TIMING" val="|0.5|0|0|0.4|0|0"/>
</p:tagLst>
</file>

<file path=ppt/tags/tag10.xml><?xml version="1.0" encoding="utf-8"?>
<p:tagLst xmlns:a="http://schemas.openxmlformats.org/drawingml/2006/main" xmlns:r="http://schemas.openxmlformats.org/officeDocument/2006/relationships" xmlns:p="http://schemas.openxmlformats.org/presentationml/2006/main">
  <p:tag name="TIMING" val="|0.5|0|0|0.4|0|0"/>
</p:tagLst>
</file>

<file path=ppt/tags/tag11.xml><?xml version="1.0" encoding="utf-8"?>
<p:tagLst xmlns:a="http://schemas.openxmlformats.org/drawingml/2006/main" xmlns:r="http://schemas.openxmlformats.org/officeDocument/2006/relationships" xmlns:p="http://schemas.openxmlformats.org/presentationml/2006/main">
  <p:tag name="TIMING" val="|0.5|0|0|0.4|0|0"/>
</p:tagLst>
</file>

<file path=ppt/tags/tag12.xml><?xml version="1.0" encoding="utf-8"?>
<p:tagLst xmlns:a="http://schemas.openxmlformats.org/drawingml/2006/main" xmlns:r="http://schemas.openxmlformats.org/officeDocument/2006/relationships" xmlns:p="http://schemas.openxmlformats.org/presentationml/2006/main">
  <p:tag name="TIMING" val="|0.1|0|0|0.2|0"/>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TIMING" val="|13|0.6|10.4"/>
</p:tagLst>
</file>

<file path=ppt/tags/tag15.xml><?xml version="1.0" encoding="utf-8"?>
<p:tagLst xmlns:a="http://schemas.openxmlformats.org/drawingml/2006/main" xmlns:r="http://schemas.openxmlformats.org/officeDocument/2006/relationships" xmlns:p="http://schemas.openxmlformats.org/presentationml/2006/main">
  <p:tag name="TIMING" val="|13|0.6|10.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451</Words>
  <Application>Microsoft Office PowerPoint</Application>
  <PresentationFormat>宽屏</PresentationFormat>
  <Paragraphs>89</Paragraphs>
  <Slides>15</Slides>
  <Notes>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华文中宋</vt:lpstr>
      <vt:lpstr>楷体</vt:lpstr>
      <vt:lpstr>宋体</vt:lpstr>
      <vt:lpstr>Arial</vt:lpstr>
      <vt:lpstr>Calibri</vt:lpstr>
      <vt:lpstr>Calibri Light</vt:lpstr>
      <vt:lpstr>Times New Roman</vt:lpstr>
      <vt:lpstr>Office Theme</vt:lpstr>
      <vt:lpstr>AI Assisted In-Game Non-Player Character Behavior Interaction </vt:lpstr>
      <vt:lpstr>1. The Group Project  </vt:lpstr>
      <vt:lpstr>1. The Group Project </vt:lpstr>
      <vt:lpstr>PowerPoint 演示文稿</vt:lpstr>
      <vt:lpstr>PowerPoint 演示文稿</vt:lpstr>
      <vt:lpstr>PowerPoint 演示文稿</vt:lpstr>
      <vt:lpstr>PowerPoint 演示文稿</vt:lpstr>
      <vt:lpstr>1. The Group Project </vt:lpstr>
      <vt:lpstr>PowerPoint 演示文稿</vt:lpstr>
      <vt:lpstr>PowerPoint 演示文稿</vt:lpstr>
      <vt:lpstr>PowerPoint 演示文稿</vt:lpstr>
      <vt:lpstr>1. The Group Project </vt:lpstr>
      <vt:lpstr>PowerPoint 演示文稿</vt:lpstr>
      <vt:lpstr>PowerPoint 演示文稿</vt:lpstr>
      <vt:lpstr> Thanks for your attention</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5G移动通信网络室内分布系统规划建模及快速算法研究</dc:title>
  <dc:creator>LI Genghui</dc:creator>
  <cp:lastModifiedBy>Jiacong Huang</cp:lastModifiedBy>
  <cp:revision>495</cp:revision>
  <dcterms:created xsi:type="dcterms:W3CDTF">2021-04-18T01:49:00Z</dcterms:created>
  <dcterms:modified xsi:type="dcterms:W3CDTF">2024-12-08T13:42:05Z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2C463E9A8F92441E9D6350FF7286A4C3</vt:lpwstr>
  </property>
  <property fmtid="{D5CDD505-2E9C-101B-9397-08002B2CF9AE}" pid="3" name="KSOProductBuildVer">
    <vt:lpwstr>2052-12.1.0.18608</vt:lpwstr>
  </property>
</Properties>
</file>