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71" r:id="rId8"/>
    <p:sldId id="263" r:id="rId9"/>
    <p:sldId id="264" r:id="rId10"/>
    <p:sldId id="272" r:id="rId11"/>
    <p:sldId id="273" r:id="rId12"/>
    <p:sldId id="265" r:id="rId13"/>
    <p:sldId id="266" r:id="rId14"/>
    <p:sldId id="275" r:id="rId15"/>
    <p:sldId id="267" r:id="rId16"/>
    <p:sldId id="276" r:id="rId17"/>
    <p:sldId id="268" r:id="rId18"/>
    <p:sldId id="274" r:id="rId19"/>
    <p:sldId id="269" r:id="rId20"/>
    <p:sldId id="270" r:id="rId21"/>
    <p:sldId id="277" r:id="rId22"/>
    <p:sldId id="278" r:id="rId2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BF99B-FB83-4451-8B3A-3AA4058B0A25}" type="datetimeFigureOut">
              <a:rPr lang="zh-CN" altLang="en-US" smtClean="0"/>
              <a:pPr/>
              <a:t>2021/6/4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DD088-3A57-4AAD-8514-636C7E100E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2021/6/4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2021/6/4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2021/6/4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2021/6/4</a:t>
            </a:fld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30820CF-B880-4189-942D-D702A7CBA730}" type="datetimeFigureOut">
              <a:rPr lang="zh-CN" altLang="en-US" smtClean="0"/>
              <a:pPr/>
              <a:t>2021/6/4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2021/6/4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83768" y="3861048"/>
            <a:ext cx="6660232" cy="18288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                                </a:t>
            </a:r>
            <a:r>
              <a:rPr lang="en-US" altLang="zh-CN" dirty="0" smtClean="0"/>
              <a:t>UDP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周宇          助理教授            深圳大学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UDP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84784"/>
            <a:ext cx="7543801" cy="875063"/>
          </a:xfrm>
        </p:spPr>
        <p:txBody>
          <a:bodyPr/>
          <a:lstStyle/>
          <a:p>
            <a:r>
              <a:rPr lang="en-US" altLang="zh-CN" dirty="0" smtClean="0"/>
              <a:t>Transport </a:t>
            </a:r>
            <a:r>
              <a:rPr lang="en-US" altLang="zh-CN" dirty="0"/>
              <a:t>layer </a:t>
            </a:r>
            <a:r>
              <a:rPr lang="en-US" altLang="zh-CN" dirty="0" smtClean="0"/>
              <a:t>protocol</a:t>
            </a:r>
            <a:r>
              <a:rPr lang="zh-CN" altLang="en-US" dirty="0" smtClean="0"/>
              <a:t>：</a:t>
            </a:r>
            <a:r>
              <a:rPr lang="en-US" altLang="zh-CN" dirty="0" smtClean="0"/>
              <a:t>TCP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UDP</a:t>
            </a:r>
            <a:endParaRPr lang="zh-CN" altLang="en-US" dirty="0"/>
          </a:p>
        </p:txBody>
      </p:sp>
      <p:pic>
        <p:nvPicPr>
          <p:cNvPr id="5" name="Picture 4" descr="http://javaarm.com/file/java/javase/Other.Base.Libraries/Networking/Java-Network-Programming_EllioteRustyHarold_4th-Edition_2014_study/1.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276872"/>
            <a:ext cx="6651625" cy="425668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54661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UDP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smtClean="0"/>
              <a:t>TCP</a:t>
            </a:r>
          </a:p>
          <a:p>
            <a:pPr lvl="1"/>
            <a:r>
              <a:rPr lang="zh-CN" altLang="en-US" dirty="0"/>
              <a:t>保证</a:t>
            </a:r>
            <a:r>
              <a:rPr lang="zh-CN" altLang="en-US" dirty="0" smtClean="0"/>
              <a:t>数据到达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保证数据顺序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速度慢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用途：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FTP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…</a:t>
            </a:r>
          </a:p>
          <a:p>
            <a:r>
              <a:rPr lang="en-US" altLang="zh-CN" dirty="0" smtClean="0"/>
              <a:t>UDP</a:t>
            </a:r>
          </a:p>
          <a:p>
            <a:pPr lvl="1"/>
            <a:r>
              <a:rPr lang="zh-CN" altLang="en-US" dirty="0" smtClean="0"/>
              <a:t>不保证一定到达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不保证到达顺序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速度快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用途：</a:t>
            </a:r>
            <a:r>
              <a:rPr lang="en-US" altLang="zh-CN" dirty="0" smtClean="0"/>
              <a:t>DNS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NFS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TFTP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…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02260" y="3813146"/>
            <a:ext cx="1364203" cy="2282545"/>
          </a:xfrm>
          <a:prstGeom prst="rect">
            <a:avLst/>
          </a:prstGeom>
        </p:spPr>
      </p:pic>
      <p:pic>
        <p:nvPicPr>
          <p:cNvPr id="1026" name="Picture 2" descr="http://58pic.ooopic.com/58pic/15/61/54/34758PICsQZ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700808"/>
            <a:ext cx="2151233" cy="144719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234877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UDP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 smtClean="0"/>
              <a:t>TCP</a:t>
            </a:r>
            <a:r>
              <a:rPr lang="zh-CN" altLang="en-US" dirty="0" smtClean="0"/>
              <a:t>协议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ServerSocket&amp;Socket</a:t>
            </a:r>
            <a:endParaRPr lang="en-US" altLang="zh-CN" dirty="0" smtClean="0"/>
          </a:p>
          <a:p>
            <a:r>
              <a:rPr lang="en-US" altLang="zh-CN" dirty="0" smtClean="0"/>
              <a:t>UDP</a:t>
            </a:r>
            <a:r>
              <a:rPr lang="zh-CN" altLang="en-US" dirty="0" smtClean="0"/>
              <a:t>协议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没有连接（</a:t>
            </a:r>
            <a:r>
              <a:rPr lang="en-US" altLang="zh-CN" dirty="0" smtClean="0"/>
              <a:t>connection</a:t>
            </a:r>
            <a:r>
              <a:rPr lang="zh-CN" altLang="en-US" dirty="0" smtClean="0"/>
              <a:t>）概念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不支持流（</a:t>
            </a:r>
            <a:r>
              <a:rPr lang="en-US" altLang="zh-CN" dirty="0" smtClean="0"/>
              <a:t>stream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只是数据包的发送和接收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en-US" altLang="zh-CN" dirty="0"/>
              <a:t>DatagramPacket</a:t>
            </a:r>
          </a:p>
          <a:p>
            <a:pPr lvl="1"/>
            <a:r>
              <a:rPr lang="zh-CN" altLang="en-US" dirty="0"/>
              <a:t>对数据进行包装</a:t>
            </a:r>
            <a:endParaRPr lang="en-US" altLang="zh-CN" dirty="0"/>
          </a:p>
          <a:p>
            <a:r>
              <a:rPr lang="en-US" altLang="zh-CN" dirty="0" err="1"/>
              <a:t>DatagramSocket</a:t>
            </a:r>
            <a:endParaRPr lang="en-US" altLang="zh-CN" dirty="0"/>
          </a:p>
          <a:p>
            <a:pPr lvl="1"/>
            <a:r>
              <a:rPr lang="zh-CN" altLang="en-US" dirty="0"/>
              <a:t>发送和接收数据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278045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UDP</a:t>
            </a:r>
            <a:r>
              <a:rPr lang="zh-CN" altLang="en-US" dirty="0" smtClean="0"/>
              <a:t>客户端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创建</a:t>
            </a:r>
            <a:r>
              <a:rPr lang="en-US" altLang="zh-CN" dirty="0" err="1"/>
              <a:t>DatagramSocket</a:t>
            </a:r>
            <a:r>
              <a:rPr lang="zh-CN" altLang="en-US" dirty="0" smtClean="0"/>
              <a:t>对象、并设置超时</a:t>
            </a:r>
            <a:endParaRPr lang="en-US" altLang="zh-CN" dirty="0" smtClean="0"/>
          </a:p>
          <a:p>
            <a:endParaRPr lang="en-US" altLang="zh-CN" dirty="0"/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设置发送</a:t>
            </a:r>
            <a:r>
              <a:rPr lang="en-US" altLang="zh-CN" dirty="0"/>
              <a:t>DatagramPacket</a:t>
            </a:r>
            <a:r>
              <a:rPr lang="zh-CN" altLang="en-US" dirty="0" smtClean="0"/>
              <a:t>数据包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11560" y="2204864"/>
            <a:ext cx="78918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DatagramSocket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socket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DatagramSocket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</a:rPr>
              <a:t>0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539552" y="2636912"/>
            <a:ext cx="43396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socket</a:t>
            </a:r>
            <a:r>
              <a:rPr lang="en-US" altLang="zh-CN" sz="2000" dirty="0" err="1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sz="2000" dirty="0" err="1">
                <a:solidFill>
                  <a:srgbClr val="330099"/>
                </a:solidFill>
                <a:latin typeface="Courier New" panose="02070309020205020404" pitchFamily="49" charset="0"/>
              </a:rPr>
              <a:t>setSoTimeout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</a:rPr>
              <a:t>10000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509153" y="3861048"/>
            <a:ext cx="863484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InetAddress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host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endParaRPr lang="en-US" altLang="zh-CN" sz="2000" dirty="0" smtClean="0">
              <a:solidFill>
                <a:srgbClr val="1B1C20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    </a:t>
            </a:r>
            <a:r>
              <a:rPr lang="en-US" altLang="zh-CN" sz="2000" dirty="0" err="1" smtClean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InetAddress</a:t>
            </a:r>
            <a:r>
              <a:rPr lang="en-US" altLang="zh-CN" sz="2000" dirty="0" err="1" smtClean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dirty="0" err="1" smtClean="0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getByName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CC33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"time.nist.gov"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DatagramPacket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request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endParaRPr lang="en-US" altLang="zh-CN" sz="2000" dirty="0" smtClean="0">
              <a:solidFill>
                <a:srgbClr val="1B1C20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 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DatagramPacket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byte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[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],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host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13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1074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UDP</a:t>
            </a:r>
            <a:r>
              <a:rPr lang="zh-CN" altLang="en-US" dirty="0"/>
              <a:t>客户端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556792"/>
            <a:ext cx="8153400" cy="4495800"/>
          </a:xfrm>
        </p:spPr>
        <p:txBody>
          <a:bodyPr/>
          <a:lstStyle/>
          <a:p>
            <a:r>
              <a:rPr lang="zh-CN" altLang="en-US" dirty="0" smtClean="0"/>
              <a:t>创建接收</a:t>
            </a:r>
            <a:r>
              <a:rPr lang="en-US" altLang="zh-CN" dirty="0"/>
              <a:t>DatagramPacket</a:t>
            </a:r>
            <a:r>
              <a:rPr lang="zh-CN" altLang="en-US" dirty="0" smtClean="0"/>
              <a:t>数据包</a:t>
            </a:r>
            <a:r>
              <a:rPr lang="en-US" altLang="zh-CN" dirty="0" smtClean="0"/>
              <a:t> 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发送和接收数据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解析出数据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544" y="2132856"/>
            <a:ext cx="83750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byte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[]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byte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[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1024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];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DatagramPacket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response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endParaRPr lang="en-US" altLang="zh-CN" sz="2000" dirty="0" smtClean="0">
              <a:solidFill>
                <a:srgbClr val="1B1C20"/>
              </a:solidFill>
              <a:latin typeface="Courier New" panose="02070309020205020404" pitchFamily="49" charset="0"/>
              <a:ea typeface="Simsun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        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new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DatagramPacket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</a:t>
            </a:r>
            <a:r>
              <a:rPr lang="en-US" altLang="zh-CN" sz="20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length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9552" y="3789040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</a:t>
            </a:r>
            <a:r>
              <a:rPr lang="en-US" altLang="zh-CN" sz="20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send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request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</a:t>
            </a:r>
            <a:r>
              <a:rPr lang="en-US" altLang="zh-CN" sz="2000" dirty="0" err="1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.</a:t>
            </a:r>
            <a:r>
              <a:rPr lang="en-US" altLang="zh-CN" sz="2000" dirty="0" err="1">
                <a:solidFill>
                  <a:srgbClr val="3300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receive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response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66357" y="6483473"/>
            <a:ext cx="1918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DaytimeUDPClient</a:t>
            </a:r>
          </a:p>
        </p:txBody>
      </p:sp>
      <p:sp>
        <p:nvSpPr>
          <p:cNvPr id="7" name="矩形 6"/>
          <p:cNvSpPr/>
          <p:nvPr/>
        </p:nvSpPr>
        <p:spPr>
          <a:xfrm>
            <a:off x="611560" y="5373216"/>
            <a:ext cx="4458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</a:rPr>
              <a:t>byte [] b = </a:t>
            </a:r>
            <a:r>
              <a:rPr lang="en-US" altLang="zh-CN" dirty="0" err="1" smtClean="0">
                <a:solidFill>
                  <a:srgbClr val="000088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zh-CN" dirty="0" err="1" smtClean="0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dirty="0" err="1" smtClean="0">
                <a:solidFill>
                  <a:srgbClr val="330099"/>
                </a:solidFill>
                <a:latin typeface="Courier New" panose="02070309020205020404" pitchFamily="49" charset="0"/>
              </a:rPr>
              <a:t>getData</a:t>
            </a:r>
            <a:r>
              <a:rPr lang="en-US" altLang="zh-CN" dirty="0" smtClean="0">
                <a:solidFill>
                  <a:srgbClr val="555555"/>
                </a:solidFill>
                <a:latin typeface="Courier New" panose="02070309020205020404" pitchFamily="49" charset="0"/>
              </a:rPr>
              <a:t>();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96845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556792"/>
            <a:ext cx="7380312" cy="4258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1187624" y="4005064"/>
            <a:ext cx="252028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75656" y="3140968"/>
            <a:ext cx="432048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87624" y="3645024"/>
            <a:ext cx="684076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UDP</a:t>
            </a:r>
            <a:r>
              <a:rPr lang="zh-CN" altLang="en-US" dirty="0" smtClean="0"/>
              <a:t>服务器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实现方法跟</a:t>
            </a:r>
            <a:r>
              <a:rPr lang="en-US" altLang="zh-CN" dirty="0" smtClean="0"/>
              <a:t>UDP</a:t>
            </a:r>
            <a:r>
              <a:rPr lang="zh-CN" altLang="en-US" dirty="0" smtClean="0"/>
              <a:t>客户端类似</a:t>
            </a:r>
            <a:endParaRPr lang="en-US" altLang="zh-CN" dirty="0" smtClean="0"/>
          </a:p>
          <a:p>
            <a:r>
              <a:rPr lang="zh-CN" altLang="en-US" dirty="0" smtClean="0"/>
              <a:t>创建</a:t>
            </a:r>
            <a:r>
              <a:rPr lang="en-US" altLang="zh-CN" dirty="0" err="1"/>
              <a:t>DatagramSocket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创建接收数据的</a:t>
            </a:r>
            <a:r>
              <a:rPr lang="en-US" altLang="zh-CN" dirty="0" smtClean="0"/>
              <a:t>DatagramPacket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接收数据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11560" y="2708920"/>
            <a:ext cx="78576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DatagramSocket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socket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DatagramSocket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</a:rPr>
              <a:t>13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611560" y="3861048"/>
            <a:ext cx="79802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DatagramPacket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endParaRPr lang="en-US" altLang="zh-CN" sz="2000" dirty="0" smtClean="0">
              <a:solidFill>
                <a:srgbClr val="1B1C20"/>
              </a:solidFill>
              <a:latin typeface="Courier New" panose="02070309020205020404" pitchFamily="49" charset="0"/>
            </a:endParaRPr>
          </a:p>
          <a:p>
            <a:r>
              <a:rPr lang="en-US" altLang="zh-CN" sz="20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zh-CN" sz="2000" b="1" dirty="0" smtClean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DatagramPacket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7788"/>
                </a:solidFill>
                <a:latin typeface="Courier New" panose="02070309020205020404" pitchFamily="49" charset="0"/>
              </a:rPr>
              <a:t>byte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</a:rPr>
              <a:t>1024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],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</a:rPr>
              <a:t>0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FF6600"/>
                </a:solidFill>
                <a:latin typeface="Courier New" panose="02070309020205020404" pitchFamily="49" charset="0"/>
              </a:rPr>
              <a:t>1024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611560" y="5517232"/>
            <a:ext cx="38779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socket</a:t>
            </a:r>
            <a:r>
              <a:rPr lang="en-US" altLang="zh-CN" sz="2000" dirty="0" err="1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sz="2000" dirty="0" err="1">
                <a:solidFill>
                  <a:srgbClr val="330099"/>
                </a:solidFill>
                <a:latin typeface="Courier New" panose="02070309020205020404" pitchFamily="49" charset="0"/>
              </a:rPr>
              <a:t>receive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zh-CN" alt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187723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UDP</a:t>
            </a:r>
            <a:r>
              <a:rPr lang="zh-CN" altLang="en-US" dirty="0"/>
              <a:t>服务器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设置发送</a:t>
            </a:r>
            <a:r>
              <a:rPr lang="en-US" altLang="zh-CN" dirty="0"/>
              <a:t>DatagramPacket</a:t>
            </a:r>
            <a:r>
              <a:rPr lang="zh-CN" altLang="en-US" dirty="0" smtClean="0"/>
              <a:t>数据包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发送数据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39552" y="2204864"/>
            <a:ext cx="81724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byte[] data </a:t>
            </a:r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</a:rPr>
              <a:t>= ...;</a:t>
            </a:r>
            <a:endParaRPr lang="en-US" altLang="zh-CN" dirty="0">
              <a:solidFill>
                <a:srgbClr val="000088"/>
              </a:solidFill>
              <a:latin typeface="Courier New" panose="02070309020205020404" pitchFamily="49" charset="0"/>
            </a:endParaRPr>
          </a:p>
          <a:p>
            <a:r>
              <a:rPr lang="en-US" altLang="zh-CN" dirty="0" smtClean="0">
                <a:solidFill>
                  <a:srgbClr val="000088"/>
                </a:solidFill>
                <a:latin typeface="Courier New" panose="02070309020205020404" pitchFamily="49" charset="0"/>
              </a:rPr>
              <a:t>DatagramPacket</a:t>
            </a:r>
            <a:r>
              <a:rPr lang="en-US" altLang="zh-CN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endParaRPr lang="en-US" altLang="zh-CN" dirty="0" smtClean="0">
              <a:solidFill>
                <a:srgbClr val="1B1C20"/>
              </a:solidFill>
              <a:latin typeface="Courier New" panose="02070309020205020404" pitchFamily="49" charset="0"/>
            </a:endParaRPr>
          </a:p>
          <a:p>
            <a:r>
              <a:rPr lang="en-US" altLang="zh-CN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b="1" dirty="0" smtClean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dirty="0" smtClean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DatagramPacket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data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</a:rPr>
              <a:t>data</a:t>
            </a:r>
            <a:r>
              <a:rPr lang="en-US" altLang="zh-CN" dirty="0" err="1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dirty="0" err="1">
                <a:solidFill>
                  <a:srgbClr val="330099"/>
                </a:solidFill>
                <a:latin typeface="Courier New" panose="02070309020205020404" pitchFamily="49" charset="0"/>
              </a:rPr>
              <a:t>length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host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port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39552" y="3861048"/>
            <a:ext cx="3217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000088"/>
                </a:solidFill>
                <a:latin typeface="Courier New" panose="02070309020205020404" pitchFamily="49" charset="0"/>
              </a:rPr>
              <a:t>socket</a:t>
            </a:r>
            <a:r>
              <a:rPr lang="en-US" altLang="zh-CN" dirty="0" err="1">
                <a:solidFill>
                  <a:srgbClr val="555555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dirty="0" err="1">
                <a:solidFill>
                  <a:srgbClr val="330099"/>
                </a:solidFill>
                <a:latin typeface="Courier New" panose="02070309020205020404" pitchFamily="49" charset="0"/>
              </a:rPr>
              <a:t>send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88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zh-CN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65638" y="6423952"/>
            <a:ext cx="19783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DaytimeUDPServer</a:t>
            </a:r>
          </a:p>
        </p:txBody>
      </p:sp>
    </p:spTree>
    <p:extLst>
      <p:ext uri="{BB962C8B-B14F-4D97-AF65-F5344CB8AC3E}">
        <p14:creationId xmlns="" xmlns:p14="http://schemas.microsoft.com/office/powerpoint/2010/main" val="112627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628800"/>
            <a:ext cx="8761413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395536" y="3356992"/>
            <a:ext cx="7560840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331640" y="4869160"/>
            <a:ext cx="756084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331640" y="5157192"/>
            <a:ext cx="756084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00808"/>
            <a:ext cx="8370887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1259632" y="2132856"/>
            <a:ext cx="7416824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9632" y="2636912"/>
            <a:ext cx="741682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DatagramPacket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2786" y="1556792"/>
            <a:ext cx="8671214" cy="5135336"/>
          </a:xfrm>
        </p:spPr>
        <p:txBody>
          <a:bodyPr/>
          <a:lstStyle/>
          <a:p>
            <a:r>
              <a:rPr lang="zh-CN" altLang="en-US" dirty="0" smtClean="0"/>
              <a:t>接收数据包构造方法</a:t>
            </a:r>
            <a:endParaRPr lang="en-US" altLang="zh-CN" dirty="0" smtClean="0"/>
          </a:p>
          <a:p>
            <a:pPr lvl="1"/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DatagramPacket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8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byte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[]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buffer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length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en-US" altLang="zh-CN" sz="1800" b="1" dirty="0">
                <a:solidFill>
                  <a:srgbClr val="006699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public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CC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DatagramPacket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(</a:t>
            </a:r>
            <a:r>
              <a:rPr lang="en-US" altLang="zh-CN" sz="18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byte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[]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buffer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offset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0077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int</a:t>
            </a:r>
            <a:r>
              <a:rPr lang="en-US" altLang="zh-CN" sz="1800" dirty="0">
                <a:solidFill>
                  <a:srgbClr val="1B1C2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0088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length</a:t>
            </a:r>
            <a:r>
              <a:rPr lang="en-US" altLang="zh-CN" sz="1800" dirty="0">
                <a:solidFill>
                  <a:srgbClr val="555555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)</a:t>
            </a:r>
            <a:endParaRPr lang="en-US" altLang="zh-CN" sz="1800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dirty="0" smtClean="0"/>
              <a:t>大部分系统支持的数据包大小为</a:t>
            </a:r>
            <a:r>
              <a:rPr lang="en-US" altLang="zh-CN" dirty="0" smtClean="0"/>
              <a:t>8K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一般不要超过</a:t>
            </a:r>
            <a:r>
              <a:rPr lang="en-US" altLang="zh-CN" dirty="0" smtClean="0"/>
              <a:t>8K</a:t>
            </a:r>
            <a:r>
              <a:rPr lang="zh-CN" altLang="en-US" dirty="0" smtClean="0"/>
              <a:t>，虽然</a:t>
            </a:r>
            <a:r>
              <a:rPr lang="en-US" altLang="zh-CN" dirty="0" smtClean="0"/>
              <a:t>IPv4</a:t>
            </a:r>
            <a:r>
              <a:rPr lang="zh-CN" altLang="en-US" dirty="0" smtClean="0"/>
              <a:t>的理论值为</a:t>
            </a:r>
            <a:r>
              <a:rPr lang="en-US" altLang="zh-CN" dirty="0" smtClean="0"/>
              <a:t>65,507</a:t>
            </a:r>
            <a:r>
              <a:rPr lang="zh-CN" altLang="en-US" dirty="0" smtClean="0"/>
              <a:t>（</a:t>
            </a:r>
            <a:r>
              <a:rPr lang="en-US" altLang="zh-CN" dirty="0"/>
              <a:t>IPv6 </a:t>
            </a:r>
            <a:r>
              <a:rPr lang="en-US" altLang="zh-CN" dirty="0" smtClean="0"/>
              <a:t>65,536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64236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DatagramPacket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发送</a:t>
            </a:r>
            <a:r>
              <a:rPr lang="zh-CN" altLang="en-US" dirty="0" smtClean="0"/>
              <a:t>数据包对象创建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5536" y="2276872"/>
            <a:ext cx="8034383" cy="20218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2858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发送数据报实例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1916832"/>
            <a:ext cx="77768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String s = “This is a test”;</a:t>
            </a:r>
          </a:p>
          <a:p>
            <a:r>
              <a:rPr lang="en-US" altLang="zh-CN" dirty="0" smtClean="0"/>
              <a:t>byte[] data = </a:t>
            </a:r>
            <a:r>
              <a:rPr lang="en-US" altLang="zh-CN" dirty="0" err="1" smtClean="0"/>
              <a:t>s.getBytes</a:t>
            </a:r>
            <a:r>
              <a:rPr lang="en-US" altLang="zh-CN" dirty="0" smtClean="0"/>
              <a:t>(“UTF-8”);</a:t>
            </a:r>
          </a:p>
          <a:p>
            <a:r>
              <a:rPr lang="en-US" altLang="zh-CN" dirty="0" smtClean="0"/>
              <a:t>try {</a:t>
            </a:r>
          </a:p>
          <a:p>
            <a:r>
              <a:rPr lang="en-US" altLang="zh-CN" dirty="0" err="1" smtClean="0"/>
              <a:t>InetAddress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ia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InetAddress.getByname</a:t>
            </a:r>
            <a:r>
              <a:rPr lang="en-US" altLang="zh-CN" dirty="0" smtClean="0"/>
              <a:t>(“www.ibiblio.org”);</a:t>
            </a:r>
          </a:p>
          <a:p>
            <a:r>
              <a:rPr lang="en-US" altLang="zh-CN" dirty="0" smtClean="0"/>
              <a:t>int port = 7;</a:t>
            </a:r>
          </a:p>
          <a:p>
            <a:r>
              <a:rPr lang="en-US" altLang="zh-CN" dirty="0" err="1" smtClean="0"/>
              <a:t>DatagrammPacket</a:t>
            </a:r>
            <a:r>
              <a:rPr lang="en-US" altLang="zh-CN" dirty="0" smtClean="0"/>
              <a:t> dp = new DatagramPacket(data, </a:t>
            </a:r>
            <a:r>
              <a:rPr lang="en-US" altLang="zh-CN" dirty="0" err="1" smtClean="0"/>
              <a:t>data.length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ia</a:t>
            </a:r>
            <a:r>
              <a:rPr lang="en-US" altLang="zh-CN" dirty="0" smtClean="0"/>
              <a:t>, port);</a:t>
            </a:r>
          </a:p>
          <a:p>
            <a:r>
              <a:rPr lang="en-US" altLang="zh-CN" dirty="0" smtClean="0"/>
              <a:t>} catch (</a:t>
            </a:r>
            <a:r>
              <a:rPr lang="en-US" altLang="zh-CN" dirty="0" err="1" smtClean="0"/>
              <a:t>IOException</a:t>
            </a:r>
            <a:r>
              <a:rPr lang="en-US" altLang="zh-CN" dirty="0" smtClean="0"/>
              <a:t> ex)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UTF-8</a:t>
            </a:r>
            <a:r>
              <a:rPr lang="zh-CN" altLang="en-US" dirty="0" smtClean="0"/>
              <a:t>编码的数据，发送到</a:t>
            </a:r>
            <a:r>
              <a:rPr lang="en-US" altLang="zh-CN" dirty="0" smtClean="0"/>
              <a:t>www.iboblio.org</a:t>
            </a:r>
            <a:r>
              <a:rPr lang="zh-CN" altLang="en-US" dirty="0" smtClean="0"/>
              <a:t>的主机 </a:t>
            </a:r>
            <a:r>
              <a:rPr lang="en-US" altLang="zh-CN" dirty="0" smtClean="0"/>
              <a:t>7</a:t>
            </a:r>
            <a:r>
              <a:rPr lang="zh-CN" altLang="en-US" dirty="0" smtClean="0"/>
              <a:t>号端口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8591204" cy="69311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DatagramPacket</a:t>
            </a:r>
            <a:r>
              <a:rPr lang="zh-CN" altLang="en-US" dirty="0" smtClean="0"/>
              <a:t>：</a:t>
            </a:r>
            <a:r>
              <a:rPr lang="en-US" altLang="zh-CN" dirty="0" smtClean="0"/>
              <a:t>Getter &amp; Setter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1772816"/>
            <a:ext cx="3118750" cy="3595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/>
          <a:srcRect r="21359"/>
          <a:stretch/>
        </p:blipFill>
        <p:spPr>
          <a:xfrm>
            <a:off x="4211960" y="1700808"/>
            <a:ext cx="4509823" cy="388910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6803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public void setData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1700808"/>
            <a:ext cx="8784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用法：</a:t>
            </a:r>
            <a:r>
              <a:rPr lang="en-US" altLang="zh-CN" sz="2400" dirty="0" smtClean="0"/>
              <a:t>public void setData(byte[] data, int offset, int length)</a:t>
            </a:r>
            <a:endParaRPr lang="en-US" altLang="zh-C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79512" y="2492896"/>
            <a:ext cx="88204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 offset = 0;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DatagramPacket dp = new DatagramPacket(bigarray, offset, 512);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  bytesSent =0 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while (bytesSent &lt;bigarray.length){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socket.send(dp);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bytesSent + = dp.getLength();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 bytesToSend = bigarray.length –bytesSent;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 size = (bytesToSend &gt;512)? 512: bytesToSend;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dp. setData(bigarray, bytesSent,size);</a:t>
            </a:r>
          </a:p>
          <a:p>
            <a:r>
              <a:rPr lang="en-US" altLang="zh-CN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}  </a:t>
            </a:r>
            <a:endParaRPr lang="zh-CN" altLang="en-US" sz="20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DatagramSocket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628800"/>
            <a:ext cx="8153400" cy="4495800"/>
          </a:xfrm>
        </p:spPr>
        <p:txBody>
          <a:bodyPr/>
          <a:lstStyle/>
          <a:p>
            <a:r>
              <a:rPr lang="zh-CN" altLang="en-US" dirty="0" smtClean="0"/>
              <a:t>构造方法</a:t>
            </a:r>
            <a:endParaRPr lang="en-US" altLang="zh-CN" dirty="0" smtClean="0"/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DatagramSocket</a:t>
            </a:r>
            <a:r>
              <a:rPr lang="en-US" altLang="zh-CN" sz="2000" dirty="0"/>
              <a:t>() throws </a:t>
            </a:r>
            <a:r>
              <a:rPr lang="en-US" altLang="zh-CN" sz="2000" dirty="0" err="1" smtClean="0"/>
              <a:t>SocketException</a:t>
            </a:r>
            <a:endParaRPr lang="en-US" altLang="zh-CN" sz="2000" dirty="0" smtClean="0"/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DatagramSocket</a:t>
            </a:r>
            <a:r>
              <a:rPr lang="en-US" altLang="zh-CN" sz="2000" dirty="0"/>
              <a:t>(int port) throws </a:t>
            </a:r>
            <a:r>
              <a:rPr lang="en-US" altLang="zh-CN" sz="2000" dirty="0" err="1" smtClean="0"/>
              <a:t>SocketException</a:t>
            </a:r>
            <a:endParaRPr lang="en-US" altLang="zh-CN" sz="2000" dirty="0" smtClean="0"/>
          </a:p>
          <a:p>
            <a:endParaRPr lang="zh-CN" altLang="en-US" sz="2200" dirty="0"/>
          </a:p>
        </p:txBody>
      </p:sp>
    </p:spTree>
    <p:extLst>
      <p:ext uri="{BB962C8B-B14F-4D97-AF65-F5344CB8AC3E}">
        <p14:creationId xmlns="" xmlns:p14="http://schemas.microsoft.com/office/powerpoint/2010/main" val="319511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844824"/>
            <a:ext cx="7999413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1259632" y="3789040"/>
            <a:ext cx="597666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59632" y="4005064"/>
            <a:ext cx="597666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DatagramSocket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 smtClean="0"/>
              <a:t>属性设置</a:t>
            </a:r>
            <a:endParaRPr lang="en-US" altLang="zh-CN" dirty="0" smtClean="0"/>
          </a:p>
          <a:p>
            <a:r>
              <a:rPr lang="en-US" altLang="zh-CN" dirty="0" smtClean="0"/>
              <a:t>SO_TIMEOUT</a:t>
            </a:r>
            <a:r>
              <a:rPr lang="zh-CN" altLang="en-US" dirty="0" smtClean="0"/>
              <a:t>：超时</a:t>
            </a:r>
            <a:endParaRPr lang="en-US" altLang="zh-CN" dirty="0"/>
          </a:p>
          <a:p>
            <a:r>
              <a:rPr lang="en-US" altLang="zh-CN" dirty="0" smtClean="0"/>
              <a:t>SO_RCVBUF</a:t>
            </a:r>
            <a:r>
              <a:rPr lang="zh-CN" altLang="en-US" dirty="0" smtClean="0"/>
              <a:t>：接收缓存大小</a:t>
            </a:r>
            <a:endParaRPr lang="en-US" altLang="zh-CN" dirty="0"/>
          </a:p>
          <a:p>
            <a:r>
              <a:rPr lang="en-US" altLang="zh-CN" dirty="0" smtClean="0"/>
              <a:t>SO_SNDBUF</a:t>
            </a:r>
            <a:r>
              <a:rPr lang="zh-CN" altLang="en-US" dirty="0" smtClean="0"/>
              <a:t>：发送缓存大小</a:t>
            </a:r>
            <a:endParaRPr lang="en-US" altLang="zh-CN" dirty="0"/>
          </a:p>
          <a:p>
            <a:r>
              <a:rPr lang="en-US" altLang="zh-CN" dirty="0" smtClean="0"/>
              <a:t>SO_REUSEADDR</a:t>
            </a:r>
            <a:r>
              <a:rPr lang="zh-CN" altLang="en-US" dirty="0" smtClean="0"/>
              <a:t>：多个</a:t>
            </a:r>
            <a:r>
              <a:rPr lang="en-US" altLang="zh-CN" dirty="0" err="1" smtClean="0"/>
              <a:t>DatagramSocket</a:t>
            </a:r>
            <a:r>
              <a:rPr lang="zh-CN" altLang="en-US" dirty="0" smtClean="0"/>
              <a:t>绑定到同一个网络界面和端口</a:t>
            </a:r>
            <a:endParaRPr lang="en-US" altLang="zh-CN" dirty="0"/>
          </a:p>
          <a:p>
            <a:r>
              <a:rPr lang="en-US" altLang="zh-CN" dirty="0" smtClean="0"/>
              <a:t>SO_BROADCAST</a:t>
            </a:r>
            <a:r>
              <a:rPr lang="zh-CN" altLang="en-US" dirty="0" smtClean="0"/>
              <a:t>：发送到广播地址和从广播地址接收</a:t>
            </a:r>
            <a:endParaRPr lang="en-US" altLang="zh-CN" dirty="0"/>
          </a:p>
          <a:p>
            <a:r>
              <a:rPr lang="en-US" altLang="zh-CN" dirty="0" smtClean="0"/>
              <a:t>IP_TOS</a:t>
            </a:r>
            <a:r>
              <a:rPr lang="zh-CN" altLang="en-US" dirty="0" smtClean="0"/>
              <a:t>：数据包的优先级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20972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DatagramChannel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功能与</a:t>
            </a:r>
            <a:r>
              <a:rPr lang="en-US" altLang="zh-CN" dirty="0" err="1" smtClean="0"/>
              <a:t>SocketChannel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ServerSocketChannel</a:t>
            </a:r>
            <a:r>
              <a:rPr lang="zh-CN" altLang="en-US" dirty="0" smtClean="0"/>
              <a:t>类似</a:t>
            </a:r>
            <a:endParaRPr lang="en-US" altLang="zh-CN" dirty="0" smtClean="0"/>
          </a:p>
          <a:p>
            <a:r>
              <a:rPr lang="zh-CN" altLang="en-US" dirty="0" smtClean="0"/>
              <a:t>以非阻塞的方式处理网络通讯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75179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自选</a:t>
            </a:r>
            <a:r>
              <a:rPr lang="zh-CN" altLang="zh-CN" dirty="0" smtClean="0"/>
              <a:t>一个简单</a:t>
            </a:r>
            <a:r>
              <a:rPr lang="en-US" altLang="zh-CN" dirty="0" smtClean="0"/>
              <a:t>UDP</a:t>
            </a:r>
            <a:r>
              <a:rPr lang="zh-CN" altLang="zh-CN" dirty="0" smtClean="0"/>
              <a:t>传输应用场景，基于</a:t>
            </a:r>
            <a:r>
              <a:rPr lang="en-US" altLang="zh-CN" dirty="0" smtClean="0"/>
              <a:t>UDP</a:t>
            </a:r>
            <a:r>
              <a:rPr lang="zh-CN" altLang="zh-CN" dirty="0" smtClean="0"/>
              <a:t>传输协议使用</a:t>
            </a:r>
            <a:r>
              <a:rPr lang="en-US" altLang="zh-CN" dirty="0" smtClean="0"/>
              <a:t>java</a:t>
            </a:r>
            <a:r>
              <a:rPr lang="zh-CN" altLang="zh-CN" dirty="0" smtClean="0"/>
              <a:t>编程实现一个</a:t>
            </a:r>
            <a:r>
              <a:rPr lang="en-US" altLang="zh-CN" dirty="0" smtClean="0"/>
              <a:t>UDP</a:t>
            </a:r>
            <a:r>
              <a:rPr lang="zh-CN" altLang="zh-CN" dirty="0" smtClean="0"/>
              <a:t>客户端与服务器端，进行通信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>
              <a:buNone/>
            </a:pPr>
            <a:endParaRPr lang="zh-CN" altLang="zh-CN" dirty="0" smtClean="0"/>
          </a:p>
          <a:p>
            <a:endParaRPr lang="zh-CN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zh-CN" sz="2400" dirty="0" smtClean="0"/>
              <a:t>实现</a:t>
            </a:r>
            <a:r>
              <a:rPr lang="zh-CN" altLang="zh-CN" sz="2400" dirty="0" smtClean="0"/>
              <a:t>一个</a:t>
            </a:r>
            <a:r>
              <a:rPr lang="en-US" altLang="zh-CN" sz="2400" dirty="0" smtClean="0"/>
              <a:t>PC</a:t>
            </a:r>
            <a:r>
              <a:rPr lang="zh-CN" altLang="zh-CN" sz="2400" dirty="0" smtClean="0"/>
              <a:t>的</a:t>
            </a:r>
            <a:r>
              <a:rPr lang="en-US" altLang="zh-CN" sz="2400" dirty="0" smtClean="0"/>
              <a:t>telnet</a:t>
            </a:r>
            <a:r>
              <a:rPr lang="zh-CN" altLang="zh-CN" sz="2400" dirty="0" smtClean="0"/>
              <a:t>客户端，能够根据输入服务器地址（例如</a:t>
            </a:r>
            <a:r>
              <a:rPr lang="en-US" altLang="zh-CN" sz="2400" dirty="0" smtClean="0"/>
              <a:t>bbs.pku.edu.cn</a:t>
            </a:r>
            <a:r>
              <a:rPr lang="zh-CN" altLang="zh-CN" sz="2400" dirty="0" smtClean="0"/>
              <a:t>，但不限于，任意</a:t>
            </a:r>
            <a:r>
              <a:rPr lang="en-US" altLang="zh-CN" sz="2400" dirty="0" smtClean="0"/>
              <a:t>BBS</a:t>
            </a:r>
            <a:r>
              <a:rPr lang="zh-CN" altLang="zh-CN" sz="2400" dirty="0" smtClean="0"/>
              <a:t>均可）连接服务器，实现以下功能：</a:t>
            </a:r>
          </a:p>
          <a:p>
            <a:pPr>
              <a:buNone/>
            </a:pPr>
            <a:r>
              <a:rPr lang="en-US" altLang="zh-CN" sz="2400" dirty="0" smtClean="0"/>
              <a:t>   1. </a:t>
            </a:r>
            <a:r>
              <a:rPr lang="zh-CN" altLang="zh-CN" sz="2400" dirty="0" smtClean="0"/>
              <a:t>登录</a:t>
            </a:r>
            <a:r>
              <a:rPr lang="en-US" altLang="zh-CN" sz="2400" dirty="0" smtClean="0"/>
              <a:t>bbs.pku.edu.cn</a:t>
            </a:r>
            <a:r>
              <a:rPr lang="zh-CN" altLang="zh-CN" sz="2400" dirty="0" smtClean="0"/>
              <a:t>（但不限于），显示服务器发来的文本数据；</a:t>
            </a:r>
          </a:p>
          <a:p>
            <a:pPr>
              <a:buNone/>
            </a:pPr>
            <a:r>
              <a:rPr lang="en-US" altLang="zh-CN" sz="2400" dirty="0" smtClean="0"/>
              <a:t>   2. </a:t>
            </a:r>
            <a:r>
              <a:rPr lang="zh-CN" altLang="zh-CN" sz="2400" dirty="0" smtClean="0"/>
              <a:t>将</a:t>
            </a:r>
            <a:r>
              <a:rPr lang="zh-CN" altLang="zh-CN" sz="2400" dirty="0" smtClean="0"/>
              <a:t>用户输入的用户名</a:t>
            </a:r>
            <a:r>
              <a:rPr lang="en-US" altLang="zh-CN" sz="2400" dirty="0" smtClean="0"/>
              <a:t>guest</a:t>
            </a:r>
            <a:r>
              <a:rPr lang="zh-CN" altLang="zh-CN" sz="2400" dirty="0" smtClean="0"/>
              <a:t>发给服务器；</a:t>
            </a:r>
          </a:p>
          <a:p>
            <a:pPr>
              <a:buNone/>
            </a:pPr>
            <a:r>
              <a:rPr lang="en-US" altLang="zh-CN" sz="2400" dirty="0" smtClean="0"/>
              <a:t>   3. </a:t>
            </a:r>
            <a:r>
              <a:rPr lang="zh-CN" altLang="zh-CN" sz="2400" dirty="0" smtClean="0"/>
              <a:t>显示</a:t>
            </a:r>
            <a:r>
              <a:rPr lang="zh-CN" altLang="zh-CN" sz="2400" dirty="0" smtClean="0"/>
              <a:t>更多服务器发来的文本数据；</a:t>
            </a:r>
          </a:p>
          <a:p>
            <a:pPr>
              <a:buNone/>
            </a:pPr>
            <a:r>
              <a:rPr lang="en-US" altLang="zh-CN" sz="2400" dirty="0" smtClean="0"/>
              <a:t>   4.  </a:t>
            </a:r>
            <a:r>
              <a:rPr lang="zh-CN" altLang="zh-CN" sz="2400" dirty="0" smtClean="0"/>
              <a:t>将</a:t>
            </a:r>
            <a:r>
              <a:rPr lang="zh-CN" altLang="zh-CN" sz="2400" dirty="0" smtClean="0"/>
              <a:t>键盘方向键“上下左右”的命令发给服务器端，操纵</a:t>
            </a:r>
            <a:r>
              <a:rPr lang="en-US" altLang="zh-CN" sz="2400" dirty="0" smtClean="0"/>
              <a:t>BBS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3007</TotalTime>
  <Words>632</Words>
  <Application>Microsoft Office PowerPoint</Application>
  <PresentationFormat>全屏显示(4:3)</PresentationFormat>
  <Paragraphs>131</Paragraphs>
  <Slides>22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3" baseType="lpstr">
      <vt:lpstr>中性</vt:lpstr>
      <vt:lpstr>                                UDP</vt:lpstr>
      <vt:lpstr>UDP</vt:lpstr>
      <vt:lpstr>UDP</vt:lpstr>
      <vt:lpstr>UDP</vt:lpstr>
      <vt:lpstr>UDP客户端</vt:lpstr>
      <vt:lpstr>UDP客户端</vt:lpstr>
      <vt:lpstr>幻灯片 7</vt:lpstr>
      <vt:lpstr>UDP服务器</vt:lpstr>
      <vt:lpstr>UDP服务器</vt:lpstr>
      <vt:lpstr>幻灯片 10</vt:lpstr>
      <vt:lpstr>幻灯片 11</vt:lpstr>
      <vt:lpstr>DatagramPacket</vt:lpstr>
      <vt:lpstr>DatagramPacket</vt:lpstr>
      <vt:lpstr>发送数据报实例</vt:lpstr>
      <vt:lpstr>DatagramPacket：Getter &amp; Setter</vt:lpstr>
      <vt:lpstr>public void setData</vt:lpstr>
      <vt:lpstr>DatagramSocket</vt:lpstr>
      <vt:lpstr>幻灯片 18</vt:lpstr>
      <vt:lpstr>DatagramSocket</vt:lpstr>
      <vt:lpstr>DatagramChannel</vt:lpstr>
      <vt:lpstr>课堂练习</vt:lpstr>
      <vt:lpstr>课堂练习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端美科技高校合作产学研发展计划</dc:title>
  <cp:lastModifiedBy>dell</cp:lastModifiedBy>
  <cp:revision>251</cp:revision>
  <dcterms:modified xsi:type="dcterms:W3CDTF">2021-06-04T05:00:13Z</dcterms:modified>
</cp:coreProperties>
</file>