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slideLayouts/slideLayout8.xml" ContentType="application/vnd.openxmlformats-officedocument.presentationml.slideLayout+xml"/>
  <Override PartName="/ppt/notesSlides/notesSlide2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s/slide27.xml" ContentType="application/vnd.openxmlformats-officedocument.presentationml.slide+xml"/>
  <Override PartName="/ppt/slideLayouts/slideLayout4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theme/theme1.xml" ContentType="application/vnd.openxmlformats-officedocument.theme+xml"/>
  <Default Extension="jpeg" ContentType="image/jpeg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Layouts/slideLayout7.xml" ContentType="application/vnd.openxmlformats-officedocument.presentationml.slideLayout+xml"/>
  <Default Extension="png" ContentType="image/png"/>
  <Override PartName="/ppt/notesSlides/notesSlide1.xml" ContentType="application/vnd.openxmlformats-officedocument.presentationml.notesSlide+xml"/>
  <Override PartName="/ppt/notesSlides/notesSlide3.xml" ContentType="application/vnd.openxmlformats-officedocument.presentationml.notesSlide+xml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slides/slide26.xml" ContentType="application/vnd.openxmlformats-officedocument.presentationml.slide+xml"/>
  <Override PartName="/ppt/presProps.xml" ContentType="application/vnd.openxmlformats-officedocument.presentationml.presProps+xml"/>
  <Override PartName="/ppt/slideLayouts/slideLayout5.xml" ContentType="application/vnd.openxmlformats-officedocument.presentationml.slideLayout+xml"/>
  <Override PartName="/ppt/theme/theme2.xml" ContentType="application/vnd.openxmlformats-officedocument.theme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29"/>
  </p:notesMasterIdLst>
  <p:sldIdLst>
    <p:sldId id="256" r:id="rId2"/>
    <p:sldId id="524" r:id="rId3"/>
    <p:sldId id="525" r:id="rId4"/>
    <p:sldId id="542" r:id="rId5"/>
    <p:sldId id="537" r:id="rId6"/>
    <p:sldId id="526" r:id="rId7"/>
    <p:sldId id="548" r:id="rId8"/>
    <p:sldId id="549" r:id="rId9"/>
    <p:sldId id="550" r:id="rId10"/>
    <p:sldId id="551" r:id="rId11"/>
    <p:sldId id="527" r:id="rId12"/>
    <p:sldId id="528" r:id="rId13"/>
    <p:sldId id="552" r:id="rId14"/>
    <p:sldId id="553" r:id="rId15"/>
    <p:sldId id="554" r:id="rId16"/>
    <p:sldId id="555" r:id="rId17"/>
    <p:sldId id="529" r:id="rId18"/>
    <p:sldId id="556" r:id="rId19"/>
    <p:sldId id="540" r:id="rId20"/>
    <p:sldId id="557" r:id="rId21"/>
    <p:sldId id="530" r:id="rId22"/>
    <p:sldId id="531" r:id="rId23"/>
    <p:sldId id="532" r:id="rId24"/>
    <p:sldId id="533" r:id="rId25"/>
    <p:sldId id="534" r:id="rId26"/>
    <p:sldId id="536" r:id="rId27"/>
    <p:sldId id="535" r:id="rId28"/>
  </p:sldIdLst>
  <p:sldSz cx="9144000" cy="6858000" type="screen4x3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>
        <p:scale>
          <a:sx n="100" d="100"/>
          <a:sy n="100" d="100"/>
        </p:scale>
        <p:origin x="-1944" y="-25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AFBF99B-FB83-4451-8B3A-3AA4058B0A25}" type="datetimeFigureOut">
              <a:rPr lang="zh-CN" altLang="en-US" smtClean="0"/>
              <a:pPr/>
              <a:t>2020/5/22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15DD088-3A57-4AAD-8514-636C7E100E2E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15DD088-3A57-4AAD-8514-636C7E100E2E}" type="slidenum">
              <a:rPr lang="zh-CN" altLang="en-US" smtClean="0"/>
              <a:pPr/>
              <a:t>8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E9E00E7-A099-42A7-B543-1190FBB0595C}" type="slidenum">
              <a:rPr lang="zh-CN" altLang="en-US" smtClean="0"/>
              <a:pPr/>
              <a:t>9</a:t>
            </a:fld>
            <a:endParaRPr lang="zh-CN" altLang="en-US"/>
          </a:p>
        </p:txBody>
      </p:sp>
    </p:spTree>
    <p:extLst>
      <p:ext uri="{BB962C8B-B14F-4D97-AF65-F5344CB8AC3E}">
        <p14:creationId xmlns="" xmlns:p14="http://schemas.microsoft.com/office/powerpoint/2010/main" val="414591321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15DD088-3A57-4AAD-8514-636C7E100E2E}" type="slidenum">
              <a:rPr lang="zh-CN" altLang="en-US" smtClean="0"/>
              <a:pPr/>
              <a:t>15</a:t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/>
        </p:nvSpPr>
        <p:spPr bwMode="white">
          <a:xfrm>
            <a:off x="0" y="5971032"/>
            <a:ext cx="9144000" cy="886968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0" name="矩形 9"/>
          <p:cNvSpPr/>
          <p:nvPr/>
        </p:nvSpPr>
        <p:spPr>
          <a:xfrm>
            <a:off x="-9144" y="6053328"/>
            <a:ext cx="2249424" cy="713232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矩形 10"/>
          <p:cNvSpPr/>
          <p:nvPr/>
        </p:nvSpPr>
        <p:spPr>
          <a:xfrm>
            <a:off x="2359152" y="6044184"/>
            <a:ext cx="6784848" cy="713232"/>
          </a:xfrm>
          <a:prstGeom prst="rect">
            <a:avLst/>
          </a:prstGeom>
          <a:solidFill>
            <a:schemeClr val="accent1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标题 7"/>
          <p:cNvSpPr>
            <a:spLocks noGrp="1"/>
          </p:cNvSpPr>
          <p:nvPr>
            <p:ph type="ctrTitle"/>
          </p:nvPr>
        </p:nvSpPr>
        <p:spPr>
          <a:xfrm>
            <a:off x="2362200" y="4038600"/>
            <a:ext cx="6477000" cy="1828800"/>
          </a:xfrm>
        </p:spPr>
        <p:txBody>
          <a:bodyPr anchor="b"/>
          <a:lstStyle>
            <a:lvl1pPr>
              <a:defRPr cap="all" baseline="0"/>
            </a:lvl1pPr>
          </a:lstStyle>
          <a:p>
            <a:r>
              <a:rPr kumimoji="0" lang="zh-CN" altLang="en-US" smtClean="0"/>
              <a:t>单击此处编辑母版标题样式</a:t>
            </a:r>
            <a:endParaRPr kumimoji="0" lang="en-US"/>
          </a:p>
        </p:txBody>
      </p:sp>
      <p:sp>
        <p:nvSpPr>
          <p:cNvPr id="9" name="副标题 8"/>
          <p:cNvSpPr>
            <a:spLocks noGrp="1"/>
          </p:cNvSpPr>
          <p:nvPr>
            <p:ph type="subTitle" idx="1"/>
          </p:nvPr>
        </p:nvSpPr>
        <p:spPr>
          <a:xfrm>
            <a:off x="2362200" y="6050037"/>
            <a:ext cx="6705600" cy="685800"/>
          </a:xfrm>
        </p:spPr>
        <p:txBody>
          <a:bodyPr anchor="ctr">
            <a:normAutofit/>
          </a:bodyPr>
          <a:lstStyle>
            <a:lvl1pPr marL="0" indent="0" algn="l">
              <a:buNone/>
              <a:defRPr sz="2600">
                <a:solidFill>
                  <a:srgbClr val="FFFFFF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zh-CN" altLang="en-US" smtClean="0"/>
              <a:t>单击此处编辑母版副标题样式</a:t>
            </a:r>
            <a:endParaRPr kumimoji="0" lang="en-US"/>
          </a:p>
        </p:txBody>
      </p:sp>
      <p:sp>
        <p:nvSpPr>
          <p:cNvPr id="28" name="日期占位符 27"/>
          <p:cNvSpPr>
            <a:spLocks noGrp="1"/>
          </p:cNvSpPr>
          <p:nvPr>
            <p:ph type="dt" sz="half" idx="10"/>
          </p:nvPr>
        </p:nvSpPr>
        <p:spPr>
          <a:xfrm>
            <a:off x="76200" y="6068699"/>
            <a:ext cx="2057400" cy="685800"/>
          </a:xfrm>
        </p:spPr>
        <p:txBody>
          <a:bodyPr>
            <a:noAutofit/>
          </a:bodyPr>
          <a:lstStyle>
            <a:lvl1pPr algn="ctr">
              <a:defRPr sz="2000">
                <a:solidFill>
                  <a:srgbClr val="FFFFFF"/>
                </a:solidFill>
              </a:defRPr>
            </a:lvl1pPr>
          </a:lstStyle>
          <a:p>
            <a:fld id="{530820CF-B880-4189-942D-D702A7CBA730}" type="datetimeFigureOut">
              <a:rPr lang="zh-CN" altLang="en-US" smtClean="0"/>
              <a:pPr/>
              <a:t>2020/5/22</a:t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</p:nvPr>
        </p:nvSpPr>
        <p:spPr>
          <a:xfrm>
            <a:off x="2085393" y="236538"/>
            <a:ext cx="5867400" cy="365125"/>
          </a:xfrm>
        </p:spPr>
        <p:txBody>
          <a:bodyPr/>
          <a:lstStyle>
            <a:lvl1pPr algn="r">
              <a:defRPr>
                <a:solidFill>
                  <a:schemeClr val="tx2"/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29" name="灯片编号占位符 28"/>
          <p:cNvSpPr>
            <a:spLocks noGrp="1"/>
          </p:cNvSpPr>
          <p:nvPr>
            <p:ph type="sldNum" sz="quarter" idx="12"/>
          </p:nvPr>
        </p:nvSpPr>
        <p:spPr>
          <a:xfrm>
            <a:off x="8001000" y="228600"/>
            <a:ext cx="838200" cy="38100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12648" y="228600"/>
            <a:ext cx="8153400" cy="990600"/>
          </a:xfrm>
        </p:spPr>
        <p:txBody>
          <a:bodyPr/>
          <a:lstStyle/>
          <a:p>
            <a:r>
              <a:rPr kumimoji="0" lang="zh-CN" altLang="en-US" smtClean="0"/>
              <a:t>单击此处编辑母版标题样式</a:t>
            </a:r>
            <a:endParaRPr kumimoji="0" 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pPr/>
              <a:t>2020/5/22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  <p:sp>
        <p:nvSpPr>
          <p:cNvPr id="8" name="内容占位符 7"/>
          <p:cNvSpPr>
            <a:spLocks noGrp="1"/>
          </p:cNvSpPr>
          <p:nvPr>
            <p:ph sz="quarter" idx="1"/>
          </p:nvPr>
        </p:nvSpPr>
        <p:spPr>
          <a:xfrm>
            <a:off x="612648" y="1600200"/>
            <a:ext cx="8153400" cy="4495800"/>
          </a:xfrm>
        </p:spPr>
        <p:txBody>
          <a:bodyPr/>
          <a:lstStyle/>
          <a:p>
            <a:pPr lvl="0" eaLnBrk="1" latinLnBrk="0" hangingPunct="1"/>
            <a:r>
              <a:rPr lang="zh-CN" altLang="en-US" smtClean="0"/>
              <a:t>单击此处编辑母版文本样式</a:t>
            </a:r>
          </a:p>
          <a:p>
            <a:pPr lvl="1" eaLnBrk="1" latinLnBrk="0" hangingPunct="1"/>
            <a:r>
              <a:rPr lang="zh-CN" altLang="en-US" smtClean="0"/>
              <a:t>第二级</a:t>
            </a:r>
          </a:p>
          <a:p>
            <a:pPr lvl="2" eaLnBrk="1" latinLnBrk="0" hangingPunct="1"/>
            <a:r>
              <a:rPr lang="zh-CN" altLang="en-US" smtClean="0"/>
              <a:t>第三级</a:t>
            </a:r>
          </a:p>
          <a:p>
            <a:pPr lvl="3" eaLnBrk="1" latinLnBrk="0" hangingPunct="1"/>
            <a:r>
              <a:rPr lang="zh-CN" altLang="en-US" smtClean="0"/>
              <a:t>第四级</a:t>
            </a:r>
          </a:p>
          <a:p>
            <a:pPr lvl="4" eaLnBrk="1" latinLnBrk="0" hangingPunct="1"/>
            <a:r>
              <a:rPr lang="zh-CN" altLang="en-US" smtClean="0"/>
              <a:t>第五级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节标题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1371600" y="2743200"/>
            <a:ext cx="7123113" cy="1673225"/>
          </a:xfrm>
        </p:spPr>
        <p:txBody>
          <a:bodyPr anchor="t"/>
          <a:lstStyle>
            <a:lvl1pPr marL="0" indent="0">
              <a:buNone/>
              <a:defRPr sz="2800">
                <a:solidFill>
                  <a:schemeClr val="tx2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zh-CN" altLang="en-US" smtClean="0"/>
              <a:t>单击此处编辑母版文本样式</a:t>
            </a:r>
          </a:p>
        </p:txBody>
      </p:sp>
      <p:sp>
        <p:nvSpPr>
          <p:cNvPr id="7" name="矩形 6"/>
          <p:cNvSpPr/>
          <p:nvPr/>
        </p:nvSpPr>
        <p:spPr bwMode="white">
          <a:xfrm>
            <a:off x="0" y="1524000"/>
            <a:ext cx="9144000" cy="1143000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矩形 7"/>
          <p:cNvSpPr/>
          <p:nvPr/>
        </p:nvSpPr>
        <p:spPr>
          <a:xfrm>
            <a:off x="0" y="1600200"/>
            <a:ext cx="1295400" cy="990600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矩形 8"/>
          <p:cNvSpPr/>
          <p:nvPr/>
        </p:nvSpPr>
        <p:spPr>
          <a:xfrm>
            <a:off x="1371600" y="1600200"/>
            <a:ext cx="7772400" cy="990600"/>
          </a:xfrm>
          <a:prstGeom prst="rect">
            <a:avLst/>
          </a:prstGeom>
          <a:solidFill>
            <a:schemeClr val="accent1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371600" y="1600200"/>
            <a:ext cx="7620000" cy="990600"/>
          </a:xfrm>
        </p:spPr>
        <p:txBody>
          <a:bodyPr/>
          <a:lstStyle>
            <a:lvl1pPr algn="l">
              <a:buNone/>
              <a:defRPr sz="4400" b="0" cap="none">
                <a:solidFill>
                  <a:srgbClr val="FFFFFF"/>
                </a:solidFill>
              </a:defRPr>
            </a:lvl1pPr>
          </a:lstStyle>
          <a:p>
            <a:r>
              <a:rPr kumimoji="0" lang="zh-CN" altLang="en-US" smtClean="0"/>
              <a:t>单击此处编辑母版标题样式</a:t>
            </a:r>
            <a:endParaRPr kumimoji="0" lang="en-US"/>
          </a:p>
        </p:txBody>
      </p:sp>
      <p:sp>
        <p:nvSpPr>
          <p:cNvPr id="12" name="日期占位符 1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pPr/>
              <a:t>2020/5/22</a:t>
            </a:fld>
            <a:endParaRPr lang="zh-CN" altLang="en-US"/>
          </a:p>
        </p:txBody>
      </p:sp>
      <p:sp>
        <p:nvSpPr>
          <p:cNvPr id="13" name="灯片编号占位符 12"/>
          <p:cNvSpPr>
            <a:spLocks noGrp="1"/>
          </p:cNvSpPr>
          <p:nvPr>
            <p:ph type="sldNum" sz="quarter" idx="11"/>
          </p:nvPr>
        </p:nvSpPr>
        <p:spPr>
          <a:xfrm>
            <a:off x="0" y="1752600"/>
            <a:ext cx="1295400" cy="701676"/>
          </a:xfrm>
        </p:spPr>
        <p:txBody>
          <a:bodyPr>
            <a:noAutofit/>
          </a:bodyPr>
          <a:lstStyle>
            <a:lvl1pPr>
              <a:defRPr sz="2400">
                <a:solidFill>
                  <a:srgbClr val="FFFFFF"/>
                </a:solidFill>
              </a:defRPr>
            </a:lvl1pPr>
          </a:lstStyle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  <p:sp>
        <p:nvSpPr>
          <p:cNvPr id="14" name="页脚占位符 13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zh-CN" altLang="en-US" smtClean="0"/>
              <a:t>单击此处编辑母版标题样式</a:t>
            </a:r>
            <a:endParaRPr kumimoji="0" lang="en-US"/>
          </a:p>
        </p:txBody>
      </p:sp>
      <p:sp>
        <p:nvSpPr>
          <p:cNvPr id="9" name="内容占位符 8"/>
          <p:cNvSpPr>
            <a:spLocks noGrp="1"/>
          </p:cNvSpPr>
          <p:nvPr>
            <p:ph sz="quarter" idx="1"/>
          </p:nvPr>
        </p:nvSpPr>
        <p:spPr>
          <a:xfrm>
            <a:off x="609600" y="1589567"/>
            <a:ext cx="3886200" cy="4572000"/>
          </a:xfrm>
        </p:spPr>
        <p:txBody>
          <a:bodyPr/>
          <a:lstStyle/>
          <a:p>
            <a:pPr lvl="0" eaLnBrk="1" latinLnBrk="0" hangingPunct="1"/>
            <a:r>
              <a:rPr lang="zh-CN" altLang="en-US" smtClean="0"/>
              <a:t>单击此处编辑母版文本样式</a:t>
            </a:r>
          </a:p>
          <a:p>
            <a:pPr lvl="1" eaLnBrk="1" latinLnBrk="0" hangingPunct="1"/>
            <a:r>
              <a:rPr lang="zh-CN" altLang="en-US" smtClean="0"/>
              <a:t>第二级</a:t>
            </a:r>
          </a:p>
          <a:p>
            <a:pPr lvl="2" eaLnBrk="1" latinLnBrk="0" hangingPunct="1"/>
            <a:r>
              <a:rPr lang="zh-CN" altLang="en-US" smtClean="0"/>
              <a:t>第三级</a:t>
            </a:r>
          </a:p>
          <a:p>
            <a:pPr lvl="3" eaLnBrk="1" latinLnBrk="0" hangingPunct="1"/>
            <a:r>
              <a:rPr lang="zh-CN" altLang="en-US" smtClean="0"/>
              <a:t>第四级</a:t>
            </a:r>
          </a:p>
          <a:p>
            <a:pPr lvl="4" eaLnBrk="1" latinLnBrk="0" hangingPunct="1"/>
            <a:r>
              <a:rPr lang="zh-CN" altLang="en-US" smtClean="0"/>
              <a:t>第五级</a:t>
            </a:r>
            <a:endParaRPr kumimoji="0" lang="en-US"/>
          </a:p>
        </p:txBody>
      </p:sp>
      <p:sp>
        <p:nvSpPr>
          <p:cNvPr id="11" name="内容占位符 10"/>
          <p:cNvSpPr>
            <a:spLocks noGrp="1"/>
          </p:cNvSpPr>
          <p:nvPr>
            <p:ph sz="quarter" idx="2"/>
          </p:nvPr>
        </p:nvSpPr>
        <p:spPr>
          <a:xfrm>
            <a:off x="4844901" y="1589567"/>
            <a:ext cx="3886200" cy="4572000"/>
          </a:xfrm>
        </p:spPr>
        <p:txBody>
          <a:bodyPr/>
          <a:lstStyle/>
          <a:p>
            <a:pPr lvl="0" eaLnBrk="1" latinLnBrk="0" hangingPunct="1"/>
            <a:r>
              <a:rPr lang="zh-CN" altLang="en-US" smtClean="0"/>
              <a:t>单击此处编辑母版文本样式</a:t>
            </a:r>
          </a:p>
          <a:p>
            <a:pPr lvl="1" eaLnBrk="1" latinLnBrk="0" hangingPunct="1"/>
            <a:r>
              <a:rPr lang="zh-CN" altLang="en-US" smtClean="0"/>
              <a:t>第二级</a:t>
            </a:r>
          </a:p>
          <a:p>
            <a:pPr lvl="2" eaLnBrk="1" latinLnBrk="0" hangingPunct="1"/>
            <a:r>
              <a:rPr lang="zh-CN" altLang="en-US" smtClean="0"/>
              <a:t>第三级</a:t>
            </a:r>
          </a:p>
          <a:p>
            <a:pPr lvl="3" eaLnBrk="1" latinLnBrk="0" hangingPunct="1"/>
            <a:r>
              <a:rPr lang="zh-CN" altLang="en-US" smtClean="0"/>
              <a:t>第四级</a:t>
            </a:r>
          </a:p>
          <a:p>
            <a:pPr lvl="4" eaLnBrk="1" latinLnBrk="0" hangingPunct="1"/>
            <a:r>
              <a:rPr lang="zh-CN" altLang="en-US" smtClean="0"/>
              <a:t>第五级</a:t>
            </a:r>
            <a:endParaRPr kumimoji="0" lang="en-US"/>
          </a:p>
        </p:txBody>
      </p:sp>
      <p:sp>
        <p:nvSpPr>
          <p:cNvPr id="8" name="日期占位符 7"/>
          <p:cNvSpPr>
            <a:spLocks noGrp="1"/>
          </p:cNvSpPr>
          <p:nvPr>
            <p:ph type="dt" sz="half" idx="15"/>
          </p:nvPr>
        </p:nvSpPr>
        <p:spPr/>
        <p:txBody>
          <a:bodyPr rtlCol="0"/>
          <a:lstStyle/>
          <a:p>
            <a:fld id="{530820CF-B880-4189-942D-D702A7CBA730}" type="datetimeFigureOut">
              <a:rPr lang="zh-CN" altLang="en-US" smtClean="0"/>
              <a:pPr/>
              <a:t>2020/5/22</a:t>
            </a:fld>
            <a:endParaRPr lang="zh-CN" altLang="en-US"/>
          </a:p>
        </p:txBody>
      </p:sp>
      <p:sp>
        <p:nvSpPr>
          <p:cNvPr id="10" name="灯片编号占位符 9"/>
          <p:cNvSpPr>
            <a:spLocks noGrp="1"/>
          </p:cNvSpPr>
          <p:nvPr>
            <p:ph type="sldNum" sz="quarter" idx="16"/>
          </p:nvPr>
        </p:nvSpPr>
        <p:spPr/>
        <p:txBody>
          <a:bodyPr rtlCol="0"/>
          <a:lstStyle/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  <p:sp>
        <p:nvSpPr>
          <p:cNvPr id="12" name="页脚占位符 11"/>
          <p:cNvSpPr>
            <a:spLocks noGrp="1"/>
          </p:cNvSpPr>
          <p:nvPr>
            <p:ph type="ftr" sz="quarter" idx="17"/>
          </p:nvPr>
        </p:nvSpPr>
        <p:spPr/>
        <p:txBody>
          <a:bodyPr rtlCol="0"/>
          <a:lstStyle/>
          <a:p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33400" y="273050"/>
            <a:ext cx="8153400" cy="869950"/>
          </a:xfrm>
        </p:spPr>
        <p:txBody>
          <a:bodyPr anchor="ctr"/>
          <a:lstStyle>
            <a:lvl1pPr>
              <a:defRPr/>
            </a:lvl1pPr>
          </a:lstStyle>
          <a:p>
            <a:r>
              <a:rPr kumimoji="0" lang="zh-CN" altLang="en-US" smtClean="0"/>
              <a:t>单击此处编辑母版标题样式</a:t>
            </a:r>
            <a:endParaRPr kumimoji="0" lang="en-US"/>
          </a:p>
        </p:txBody>
      </p:sp>
      <p:sp>
        <p:nvSpPr>
          <p:cNvPr id="11" name="内容占位符 10"/>
          <p:cNvSpPr>
            <a:spLocks noGrp="1"/>
          </p:cNvSpPr>
          <p:nvPr>
            <p:ph sz="quarter" idx="2"/>
          </p:nvPr>
        </p:nvSpPr>
        <p:spPr>
          <a:xfrm>
            <a:off x="609600" y="2438400"/>
            <a:ext cx="3886200" cy="3581400"/>
          </a:xfrm>
        </p:spPr>
        <p:txBody>
          <a:bodyPr/>
          <a:lstStyle/>
          <a:p>
            <a:pPr lvl="0" eaLnBrk="1" latinLnBrk="0" hangingPunct="1"/>
            <a:r>
              <a:rPr lang="zh-CN" altLang="en-US" smtClean="0"/>
              <a:t>单击此处编辑母版文本样式</a:t>
            </a:r>
          </a:p>
          <a:p>
            <a:pPr lvl="1" eaLnBrk="1" latinLnBrk="0" hangingPunct="1"/>
            <a:r>
              <a:rPr lang="zh-CN" altLang="en-US" smtClean="0"/>
              <a:t>第二级</a:t>
            </a:r>
          </a:p>
          <a:p>
            <a:pPr lvl="2" eaLnBrk="1" latinLnBrk="0" hangingPunct="1"/>
            <a:r>
              <a:rPr lang="zh-CN" altLang="en-US" smtClean="0"/>
              <a:t>第三级</a:t>
            </a:r>
          </a:p>
          <a:p>
            <a:pPr lvl="3" eaLnBrk="1" latinLnBrk="0" hangingPunct="1"/>
            <a:r>
              <a:rPr lang="zh-CN" altLang="en-US" smtClean="0"/>
              <a:t>第四级</a:t>
            </a:r>
          </a:p>
          <a:p>
            <a:pPr lvl="4" eaLnBrk="1" latinLnBrk="0" hangingPunct="1"/>
            <a:r>
              <a:rPr lang="zh-CN" altLang="en-US" smtClean="0"/>
              <a:t>第五级</a:t>
            </a:r>
            <a:endParaRPr kumimoji="0" lang="en-US"/>
          </a:p>
        </p:txBody>
      </p:sp>
      <p:sp>
        <p:nvSpPr>
          <p:cNvPr id="13" name="内容占位符 12"/>
          <p:cNvSpPr>
            <a:spLocks noGrp="1"/>
          </p:cNvSpPr>
          <p:nvPr>
            <p:ph sz="quarter" idx="4"/>
          </p:nvPr>
        </p:nvSpPr>
        <p:spPr>
          <a:xfrm>
            <a:off x="4800600" y="2438400"/>
            <a:ext cx="3886200" cy="3581400"/>
          </a:xfrm>
        </p:spPr>
        <p:txBody>
          <a:bodyPr/>
          <a:lstStyle/>
          <a:p>
            <a:pPr lvl="0" eaLnBrk="1" latinLnBrk="0" hangingPunct="1"/>
            <a:r>
              <a:rPr lang="zh-CN" altLang="en-US" smtClean="0"/>
              <a:t>单击此处编辑母版文本样式</a:t>
            </a:r>
          </a:p>
          <a:p>
            <a:pPr lvl="1" eaLnBrk="1" latinLnBrk="0" hangingPunct="1"/>
            <a:r>
              <a:rPr lang="zh-CN" altLang="en-US" smtClean="0"/>
              <a:t>第二级</a:t>
            </a:r>
          </a:p>
          <a:p>
            <a:pPr lvl="2" eaLnBrk="1" latinLnBrk="0" hangingPunct="1"/>
            <a:r>
              <a:rPr lang="zh-CN" altLang="en-US" smtClean="0"/>
              <a:t>第三级</a:t>
            </a:r>
          </a:p>
          <a:p>
            <a:pPr lvl="3" eaLnBrk="1" latinLnBrk="0" hangingPunct="1"/>
            <a:r>
              <a:rPr lang="zh-CN" altLang="en-US" smtClean="0"/>
              <a:t>第四级</a:t>
            </a:r>
          </a:p>
          <a:p>
            <a:pPr lvl="4" eaLnBrk="1" latinLnBrk="0" hangingPunct="1"/>
            <a:r>
              <a:rPr lang="zh-CN" altLang="en-US" smtClean="0"/>
              <a:t>第五级</a:t>
            </a:r>
            <a:endParaRPr kumimoji="0" lang="en-US"/>
          </a:p>
        </p:txBody>
      </p:sp>
      <p:sp>
        <p:nvSpPr>
          <p:cNvPr id="10" name="日期占位符 9"/>
          <p:cNvSpPr>
            <a:spLocks noGrp="1"/>
          </p:cNvSpPr>
          <p:nvPr>
            <p:ph type="dt" sz="half" idx="15"/>
          </p:nvPr>
        </p:nvSpPr>
        <p:spPr/>
        <p:txBody>
          <a:bodyPr rtlCol="0"/>
          <a:lstStyle/>
          <a:p>
            <a:fld id="{530820CF-B880-4189-942D-D702A7CBA730}" type="datetimeFigureOut">
              <a:rPr lang="zh-CN" altLang="en-US" smtClean="0"/>
              <a:pPr/>
              <a:t>2020/5/22</a:t>
            </a:fld>
            <a:endParaRPr lang="zh-CN" altLang="en-US"/>
          </a:p>
        </p:txBody>
      </p:sp>
      <p:sp>
        <p:nvSpPr>
          <p:cNvPr id="12" name="灯片编号占位符 11"/>
          <p:cNvSpPr>
            <a:spLocks noGrp="1"/>
          </p:cNvSpPr>
          <p:nvPr>
            <p:ph type="sldNum" sz="quarter" idx="16"/>
          </p:nvPr>
        </p:nvSpPr>
        <p:spPr/>
        <p:txBody>
          <a:bodyPr rtlCol="0"/>
          <a:lstStyle/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  <p:sp>
        <p:nvSpPr>
          <p:cNvPr id="14" name="页脚占位符 13"/>
          <p:cNvSpPr>
            <a:spLocks noGrp="1"/>
          </p:cNvSpPr>
          <p:nvPr>
            <p:ph type="ftr" sz="quarter" idx="17"/>
          </p:nvPr>
        </p:nvSpPr>
        <p:spPr/>
        <p:txBody>
          <a:bodyPr rtlCol="0"/>
          <a:lstStyle/>
          <a:p>
            <a:endParaRPr lang="zh-CN" altLang="en-US"/>
          </a:p>
        </p:txBody>
      </p:sp>
      <p:sp>
        <p:nvSpPr>
          <p:cNvPr id="16" name="文本占位符 15"/>
          <p:cNvSpPr>
            <a:spLocks noGrp="1"/>
          </p:cNvSpPr>
          <p:nvPr>
            <p:ph type="body" sz="quarter" idx="1"/>
          </p:nvPr>
        </p:nvSpPr>
        <p:spPr>
          <a:xfrm>
            <a:off x="609600" y="1752600"/>
            <a:ext cx="3886200" cy="640080"/>
          </a:xfrm>
          <a:solidFill>
            <a:schemeClr val="accent2"/>
          </a:solidFill>
        </p:spPr>
        <p:txBody>
          <a:bodyPr rtlCol="0" anchor="ctr"/>
          <a:lstStyle>
            <a:lvl1pPr marL="0" indent="0">
              <a:buFontTx/>
              <a:buNone/>
              <a:defRPr sz="2000" b="1">
                <a:solidFill>
                  <a:srgbClr val="FFFFFF"/>
                </a:solidFill>
              </a:defRPr>
            </a:lvl1pPr>
          </a:lstStyle>
          <a:p>
            <a:pPr lvl="0" eaLnBrk="1" latinLnBrk="0" hangingPunct="1"/>
            <a:r>
              <a:rPr kumimoji="0" lang="zh-CN" altLang="en-US" smtClean="0"/>
              <a:t>单击此处编辑母版文本样式</a:t>
            </a:r>
          </a:p>
        </p:txBody>
      </p:sp>
      <p:sp>
        <p:nvSpPr>
          <p:cNvPr id="15" name="文本占位符 14"/>
          <p:cNvSpPr>
            <a:spLocks noGrp="1"/>
          </p:cNvSpPr>
          <p:nvPr>
            <p:ph type="body" sz="quarter" idx="3"/>
          </p:nvPr>
        </p:nvSpPr>
        <p:spPr>
          <a:xfrm>
            <a:off x="4800600" y="1752600"/>
            <a:ext cx="3886200" cy="640080"/>
          </a:xfrm>
          <a:solidFill>
            <a:schemeClr val="accent4"/>
          </a:solidFill>
        </p:spPr>
        <p:txBody>
          <a:bodyPr rtlCol="0" anchor="ctr"/>
          <a:lstStyle>
            <a:lvl1pPr marL="0" indent="0">
              <a:buFontTx/>
              <a:buNone/>
              <a:defRPr sz="2000" b="1">
                <a:solidFill>
                  <a:srgbClr val="FFFFFF"/>
                </a:solidFill>
              </a:defRPr>
            </a:lvl1pPr>
          </a:lstStyle>
          <a:p>
            <a:pPr lvl="0" eaLnBrk="1" latinLnBrk="0" hangingPunct="1"/>
            <a:r>
              <a:rPr kumimoji="0" lang="zh-CN" altLang="en-US" smtClean="0"/>
              <a:t>单击此处编辑母版文本样式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zh-CN" altLang="en-US" smtClean="0"/>
              <a:t>单击此处编辑母版标题样式</a:t>
            </a:r>
            <a:endParaRPr kumimoji="0" 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pPr/>
              <a:t>2020/5/22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pPr/>
              <a:t>2020/5/22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0" y="6248400"/>
            <a:ext cx="533400" cy="38100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3050"/>
            <a:ext cx="8077200" cy="869950"/>
          </a:xfrm>
        </p:spPr>
        <p:txBody>
          <a:bodyPr anchor="ctr"/>
          <a:lstStyle>
            <a:lvl1pPr algn="l">
              <a:buNone/>
              <a:defRPr sz="4400" b="0"/>
            </a:lvl1pPr>
          </a:lstStyle>
          <a:p>
            <a:r>
              <a:rPr kumimoji="0" lang="zh-CN" altLang="en-US" smtClean="0"/>
              <a:t>单击此处编辑母版标题样式</a:t>
            </a:r>
            <a:endParaRPr kumimoji="0" 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pPr/>
              <a:t>2020/5/22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2"/>
          </p:nvPr>
        </p:nvSpPr>
        <p:spPr>
          <a:xfrm>
            <a:off x="609600" y="1752600"/>
            <a:ext cx="1600200" cy="4343400"/>
          </a:xfrm>
          <a:ln w="50800" cap="sq" cmpd="dbl" algn="ctr">
            <a:solidFill>
              <a:schemeClr val="accent2"/>
            </a:solidFill>
            <a:prstDash val="solid"/>
            <a:miter lim="800000"/>
          </a:ln>
          <a:effectLst/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lIns="137160" tIns="182880" rIns="137160" bIns="91440"/>
          <a:lstStyle>
            <a:lvl1pPr marL="0" indent="0">
              <a:spcAft>
                <a:spcPts val="1000"/>
              </a:spcAft>
              <a:buNone/>
              <a:defRPr sz="18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zh-CN" altLang="en-US" smtClean="0"/>
              <a:t>单击此处编辑母版文本样式</a:t>
            </a:r>
          </a:p>
        </p:txBody>
      </p:sp>
      <p:sp>
        <p:nvSpPr>
          <p:cNvPr id="9" name="内容占位符 8"/>
          <p:cNvSpPr>
            <a:spLocks noGrp="1"/>
          </p:cNvSpPr>
          <p:nvPr>
            <p:ph sz="quarter" idx="1"/>
          </p:nvPr>
        </p:nvSpPr>
        <p:spPr>
          <a:xfrm>
            <a:off x="2362200" y="1752600"/>
            <a:ext cx="6400800" cy="4419600"/>
          </a:xfrm>
        </p:spPr>
        <p:txBody>
          <a:bodyPr/>
          <a:lstStyle/>
          <a:p>
            <a:pPr lvl="0" eaLnBrk="1" latinLnBrk="0" hangingPunct="1"/>
            <a:r>
              <a:rPr lang="zh-CN" altLang="en-US" smtClean="0"/>
              <a:t>单击此处编辑母版文本样式</a:t>
            </a:r>
          </a:p>
          <a:p>
            <a:pPr lvl="1" eaLnBrk="1" latinLnBrk="0" hangingPunct="1"/>
            <a:r>
              <a:rPr lang="zh-CN" altLang="en-US" smtClean="0"/>
              <a:t>第二级</a:t>
            </a:r>
          </a:p>
          <a:p>
            <a:pPr lvl="2" eaLnBrk="1" latinLnBrk="0" hangingPunct="1"/>
            <a:r>
              <a:rPr lang="zh-CN" altLang="en-US" smtClean="0"/>
              <a:t>第三级</a:t>
            </a:r>
          </a:p>
          <a:p>
            <a:pPr lvl="3" eaLnBrk="1" latinLnBrk="0" hangingPunct="1"/>
            <a:r>
              <a:rPr lang="zh-CN" altLang="en-US" smtClean="0"/>
              <a:t>第四级</a:t>
            </a:r>
          </a:p>
          <a:p>
            <a:pPr lvl="4" eaLnBrk="1" latinLnBrk="0" hangingPunct="1"/>
            <a:r>
              <a:rPr lang="zh-CN" altLang="en-US" smtClean="0"/>
              <a:t>第五级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图片与标题"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600200" y="5486400"/>
            <a:ext cx="7315200" cy="685800"/>
          </a:xfrm>
        </p:spPr>
        <p:txBody>
          <a:bodyPr/>
          <a:lstStyle>
            <a:lvl1pPr marL="0" indent="0">
              <a:buFontTx/>
              <a:buNone/>
              <a:defRPr sz="1700"/>
            </a:lvl1pPr>
            <a:lvl2pPr>
              <a:buFontTx/>
              <a:buNone/>
              <a:defRPr sz="1200"/>
            </a:lvl2pPr>
            <a:lvl3pPr>
              <a:buFontTx/>
              <a:buNone/>
              <a:defRPr sz="1000"/>
            </a:lvl3pPr>
            <a:lvl4pPr>
              <a:buFontTx/>
              <a:buNone/>
              <a:defRPr sz="900"/>
            </a:lvl4pPr>
            <a:lvl5pPr>
              <a:buFontTx/>
              <a:buNone/>
              <a:defRPr sz="900"/>
            </a:lvl5pPr>
          </a:lstStyle>
          <a:p>
            <a:pPr lvl="0" eaLnBrk="1" latinLnBrk="0" hangingPunct="1"/>
            <a:r>
              <a:rPr kumimoji="0" lang="zh-CN" altLang="en-US" smtClean="0"/>
              <a:t>单击此处编辑母版文本样式</a:t>
            </a:r>
          </a:p>
        </p:txBody>
      </p:sp>
      <p:sp>
        <p:nvSpPr>
          <p:cNvPr id="8" name="矩形 7"/>
          <p:cNvSpPr/>
          <p:nvPr/>
        </p:nvSpPr>
        <p:spPr bwMode="white">
          <a:xfrm>
            <a:off x="-9144" y="4572000"/>
            <a:ext cx="9144000" cy="886968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矩形 8"/>
          <p:cNvSpPr/>
          <p:nvPr/>
        </p:nvSpPr>
        <p:spPr>
          <a:xfrm>
            <a:off x="-9144" y="4663440"/>
            <a:ext cx="1463040" cy="713232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0" name="矩形 9"/>
          <p:cNvSpPr/>
          <p:nvPr/>
        </p:nvSpPr>
        <p:spPr>
          <a:xfrm>
            <a:off x="1545336" y="4654296"/>
            <a:ext cx="7598664" cy="713232"/>
          </a:xfrm>
          <a:prstGeom prst="rect">
            <a:avLst/>
          </a:prstGeom>
          <a:solidFill>
            <a:schemeClr val="accent1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600200" y="4648200"/>
            <a:ext cx="7315200" cy="685800"/>
          </a:xfrm>
        </p:spPr>
        <p:txBody>
          <a:bodyPr anchor="ctr"/>
          <a:lstStyle>
            <a:lvl1pPr algn="l">
              <a:buNone/>
              <a:defRPr sz="2800" b="0">
                <a:solidFill>
                  <a:srgbClr val="FFFFFF"/>
                </a:solidFill>
              </a:defRPr>
            </a:lvl1pPr>
          </a:lstStyle>
          <a:p>
            <a:r>
              <a:rPr kumimoji="0" lang="zh-CN" altLang="en-US" smtClean="0"/>
              <a:t>单击此处编辑母版标题样式</a:t>
            </a:r>
            <a:endParaRPr kumimoji="0" lang="en-US"/>
          </a:p>
        </p:txBody>
      </p:sp>
      <p:sp>
        <p:nvSpPr>
          <p:cNvPr id="11" name="矩形 10"/>
          <p:cNvSpPr/>
          <p:nvPr/>
        </p:nvSpPr>
        <p:spPr bwMode="white">
          <a:xfrm>
            <a:off x="1447800" y="0"/>
            <a:ext cx="100584" cy="6867144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日期占位符 11"/>
          <p:cNvSpPr>
            <a:spLocks noGrp="1"/>
          </p:cNvSpPr>
          <p:nvPr>
            <p:ph type="dt" sz="half" idx="10"/>
          </p:nvPr>
        </p:nvSpPr>
        <p:spPr>
          <a:xfrm>
            <a:off x="6248400" y="6248400"/>
            <a:ext cx="2667000" cy="365125"/>
          </a:xfrm>
        </p:spPr>
        <p:txBody>
          <a:bodyPr rtlCol="0"/>
          <a:lstStyle/>
          <a:p>
            <a:fld id="{530820CF-B880-4189-942D-D702A7CBA730}" type="datetimeFigureOut">
              <a:rPr lang="zh-CN" altLang="en-US" smtClean="0"/>
              <a:pPr/>
              <a:t>2020/5/22</a:t>
            </a:fld>
            <a:endParaRPr lang="zh-CN" altLang="en-US"/>
          </a:p>
        </p:txBody>
      </p:sp>
      <p:sp>
        <p:nvSpPr>
          <p:cNvPr id="13" name="灯片编号占位符 12"/>
          <p:cNvSpPr>
            <a:spLocks noGrp="1"/>
          </p:cNvSpPr>
          <p:nvPr>
            <p:ph type="sldNum" sz="quarter" idx="11"/>
          </p:nvPr>
        </p:nvSpPr>
        <p:spPr>
          <a:xfrm>
            <a:off x="0" y="4667249"/>
            <a:ext cx="1447800" cy="663578"/>
          </a:xfrm>
        </p:spPr>
        <p:txBody>
          <a:bodyPr rtlCol="0"/>
          <a:lstStyle>
            <a:lvl1pPr>
              <a:defRPr sz="2800"/>
            </a:lvl1pPr>
          </a:lstStyle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  <p:sp>
        <p:nvSpPr>
          <p:cNvPr id="14" name="页脚占位符 13"/>
          <p:cNvSpPr>
            <a:spLocks noGrp="1"/>
          </p:cNvSpPr>
          <p:nvPr>
            <p:ph type="ftr" sz="quarter" idx="12"/>
          </p:nvPr>
        </p:nvSpPr>
        <p:spPr>
          <a:xfrm>
            <a:off x="1600200" y="6248206"/>
            <a:ext cx="4572000" cy="365125"/>
          </a:xfrm>
        </p:spPr>
        <p:txBody>
          <a:bodyPr rtlCol="0"/>
          <a:lstStyle/>
          <a:p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560576" y="0"/>
            <a:ext cx="7583424" cy="4568952"/>
          </a:xfrm>
          <a:solidFill>
            <a:schemeClr val="accent1">
              <a:tint val="40000"/>
            </a:schemeClr>
          </a:solidFill>
          <a:ln>
            <a:noFill/>
          </a:ln>
        </p:spPr>
        <p:txBody>
          <a:bodyPr/>
          <a:lstStyle>
            <a:lvl1pPr marL="0" indent="0">
              <a:buNone/>
              <a:defRPr sz="3200"/>
            </a:lvl1pPr>
          </a:lstStyle>
          <a:p>
            <a:r>
              <a:rPr kumimoji="0" lang="zh-CN" altLang="en-US" smtClean="0"/>
              <a:t>单击图标添加图片</a:t>
            </a:r>
            <a:endParaRPr kumimoji="0" lang="en-US" dirty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zh-CN" altLang="en-US" smtClean="0"/>
              <a:t>单击此处编辑母版标题样式</a:t>
            </a:r>
            <a:endParaRPr kumimoji="0" 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zh-CN" altLang="en-US" smtClean="0"/>
              <a:t>单击此处编辑母版文本样式</a:t>
            </a:r>
          </a:p>
          <a:p>
            <a:pPr lvl="1" eaLnBrk="1" latinLnBrk="0" hangingPunct="1"/>
            <a:r>
              <a:rPr lang="zh-CN" altLang="en-US" smtClean="0"/>
              <a:t>第二级</a:t>
            </a:r>
          </a:p>
          <a:p>
            <a:pPr lvl="2" eaLnBrk="1" latinLnBrk="0" hangingPunct="1"/>
            <a:r>
              <a:rPr lang="zh-CN" altLang="en-US" smtClean="0"/>
              <a:t>第三级</a:t>
            </a:r>
          </a:p>
          <a:p>
            <a:pPr lvl="3" eaLnBrk="1" latinLnBrk="0" hangingPunct="1"/>
            <a:r>
              <a:rPr lang="zh-CN" altLang="en-US" smtClean="0"/>
              <a:t>第四级</a:t>
            </a:r>
          </a:p>
          <a:p>
            <a:pPr lvl="4" eaLnBrk="1" latinLnBrk="0" hangingPunct="1"/>
            <a:r>
              <a:rPr lang="zh-CN" altLang="en-US" smtClean="0"/>
              <a:t>第五级</a:t>
            </a:r>
            <a:endParaRPr kumimoji="0" 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pPr/>
              <a:t>2020/5/22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垂直排列标题与文本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553200" y="609600"/>
            <a:ext cx="2057400" cy="5516563"/>
          </a:xfrm>
        </p:spPr>
        <p:txBody>
          <a:bodyPr vert="eaVert"/>
          <a:lstStyle/>
          <a:p>
            <a:r>
              <a:rPr kumimoji="0" lang="zh-CN" altLang="en-US" smtClean="0"/>
              <a:t>单击此处编辑母版标题样式</a:t>
            </a:r>
            <a:endParaRPr kumimoji="0" 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609600"/>
            <a:ext cx="5562600" cy="5516564"/>
          </a:xfrm>
        </p:spPr>
        <p:txBody>
          <a:bodyPr vert="eaVert"/>
          <a:lstStyle/>
          <a:p>
            <a:pPr lvl="0" eaLnBrk="1" latinLnBrk="0" hangingPunct="1"/>
            <a:r>
              <a:rPr lang="zh-CN" altLang="en-US" smtClean="0"/>
              <a:t>单击此处编辑母版文本样式</a:t>
            </a:r>
          </a:p>
          <a:p>
            <a:pPr lvl="1" eaLnBrk="1" latinLnBrk="0" hangingPunct="1"/>
            <a:r>
              <a:rPr lang="zh-CN" altLang="en-US" smtClean="0"/>
              <a:t>第二级</a:t>
            </a:r>
          </a:p>
          <a:p>
            <a:pPr lvl="2" eaLnBrk="1" latinLnBrk="0" hangingPunct="1"/>
            <a:r>
              <a:rPr lang="zh-CN" altLang="en-US" smtClean="0"/>
              <a:t>第三级</a:t>
            </a:r>
          </a:p>
          <a:p>
            <a:pPr lvl="3" eaLnBrk="1" latinLnBrk="0" hangingPunct="1"/>
            <a:r>
              <a:rPr lang="zh-CN" altLang="en-US" smtClean="0"/>
              <a:t>第四级</a:t>
            </a:r>
          </a:p>
          <a:p>
            <a:pPr lvl="4" eaLnBrk="1" latinLnBrk="0" hangingPunct="1"/>
            <a:r>
              <a:rPr lang="zh-CN" altLang="en-US" smtClean="0"/>
              <a:t>第五级</a:t>
            </a:r>
            <a:endParaRPr kumimoji="0" 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6553200" y="6248402"/>
            <a:ext cx="2209800" cy="365125"/>
          </a:xfrm>
        </p:spPr>
        <p:txBody>
          <a:bodyPr/>
          <a:lstStyle/>
          <a:p>
            <a:fld id="{530820CF-B880-4189-942D-D702A7CBA730}" type="datetimeFigureOut">
              <a:rPr lang="zh-CN" altLang="en-US" smtClean="0"/>
              <a:pPr/>
              <a:t>2020/5/22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57201" y="6248207"/>
            <a:ext cx="5573483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7" name="矩形 6"/>
          <p:cNvSpPr/>
          <p:nvPr/>
        </p:nvSpPr>
        <p:spPr bwMode="white">
          <a:xfrm>
            <a:off x="6096318" y="0"/>
            <a:ext cx="320040" cy="6858000"/>
          </a:xfrm>
          <a:prstGeom prst="rect">
            <a:avLst/>
          </a:prstGeom>
          <a:solidFill>
            <a:srgbClr val="FFFFFF"/>
          </a:solidFill>
          <a:ln w="1905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矩形 7"/>
          <p:cNvSpPr/>
          <p:nvPr/>
        </p:nvSpPr>
        <p:spPr>
          <a:xfrm>
            <a:off x="6142038" y="609600"/>
            <a:ext cx="228600" cy="6248400"/>
          </a:xfrm>
          <a:prstGeom prst="rect">
            <a:avLst/>
          </a:prstGeom>
          <a:solidFill>
            <a:schemeClr val="accent1"/>
          </a:solidFill>
          <a:ln w="1905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矩形 8"/>
          <p:cNvSpPr/>
          <p:nvPr/>
        </p:nvSpPr>
        <p:spPr>
          <a:xfrm>
            <a:off x="6142038" y="0"/>
            <a:ext cx="228600" cy="533400"/>
          </a:xfrm>
          <a:prstGeom prst="rect">
            <a:avLst/>
          </a:prstGeom>
          <a:solidFill>
            <a:schemeClr val="accent2"/>
          </a:solidFill>
          <a:ln w="1905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 rot="5400000">
            <a:off x="5989638" y="144462"/>
            <a:ext cx="533400" cy="244476"/>
          </a:xfrm>
        </p:spPr>
        <p:txBody>
          <a:bodyPr/>
          <a:lstStyle/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标题占位符 21"/>
          <p:cNvSpPr>
            <a:spLocks noGrp="1"/>
          </p:cNvSpPr>
          <p:nvPr>
            <p:ph type="title"/>
          </p:nvPr>
        </p:nvSpPr>
        <p:spPr>
          <a:xfrm>
            <a:off x="609600" y="228600"/>
            <a:ext cx="8153400" cy="990600"/>
          </a:xfrm>
          <a:prstGeom prst="rect">
            <a:avLst/>
          </a:prstGeom>
        </p:spPr>
        <p:txBody>
          <a:bodyPr vert="horz" anchor="ctr">
            <a:normAutofit/>
          </a:bodyPr>
          <a:lstStyle/>
          <a:p>
            <a:r>
              <a:rPr kumimoji="0" lang="zh-CN" altLang="en-US" smtClean="0"/>
              <a:t>单击此处编辑母版标题样式</a:t>
            </a:r>
            <a:endParaRPr kumimoji="0" lang="en-US"/>
          </a:p>
        </p:txBody>
      </p:sp>
      <p:sp>
        <p:nvSpPr>
          <p:cNvPr id="13" name="文本占位符 12"/>
          <p:cNvSpPr>
            <a:spLocks noGrp="1"/>
          </p:cNvSpPr>
          <p:nvPr>
            <p:ph type="body" idx="1"/>
          </p:nvPr>
        </p:nvSpPr>
        <p:spPr>
          <a:xfrm>
            <a:off x="612648" y="1600200"/>
            <a:ext cx="8153400" cy="4526280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zh-CN" altLang="en-US" smtClean="0"/>
              <a:t>单击此处编辑母版文本样式</a:t>
            </a:r>
          </a:p>
          <a:p>
            <a:pPr lvl="1" eaLnBrk="1" latinLnBrk="0" hangingPunct="1"/>
            <a:r>
              <a:rPr kumimoji="0" lang="zh-CN" altLang="en-US" smtClean="0"/>
              <a:t>第二级</a:t>
            </a:r>
          </a:p>
          <a:p>
            <a:pPr lvl="2" eaLnBrk="1" latinLnBrk="0" hangingPunct="1"/>
            <a:r>
              <a:rPr kumimoji="0" lang="zh-CN" altLang="en-US" smtClean="0"/>
              <a:t>第三级</a:t>
            </a:r>
          </a:p>
          <a:p>
            <a:pPr lvl="3" eaLnBrk="1" latinLnBrk="0" hangingPunct="1"/>
            <a:r>
              <a:rPr kumimoji="0" lang="zh-CN" altLang="en-US" smtClean="0"/>
              <a:t>第四级</a:t>
            </a:r>
          </a:p>
          <a:p>
            <a:pPr lvl="4" eaLnBrk="1" latinLnBrk="0" hangingPunct="1"/>
            <a:r>
              <a:rPr kumimoji="0" lang="zh-CN" altLang="en-US" smtClean="0"/>
              <a:t>第五级</a:t>
            </a:r>
            <a:endParaRPr kumimoji="0" lang="en-US"/>
          </a:p>
        </p:txBody>
      </p:sp>
      <p:sp>
        <p:nvSpPr>
          <p:cNvPr id="14" name="日期占位符 13"/>
          <p:cNvSpPr>
            <a:spLocks noGrp="1"/>
          </p:cNvSpPr>
          <p:nvPr>
            <p:ph type="dt" sz="half" idx="2"/>
          </p:nvPr>
        </p:nvSpPr>
        <p:spPr>
          <a:xfrm>
            <a:off x="6096000" y="6248400"/>
            <a:ext cx="2667000" cy="365125"/>
          </a:xfrm>
          <a:prstGeom prst="rect">
            <a:avLst/>
          </a:prstGeom>
        </p:spPr>
        <p:txBody>
          <a:bodyPr vert="horz" anchor="ctr" anchorCtr="0"/>
          <a:lstStyle>
            <a:lvl1pPr algn="l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fld id="{530820CF-B880-4189-942D-D702A7CBA730}" type="datetimeFigureOut">
              <a:rPr lang="zh-CN" altLang="en-US" smtClean="0"/>
              <a:pPr/>
              <a:t>2020/5/22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3"/>
          </p:nvPr>
        </p:nvSpPr>
        <p:spPr>
          <a:xfrm>
            <a:off x="609600" y="6248206"/>
            <a:ext cx="5421083" cy="365125"/>
          </a:xfrm>
          <a:prstGeom prst="rect">
            <a:avLst/>
          </a:prstGeom>
        </p:spPr>
        <p:txBody>
          <a:bodyPr vert="horz" anchor="ctr"/>
          <a:lstStyle>
            <a:lvl1pPr algn="r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7" name="矩形 6"/>
          <p:cNvSpPr/>
          <p:nvPr/>
        </p:nvSpPr>
        <p:spPr bwMode="white">
          <a:xfrm>
            <a:off x="0" y="1234440"/>
            <a:ext cx="9144000" cy="320040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矩形 7"/>
          <p:cNvSpPr/>
          <p:nvPr/>
        </p:nvSpPr>
        <p:spPr>
          <a:xfrm>
            <a:off x="0" y="1280160"/>
            <a:ext cx="533400" cy="228600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矩形 8"/>
          <p:cNvSpPr/>
          <p:nvPr/>
        </p:nvSpPr>
        <p:spPr>
          <a:xfrm>
            <a:off x="590550" y="1280160"/>
            <a:ext cx="8553450" cy="228600"/>
          </a:xfrm>
          <a:prstGeom prst="rect">
            <a:avLst/>
          </a:prstGeom>
          <a:solidFill>
            <a:schemeClr val="accent1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3" name="灯片编号占位符 22"/>
          <p:cNvSpPr>
            <a:spLocks noGrp="1"/>
          </p:cNvSpPr>
          <p:nvPr>
            <p:ph type="sldNum" sz="quarter" idx="4"/>
          </p:nvPr>
        </p:nvSpPr>
        <p:spPr>
          <a:xfrm>
            <a:off x="0" y="1272222"/>
            <a:ext cx="533400" cy="244476"/>
          </a:xfrm>
          <a:prstGeom prst="rect">
            <a:avLst/>
          </a:prstGeom>
        </p:spPr>
        <p:txBody>
          <a:bodyPr vert="horz" anchor="ctr" anchorCtr="0">
            <a:normAutofit/>
          </a:bodyPr>
          <a:lstStyle>
            <a:lvl1pPr algn="ctr" eaLnBrk="1" latinLnBrk="0" hangingPunct="1">
              <a:defRPr kumimoji="0" sz="1400" b="1">
                <a:solidFill>
                  <a:srgbClr val="FFFFFF"/>
                </a:solidFill>
              </a:defRPr>
            </a:lvl1pPr>
          </a:lstStyle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rtl="0" eaLnBrk="1" latinLnBrk="0" hangingPunct="1">
        <a:spcBef>
          <a:spcPct val="0"/>
        </a:spcBef>
        <a:buNone/>
        <a:defRPr kumimoji="0" sz="4400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20040" indent="-320040" algn="l" rtl="0" eaLnBrk="1" latinLnBrk="0" hangingPunct="1">
        <a:spcBef>
          <a:spcPts val="700"/>
        </a:spcBef>
        <a:buClr>
          <a:schemeClr val="accent2"/>
        </a:buClr>
        <a:buSzPct val="60000"/>
        <a:buFont typeface="Wingdings"/>
        <a:buChar char=""/>
        <a:defRPr kumimoji="0" sz="290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indent="-274320" algn="l" rtl="0" eaLnBrk="1" latinLnBrk="0" hangingPunct="1">
        <a:spcBef>
          <a:spcPts val="550"/>
        </a:spcBef>
        <a:buClr>
          <a:schemeClr val="accent1"/>
        </a:buClr>
        <a:buSzPct val="70000"/>
        <a:buFont typeface="Wingdings 2"/>
        <a:buChar char=""/>
        <a:defRPr kumimoji="0" sz="26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indent="-228600" algn="l" rtl="0" eaLnBrk="1" latinLnBrk="0" hangingPunct="1">
        <a:spcBef>
          <a:spcPts val="500"/>
        </a:spcBef>
        <a:buClr>
          <a:schemeClr val="accent2"/>
        </a:buClr>
        <a:buSzPct val="75000"/>
        <a:buFont typeface="Wingdings"/>
        <a:buChar char=""/>
        <a:defRPr kumimoji="0" sz="23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indent="-228600" algn="l" rtl="0" eaLnBrk="1" latinLnBrk="0" hangingPunct="1">
        <a:spcBef>
          <a:spcPts val="400"/>
        </a:spcBef>
        <a:buClr>
          <a:schemeClr val="accent3"/>
        </a:buClr>
        <a:buSzPct val="75000"/>
        <a:buFont typeface="Wingdings"/>
        <a:buChar char="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indent="-228600" algn="l" rtl="0" eaLnBrk="1" latinLnBrk="0" hangingPunct="1">
        <a:spcBef>
          <a:spcPts val="400"/>
        </a:spcBef>
        <a:buClr>
          <a:schemeClr val="accent4"/>
        </a:buClr>
        <a:buSzPct val="65000"/>
        <a:buFont typeface="Wingdings"/>
        <a:buChar char="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103120" indent="-228600" algn="l" rtl="0" eaLnBrk="1" latinLnBrk="0" hangingPunct="1">
        <a:spcBef>
          <a:spcPct val="20000"/>
        </a:spcBef>
        <a:buClr>
          <a:schemeClr val="accent1"/>
        </a:buClr>
        <a:buFont typeface="Wingdings"/>
        <a:buChar char="§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2377440" indent="-228600" algn="l" rtl="0" eaLnBrk="1" latinLnBrk="0" hangingPunct="1">
        <a:spcBef>
          <a:spcPct val="20000"/>
        </a:spcBef>
        <a:buClr>
          <a:schemeClr val="accent2"/>
        </a:buClr>
        <a:buFont typeface="Wingdings"/>
        <a:buChar char="§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2651760" indent="-228600" algn="l" rtl="0" eaLnBrk="1" latinLnBrk="0" hangingPunct="1">
        <a:spcBef>
          <a:spcPct val="20000"/>
        </a:spcBef>
        <a:buClr>
          <a:schemeClr val="accent3"/>
        </a:buClr>
        <a:buFont typeface="Wingdings"/>
        <a:buChar char="§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2926080" indent="-228600" algn="l" rtl="0" eaLnBrk="1" latinLnBrk="0" hangingPunct="1">
        <a:spcBef>
          <a:spcPct val="20000"/>
        </a:spcBef>
        <a:buClr>
          <a:schemeClr val="accent4"/>
        </a:buClr>
        <a:buFont typeface="Wingdings"/>
        <a:buChar char="§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hyperlink" Target="http://docs.oracle.com/javase/8/docs/api/java/net/ServerSocket.html" TargetMode="Externa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2483768" y="3861048"/>
            <a:ext cx="6660232" cy="1828800"/>
          </a:xfrm>
        </p:spPr>
        <p:txBody>
          <a:bodyPr>
            <a:normAutofit/>
          </a:bodyPr>
          <a:lstStyle/>
          <a:p>
            <a:r>
              <a:rPr lang="zh-CN" altLang="en-US" dirty="0" smtClean="0"/>
              <a:t>               </a:t>
            </a:r>
            <a:r>
              <a:rPr lang="en-US" altLang="zh-CN" dirty="0" smtClean="0"/>
              <a:t>Server Socket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zh-CN" altLang="en-US" dirty="0" smtClean="0"/>
              <a:t>周宇          助理教授            深圳大学</a:t>
            </a:r>
            <a:endParaRPr lang="zh-CN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标题 1"/>
          <p:cNvSpPr>
            <a:spLocks noGrp="1"/>
          </p:cNvSpPr>
          <p:nvPr>
            <p:ph type="title"/>
          </p:nvPr>
        </p:nvSpPr>
        <p:spPr>
          <a:xfrm>
            <a:off x="395536" y="260648"/>
            <a:ext cx="7775575" cy="792088"/>
          </a:xfrm>
        </p:spPr>
        <p:txBody>
          <a:bodyPr anchor="t">
            <a:normAutofit/>
          </a:bodyPr>
          <a:lstStyle/>
          <a:p>
            <a:r>
              <a:rPr lang="en-US" altLang="zh-CN" sz="4000" dirty="0" smtClean="0">
                <a:solidFill>
                  <a:srgbClr val="19435A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zh-CN" altLang="en-US" sz="4000" b="1" dirty="0" smtClean="0">
                <a:solidFill>
                  <a:srgbClr val="19435A"/>
                </a:solidFill>
                <a:latin typeface="Times New Roman" pitchFamily="18" charset="0"/>
                <a:cs typeface="Times New Roman" pitchFamily="18" charset="0"/>
              </a:rPr>
              <a:t>主要内容</a:t>
            </a:r>
            <a:endParaRPr lang="zh-CN" altLang="en-US" sz="4000" b="1" dirty="0" smtClean="0">
              <a:cs typeface="Times New Roman" pitchFamily="18" charset="0"/>
            </a:endParaRPr>
          </a:p>
        </p:txBody>
      </p:sp>
      <p:sp>
        <p:nvSpPr>
          <p:cNvPr id="7171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sz="2800" dirty="0" smtClean="0">
                <a:latin typeface="Times New Roman" pitchFamily="18" charset="0"/>
                <a:cs typeface="Times New Roman" pitchFamily="18" charset="0"/>
              </a:rPr>
              <a:t>使用</a:t>
            </a:r>
            <a:r>
              <a:rPr lang="en-US" altLang="zh-CN" sz="2800" dirty="0" err="1" smtClean="0">
                <a:latin typeface="Times New Roman" pitchFamily="18" charset="0"/>
                <a:cs typeface="Times New Roman" pitchFamily="18" charset="0"/>
              </a:rPr>
              <a:t>ServerSocket</a:t>
            </a:r>
            <a:endParaRPr lang="en-US" altLang="zh-CN" sz="2800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zh-CN" altLang="en-US" sz="2800" dirty="0" smtClean="0">
                <a:latin typeface="Times New Roman" pitchFamily="18" charset="0"/>
                <a:cs typeface="Times New Roman" pitchFamily="18" charset="0"/>
              </a:rPr>
              <a:t>日志</a:t>
            </a:r>
            <a:endParaRPr lang="en-US" altLang="zh-CN" sz="2800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zh-CN" altLang="en-US" sz="2800" dirty="0" smtClean="0">
                <a:latin typeface="Times New Roman" pitchFamily="18" charset="0"/>
                <a:cs typeface="Times New Roman" pitchFamily="18" charset="0"/>
              </a:rPr>
              <a:t>构造服务器</a:t>
            </a:r>
            <a:r>
              <a:rPr lang="en-US" altLang="zh-CN" sz="2800" dirty="0" smtClean="0">
                <a:latin typeface="Times New Roman" pitchFamily="18" charset="0"/>
                <a:cs typeface="Times New Roman" pitchFamily="18" charset="0"/>
              </a:rPr>
              <a:t>Socket</a:t>
            </a:r>
          </a:p>
          <a:p>
            <a:r>
              <a:rPr lang="zh-CN" altLang="en-US" sz="2800" dirty="0" smtClean="0">
                <a:latin typeface="Times New Roman" pitchFamily="18" charset="0"/>
                <a:cs typeface="Times New Roman" pitchFamily="18" charset="0"/>
              </a:rPr>
              <a:t>获得服务器</a:t>
            </a:r>
            <a:r>
              <a:rPr lang="en-US" altLang="zh-CN" sz="2800" dirty="0" smtClean="0">
                <a:latin typeface="Times New Roman" pitchFamily="18" charset="0"/>
                <a:cs typeface="Times New Roman" pitchFamily="18" charset="0"/>
              </a:rPr>
              <a:t>Socket</a:t>
            </a:r>
            <a:r>
              <a:rPr lang="zh-CN" altLang="en-US" sz="2800" dirty="0" smtClean="0">
                <a:latin typeface="Times New Roman" pitchFamily="18" charset="0"/>
                <a:cs typeface="Times New Roman" pitchFamily="18" charset="0"/>
              </a:rPr>
              <a:t>的有关信息</a:t>
            </a:r>
            <a:endParaRPr lang="en-US" altLang="zh-CN" sz="2800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en-US" altLang="zh-CN" sz="2800" dirty="0" smtClean="0">
                <a:latin typeface="Times New Roman" pitchFamily="18" charset="0"/>
                <a:cs typeface="Times New Roman" pitchFamily="18" charset="0"/>
              </a:rPr>
              <a:t>Socket</a:t>
            </a:r>
            <a:r>
              <a:rPr lang="zh-CN" altLang="en-US" sz="2800" dirty="0" smtClean="0">
                <a:latin typeface="Times New Roman" pitchFamily="18" charset="0"/>
                <a:cs typeface="Times New Roman" pitchFamily="18" charset="0"/>
              </a:rPr>
              <a:t>选项</a:t>
            </a:r>
            <a:endParaRPr lang="en-US" altLang="zh-CN" sz="2800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en-US" altLang="zh-CN" sz="2800" dirty="0" smtClean="0">
                <a:latin typeface="Times New Roman" pitchFamily="18" charset="0"/>
                <a:cs typeface="Times New Roman" pitchFamily="18" charset="0"/>
              </a:rPr>
              <a:t>HTTP</a:t>
            </a:r>
            <a:r>
              <a:rPr lang="zh-CN" altLang="en-US" sz="2800" dirty="0" smtClean="0">
                <a:latin typeface="Times New Roman" pitchFamily="18" charset="0"/>
                <a:cs typeface="Times New Roman" pitchFamily="18" charset="0"/>
              </a:rPr>
              <a:t>服务器</a:t>
            </a:r>
            <a:endParaRPr lang="en-US" altLang="zh-CN" sz="2800" dirty="0" smtClean="0">
              <a:latin typeface="Times New Roman" pitchFamily="18" charset="0"/>
              <a:cs typeface="Times New Roman" pitchFamily="18" charset="0"/>
            </a:endParaRPr>
          </a:p>
          <a:p>
            <a:endParaRPr lang="zh-CN" altLang="en-US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标题 1"/>
          <p:cNvSpPr>
            <a:spLocks noGrp="1"/>
          </p:cNvSpPr>
          <p:nvPr>
            <p:ph type="title"/>
          </p:nvPr>
        </p:nvSpPr>
        <p:spPr>
          <a:xfrm>
            <a:off x="609600" y="228600"/>
            <a:ext cx="7775575" cy="896144"/>
          </a:xfrm>
        </p:spPr>
        <p:txBody>
          <a:bodyPr anchor="t">
            <a:normAutofit/>
          </a:bodyPr>
          <a:lstStyle/>
          <a:p>
            <a:r>
              <a:rPr lang="zh-CN" altLang="en-US" sz="4000" dirty="0" smtClean="0"/>
              <a:t>使用</a:t>
            </a:r>
            <a:r>
              <a:rPr lang="en-US" altLang="zh-CN" sz="4000" dirty="0" err="1" smtClean="0"/>
              <a:t>ServerSocket</a:t>
            </a:r>
            <a:endParaRPr lang="zh-CN" altLang="en-US" sz="4000" dirty="0" smtClean="0"/>
          </a:p>
        </p:txBody>
      </p:sp>
      <p:sp>
        <p:nvSpPr>
          <p:cNvPr id="8195" name="内容占位符 2"/>
          <p:cNvSpPr>
            <a:spLocks noGrp="1"/>
          </p:cNvSpPr>
          <p:nvPr>
            <p:ph idx="1"/>
          </p:nvPr>
        </p:nvSpPr>
        <p:spPr>
          <a:xfrm>
            <a:off x="107504" y="1556792"/>
            <a:ext cx="8540750" cy="4498975"/>
          </a:xfrm>
        </p:spPr>
        <p:txBody>
          <a:bodyPr/>
          <a:lstStyle/>
          <a:p>
            <a:r>
              <a:rPr lang="en-US" altLang="zh-CN" sz="2000" dirty="0" smtClean="0">
                <a:hlinkClick r:id="rId2"/>
              </a:rPr>
              <a:t>http://docs.oracle.com/javase/8/docs/api/java/net/ServerSocket.html</a:t>
            </a:r>
            <a:endParaRPr lang="en-US" altLang="zh-CN" sz="2000" dirty="0" smtClean="0"/>
          </a:p>
          <a:p>
            <a:r>
              <a:rPr lang="zh-CN" altLang="en-US" sz="2000" dirty="0" smtClean="0"/>
              <a:t>基本生命周期</a:t>
            </a:r>
            <a:endParaRPr lang="en-US" altLang="zh-CN" sz="2000" dirty="0" smtClean="0"/>
          </a:p>
          <a:p>
            <a:pPr lvl="1"/>
            <a:r>
              <a:rPr lang="zh-CN" altLang="en-US" sz="1800" dirty="0" smtClean="0"/>
              <a:t>构造</a:t>
            </a:r>
            <a:r>
              <a:rPr lang="en-US" altLang="zh-CN" sz="1800" dirty="0" err="1" smtClean="0"/>
              <a:t>ServerSocket</a:t>
            </a:r>
            <a:r>
              <a:rPr lang="zh-CN" altLang="en-US" sz="1800" dirty="0" smtClean="0"/>
              <a:t>（绑定某个端口）</a:t>
            </a:r>
            <a:endParaRPr lang="en-US" altLang="zh-CN" sz="1800" dirty="0" smtClean="0"/>
          </a:p>
          <a:p>
            <a:pPr lvl="1"/>
            <a:r>
              <a:rPr lang="en-US" altLang="zh-CN" sz="1800" dirty="0" smtClean="0"/>
              <a:t>accept</a:t>
            </a:r>
            <a:r>
              <a:rPr lang="zh-CN" altLang="en-US" sz="1800" dirty="0" smtClean="0"/>
              <a:t>方法监听（阻塞）并返回一个连接客户端的</a:t>
            </a:r>
            <a:r>
              <a:rPr lang="en-US" altLang="zh-CN" sz="1800" dirty="0" smtClean="0"/>
              <a:t>Socket</a:t>
            </a:r>
          </a:p>
          <a:p>
            <a:pPr lvl="1"/>
            <a:r>
              <a:rPr lang="zh-CN" altLang="en-US" sz="1800" dirty="0" smtClean="0"/>
              <a:t>调用</a:t>
            </a:r>
            <a:r>
              <a:rPr lang="en-US" altLang="zh-CN" sz="1800" dirty="0" smtClean="0"/>
              <a:t>Socket</a:t>
            </a:r>
            <a:r>
              <a:rPr lang="zh-CN" altLang="en-US" sz="1800" dirty="0" smtClean="0"/>
              <a:t>的</a:t>
            </a:r>
            <a:r>
              <a:rPr lang="en-US" altLang="zh-CN" sz="1800" dirty="0" err="1" smtClean="0"/>
              <a:t>getInputStream</a:t>
            </a:r>
            <a:r>
              <a:rPr lang="zh-CN" altLang="en-US" sz="1800" dirty="0" smtClean="0"/>
              <a:t>或</a:t>
            </a:r>
            <a:r>
              <a:rPr lang="en-US" altLang="zh-CN" sz="1800" dirty="0" err="1" smtClean="0"/>
              <a:t>getOutputStream</a:t>
            </a:r>
            <a:r>
              <a:rPr lang="zh-CN" altLang="en-US" sz="1800" dirty="0" smtClean="0"/>
              <a:t>方法获得</a:t>
            </a:r>
            <a:r>
              <a:rPr lang="en-US" altLang="zh-CN" sz="1800" dirty="0" smtClean="0"/>
              <a:t>IO</a:t>
            </a:r>
            <a:r>
              <a:rPr lang="zh-CN" altLang="en-US" sz="1800" dirty="0" smtClean="0"/>
              <a:t>流</a:t>
            </a:r>
            <a:endParaRPr lang="en-US" altLang="zh-CN" sz="1800" dirty="0" smtClean="0"/>
          </a:p>
          <a:p>
            <a:pPr lvl="1"/>
            <a:r>
              <a:rPr lang="zh-CN" altLang="en-US" sz="1800" dirty="0" smtClean="0"/>
              <a:t>根据已协商的协议交互</a:t>
            </a:r>
            <a:endParaRPr lang="en-US" altLang="zh-CN" sz="1800" dirty="0" smtClean="0"/>
          </a:p>
          <a:p>
            <a:pPr lvl="1"/>
            <a:r>
              <a:rPr lang="zh-CN" altLang="en-US" sz="1800" dirty="0" smtClean="0"/>
              <a:t>关闭连接</a:t>
            </a:r>
            <a:endParaRPr lang="en-US" altLang="zh-CN" sz="1800" dirty="0" smtClean="0"/>
          </a:p>
          <a:p>
            <a:pPr>
              <a:buNone/>
            </a:pPr>
            <a:endParaRPr lang="en-US" altLang="zh-CN" dirty="0" smtClean="0"/>
          </a:p>
          <a:p>
            <a:pPr>
              <a:buNone/>
            </a:pPr>
            <a:endParaRPr lang="en-US" altLang="zh-CN" dirty="0" smtClean="0"/>
          </a:p>
          <a:p>
            <a:endParaRPr lang="en-US" altLang="zh-CN" dirty="0" smtClean="0"/>
          </a:p>
          <a:p>
            <a:endParaRPr lang="en-US" altLang="zh-CN" dirty="0" smtClean="0"/>
          </a:p>
          <a:p>
            <a:endParaRPr lang="en-US" altLang="zh-CN" dirty="0" smtClean="0"/>
          </a:p>
          <a:p>
            <a:endParaRPr lang="en-US" altLang="zh-CN" dirty="0" smtClean="0"/>
          </a:p>
          <a:p>
            <a:endParaRPr lang="en-US" altLang="zh-CN" dirty="0" smtClean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19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19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819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819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819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819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819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819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819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819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819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819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 smtClean="0"/>
              <a:t>基本实现步骤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39552" y="1556792"/>
            <a:ext cx="8153400" cy="4495800"/>
          </a:xfrm>
        </p:spPr>
        <p:txBody>
          <a:bodyPr/>
          <a:lstStyle/>
          <a:p>
            <a:r>
              <a:rPr lang="en-US" altLang="zh-CN" sz="2400" dirty="0" err="1" smtClean="0"/>
              <a:t>ss</a:t>
            </a:r>
            <a:r>
              <a:rPr lang="en-US" altLang="zh-CN" sz="2400" dirty="0" smtClean="0"/>
              <a:t>=new </a:t>
            </a:r>
            <a:r>
              <a:rPr lang="en-US" altLang="zh-CN" sz="2400" dirty="0" err="1" smtClean="0"/>
              <a:t>ServerSocket</a:t>
            </a:r>
            <a:r>
              <a:rPr lang="en-US" altLang="zh-CN" sz="2400" dirty="0" smtClean="0"/>
              <a:t>()</a:t>
            </a:r>
          </a:p>
          <a:p>
            <a:r>
              <a:rPr lang="en-US" altLang="zh-CN" sz="2400" dirty="0" smtClean="0"/>
              <a:t>socket=</a:t>
            </a:r>
            <a:r>
              <a:rPr lang="en-US" altLang="zh-CN" sz="2400" dirty="0" err="1" smtClean="0"/>
              <a:t>ss.accept</a:t>
            </a:r>
            <a:r>
              <a:rPr lang="en-US" altLang="zh-CN" sz="2400" dirty="0" smtClean="0"/>
              <a:t>()</a:t>
            </a:r>
          </a:p>
          <a:p>
            <a:r>
              <a:rPr lang="en-US" altLang="zh-CN" sz="2400" dirty="0" err="1"/>
              <a:t>socket.getInputStream</a:t>
            </a:r>
            <a:r>
              <a:rPr lang="en-US" altLang="zh-CN" sz="2400" dirty="0" smtClean="0"/>
              <a:t>();</a:t>
            </a:r>
            <a:r>
              <a:rPr lang="en-US" altLang="zh-CN" sz="2400" dirty="0"/>
              <a:t> </a:t>
            </a:r>
            <a:r>
              <a:rPr lang="en-US" altLang="zh-CN" sz="2400" dirty="0" smtClean="0"/>
              <a:t> </a:t>
            </a:r>
            <a:r>
              <a:rPr lang="en-US" altLang="zh-CN" sz="2400" dirty="0" err="1" smtClean="0"/>
              <a:t>socket.getOutputStream</a:t>
            </a:r>
            <a:r>
              <a:rPr lang="en-US" altLang="zh-CN" sz="2400" dirty="0" smtClean="0"/>
              <a:t>()</a:t>
            </a:r>
          </a:p>
          <a:p>
            <a:r>
              <a:rPr lang="en-US" altLang="zh-CN" sz="2400" dirty="0" err="1" smtClean="0"/>
              <a:t>socket.close</a:t>
            </a:r>
            <a:r>
              <a:rPr lang="en-US" altLang="zh-CN" sz="2400" dirty="0" smtClean="0"/>
              <a:t>()</a:t>
            </a:r>
            <a:endParaRPr lang="zh-CN" altLang="en-US" sz="2400" dirty="0"/>
          </a:p>
          <a:p>
            <a:endParaRPr lang="zh-CN" altLang="en-US" dirty="0"/>
          </a:p>
          <a:p>
            <a:endParaRPr lang="en-US" altLang="zh-CN" dirty="0" smtClean="0"/>
          </a:p>
        </p:txBody>
      </p:sp>
    </p:spTree>
    <p:extLst>
      <p:ext uri="{BB962C8B-B14F-4D97-AF65-F5344CB8AC3E}">
        <p14:creationId xmlns="" xmlns:p14="http://schemas.microsoft.com/office/powerpoint/2010/main" val="273180637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err="1" smtClean="0"/>
              <a:t>SeverSocket</a:t>
            </a:r>
            <a:r>
              <a:rPr lang="en-US" altLang="zh-CN" dirty="0" smtClean="0"/>
              <a:t> </a:t>
            </a:r>
            <a:r>
              <a:rPr lang="zh-CN" altLang="en-US" dirty="0" smtClean="0"/>
              <a:t>举例</a:t>
            </a:r>
            <a:endParaRPr lang="zh-CN" altLang="en-US" dirty="0"/>
          </a:p>
        </p:txBody>
      </p:sp>
      <p:sp>
        <p:nvSpPr>
          <p:cNvPr id="6" name="文本框 3"/>
          <p:cNvSpPr txBox="1">
            <a:spLocks noChangeArrowheads="1"/>
          </p:cNvSpPr>
          <p:nvPr/>
        </p:nvSpPr>
        <p:spPr bwMode="auto">
          <a:xfrm>
            <a:off x="683568" y="1916832"/>
            <a:ext cx="7535863" cy="35083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marL="0" lvl="1"/>
            <a:r>
              <a:rPr lang="en-US" altLang="zh-CN" dirty="0">
                <a:solidFill>
                  <a:schemeClr val="tx2"/>
                </a:solidFill>
                <a:latin typeface="Times New Roman" pitchFamily="18" charset="0"/>
                <a:cs typeface="Times New Roman" pitchFamily="18" charset="0"/>
              </a:rPr>
              <a:t>try(</a:t>
            </a:r>
            <a:r>
              <a:rPr lang="en-US" altLang="zh-CN" dirty="0" err="1">
                <a:solidFill>
                  <a:schemeClr val="tx2"/>
                </a:solidFill>
                <a:latin typeface="Times New Roman" pitchFamily="18" charset="0"/>
                <a:cs typeface="Times New Roman" pitchFamily="18" charset="0"/>
              </a:rPr>
              <a:t>ServerSocket</a:t>
            </a:r>
            <a:r>
              <a:rPr lang="en-US" altLang="zh-CN" dirty="0">
                <a:solidFill>
                  <a:schemeClr val="tx2"/>
                </a:solidFill>
                <a:latin typeface="Times New Roman" pitchFamily="18" charset="0"/>
                <a:cs typeface="Times New Roman" pitchFamily="18" charset="0"/>
              </a:rPr>
              <a:t> server=new </a:t>
            </a:r>
            <a:r>
              <a:rPr lang="en-US" altLang="zh-CN" dirty="0" err="1">
                <a:solidFill>
                  <a:schemeClr val="tx2"/>
                </a:solidFill>
                <a:latin typeface="Times New Roman" pitchFamily="18" charset="0"/>
                <a:cs typeface="Times New Roman" pitchFamily="18" charset="0"/>
              </a:rPr>
              <a:t>ServerSocket</a:t>
            </a:r>
            <a:r>
              <a:rPr lang="en-US" altLang="zh-CN" dirty="0">
                <a:solidFill>
                  <a:schemeClr val="tx2"/>
                </a:solidFill>
                <a:latin typeface="Times New Roman" pitchFamily="18" charset="0"/>
                <a:cs typeface="Times New Roman" pitchFamily="18" charset="0"/>
              </a:rPr>
              <a:t>(PORT)){</a:t>
            </a:r>
          </a:p>
          <a:p>
            <a:pPr marL="0" lvl="1"/>
            <a:r>
              <a:rPr lang="en-US" altLang="zh-CN" dirty="0">
                <a:solidFill>
                  <a:schemeClr val="tx2"/>
                </a:solidFill>
                <a:latin typeface="Times New Roman" pitchFamily="18" charset="0"/>
                <a:cs typeface="Times New Roman" pitchFamily="18" charset="0"/>
              </a:rPr>
              <a:t>    while(true){</a:t>
            </a:r>
          </a:p>
          <a:p>
            <a:pPr marL="0" lvl="1"/>
            <a:r>
              <a:rPr lang="en-US" altLang="zh-CN" dirty="0">
                <a:solidFill>
                  <a:schemeClr val="tx2"/>
                </a:solidFill>
                <a:latin typeface="Times New Roman" pitchFamily="18" charset="0"/>
                <a:cs typeface="Times New Roman" pitchFamily="18" charset="0"/>
              </a:rPr>
              <a:t>        try (Socket </a:t>
            </a:r>
            <a:r>
              <a:rPr lang="en-US" altLang="zh-CN" b="1" dirty="0">
                <a:solidFill>
                  <a:schemeClr val="tx2"/>
                </a:solidFill>
                <a:latin typeface="Times New Roman" pitchFamily="18" charset="0"/>
                <a:cs typeface="Times New Roman" pitchFamily="18" charset="0"/>
              </a:rPr>
              <a:t>connection=</a:t>
            </a:r>
            <a:r>
              <a:rPr lang="en-US" altLang="zh-CN" b="1" dirty="0" err="1">
                <a:solidFill>
                  <a:schemeClr val="tx2"/>
                </a:solidFill>
                <a:latin typeface="Times New Roman" pitchFamily="18" charset="0"/>
                <a:cs typeface="Times New Roman" pitchFamily="18" charset="0"/>
              </a:rPr>
              <a:t>server.accept</a:t>
            </a:r>
            <a:r>
              <a:rPr lang="en-US" altLang="zh-CN" b="1" dirty="0">
                <a:solidFill>
                  <a:schemeClr val="tx2"/>
                </a:solidFill>
                <a:latin typeface="Times New Roman" pitchFamily="18" charset="0"/>
                <a:cs typeface="Times New Roman" pitchFamily="18" charset="0"/>
              </a:rPr>
              <a:t>()</a:t>
            </a:r>
            <a:r>
              <a:rPr lang="en-US" altLang="zh-CN" dirty="0">
                <a:solidFill>
                  <a:schemeClr val="tx2"/>
                </a:solidFill>
                <a:latin typeface="Times New Roman" pitchFamily="18" charset="0"/>
                <a:cs typeface="Times New Roman" pitchFamily="18" charset="0"/>
              </a:rPr>
              <a:t>){</a:t>
            </a:r>
          </a:p>
          <a:p>
            <a:pPr marL="0" lvl="1"/>
            <a:r>
              <a:rPr lang="en-US" altLang="zh-CN" dirty="0">
                <a:solidFill>
                  <a:schemeClr val="tx2"/>
                </a:solidFill>
                <a:latin typeface="Times New Roman" pitchFamily="18" charset="0"/>
                <a:cs typeface="Times New Roman" pitchFamily="18" charset="0"/>
              </a:rPr>
              <a:t>	Writer out=new </a:t>
            </a:r>
            <a:r>
              <a:rPr lang="en-US" altLang="zh-CN" dirty="0" err="1">
                <a:solidFill>
                  <a:schemeClr val="tx2"/>
                </a:solidFill>
                <a:latin typeface="Times New Roman" pitchFamily="18" charset="0"/>
                <a:cs typeface="Times New Roman" pitchFamily="18" charset="0"/>
              </a:rPr>
              <a:t>OutputStreamWriter</a:t>
            </a:r>
            <a:r>
              <a:rPr lang="en-US" altLang="zh-CN" dirty="0">
                <a:solidFill>
                  <a:schemeClr val="tx2"/>
                </a:solidFill>
                <a:latin typeface="Times New Roman" pitchFamily="18" charset="0"/>
                <a:cs typeface="Times New Roman" pitchFamily="18" charset="0"/>
              </a:rPr>
              <a:t>(</a:t>
            </a:r>
            <a:r>
              <a:rPr lang="en-US" altLang="zh-CN" dirty="0" err="1">
                <a:solidFill>
                  <a:schemeClr val="tx2"/>
                </a:solidFill>
                <a:latin typeface="Times New Roman" pitchFamily="18" charset="0"/>
                <a:cs typeface="Times New Roman" pitchFamily="18" charset="0"/>
              </a:rPr>
              <a:t>connection.getOutputStream</a:t>
            </a:r>
            <a:r>
              <a:rPr lang="en-US" altLang="zh-CN" dirty="0">
                <a:solidFill>
                  <a:schemeClr val="tx2"/>
                </a:solidFill>
                <a:latin typeface="Times New Roman" pitchFamily="18" charset="0"/>
                <a:cs typeface="Times New Roman" pitchFamily="18" charset="0"/>
              </a:rPr>
              <a:t>());</a:t>
            </a:r>
          </a:p>
          <a:p>
            <a:pPr marL="0" lvl="1"/>
            <a:r>
              <a:rPr lang="en-US" altLang="zh-CN" dirty="0">
                <a:solidFill>
                  <a:schemeClr val="tx2"/>
                </a:solidFill>
                <a:latin typeface="Times New Roman" pitchFamily="18" charset="0"/>
                <a:cs typeface="Times New Roman" pitchFamily="18" charset="0"/>
              </a:rPr>
              <a:t>	Date </a:t>
            </a:r>
            <a:r>
              <a:rPr lang="en-US" altLang="zh-CN" b="1" dirty="0">
                <a:solidFill>
                  <a:schemeClr val="tx2"/>
                </a:solidFill>
                <a:latin typeface="Times New Roman" pitchFamily="18" charset="0"/>
                <a:cs typeface="Times New Roman" pitchFamily="18" charset="0"/>
              </a:rPr>
              <a:t>now=new Date</a:t>
            </a:r>
            <a:r>
              <a:rPr lang="en-US" altLang="zh-CN" dirty="0">
                <a:solidFill>
                  <a:schemeClr val="tx2"/>
                </a:solidFill>
                <a:latin typeface="Times New Roman" pitchFamily="18" charset="0"/>
                <a:cs typeface="Times New Roman" pitchFamily="18" charset="0"/>
              </a:rPr>
              <a:t>();</a:t>
            </a:r>
          </a:p>
          <a:p>
            <a:pPr marL="0" lvl="1"/>
            <a:r>
              <a:rPr lang="en-US" altLang="zh-CN" dirty="0">
                <a:solidFill>
                  <a:schemeClr val="tx2"/>
                </a:solidFill>
                <a:latin typeface="Times New Roman" pitchFamily="18" charset="0"/>
                <a:cs typeface="Times New Roman" pitchFamily="18" charset="0"/>
              </a:rPr>
              <a:t>	</a:t>
            </a:r>
            <a:r>
              <a:rPr lang="en-US" altLang="zh-CN" b="1" dirty="0" err="1">
                <a:solidFill>
                  <a:schemeClr val="tx2"/>
                </a:solidFill>
                <a:latin typeface="Times New Roman" pitchFamily="18" charset="0"/>
                <a:cs typeface="Times New Roman" pitchFamily="18" charset="0"/>
              </a:rPr>
              <a:t>out.write</a:t>
            </a:r>
            <a:r>
              <a:rPr lang="en-US" altLang="zh-CN" b="1" dirty="0">
                <a:solidFill>
                  <a:schemeClr val="tx2"/>
                </a:solidFill>
                <a:latin typeface="Times New Roman" pitchFamily="18" charset="0"/>
                <a:cs typeface="Times New Roman" pitchFamily="18" charset="0"/>
              </a:rPr>
              <a:t>(</a:t>
            </a:r>
            <a:r>
              <a:rPr lang="en-US" altLang="zh-CN" b="1" dirty="0" err="1">
                <a:solidFill>
                  <a:schemeClr val="tx2"/>
                </a:solidFill>
                <a:latin typeface="Times New Roman" pitchFamily="18" charset="0"/>
                <a:cs typeface="Times New Roman" pitchFamily="18" charset="0"/>
              </a:rPr>
              <a:t>now.toString</a:t>
            </a:r>
            <a:r>
              <a:rPr lang="en-US" altLang="zh-CN" b="1" dirty="0">
                <a:solidFill>
                  <a:schemeClr val="tx2"/>
                </a:solidFill>
                <a:latin typeface="Times New Roman" pitchFamily="18" charset="0"/>
                <a:cs typeface="Times New Roman" pitchFamily="18" charset="0"/>
              </a:rPr>
              <a:t>()+”\r\n”);</a:t>
            </a:r>
          </a:p>
          <a:p>
            <a:pPr marL="0" lvl="1"/>
            <a:r>
              <a:rPr lang="en-US" altLang="zh-CN" dirty="0">
                <a:solidFill>
                  <a:schemeClr val="tx2"/>
                </a:solidFill>
                <a:latin typeface="Times New Roman" pitchFamily="18" charset="0"/>
                <a:cs typeface="Times New Roman" pitchFamily="18" charset="0"/>
              </a:rPr>
              <a:t>	</a:t>
            </a:r>
            <a:r>
              <a:rPr lang="en-US" altLang="zh-CN" dirty="0" err="1">
                <a:solidFill>
                  <a:schemeClr val="tx2"/>
                </a:solidFill>
                <a:latin typeface="Times New Roman" pitchFamily="18" charset="0"/>
                <a:cs typeface="Times New Roman" pitchFamily="18" charset="0"/>
              </a:rPr>
              <a:t>out.flush</a:t>
            </a:r>
            <a:r>
              <a:rPr lang="en-US" altLang="zh-CN" dirty="0">
                <a:solidFill>
                  <a:schemeClr val="tx2"/>
                </a:solidFill>
                <a:latin typeface="Times New Roman" pitchFamily="18" charset="0"/>
                <a:cs typeface="Times New Roman" pitchFamily="18" charset="0"/>
              </a:rPr>
              <a:t>();</a:t>
            </a:r>
          </a:p>
          <a:p>
            <a:pPr marL="0" lvl="1"/>
            <a:r>
              <a:rPr lang="en-US" altLang="zh-CN" dirty="0">
                <a:solidFill>
                  <a:schemeClr val="tx2"/>
                </a:solidFill>
                <a:latin typeface="Times New Roman" pitchFamily="18" charset="0"/>
                <a:cs typeface="Times New Roman" pitchFamily="18" charset="0"/>
              </a:rPr>
              <a:t>	</a:t>
            </a:r>
            <a:r>
              <a:rPr lang="en-US" altLang="zh-CN" b="1" dirty="0" err="1">
                <a:solidFill>
                  <a:schemeClr val="tx2"/>
                </a:solidFill>
                <a:latin typeface="Times New Roman" pitchFamily="18" charset="0"/>
                <a:cs typeface="Times New Roman" pitchFamily="18" charset="0"/>
              </a:rPr>
              <a:t>connection.close</a:t>
            </a:r>
            <a:r>
              <a:rPr lang="en-US" altLang="zh-CN" b="1" dirty="0">
                <a:solidFill>
                  <a:schemeClr val="tx2"/>
                </a:solidFill>
                <a:latin typeface="Times New Roman" pitchFamily="18" charset="0"/>
                <a:cs typeface="Times New Roman" pitchFamily="18" charset="0"/>
              </a:rPr>
              <a:t>();</a:t>
            </a:r>
          </a:p>
          <a:p>
            <a:pPr marL="0" lvl="1"/>
            <a:r>
              <a:rPr lang="en-US" altLang="zh-CN" dirty="0">
                <a:solidFill>
                  <a:schemeClr val="tx2"/>
                </a:solidFill>
                <a:latin typeface="Times New Roman" pitchFamily="18" charset="0"/>
                <a:cs typeface="Times New Roman" pitchFamily="18" charset="0"/>
              </a:rPr>
              <a:t>        }catch (</a:t>
            </a:r>
            <a:r>
              <a:rPr lang="en-US" altLang="zh-CN" dirty="0" err="1">
                <a:solidFill>
                  <a:schemeClr val="tx2"/>
                </a:solidFill>
                <a:latin typeface="Times New Roman" pitchFamily="18" charset="0"/>
                <a:cs typeface="Times New Roman" pitchFamily="18" charset="0"/>
              </a:rPr>
              <a:t>IOException</a:t>
            </a:r>
            <a:r>
              <a:rPr lang="en-US" altLang="zh-CN" dirty="0">
                <a:solidFill>
                  <a:schemeClr val="tx2"/>
                </a:solidFill>
                <a:latin typeface="Times New Roman" pitchFamily="18" charset="0"/>
                <a:cs typeface="Times New Roman" pitchFamily="18" charset="0"/>
              </a:rPr>
              <a:t> ex){ }</a:t>
            </a:r>
          </a:p>
          <a:p>
            <a:pPr marL="0" lvl="1"/>
            <a:r>
              <a:rPr lang="en-US" altLang="zh-CN" dirty="0">
                <a:solidFill>
                  <a:schemeClr val="tx2"/>
                </a:solidFill>
                <a:latin typeface="Times New Roman" pitchFamily="18" charset="0"/>
                <a:cs typeface="Times New Roman" pitchFamily="18" charset="0"/>
              </a:rPr>
              <a:t>    }</a:t>
            </a:r>
          </a:p>
          <a:p>
            <a:pPr marL="0" lvl="1"/>
            <a:r>
              <a:rPr lang="en-US" altLang="zh-CN" dirty="0">
                <a:solidFill>
                  <a:schemeClr val="tx2"/>
                </a:solidFill>
                <a:latin typeface="Times New Roman" pitchFamily="18" charset="0"/>
                <a:cs typeface="Times New Roman" pitchFamily="18" charset="0"/>
              </a:rPr>
              <a:t>}catch(</a:t>
            </a:r>
            <a:r>
              <a:rPr lang="en-US" altLang="zh-CN" dirty="0" err="1">
                <a:solidFill>
                  <a:schemeClr val="tx2"/>
                </a:solidFill>
                <a:latin typeface="Times New Roman" pitchFamily="18" charset="0"/>
                <a:cs typeface="Times New Roman" pitchFamily="18" charset="0"/>
              </a:rPr>
              <a:t>IOExecption</a:t>
            </a:r>
            <a:r>
              <a:rPr lang="en-US" altLang="zh-CN" dirty="0">
                <a:solidFill>
                  <a:schemeClr val="tx2"/>
                </a:solidFill>
                <a:latin typeface="Times New Roman" pitchFamily="18" charset="0"/>
                <a:cs typeface="Times New Roman" pitchFamily="18" charset="0"/>
              </a:rPr>
              <a:t> ex){…}</a:t>
            </a:r>
          </a:p>
          <a:p>
            <a:endParaRPr lang="zh-CN" altLang="en-US" sz="2400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标题 1"/>
          <p:cNvSpPr>
            <a:spLocks noGrp="1"/>
          </p:cNvSpPr>
          <p:nvPr>
            <p:ph type="title"/>
          </p:nvPr>
        </p:nvSpPr>
        <p:spPr>
          <a:xfrm>
            <a:off x="395536" y="188640"/>
            <a:ext cx="7775575" cy="968152"/>
          </a:xfrm>
        </p:spPr>
        <p:txBody>
          <a:bodyPr anchor="t">
            <a:normAutofit/>
          </a:bodyPr>
          <a:lstStyle/>
          <a:p>
            <a:r>
              <a:rPr lang="zh-CN" altLang="en-US" sz="3600" dirty="0" smtClean="0"/>
              <a:t>使用</a:t>
            </a:r>
            <a:r>
              <a:rPr lang="en-US" altLang="zh-CN" sz="3600" dirty="0" err="1" smtClean="0"/>
              <a:t>ServerSocket</a:t>
            </a:r>
            <a:r>
              <a:rPr lang="en-US" altLang="zh-CN" sz="3600" dirty="0" smtClean="0"/>
              <a:t>-</a:t>
            </a:r>
            <a:r>
              <a:rPr lang="zh-CN" altLang="en-US" sz="3600" dirty="0" smtClean="0"/>
              <a:t>应用实例（</a:t>
            </a:r>
            <a:r>
              <a:rPr lang="en-US" altLang="zh-CN" sz="3600" dirty="0" smtClean="0"/>
              <a:t>1</a:t>
            </a:r>
            <a:r>
              <a:rPr lang="zh-CN" altLang="en-US" sz="3600" dirty="0" smtClean="0"/>
              <a:t>）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179512" y="1556792"/>
            <a:ext cx="8540750" cy="5181600"/>
          </a:xfrm>
        </p:spPr>
        <p:txBody>
          <a:bodyPr>
            <a:normAutofit/>
          </a:bodyPr>
          <a:lstStyle/>
          <a:p>
            <a:pPr>
              <a:defRPr/>
            </a:pPr>
            <a:r>
              <a:rPr lang="zh-CN" altLang="en-US" sz="2000" dirty="0" smtClean="0"/>
              <a:t>提供二进制数据的时间服务器</a:t>
            </a:r>
            <a:endParaRPr lang="en-US" altLang="zh-CN" sz="2000" dirty="0" smtClean="0"/>
          </a:p>
          <a:p>
            <a:pPr lvl="1">
              <a:defRPr/>
            </a:pPr>
            <a:r>
              <a:rPr lang="en-US" altLang="zh-CN" sz="2000" dirty="0" err="1" smtClean="0"/>
              <a:t>OutputStream</a:t>
            </a:r>
            <a:r>
              <a:rPr lang="en-US" altLang="zh-CN" sz="2000" dirty="0" smtClean="0"/>
              <a:t> out=</a:t>
            </a:r>
            <a:r>
              <a:rPr lang="en-US" altLang="zh-CN" sz="2000" dirty="0" err="1" smtClean="0"/>
              <a:t>connection.getOutputStream</a:t>
            </a:r>
            <a:r>
              <a:rPr lang="en-US" altLang="zh-CN" sz="2000" dirty="0" smtClean="0"/>
              <a:t>();</a:t>
            </a:r>
          </a:p>
          <a:p>
            <a:pPr lvl="1">
              <a:defRPr/>
            </a:pPr>
            <a:r>
              <a:rPr lang="en-US" altLang="zh-CN" sz="2000" dirty="0" smtClean="0"/>
              <a:t>byte[] time=new byte[4];  ……</a:t>
            </a:r>
          </a:p>
          <a:p>
            <a:pPr lvl="1">
              <a:defRPr/>
            </a:pPr>
            <a:r>
              <a:rPr lang="en-US" altLang="zh-CN" sz="2000" dirty="0" err="1" smtClean="0"/>
              <a:t>out.write</a:t>
            </a:r>
            <a:r>
              <a:rPr lang="en-US" altLang="zh-CN" sz="2000" dirty="0" smtClean="0"/>
              <a:t>(time) ……</a:t>
            </a:r>
          </a:p>
          <a:p>
            <a:pPr>
              <a:defRPr/>
            </a:pPr>
            <a:endParaRPr lang="en-US" altLang="zh-CN" sz="1800" dirty="0" smtClean="0"/>
          </a:p>
          <a:p>
            <a:pPr>
              <a:defRPr/>
            </a:pPr>
            <a:endParaRPr lang="en-US" altLang="zh-CN" sz="1800" dirty="0"/>
          </a:p>
          <a:p>
            <a:pPr lvl="2">
              <a:defRPr/>
            </a:pPr>
            <a:endParaRPr lang="zh-CN" altLang="en-US" sz="1300" dirty="0" smtClean="0"/>
          </a:p>
        </p:txBody>
      </p:sp>
      <p:sp>
        <p:nvSpPr>
          <p:cNvPr id="9222" name="TextBox 6"/>
          <p:cNvSpPr txBox="1">
            <a:spLocks noChangeArrowheads="1"/>
          </p:cNvSpPr>
          <p:nvPr/>
        </p:nvSpPr>
        <p:spPr bwMode="auto">
          <a:xfrm>
            <a:off x="4067944" y="2291388"/>
            <a:ext cx="5040560" cy="156966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en-US" altLang="zh-CN" sz="1600" dirty="0">
                <a:solidFill>
                  <a:srgbClr val="FF0000"/>
                </a:solidFill>
              </a:rPr>
              <a:t>Ex9-2 </a:t>
            </a:r>
            <a:r>
              <a:rPr lang="en-US" altLang="zh-CN" sz="1600" dirty="0" err="1">
                <a:solidFill>
                  <a:srgbClr val="FF0000"/>
                </a:solidFill>
              </a:rPr>
              <a:t>TimeServer</a:t>
            </a:r>
            <a:endParaRPr lang="en-US" altLang="zh-CN" sz="1600" dirty="0">
              <a:solidFill>
                <a:srgbClr val="FF0000"/>
              </a:solidFill>
            </a:endParaRPr>
          </a:p>
          <a:p>
            <a:r>
              <a:rPr lang="zh-CN" altLang="en-US" sz="1600" dirty="0">
                <a:solidFill>
                  <a:srgbClr val="FF0000"/>
                </a:solidFill>
              </a:rPr>
              <a:t>时间服务器例子</a:t>
            </a:r>
            <a:r>
              <a:rPr lang="en-US" altLang="zh-CN" sz="1600" dirty="0">
                <a:solidFill>
                  <a:srgbClr val="FF0000"/>
                </a:solidFill>
              </a:rPr>
              <a:t>: </a:t>
            </a:r>
            <a:r>
              <a:rPr lang="zh-CN" altLang="en-US" sz="1600" dirty="0">
                <a:solidFill>
                  <a:srgbClr val="FF0000"/>
                </a:solidFill>
              </a:rPr>
              <a:t>一个遵循</a:t>
            </a:r>
            <a:r>
              <a:rPr lang="en-US" altLang="zh-CN" sz="1600" dirty="0">
                <a:solidFill>
                  <a:srgbClr val="FF0000"/>
                </a:solidFill>
              </a:rPr>
              <a:t>RFC868</a:t>
            </a:r>
            <a:r>
              <a:rPr lang="zh-CN" altLang="en-US" sz="1600" dirty="0">
                <a:solidFill>
                  <a:srgbClr val="FF0000"/>
                </a:solidFill>
              </a:rPr>
              <a:t>时间协议的迭代时间服务器。当客户端连接时，服务器发送一个</a:t>
            </a:r>
            <a:r>
              <a:rPr lang="en-US" altLang="zh-CN" sz="1600" dirty="0">
                <a:solidFill>
                  <a:srgbClr val="FF0000"/>
                </a:solidFill>
              </a:rPr>
              <a:t>4</a:t>
            </a:r>
            <a:r>
              <a:rPr lang="zh-CN" altLang="en-US" sz="1600" dirty="0">
                <a:solidFill>
                  <a:srgbClr val="FF0000"/>
                </a:solidFill>
              </a:rPr>
              <a:t>字节大端无符号整数，指出从</a:t>
            </a:r>
            <a:r>
              <a:rPr lang="en-US" altLang="zh-CN" sz="1600" dirty="0">
                <a:solidFill>
                  <a:srgbClr val="FF0000"/>
                </a:solidFill>
              </a:rPr>
              <a:t>GMT1900.1.1 12:00A.M.</a:t>
            </a:r>
            <a:r>
              <a:rPr lang="zh-CN" altLang="en-US" sz="1600" dirty="0">
                <a:solidFill>
                  <a:srgbClr val="FF0000"/>
                </a:solidFill>
              </a:rPr>
              <a:t>后经过的秒数。</a:t>
            </a:r>
            <a:endParaRPr lang="en-US" altLang="zh-CN" sz="1600" dirty="0">
              <a:solidFill>
                <a:srgbClr val="FF0000"/>
              </a:solidFill>
            </a:endParaRPr>
          </a:p>
          <a:p>
            <a:r>
              <a:rPr lang="zh-CN" altLang="en-US" sz="1600" dirty="0">
                <a:solidFill>
                  <a:srgbClr val="FF0000"/>
                </a:solidFill>
              </a:rPr>
              <a:t>接合例子 时间协议客户端 </a:t>
            </a:r>
            <a:r>
              <a:rPr lang="en-US" altLang="zh-CN" sz="1600" dirty="0">
                <a:solidFill>
                  <a:srgbClr val="FF0000"/>
                </a:solidFill>
              </a:rPr>
              <a:t>ex8-3 Time</a:t>
            </a:r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755576" y="3933056"/>
            <a:ext cx="7610846" cy="2937171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92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92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222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 smtClean="0"/>
              <a:t>多线程服务器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 smtClean="0"/>
              <a:t>老式服务器（如</a:t>
            </a:r>
            <a:r>
              <a:rPr lang="en-US" altLang="zh-CN" dirty="0" err="1" smtClean="0"/>
              <a:t>wu-ftpd</a:t>
            </a:r>
            <a:r>
              <a:rPr lang="zh-CN" altLang="en-US" dirty="0" smtClean="0"/>
              <a:t>）创建（</a:t>
            </a:r>
            <a:r>
              <a:rPr lang="en-US" altLang="zh-CN" dirty="0" smtClean="0"/>
              <a:t>fork</a:t>
            </a:r>
            <a:r>
              <a:rPr lang="zh-CN" altLang="en-US" dirty="0" smtClean="0"/>
              <a:t>）新进程</a:t>
            </a:r>
            <a:endParaRPr lang="en-US" altLang="zh-CN" dirty="0" smtClean="0"/>
          </a:p>
          <a:p>
            <a:pPr lvl="1"/>
            <a:r>
              <a:rPr lang="zh-CN" altLang="en-US" dirty="0" smtClean="0"/>
              <a:t>无法处理太多连接，如不能超过</a:t>
            </a:r>
            <a:r>
              <a:rPr lang="en-US" altLang="zh-CN" dirty="0" smtClean="0"/>
              <a:t>400</a:t>
            </a:r>
            <a:r>
              <a:rPr lang="zh-CN" altLang="en-US" dirty="0" smtClean="0"/>
              <a:t>个</a:t>
            </a:r>
            <a:endParaRPr lang="en-US" altLang="zh-CN" dirty="0" smtClean="0"/>
          </a:p>
          <a:p>
            <a:r>
              <a:rPr lang="zh-CN" altLang="en-US" dirty="0" smtClean="0"/>
              <a:t>如果任务简单且快</a:t>
            </a:r>
            <a:r>
              <a:rPr lang="en-US" altLang="zh-CN" dirty="0" smtClean="0"/>
              <a:t>(</a:t>
            </a:r>
            <a:r>
              <a:rPr lang="zh-CN" altLang="en-US" dirty="0" smtClean="0"/>
              <a:t>如</a:t>
            </a:r>
            <a:r>
              <a:rPr lang="en-US" altLang="zh-CN" dirty="0" smtClean="0"/>
              <a:t>Daytime</a:t>
            </a:r>
            <a:r>
              <a:rPr lang="zh-CN" altLang="en-US" dirty="0" smtClean="0"/>
              <a:t>），可单线程</a:t>
            </a:r>
            <a:endParaRPr lang="en-US" altLang="zh-CN" dirty="0" smtClean="0"/>
          </a:p>
          <a:p>
            <a:pPr lvl="1"/>
            <a:r>
              <a:rPr lang="zh-CN" altLang="en-US" dirty="0" smtClean="0"/>
              <a:t>连入请求在系统队列中排队</a:t>
            </a:r>
            <a:endParaRPr lang="en-US" altLang="zh-CN" dirty="0" smtClean="0"/>
          </a:p>
          <a:p>
            <a:pPr lvl="1"/>
            <a:r>
              <a:rPr lang="zh-CN" altLang="en-US" dirty="0" smtClean="0"/>
              <a:t>如果太多，则拒绝后来者</a:t>
            </a:r>
            <a:endParaRPr lang="en-US" altLang="zh-CN" dirty="0" smtClean="0"/>
          </a:p>
          <a:p>
            <a:r>
              <a:rPr lang="zh-CN" altLang="en-US" dirty="0" smtClean="0"/>
              <a:t>为每个连接提供一个线程</a:t>
            </a:r>
            <a:endParaRPr lang="zh-CN" altLang="en-US" dirty="0"/>
          </a:p>
        </p:txBody>
      </p:sp>
    </p:spTree>
    <p:extLst>
      <p:ext uri="{BB962C8B-B14F-4D97-AF65-F5344CB8AC3E}">
        <p14:creationId xmlns="" xmlns:p14="http://schemas.microsoft.com/office/powerpoint/2010/main" val="15855030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195055" y="979715"/>
            <a:ext cx="6573493" cy="3245559"/>
          </a:xfrm>
          <a:prstGeom prst="rect">
            <a:avLst/>
          </a:prstGeom>
          <a:ln>
            <a:solidFill>
              <a:schemeClr val="tx1">
                <a:lumMod val="95000"/>
                <a:lumOff val="5000"/>
              </a:schemeClr>
            </a:solidFill>
          </a:ln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3050604" y="3717032"/>
            <a:ext cx="6057900" cy="2847975"/>
          </a:xfrm>
          <a:prstGeom prst="rect">
            <a:avLst/>
          </a:prstGeom>
          <a:ln>
            <a:solidFill>
              <a:schemeClr val="tx1">
                <a:lumMod val="95000"/>
                <a:lumOff val="5000"/>
              </a:schemeClr>
            </a:solidFill>
          </a:ln>
        </p:spPr>
      </p:pic>
      <p:sp>
        <p:nvSpPr>
          <p:cNvPr id="7" name="矩形 6"/>
          <p:cNvSpPr/>
          <p:nvPr/>
        </p:nvSpPr>
        <p:spPr>
          <a:xfrm>
            <a:off x="1053547" y="2236304"/>
            <a:ext cx="5476461" cy="526774"/>
          </a:xfrm>
          <a:prstGeom prst="rect">
            <a:avLst/>
          </a:prstGeom>
          <a:noFill/>
          <a:ln w="3492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标题 1"/>
          <p:cNvSpPr txBox="1">
            <a:spLocks/>
          </p:cNvSpPr>
          <p:nvPr/>
        </p:nvSpPr>
        <p:spPr>
          <a:xfrm>
            <a:off x="395536" y="188640"/>
            <a:ext cx="7775575" cy="968152"/>
          </a:xfrm>
          <a:prstGeom prst="rect">
            <a:avLst/>
          </a:prstGeom>
        </p:spPr>
        <p:txBody>
          <a:bodyPr vert="horz" anchor="t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6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使用</a:t>
            </a:r>
            <a:r>
              <a:rPr kumimoji="0" lang="en-US" altLang="zh-CN" sz="3600" b="0" i="0" u="none" strike="noStrike" kern="1200" cap="none" spc="0" normalizeH="0" baseline="0" noProof="0" dirty="0" err="1" smtClean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ServerSocket</a:t>
            </a:r>
            <a:r>
              <a:rPr kumimoji="0" lang="en-US" altLang="zh-CN" sz="36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-</a:t>
            </a:r>
            <a:r>
              <a:rPr kumimoji="0" lang="zh-CN" altLang="en-US" sz="36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应用实例（</a:t>
            </a:r>
            <a:r>
              <a:rPr kumimoji="0" lang="en-US" altLang="zh-CN" sz="36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2</a:t>
            </a:r>
            <a:r>
              <a:rPr kumimoji="0" lang="zh-CN" altLang="en-US" sz="36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）</a:t>
            </a:r>
          </a:p>
        </p:txBody>
      </p:sp>
      <p:sp>
        <p:nvSpPr>
          <p:cNvPr id="10" name="矩形 9"/>
          <p:cNvSpPr/>
          <p:nvPr/>
        </p:nvSpPr>
        <p:spPr>
          <a:xfrm>
            <a:off x="35496" y="4509120"/>
            <a:ext cx="2808312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dirty="0" smtClean="0">
                <a:solidFill>
                  <a:srgbClr val="FF0000"/>
                </a:solidFill>
              </a:rPr>
              <a:t>Ex9-3 </a:t>
            </a:r>
            <a:r>
              <a:rPr lang="en-US" altLang="zh-CN" dirty="0" err="1" smtClean="0">
                <a:solidFill>
                  <a:srgbClr val="FF0000"/>
                </a:solidFill>
              </a:rPr>
              <a:t>MultithreadDaytimeServer</a:t>
            </a:r>
            <a:endParaRPr lang="en-US" altLang="zh-CN" dirty="0" smtClean="0">
              <a:solidFill>
                <a:srgbClr val="FF0000"/>
              </a:solidFill>
            </a:endParaRPr>
          </a:p>
          <a:p>
            <a:r>
              <a:rPr lang="zh-CN" altLang="en-US" dirty="0" smtClean="0">
                <a:solidFill>
                  <a:srgbClr val="FF0000"/>
                </a:solidFill>
              </a:rPr>
              <a:t>多线程时间服务器例子</a:t>
            </a:r>
            <a:endParaRPr lang="en-US" altLang="zh-CN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="" xmlns:p14="http://schemas.microsoft.com/office/powerpoint/2010/main" val="13871236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10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467544" y="3861048"/>
            <a:ext cx="7734300" cy="1933575"/>
          </a:xfrm>
          <a:prstGeom prst="rect">
            <a:avLst/>
          </a:prstGeom>
        </p:spPr>
      </p:pic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95536" y="1484784"/>
            <a:ext cx="7543800" cy="5135336"/>
          </a:xfrm>
        </p:spPr>
        <p:txBody>
          <a:bodyPr/>
          <a:lstStyle/>
          <a:p>
            <a:pPr lvl="0"/>
            <a:r>
              <a:rPr lang="en-US" altLang="zh-CN" dirty="0" err="1">
                <a:solidFill>
                  <a:srgbClr val="000000">
                    <a:lumMod val="75000"/>
                    <a:lumOff val="25000"/>
                  </a:srgbClr>
                </a:solidFill>
              </a:rPr>
              <a:t>DoS</a:t>
            </a:r>
            <a:r>
              <a:rPr lang="zh-CN" altLang="en-US" dirty="0">
                <a:solidFill>
                  <a:srgbClr val="000000">
                    <a:lumMod val="75000"/>
                    <a:lumOff val="25000"/>
                  </a:srgbClr>
                </a:solidFill>
              </a:rPr>
              <a:t>：</a:t>
            </a:r>
            <a:r>
              <a:rPr lang="en-US" altLang="zh-CN" dirty="0">
                <a:solidFill>
                  <a:srgbClr val="000000">
                    <a:lumMod val="75000"/>
                    <a:lumOff val="25000"/>
                  </a:srgbClr>
                </a:solidFill>
              </a:rPr>
              <a:t>Denial-of-Service</a:t>
            </a:r>
            <a:endParaRPr lang="zh-CN" altLang="en-US" dirty="0">
              <a:solidFill>
                <a:srgbClr val="000000">
                  <a:lumMod val="75000"/>
                  <a:lumOff val="25000"/>
                </a:srgbClr>
              </a:solidFill>
            </a:endParaRPr>
          </a:p>
          <a:p>
            <a:r>
              <a:rPr lang="zh-CN" altLang="en-US" dirty="0" smtClean="0"/>
              <a:t>使用一个固定的线程池</a:t>
            </a:r>
            <a:endParaRPr lang="en-US" altLang="zh-CN" dirty="0" smtClean="0"/>
          </a:p>
          <a:p>
            <a:pPr lvl="1"/>
            <a:r>
              <a:rPr lang="zh-CN" altLang="en-US" dirty="0" smtClean="0"/>
              <a:t>防止资源耗尽；</a:t>
            </a:r>
            <a:endParaRPr lang="en-US" altLang="zh-CN" dirty="0" smtClean="0"/>
          </a:p>
          <a:p>
            <a:pPr lvl="1"/>
            <a:r>
              <a:rPr lang="zh-CN" altLang="en-US" dirty="0" smtClean="0"/>
              <a:t>速度更快</a:t>
            </a:r>
            <a:endParaRPr lang="zh-CN" altLang="en-US" dirty="0"/>
          </a:p>
        </p:txBody>
      </p:sp>
      <p:sp>
        <p:nvSpPr>
          <p:cNvPr id="6" name="矩形 5"/>
          <p:cNvSpPr/>
          <p:nvPr/>
        </p:nvSpPr>
        <p:spPr>
          <a:xfrm>
            <a:off x="6782969" y="6490607"/>
            <a:ext cx="221740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dirty="0"/>
              <a:t>PooledDaytimeServer</a:t>
            </a:r>
          </a:p>
        </p:txBody>
      </p:sp>
      <p:sp>
        <p:nvSpPr>
          <p:cNvPr id="9" name="矩形 8"/>
          <p:cNvSpPr/>
          <p:nvPr/>
        </p:nvSpPr>
        <p:spPr>
          <a:xfrm>
            <a:off x="942468" y="4690164"/>
            <a:ext cx="7259376" cy="566531"/>
          </a:xfrm>
          <a:prstGeom prst="rect">
            <a:avLst/>
          </a:prstGeom>
          <a:noFill/>
          <a:ln w="3492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TextBox 7"/>
          <p:cNvSpPr txBox="1">
            <a:spLocks noChangeArrowheads="1"/>
          </p:cNvSpPr>
          <p:nvPr/>
        </p:nvSpPr>
        <p:spPr bwMode="auto">
          <a:xfrm>
            <a:off x="4860032" y="3140968"/>
            <a:ext cx="3886200" cy="646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altLang="zh-CN" dirty="0">
                <a:solidFill>
                  <a:srgbClr val="FF0000"/>
                </a:solidFill>
              </a:rPr>
              <a:t>Ex9-4 </a:t>
            </a:r>
            <a:r>
              <a:rPr lang="en-US" altLang="zh-CN" dirty="0" err="1">
                <a:solidFill>
                  <a:srgbClr val="FF0000"/>
                </a:solidFill>
              </a:rPr>
              <a:t>PooledDaytimeServer</a:t>
            </a:r>
            <a:endParaRPr lang="en-US" altLang="zh-CN" dirty="0">
              <a:solidFill>
                <a:srgbClr val="FF0000"/>
              </a:solidFill>
            </a:endParaRPr>
          </a:p>
          <a:p>
            <a:r>
              <a:rPr lang="zh-CN" altLang="en-US" dirty="0">
                <a:solidFill>
                  <a:srgbClr val="FF0000"/>
                </a:solidFill>
              </a:rPr>
              <a:t>使用线程池的时间服务器例子</a:t>
            </a:r>
            <a:endParaRPr lang="en-US" altLang="zh-CN" dirty="0">
              <a:solidFill>
                <a:srgbClr val="FF0000"/>
              </a:solidFill>
            </a:endParaRPr>
          </a:p>
        </p:txBody>
      </p:sp>
      <p:sp>
        <p:nvSpPr>
          <p:cNvPr id="10" name="标题 1"/>
          <p:cNvSpPr>
            <a:spLocks noGrp="1"/>
          </p:cNvSpPr>
          <p:nvPr>
            <p:ph type="title"/>
          </p:nvPr>
        </p:nvSpPr>
        <p:spPr>
          <a:xfrm>
            <a:off x="612648" y="228600"/>
            <a:ext cx="8153400" cy="990600"/>
          </a:xfrm>
        </p:spPr>
        <p:txBody>
          <a:bodyPr>
            <a:normAutofit/>
          </a:bodyPr>
          <a:lstStyle/>
          <a:p>
            <a:pPr lvl="0">
              <a:defRPr/>
            </a:pPr>
            <a:r>
              <a:rPr lang="zh-CN" altLang="en-US" sz="3600" dirty="0" smtClean="0"/>
              <a:t>使用</a:t>
            </a:r>
            <a:r>
              <a:rPr lang="en-US" altLang="zh-CN" sz="3600" dirty="0" err="1" smtClean="0"/>
              <a:t>ServerSocket</a:t>
            </a:r>
            <a:r>
              <a:rPr lang="en-US" altLang="zh-CN" sz="3600" dirty="0" smtClean="0"/>
              <a:t>-</a:t>
            </a:r>
            <a:r>
              <a:rPr lang="zh-CN" altLang="en-US" sz="3600" dirty="0" smtClean="0"/>
              <a:t>应用实例（</a:t>
            </a:r>
            <a:r>
              <a:rPr lang="en-US" altLang="zh-CN" sz="3600" dirty="0" smtClean="0"/>
              <a:t>3</a:t>
            </a:r>
            <a:r>
              <a:rPr lang="zh-CN" altLang="en-US" sz="3600" dirty="0" smtClean="0"/>
              <a:t>）</a:t>
            </a:r>
          </a:p>
        </p:txBody>
      </p:sp>
    </p:spTree>
    <p:extLst>
      <p:ext uri="{BB962C8B-B14F-4D97-AF65-F5344CB8AC3E}">
        <p14:creationId xmlns="" xmlns:p14="http://schemas.microsoft.com/office/powerpoint/2010/main" val="9325859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lvl="0">
              <a:defRPr/>
            </a:pPr>
            <a:r>
              <a:rPr lang="zh-CN" altLang="en-US" sz="3600" dirty="0" smtClean="0"/>
              <a:t>使用</a:t>
            </a:r>
            <a:r>
              <a:rPr lang="en-US" altLang="zh-CN" sz="3600" dirty="0" err="1" smtClean="0"/>
              <a:t>ServerSocket</a:t>
            </a:r>
            <a:r>
              <a:rPr lang="en-US" altLang="zh-CN" sz="3600" dirty="0" smtClean="0"/>
              <a:t>-</a:t>
            </a:r>
            <a:r>
              <a:rPr lang="zh-CN" altLang="en-US" sz="3600" dirty="0" smtClean="0"/>
              <a:t>应用实例（</a:t>
            </a:r>
            <a:r>
              <a:rPr lang="en-US" altLang="zh-CN" sz="3600" dirty="0" smtClean="0"/>
              <a:t>3</a:t>
            </a:r>
            <a:r>
              <a:rPr lang="zh-CN" altLang="en-US" sz="3600" dirty="0" smtClean="0"/>
              <a:t>）</a:t>
            </a: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275271" y="1813477"/>
            <a:ext cx="8639175" cy="4324350"/>
          </a:xfrm>
          <a:prstGeom prst="rect">
            <a:avLst/>
          </a:prstGeom>
        </p:spPr>
      </p:pic>
      <p:sp>
        <p:nvSpPr>
          <p:cNvPr id="5" name="矩形 4"/>
          <p:cNvSpPr/>
          <p:nvPr/>
        </p:nvSpPr>
        <p:spPr>
          <a:xfrm>
            <a:off x="3164142" y="1648475"/>
            <a:ext cx="5476461" cy="526774"/>
          </a:xfrm>
          <a:prstGeom prst="rect">
            <a:avLst/>
          </a:prstGeom>
          <a:noFill/>
          <a:ln w="3492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矩形 5"/>
          <p:cNvSpPr/>
          <p:nvPr/>
        </p:nvSpPr>
        <p:spPr>
          <a:xfrm>
            <a:off x="425912" y="4363278"/>
            <a:ext cx="3152176" cy="318052"/>
          </a:xfrm>
          <a:prstGeom prst="rect">
            <a:avLst/>
          </a:prstGeom>
          <a:noFill/>
          <a:ln w="3492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="" xmlns:p14="http://schemas.microsoft.com/office/powerpoint/2010/main" val="32527521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标题 1"/>
          <p:cNvSpPr>
            <a:spLocks noGrp="1"/>
          </p:cNvSpPr>
          <p:nvPr>
            <p:ph type="title"/>
          </p:nvPr>
        </p:nvSpPr>
        <p:spPr>
          <a:xfrm>
            <a:off x="457200" y="228600"/>
            <a:ext cx="7775575" cy="968152"/>
          </a:xfrm>
        </p:spPr>
        <p:txBody>
          <a:bodyPr anchor="t">
            <a:noAutofit/>
          </a:bodyPr>
          <a:lstStyle/>
          <a:p>
            <a:r>
              <a:rPr lang="zh-CN" altLang="en-US" sz="3600" dirty="0" smtClean="0"/>
              <a:t>使用</a:t>
            </a:r>
            <a:r>
              <a:rPr lang="en-US" altLang="zh-CN" sz="3600" dirty="0" err="1" smtClean="0"/>
              <a:t>ServerSocket</a:t>
            </a:r>
            <a:endParaRPr lang="zh-CN" altLang="en-US" sz="3600" dirty="0" smtClean="0"/>
          </a:p>
        </p:txBody>
      </p:sp>
      <p:sp>
        <p:nvSpPr>
          <p:cNvPr id="10243" name="内容占位符 2"/>
          <p:cNvSpPr>
            <a:spLocks noGrp="1"/>
          </p:cNvSpPr>
          <p:nvPr>
            <p:ph idx="1"/>
          </p:nvPr>
        </p:nvSpPr>
        <p:spPr>
          <a:xfrm>
            <a:off x="381000" y="1700808"/>
            <a:ext cx="8763000" cy="4498975"/>
          </a:xfrm>
        </p:spPr>
        <p:txBody>
          <a:bodyPr/>
          <a:lstStyle/>
          <a:p>
            <a:r>
              <a:rPr lang="zh-CN" altLang="en-US" sz="2800" dirty="0" smtClean="0">
                <a:latin typeface="Times New Roman" pitchFamily="18" charset="0"/>
                <a:cs typeface="Times New Roman" pitchFamily="18" charset="0"/>
              </a:rPr>
              <a:t>用</a:t>
            </a:r>
            <a:r>
              <a:rPr lang="en-US" altLang="zh-CN" sz="2800" dirty="0" smtClean="0">
                <a:latin typeface="Times New Roman" pitchFamily="18" charset="0"/>
                <a:cs typeface="Times New Roman" pitchFamily="18" charset="0"/>
              </a:rPr>
              <a:t>Socket</a:t>
            </a:r>
            <a:r>
              <a:rPr lang="zh-CN" altLang="en-US" sz="2800" dirty="0" smtClean="0">
                <a:latin typeface="Times New Roman" pitchFamily="18" charset="0"/>
                <a:cs typeface="Times New Roman" pitchFamily="18" charset="0"/>
              </a:rPr>
              <a:t>写入服务器</a:t>
            </a:r>
            <a:endParaRPr lang="en-US" altLang="zh-CN" sz="2800" dirty="0" smtClean="0">
              <a:latin typeface="Times New Roman" pitchFamily="18" charset="0"/>
              <a:cs typeface="Times New Roman" pitchFamily="18" charset="0"/>
            </a:endParaRPr>
          </a:p>
          <a:p>
            <a:pPr lvl="1"/>
            <a:r>
              <a:rPr lang="en-US" altLang="zh-CN" sz="2400" dirty="0" smtClean="0">
                <a:latin typeface="Times New Roman" pitchFamily="18" charset="0"/>
                <a:cs typeface="Times New Roman" pitchFamily="18" charset="0"/>
              </a:rPr>
              <a:t>echo</a:t>
            </a:r>
            <a:r>
              <a:rPr lang="zh-CN" altLang="en-US" sz="2400" dirty="0" smtClean="0">
                <a:latin typeface="Times New Roman" pitchFamily="18" charset="0"/>
                <a:cs typeface="Times New Roman" pitchFamily="18" charset="0"/>
              </a:rPr>
              <a:t>服务器 ，</a:t>
            </a:r>
            <a:r>
              <a:rPr lang="en-US" altLang="zh-CN" sz="2400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ex9-5 </a:t>
            </a:r>
            <a:r>
              <a:rPr lang="en-US" altLang="zh-CN" sz="2400" dirty="0" err="1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EchoServer</a:t>
            </a:r>
            <a:endParaRPr lang="en-US" altLang="zh-CN" sz="2400" dirty="0" smtClean="0">
              <a:solidFill>
                <a:srgbClr val="FF0000"/>
              </a:solidFill>
              <a:latin typeface="Times New Roman" pitchFamily="18" charset="0"/>
              <a:cs typeface="Times New Roman" pitchFamily="18" charset="0"/>
            </a:endParaRPr>
          </a:p>
          <a:p>
            <a:pPr lvl="1"/>
            <a:r>
              <a:rPr lang="zh-CN" altLang="en-US" sz="2000" dirty="0" smtClean="0">
                <a:latin typeface="Times New Roman" pitchFamily="18" charset="0"/>
                <a:cs typeface="Times New Roman" pitchFamily="18" charset="0"/>
              </a:rPr>
              <a:t>需服务器端程序接受一个连接，同时获取该连接的输入流和输出流。</a:t>
            </a:r>
            <a:endParaRPr lang="en-US" altLang="zh-CN" sz="2000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zh-CN" altLang="en-US" sz="2800" dirty="0" smtClean="0">
                <a:latin typeface="Times New Roman" pitchFamily="18" charset="0"/>
                <a:cs typeface="Times New Roman" pitchFamily="18" charset="0"/>
              </a:rPr>
              <a:t>关闭服务器</a:t>
            </a:r>
            <a:r>
              <a:rPr lang="en-US" altLang="zh-CN" sz="2800" dirty="0" smtClean="0">
                <a:latin typeface="Times New Roman" pitchFamily="18" charset="0"/>
                <a:cs typeface="Times New Roman" pitchFamily="18" charset="0"/>
              </a:rPr>
              <a:t>Socket</a:t>
            </a:r>
          </a:p>
          <a:p>
            <a:pPr lvl="1"/>
            <a:r>
              <a:rPr lang="zh-CN" altLang="en-US" sz="2400" dirty="0" smtClean="0">
                <a:latin typeface="Times New Roman" pitchFamily="18" charset="0"/>
                <a:cs typeface="Times New Roman" pitchFamily="18" charset="0"/>
              </a:rPr>
              <a:t>注意区分关闭</a:t>
            </a:r>
            <a:r>
              <a:rPr lang="en-US" altLang="zh-CN" sz="2400" dirty="0" smtClean="0">
                <a:latin typeface="Times New Roman" pitchFamily="18" charset="0"/>
                <a:cs typeface="Times New Roman" pitchFamily="18" charset="0"/>
              </a:rPr>
              <a:t>Socket</a:t>
            </a:r>
            <a:r>
              <a:rPr lang="zh-CN" altLang="en-US" sz="2400" dirty="0" smtClean="0">
                <a:latin typeface="Times New Roman" pitchFamily="18" charset="0"/>
                <a:cs typeface="Times New Roman" pitchFamily="18" charset="0"/>
              </a:rPr>
              <a:t>与关闭</a:t>
            </a:r>
            <a:r>
              <a:rPr lang="en-US" altLang="zh-CN" sz="2400" dirty="0" err="1" smtClean="0">
                <a:latin typeface="Times New Roman" pitchFamily="18" charset="0"/>
                <a:cs typeface="Times New Roman" pitchFamily="18" charset="0"/>
              </a:rPr>
              <a:t>ServerSocket</a:t>
            </a:r>
            <a:endParaRPr lang="en-US" altLang="zh-CN" sz="2400" dirty="0" smtClean="0">
              <a:latin typeface="Times New Roman" pitchFamily="18" charset="0"/>
              <a:cs typeface="Times New Roman" pitchFamily="18" charset="0"/>
            </a:endParaRPr>
          </a:p>
          <a:p>
            <a:pPr lvl="1"/>
            <a:r>
              <a:rPr lang="en-US" altLang="zh-CN" sz="2400" dirty="0" err="1" smtClean="0">
                <a:latin typeface="Times New Roman" pitchFamily="18" charset="0"/>
                <a:cs typeface="Times New Roman" pitchFamily="18" charset="0"/>
              </a:rPr>
              <a:t>isClosed</a:t>
            </a:r>
            <a:r>
              <a:rPr lang="en-US" altLang="zh-CN" sz="2400" dirty="0" smtClean="0">
                <a:latin typeface="Times New Roman" pitchFamily="18" charset="0"/>
                <a:cs typeface="Times New Roman" pitchFamily="18" charset="0"/>
              </a:rPr>
              <a:t>()</a:t>
            </a:r>
            <a:r>
              <a:rPr lang="zh-CN" altLang="en-US" sz="2400" dirty="0" smtClean="0">
                <a:latin typeface="Times New Roman" pitchFamily="18" charset="0"/>
                <a:cs typeface="Times New Roman" pitchFamily="18" charset="0"/>
              </a:rPr>
              <a:t>与</a:t>
            </a:r>
            <a:r>
              <a:rPr lang="en-US" altLang="zh-CN" sz="2400" dirty="0" err="1" smtClean="0">
                <a:latin typeface="Times New Roman" pitchFamily="18" charset="0"/>
                <a:cs typeface="Times New Roman" pitchFamily="18" charset="0"/>
              </a:rPr>
              <a:t>isBound</a:t>
            </a:r>
            <a:r>
              <a:rPr lang="en-US" altLang="zh-CN" sz="2400" dirty="0" smtClean="0">
                <a:latin typeface="Times New Roman" pitchFamily="18" charset="0"/>
                <a:cs typeface="Times New Roman" pitchFamily="18" charset="0"/>
              </a:rPr>
              <a:t>()</a:t>
            </a:r>
          </a:p>
          <a:p>
            <a:pPr lvl="1"/>
            <a:r>
              <a:rPr lang="en-US" altLang="zh-CN" sz="2400" dirty="0" err="1" smtClean="0">
                <a:latin typeface="Times New Roman" pitchFamily="18" charset="0"/>
                <a:cs typeface="Times New Roman" pitchFamily="18" charset="0"/>
              </a:rPr>
              <a:t>isOpen</a:t>
            </a:r>
            <a:endParaRPr lang="en-US" altLang="zh-CN" sz="2400" dirty="0" smtClean="0">
              <a:latin typeface="Times New Roman" pitchFamily="18" charset="0"/>
              <a:cs typeface="Times New Roman" pitchFamily="18" charset="0"/>
            </a:endParaRPr>
          </a:p>
          <a:p>
            <a:pPr lvl="2"/>
            <a:r>
              <a:rPr lang="en-US" altLang="zh-CN" sz="2000" dirty="0" err="1" smtClean="0">
                <a:latin typeface="Times New Roman" pitchFamily="18" charset="0"/>
                <a:cs typeface="Times New Roman" pitchFamily="18" charset="0"/>
              </a:rPr>
              <a:t>ss.isBound</a:t>
            </a:r>
            <a:r>
              <a:rPr lang="en-US" altLang="zh-CN" sz="2000" dirty="0" smtClean="0">
                <a:latin typeface="Times New Roman" pitchFamily="18" charset="0"/>
                <a:cs typeface="Times New Roman" pitchFamily="18" charset="0"/>
              </a:rPr>
              <a:t> &amp;&amp; !</a:t>
            </a:r>
            <a:r>
              <a:rPr lang="en-US" altLang="zh-CN" sz="2000" dirty="0" err="1" smtClean="0">
                <a:latin typeface="Times New Roman" pitchFamily="18" charset="0"/>
                <a:cs typeface="Times New Roman" pitchFamily="18" charset="0"/>
              </a:rPr>
              <a:t>ss.isClosed</a:t>
            </a:r>
            <a:r>
              <a:rPr lang="en-US" altLang="zh-CN" sz="2000" dirty="0" smtClean="0">
                <a:latin typeface="Times New Roman" pitchFamily="18" charset="0"/>
                <a:cs typeface="Times New Roman" pitchFamily="18" charset="0"/>
              </a:rPr>
              <a:t>()</a:t>
            </a:r>
            <a:endParaRPr lang="zh-CN" altLang="en-US" sz="2000" dirty="0" smtClean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02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02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024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024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024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1024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1024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1024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1024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1024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1024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1024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024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024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1024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1024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标题 1"/>
          <p:cNvSpPr>
            <a:spLocks noGrp="1"/>
          </p:cNvSpPr>
          <p:nvPr>
            <p:ph type="title"/>
          </p:nvPr>
        </p:nvSpPr>
        <p:spPr>
          <a:xfrm>
            <a:off x="609600" y="152400"/>
            <a:ext cx="7775575" cy="438150"/>
          </a:xfrm>
        </p:spPr>
        <p:txBody>
          <a:bodyPr anchor="t">
            <a:noAutofit/>
          </a:bodyPr>
          <a:lstStyle/>
          <a:p>
            <a:r>
              <a:rPr lang="zh-CN" altLang="en-US" sz="4800" dirty="0" smtClean="0"/>
              <a:t>服务器日志</a:t>
            </a:r>
          </a:p>
        </p:txBody>
      </p:sp>
      <p:sp>
        <p:nvSpPr>
          <p:cNvPr id="11267" name="内容占位符 2"/>
          <p:cNvSpPr>
            <a:spLocks noGrp="1"/>
          </p:cNvSpPr>
          <p:nvPr>
            <p:ph idx="1"/>
          </p:nvPr>
        </p:nvSpPr>
        <p:spPr>
          <a:xfrm>
            <a:off x="323528" y="1484784"/>
            <a:ext cx="8540750" cy="4498975"/>
          </a:xfrm>
        </p:spPr>
        <p:txBody>
          <a:bodyPr/>
          <a:lstStyle/>
          <a:p>
            <a:r>
              <a:rPr lang="zh-CN" altLang="en-US" sz="2400" dirty="0" smtClean="0">
                <a:latin typeface="Times New Roman" pitchFamily="18" charset="0"/>
                <a:cs typeface="Times New Roman" pitchFamily="18" charset="0"/>
              </a:rPr>
              <a:t>日志记录内容</a:t>
            </a:r>
            <a:endParaRPr lang="en-US" altLang="zh-CN" sz="2400" dirty="0" smtClean="0">
              <a:latin typeface="Times New Roman" pitchFamily="18" charset="0"/>
              <a:cs typeface="Times New Roman" pitchFamily="18" charset="0"/>
            </a:endParaRPr>
          </a:p>
          <a:p>
            <a:pPr lvl="1"/>
            <a:r>
              <a:rPr lang="zh-CN" altLang="en-US" sz="2000" dirty="0" smtClean="0">
                <a:latin typeface="Times New Roman" pitchFamily="18" charset="0"/>
                <a:cs typeface="Times New Roman" pitchFamily="18" charset="0"/>
              </a:rPr>
              <a:t>请求</a:t>
            </a:r>
            <a:endParaRPr lang="en-US" altLang="zh-CN" sz="2000" dirty="0" smtClean="0">
              <a:latin typeface="Times New Roman" pitchFamily="18" charset="0"/>
              <a:cs typeface="Times New Roman" pitchFamily="18" charset="0"/>
            </a:endParaRPr>
          </a:p>
          <a:p>
            <a:pPr lvl="1"/>
            <a:r>
              <a:rPr lang="zh-CN" altLang="en-US" sz="2000" dirty="0" smtClean="0">
                <a:latin typeface="Times New Roman" pitchFamily="18" charset="0"/>
                <a:cs typeface="Times New Roman" pitchFamily="18" charset="0"/>
              </a:rPr>
              <a:t>服务器错误：错误日志一般要重点关注</a:t>
            </a:r>
            <a:endParaRPr lang="en-US" altLang="zh-CN" sz="2000" dirty="0" smtClean="0">
              <a:latin typeface="Times New Roman" pitchFamily="18" charset="0"/>
              <a:cs typeface="Times New Roman" pitchFamily="18" charset="0"/>
            </a:endParaRPr>
          </a:p>
          <a:p>
            <a:pPr lvl="1"/>
            <a:r>
              <a:rPr lang="zh-CN" altLang="en-US" sz="2000" dirty="0" smtClean="0">
                <a:latin typeface="Times New Roman" pitchFamily="18" charset="0"/>
                <a:cs typeface="Times New Roman" pitchFamily="18" charset="0"/>
              </a:rPr>
              <a:t>调试日志和生产日志</a:t>
            </a:r>
            <a:endParaRPr lang="en-US" altLang="zh-CN" sz="2000" dirty="0" smtClean="0">
              <a:latin typeface="Times New Roman" pitchFamily="18" charset="0"/>
              <a:cs typeface="Times New Roman" pitchFamily="18" charset="0"/>
            </a:endParaRPr>
          </a:p>
          <a:p>
            <a:endParaRPr lang="zh-CN" altLang="en-US" sz="2400" dirty="0" smtClean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126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126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126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126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126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126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 smtClean="0"/>
              <a:t>服务器日志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 smtClean="0"/>
              <a:t>日志很重要！</a:t>
            </a:r>
            <a:endParaRPr lang="en-US" altLang="zh-CN" dirty="0" smtClean="0"/>
          </a:p>
          <a:p>
            <a:r>
              <a:rPr lang="zh-CN" altLang="en-US" dirty="0" smtClean="0"/>
              <a:t>记录内容：</a:t>
            </a:r>
            <a:endParaRPr lang="en-US" altLang="zh-CN" dirty="0" smtClean="0"/>
          </a:p>
          <a:p>
            <a:pPr lvl="1"/>
            <a:r>
              <a:rPr lang="zh-CN" altLang="en-US" dirty="0" smtClean="0"/>
              <a:t>请求</a:t>
            </a:r>
            <a:endParaRPr lang="en-US" altLang="zh-CN" dirty="0" smtClean="0"/>
          </a:p>
          <a:p>
            <a:pPr lvl="1"/>
            <a:r>
              <a:rPr lang="zh-CN" altLang="en-US" dirty="0" smtClean="0"/>
              <a:t>服务器错误（仅错误，不是各种无关信息）</a:t>
            </a:r>
            <a:endParaRPr lang="en-US" altLang="zh-CN" dirty="0" smtClean="0"/>
          </a:p>
          <a:p>
            <a:pPr lvl="1"/>
            <a:r>
              <a:rPr lang="zh-CN" altLang="en-US" dirty="0" smtClean="0"/>
              <a:t>记录可以设为不同优先级</a:t>
            </a:r>
            <a:endParaRPr lang="en-US" altLang="zh-CN" dirty="0" smtClean="0"/>
          </a:p>
          <a:p>
            <a:r>
              <a:rPr lang="zh-CN" altLang="en-US" dirty="0" smtClean="0"/>
              <a:t>系统上线后，不应输出调试信息</a:t>
            </a:r>
            <a:endParaRPr lang="en-US" altLang="zh-CN" dirty="0" smtClean="0"/>
          </a:p>
          <a:p>
            <a:r>
              <a:rPr lang="zh-CN" altLang="en-US" dirty="0" smtClean="0"/>
              <a:t>多记录</a:t>
            </a:r>
            <a:r>
              <a:rPr lang="en-US" altLang="zh-CN" dirty="0" err="1" smtClean="0"/>
              <a:t>vs</a:t>
            </a:r>
            <a:r>
              <a:rPr lang="zh-CN" altLang="en-US" dirty="0" smtClean="0"/>
              <a:t>少记录</a:t>
            </a:r>
            <a:endParaRPr lang="en-US" altLang="zh-CN" dirty="0" smtClean="0"/>
          </a:p>
          <a:p>
            <a:pPr lvl="1"/>
            <a:r>
              <a:rPr lang="zh-CN" altLang="en-US" dirty="0" smtClean="0"/>
              <a:t>尽可能多记录信息好么？</a:t>
            </a:r>
            <a:endParaRPr lang="en-US" altLang="zh-CN" dirty="0" smtClean="0"/>
          </a:p>
          <a:p>
            <a:pPr lvl="1"/>
            <a:endParaRPr lang="zh-CN" altLang="en-US" dirty="0"/>
          </a:p>
        </p:txBody>
      </p:sp>
    </p:spTree>
    <p:extLst>
      <p:ext uri="{BB962C8B-B14F-4D97-AF65-F5344CB8AC3E}">
        <p14:creationId xmlns="" xmlns:p14="http://schemas.microsoft.com/office/powerpoint/2010/main" val="19655456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 smtClean="0"/>
              <a:t>如何记录日志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 smtClean="0"/>
              <a:t>Logger</a:t>
            </a:r>
            <a:r>
              <a:rPr lang="zh-CN" altLang="en-US" dirty="0" smtClean="0"/>
              <a:t>类位于包：</a:t>
            </a:r>
            <a:r>
              <a:rPr lang="en-US" altLang="zh-CN" dirty="0" err="1" smtClean="0"/>
              <a:t>java.util.logging</a:t>
            </a:r>
            <a:endParaRPr lang="en-US" altLang="zh-CN" dirty="0" smtClean="0"/>
          </a:p>
          <a:p>
            <a:r>
              <a:rPr lang="zh-CN" altLang="en-US" dirty="0" smtClean="0"/>
              <a:t>用法：</a:t>
            </a:r>
            <a:endParaRPr lang="en-US" altLang="zh-CN" dirty="0" smtClean="0"/>
          </a:p>
          <a:p>
            <a:pPr marL="0" indent="0">
              <a:buNone/>
            </a:pPr>
            <a:r>
              <a:rPr lang="en-US" altLang="zh-CN" sz="2400" b="1" dirty="0">
                <a:solidFill>
                  <a:srgbClr val="006699"/>
                </a:solidFill>
                <a:latin typeface="Courier New" panose="02070309020205020404" pitchFamily="49" charset="0"/>
              </a:rPr>
              <a:t>private</a:t>
            </a:r>
            <a:r>
              <a:rPr lang="en-US" altLang="zh-CN" sz="2400" dirty="0">
                <a:solidFill>
                  <a:srgbClr val="1B1C20"/>
                </a:solidFill>
                <a:latin typeface="Courier New" panose="02070309020205020404" pitchFamily="49" charset="0"/>
              </a:rPr>
              <a:t> </a:t>
            </a:r>
            <a:r>
              <a:rPr lang="en-US" altLang="zh-CN" sz="2400" b="1" dirty="0">
                <a:solidFill>
                  <a:srgbClr val="006699"/>
                </a:solidFill>
                <a:latin typeface="Courier New" panose="02070309020205020404" pitchFamily="49" charset="0"/>
              </a:rPr>
              <a:t>final</a:t>
            </a:r>
            <a:r>
              <a:rPr lang="en-US" altLang="zh-CN" sz="2400" dirty="0">
                <a:solidFill>
                  <a:srgbClr val="1B1C20"/>
                </a:solidFill>
                <a:latin typeface="Courier New" panose="02070309020205020404" pitchFamily="49" charset="0"/>
              </a:rPr>
              <a:t> </a:t>
            </a:r>
            <a:r>
              <a:rPr lang="en-US" altLang="zh-CN" sz="2400" b="1" dirty="0">
                <a:solidFill>
                  <a:srgbClr val="006699"/>
                </a:solidFill>
                <a:latin typeface="Courier New" panose="02070309020205020404" pitchFamily="49" charset="0"/>
              </a:rPr>
              <a:t>static</a:t>
            </a:r>
            <a:r>
              <a:rPr lang="en-US" altLang="zh-CN" sz="2400" dirty="0">
                <a:solidFill>
                  <a:srgbClr val="1B1C20"/>
                </a:solidFill>
                <a:latin typeface="Courier New" panose="02070309020205020404" pitchFamily="49" charset="0"/>
              </a:rPr>
              <a:t> </a:t>
            </a:r>
            <a:r>
              <a:rPr lang="en-US" altLang="zh-CN" sz="2400" dirty="0">
                <a:solidFill>
                  <a:srgbClr val="000088"/>
                </a:solidFill>
                <a:latin typeface="Courier New" panose="02070309020205020404" pitchFamily="49" charset="0"/>
              </a:rPr>
              <a:t>Logger</a:t>
            </a:r>
            <a:r>
              <a:rPr lang="en-US" altLang="zh-CN" sz="2400" dirty="0">
                <a:solidFill>
                  <a:srgbClr val="1B1C20"/>
                </a:solidFill>
                <a:latin typeface="Courier New" panose="02070309020205020404" pitchFamily="49" charset="0"/>
              </a:rPr>
              <a:t> </a:t>
            </a:r>
            <a:r>
              <a:rPr lang="en-US" altLang="zh-CN" sz="2400" dirty="0" err="1" smtClean="0">
                <a:solidFill>
                  <a:srgbClr val="000088"/>
                </a:solidFill>
                <a:latin typeface="Courier New" panose="02070309020205020404" pitchFamily="49" charset="0"/>
              </a:rPr>
              <a:t>logger</a:t>
            </a:r>
            <a:r>
              <a:rPr lang="en-US" altLang="zh-CN" sz="2400" dirty="0" smtClean="0">
                <a:solidFill>
                  <a:srgbClr val="1B1C20"/>
                </a:solidFill>
                <a:latin typeface="Courier New" panose="02070309020205020404" pitchFamily="49" charset="0"/>
              </a:rPr>
              <a:t> </a:t>
            </a:r>
            <a:r>
              <a:rPr lang="en-US" altLang="zh-CN" sz="2400" dirty="0">
                <a:solidFill>
                  <a:srgbClr val="555555"/>
                </a:solidFill>
                <a:latin typeface="Courier New" panose="02070309020205020404" pitchFamily="49" charset="0"/>
              </a:rPr>
              <a:t>=</a:t>
            </a:r>
            <a:r>
              <a:rPr lang="en-US" altLang="zh-CN" sz="2400" dirty="0">
                <a:solidFill>
                  <a:srgbClr val="1B1C20"/>
                </a:solidFill>
                <a:latin typeface="Courier New" panose="02070309020205020404" pitchFamily="49" charset="0"/>
              </a:rPr>
              <a:t> </a:t>
            </a:r>
            <a:r>
              <a:rPr lang="en-US" altLang="zh-CN" sz="2400" dirty="0" err="1">
                <a:solidFill>
                  <a:srgbClr val="000088"/>
                </a:solidFill>
                <a:latin typeface="Courier New" panose="02070309020205020404" pitchFamily="49" charset="0"/>
              </a:rPr>
              <a:t>Logger</a:t>
            </a:r>
            <a:r>
              <a:rPr lang="en-US" altLang="zh-CN" sz="2400" dirty="0" err="1">
                <a:solidFill>
                  <a:srgbClr val="555555"/>
                </a:solidFill>
                <a:latin typeface="Courier New" panose="02070309020205020404" pitchFamily="49" charset="0"/>
              </a:rPr>
              <a:t>.</a:t>
            </a:r>
            <a:r>
              <a:rPr lang="en-US" altLang="zh-CN" sz="2400" dirty="0" err="1">
                <a:solidFill>
                  <a:srgbClr val="330099"/>
                </a:solidFill>
                <a:latin typeface="Courier New" panose="02070309020205020404" pitchFamily="49" charset="0"/>
              </a:rPr>
              <a:t>getLogger</a:t>
            </a:r>
            <a:r>
              <a:rPr lang="en-US" altLang="zh-CN" sz="2400" dirty="0">
                <a:solidFill>
                  <a:srgbClr val="555555"/>
                </a:solidFill>
                <a:latin typeface="Courier New" panose="02070309020205020404" pitchFamily="49" charset="0"/>
              </a:rPr>
              <a:t>(</a:t>
            </a:r>
            <a:r>
              <a:rPr lang="en-US" altLang="zh-CN" sz="2400" dirty="0">
                <a:solidFill>
                  <a:srgbClr val="CC3300"/>
                </a:solidFill>
                <a:latin typeface="Courier New" panose="02070309020205020404" pitchFamily="49" charset="0"/>
              </a:rPr>
              <a:t>"requests</a:t>
            </a:r>
            <a:r>
              <a:rPr lang="en-US" altLang="zh-CN" sz="2400" dirty="0" smtClean="0">
                <a:solidFill>
                  <a:srgbClr val="CC3300"/>
                </a:solidFill>
                <a:latin typeface="Courier New" panose="02070309020205020404" pitchFamily="49" charset="0"/>
              </a:rPr>
              <a:t>"</a:t>
            </a:r>
            <a:r>
              <a:rPr lang="en-US" altLang="zh-CN" sz="2400" dirty="0" smtClean="0">
                <a:solidFill>
                  <a:srgbClr val="555555"/>
                </a:solidFill>
                <a:latin typeface="Courier New" panose="02070309020205020404" pitchFamily="49" charset="0"/>
              </a:rPr>
              <a:t>);</a:t>
            </a:r>
          </a:p>
          <a:p>
            <a:pPr marL="0" indent="0">
              <a:buNone/>
            </a:pPr>
            <a:r>
              <a:rPr lang="en-US" altLang="zh-CN" sz="2400" dirty="0" smtClean="0">
                <a:solidFill>
                  <a:srgbClr val="555555"/>
                </a:solidFill>
                <a:latin typeface="Courier New" panose="02070309020205020404" pitchFamily="49" charset="0"/>
              </a:rPr>
              <a:t>……</a:t>
            </a:r>
            <a:endParaRPr lang="en-US" altLang="zh-CN" sz="2400" dirty="0">
              <a:solidFill>
                <a:srgbClr val="555555"/>
              </a:solidFill>
              <a:latin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altLang="zh-CN" sz="2400" b="1" dirty="0">
                <a:solidFill>
                  <a:srgbClr val="006699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catch</a:t>
            </a:r>
            <a:r>
              <a:rPr lang="en-US" altLang="zh-CN" sz="2400" dirty="0">
                <a:solidFill>
                  <a:srgbClr val="1B1C20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 </a:t>
            </a:r>
            <a:r>
              <a:rPr lang="en-US" altLang="zh-CN" sz="2400" dirty="0">
                <a:solidFill>
                  <a:srgbClr val="555555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(</a:t>
            </a:r>
            <a:r>
              <a:rPr lang="en-US" altLang="zh-CN" sz="2400" dirty="0" err="1">
                <a:solidFill>
                  <a:srgbClr val="000088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RuntimeException</a:t>
            </a:r>
            <a:r>
              <a:rPr lang="en-US" altLang="zh-CN" sz="2400" dirty="0">
                <a:solidFill>
                  <a:srgbClr val="1B1C20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 </a:t>
            </a:r>
            <a:r>
              <a:rPr lang="en-US" altLang="zh-CN" sz="2400" dirty="0">
                <a:solidFill>
                  <a:srgbClr val="000088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ex</a:t>
            </a:r>
            <a:r>
              <a:rPr lang="en-US" altLang="zh-CN" sz="2400" dirty="0">
                <a:solidFill>
                  <a:srgbClr val="555555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)</a:t>
            </a:r>
            <a:r>
              <a:rPr lang="en-US" altLang="zh-CN" sz="2400" dirty="0">
                <a:solidFill>
                  <a:srgbClr val="1B1C20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 </a:t>
            </a:r>
            <a:r>
              <a:rPr lang="en-US" altLang="zh-CN" sz="2400" dirty="0">
                <a:solidFill>
                  <a:srgbClr val="555555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{</a:t>
            </a:r>
            <a:endParaRPr lang="en-US" altLang="zh-CN" sz="2400" dirty="0">
              <a:solidFill>
                <a:srgbClr val="000000"/>
              </a:solidFill>
              <a:latin typeface="Simsun" panose="02010600030101010101" pitchFamily="2" charset="-122"/>
              <a:ea typeface="Simsun" panose="02010600030101010101" pitchFamily="2" charset="-122"/>
            </a:endParaRPr>
          </a:p>
          <a:p>
            <a:pPr marL="0" indent="0">
              <a:buNone/>
            </a:pPr>
            <a:r>
              <a:rPr lang="en-US" altLang="zh-CN" sz="2400" dirty="0">
                <a:solidFill>
                  <a:srgbClr val="000088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logger</a:t>
            </a:r>
            <a:r>
              <a:rPr lang="en-US" altLang="zh-CN" sz="2400" dirty="0">
                <a:solidFill>
                  <a:srgbClr val="555555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.</a:t>
            </a:r>
            <a:r>
              <a:rPr lang="en-US" altLang="zh-CN" sz="2400" dirty="0">
                <a:solidFill>
                  <a:srgbClr val="330099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log</a:t>
            </a:r>
            <a:r>
              <a:rPr lang="en-US" altLang="zh-CN" sz="2400" dirty="0">
                <a:solidFill>
                  <a:srgbClr val="555555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(</a:t>
            </a:r>
            <a:r>
              <a:rPr lang="en-US" altLang="zh-CN" sz="2400" dirty="0" err="1">
                <a:solidFill>
                  <a:srgbClr val="000088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Level</a:t>
            </a:r>
            <a:r>
              <a:rPr lang="en-US" altLang="zh-CN" sz="2400" dirty="0" err="1">
                <a:solidFill>
                  <a:srgbClr val="555555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.</a:t>
            </a:r>
            <a:r>
              <a:rPr lang="en-US" altLang="zh-CN" sz="2400" dirty="0" err="1">
                <a:solidFill>
                  <a:srgbClr val="330099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SEVERE</a:t>
            </a:r>
            <a:r>
              <a:rPr lang="en-US" altLang="zh-CN" sz="2400" dirty="0">
                <a:solidFill>
                  <a:srgbClr val="555555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,</a:t>
            </a:r>
            <a:r>
              <a:rPr lang="en-US" altLang="zh-CN" sz="2400" dirty="0">
                <a:solidFill>
                  <a:srgbClr val="1B1C20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 </a:t>
            </a:r>
            <a:r>
              <a:rPr lang="en-US" altLang="zh-CN" sz="2400" dirty="0">
                <a:solidFill>
                  <a:srgbClr val="CC3300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"unexpected error "</a:t>
            </a:r>
            <a:r>
              <a:rPr lang="en-US" altLang="zh-CN" sz="2400" dirty="0">
                <a:solidFill>
                  <a:srgbClr val="1B1C20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 </a:t>
            </a:r>
            <a:r>
              <a:rPr lang="en-US" altLang="zh-CN" sz="2400" dirty="0">
                <a:solidFill>
                  <a:srgbClr val="555555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+</a:t>
            </a:r>
            <a:r>
              <a:rPr lang="en-US" altLang="zh-CN" sz="2400" dirty="0">
                <a:solidFill>
                  <a:srgbClr val="1B1C20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 </a:t>
            </a:r>
            <a:r>
              <a:rPr lang="en-US" altLang="zh-CN" sz="2400" dirty="0" err="1">
                <a:solidFill>
                  <a:srgbClr val="000088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ex</a:t>
            </a:r>
            <a:r>
              <a:rPr lang="en-US" altLang="zh-CN" sz="2400" dirty="0" err="1">
                <a:solidFill>
                  <a:srgbClr val="555555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.</a:t>
            </a:r>
            <a:r>
              <a:rPr lang="en-US" altLang="zh-CN" sz="2400" dirty="0" err="1">
                <a:solidFill>
                  <a:srgbClr val="330099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getMessage</a:t>
            </a:r>
            <a:r>
              <a:rPr lang="en-US" altLang="zh-CN" sz="2400" dirty="0">
                <a:solidFill>
                  <a:srgbClr val="555555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(),</a:t>
            </a:r>
            <a:r>
              <a:rPr lang="en-US" altLang="zh-CN" sz="2400" dirty="0">
                <a:solidFill>
                  <a:srgbClr val="1B1C20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 </a:t>
            </a:r>
            <a:r>
              <a:rPr lang="en-US" altLang="zh-CN" sz="2400" dirty="0">
                <a:solidFill>
                  <a:srgbClr val="000088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ex</a:t>
            </a:r>
            <a:r>
              <a:rPr lang="en-US" altLang="zh-CN" sz="2400" dirty="0">
                <a:solidFill>
                  <a:srgbClr val="555555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);</a:t>
            </a:r>
            <a:endParaRPr lang="en-US" altLang="zh-CN" sz="2400" dirty="0">
              <a:solidFill>
                <a:srgbClr val="000000"/>
              </a:solidFill>
              <a:latin typeface="Simsun" panose="02010600030101010101" pitchFamily="2" charset="-122"/>
              <a:ea typeface="Simsun" panose="02010600030101010101" pitchFamily="2" charset="-122"/>
            </a:endParaRPr>
          </a:p>
          <a:p>
            <a:pPr marL="0" indent="0">
              <a:buNone/>
            </a:pPr>
            <a:r>
              <a:rPr lang="en-US" altLang="zh-CN" sz="2400" dirty="0">
                <a:solidFill>
                  <a:srgbClr val="555555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}</a:t>
            </a:r>
            <a:endParaRPr lang="en-US" altLang="zh-CN" sz="2400" dirty="0">
              <a:solidFill>
                <a:srgbClr val="000000"/>
              </a:solidFill>
              <a:latin typeface="Simsun" panose="02010600030101010101" pitchFamily="2" charset="-122"/>
              <a:ea typeface="Simsun" panose="02010600030101010101" pitchFamily="2" charset="-122"/>
            </a:endParaRPr>
          </a:p>
          <a:p>
            <a:pPr marL="0" indent="0">
              <a:buNone/>
            </a:pPr>
            <a:endParaRPr lang="en-US" altLang="zh-CN" sz="2400" dirty="0" smtClean="0"/>
          </a:p>
          <a:p>
            <a:endParaRPr lang="zh-CN" altLang="en-US" dirty="0"/>
          </a:p>
        </p:txBody>
      </p:sp>
    </p:spTree>
    <p:extLst>
      <p:ext uri="{BB962C8B-B14F-4D97-AF65-F5344CB8AC3E}">
        <p14:creationId xmlns="" xmlns:p14="http://schemas.microsoft.com/office/powerpoint/2010/main" val="32794823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 smtClean="0"/>
              <a:t>日志级别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altLang="zh-CN" dirty="0" err="1" smtClean="0"/>
              <a:t>Level.SEVERE</a:t>
            </a:r>
            <a:r>
              <a:rPr lang="en-US" altLang="zh-CN" dirty="0" smtClean="0"/>
              <a:t>  </a:t>
            </a:r>
            <a:r>
              <a:rPr lang="en-US" altLang="zh-CN" dirty="0"/>
              <a:t>(highest </a:t>
            </a:r>
            <a:r>
              <a:rPr lang="en-US" altLang="zh-CN" dirty="0" smtClean="0"/>
              <a:t>value)</a:t>
            </a:r>
          </a:p>
          <a:p>
            <a:r>
              <a:rPr lang="en-US" altLang="zh-CN" dirty="0" err="1" smtClean="0"/>
              <a:t>Level.WARNING</a:t>
            </a:r>
            <a:endParaRPr lang="en-US" altLang="zh-CN" dirty="0" smtClean="0"/>
          </a:p>
          <a:p>
            <a:r>
              <a:rPr lang="en-US" altLang="zh-CN" dirty="0" smtClean="0"/>
              <a:t>Level.INFO</a:t>
            </a:r>
          </a:p>
          <a:p>
            <a:r>
              <a:rPr lang="en-US" altLang="zh-CN" dirty="0" err="1" smtClean="0"/>
              <a:t>Level.CONFIG</a:t>
            </a:r>
            <a:endParaRPr lang="en-US" altLang="zh-CN" dirty="0" smtClean="0"/>
          </a:p>
          <a:p>
            <a:r>
              <a:rPr lang="en-US" altLang="zh-CN" dirty="0" err="1" smtClean="0"/>
              <a:t>Level.FINE</a:t>
            </a:r>
            <a:endParaRPr lang="en-US" altLang="zh-CN" dirty="0" smtClean="0"/>
          </a:p>
          <a:p>
            <a:r>
              <a:rPr lang="en-US" altLang="zh-CN" dirty="0" err="1" smtClean="0"/>
              <a:t>Level.FINER</a:t>
            </a:r>
            <a:endParaRPr lang="en-US" altLang="zh-CN" dirty="0" smtClean="0"/>
          </a:p>
          <a:p>
            <a:r>
              <a:rPr lang="en-US" altLang="zh-CN" dirty="0" err="1" smtClean="0"/>
              <a:t>Level.FINEST</a:t>
            </a:r>
            <a:endParaRPr lang="en-US" altLang="zh-CN" dirty="0" smtClean="0"/>
          </a:p>
          <a:p>
            <a:pPr marL="0" indent="0">
              <a:buNone/>
            </a:pPr>
            <a:r>
              <a:rPr lang="en-US" altLang="zh-CN" sz="2400" dirty="0">
                <a:solidFill>
                  <a:srgbClr val="000088"/>
                </a:solidFill>
                <a:latin typeface="Courier New" panose="02070309020205020404" pitchFamily="49" charset="0"/>
              </a:rPr>
              <a:t>logger</a:t>
            </a:r>
            <a:r>
              <a:rPr lang="en-US" altLang="zh-CN" sz="2400" dirty="0">
                <a:solidFill>
                  <a:srgbClr val="555555"/>
                </a:solidFill>
                <a:latin typeface="Courier New" panose="02070309020205020404" pitchFamily="49" charset="0"/>
              </a:rPr>
              <a:t>.</a:t>
            </a:r>
            <a:r>
              <a:rPr lang="en-US" altLang="zh-CN" sz="2400" b="1" dirty="0">
                <a:solidFill>
                  <a:srgbClr val="330099"/>
                </a:solidFill>
                <a:latin typeface="Courier New" panose="02070309020205020404" pitchFamily="49" charset="0"/>
              </a:rPr>
              <a:t>info</a:t>
            </a:r>
            <a:r>
              <a:rPr lang="en-US" altLang="zh-CN" sz="2400" dirty="0">
                <a:solidFill>
                  <a:srgbClr val="555555"/>
                </a:solidFill>
                <a:latin typeface="Courier New" panose="02070309020205020404" pitchFamily="49" charset="0"/>
              </a:rPr>
              <a:t>(</a:t>
            </a:r>
            <a:r>
              <a:rPr lang="en-US" altLang="zh-CN" sz="2400" b="1" dirty="0">
                <a:solidFill>
                  <a:srgbClr val="006699"/>
                </a:solidFill>
                <a:latin typeface="Courier New" panose="02070309020205020404" pitchFamily="49" charset="0"/>
              </a:rPr>
              <a:t>new</a:t>
            </a:r>
            <a:r>
              <a:rPr lang="en-US" altLang="zh-CN" sz="2400" dirty="0">
                <a:solidFill>
                  <a:srgbClr val="1B1C20"/>
                </a:solidFill>
                <a:latin typeface="Courier New" panose="02070309020205020404" pitchFamily="49" charset="0"/>
              </a:rPr>
              <a:t> </a:t>
            </a:r>
            <a:r>
              <a:rPr lang="en-US" altLang="zh-CN" sz="2400" dirty="0">
                <a:solidFill>
                  <a:srgbClr val="000088"/>
                </a:solidFill>
                <a:latin typeface="Courier New" panose="02070309020205020404" pitchFamily="49" charset="0"/>
              </a:rPr>
              <a:t>Date</a:t>
            </a:r>
            <a:r>
              <a:rPr lang="en-US" altLang="zh-CN" sz="2400" dirty="0">
                <a:solidFill>
                  <a:srgbClr val="555555"/>
                </a:solidFill>
                <a:latin typeface="Courier New" panose="02070309020205020404" pitchFamily="49" charset="0"/>
              </a:rPr>
              <a:t>()</a:t>
            </a:r>
            <a:r>
              <a:rPr lang="en-US" altLang="zh-CN" sz="2400" dirty="0">
                <a:solidFill>
                  <a:srgbClr val="1B1C20"/>
                </a:solidFill>
                <a:latin typeface="Courier New" panose="02070309020205020404" pitchFamily="49" charset="0"/>
              </a:rPr>
              <a:t> </a:t>
            </a:r>
            <a:r>
              <a:rPr lang="en-US" altLang="zh-CN" sz="2400" dirty="0">
                <a:solidFill>
                  <a:srgbClr val="555555"/>
                </a:solidFill>
                <a:latin typeface="Courier New" panose="02070309020205020404" pitchFamily="49" charset="0"/>
              </a:rPr>
              <a:t>+</a:t>
            </a:r>
            <a:r>
              <a:rPr lang="en-US" altLang="zh-CN" sz="2400" dirty="0">
                <a:solidFill>
                  <a:srgbClr val="1B1C20"/>
                </a:solidFill>
                <a:latin typeface="Courier New" panose="02070309020205020404" pitchFamily="49" charset="0"/>
              </a:rPr>
              <a:t> </a:t>
            </a:r>
            <a:r>
              <a:rPr lang="en-US" altLang="zh-CN" sz="2400" dirty="0">
                <a:solidFill>
                  <a:srgbClr val="CC3300"/>
                </a:solidFill>
                <a:latin typeface="Courier New" panose="02070309020205020404" pitchFamily="49" charset="0"/>
              </a:rPr>
              <a:t>" "</a:t>
            </a:r>
            <a:r>
              <a:rPr lang="en-US" altLang="zh-CN" sz="2400" dirty="0">
                <a:solidFill>
                  <a:srgbClr val="1B1C20"/>
                </a:solidFill>
                <a:latin typeface="Courier New" panose="02070309020205020404" pitchFamily="49" charset="0"/>
              </a:rPr>
              <a:t> </a:t>
            </a:r>
            <a:r>
              <a:rPr lang="en-US" altLang="zh-CN" sz="2400" dirty="0">
                <a:solidFill>
                  <a:srgbClr val="555555"/>
                </a:solidFill>
                <a:latin typeface="Courier New" panose="02070309020205020404" pitchFamily="49" charset="0"/>
              </a:rPr>
              <a:t>+</a:t>
            </a:r>
            <a:r>
              <a:rPr lang="en-US" altLang="zh-CN" sz="2400" dirty="0">
                <a:solidFill>
                  <a:srgbClr val="1B1C20"/>
                </a:solidFill>
                <a:latin typeface="Courier New" panose="02070309020205020404" pitchFamily="49" charset="0"/>
              </a:rPr>
              <a:t> </a:t>
            </a:r>
            <a:r>
              <a:rPr lang="en-US" altLang="zh-CN" sz="2400" dirty="0" err="1">
                <a:solidFill>
                  <a:srgbClr val="000088"/>
                </a:solidFill>
                <a:latin typeface="Courier New" panose="02070309020205020404" pitchFamily="49" charset="0"/>
              </a:rPr>
              <a:t>connection</a:t>
            </a:r>
            <a:r>
              <a:rPr lang="en-US" altLang="zh-CN" sz="2400" dirty="0" err="1">
                <a:solidFill>
                  <a:srgbClr val="555555"/>
                </a:solidFill>
                <a:latin typeface="Courier New" panose="02070309020205020404" pitchFamily="49" charset="0"/>
              </a:rPr>
              <a:t>.</a:t>
            </a:r>
            <a:r>
              <a:rPr lang="en-US" altLang="zh-CN" sz="2400" dirty="0" err="1">
                <a:solidFill>
                  <a:srgbClr val="330099"/>
                </a:solidFill>
                <a:latin typeface="Courier New" panose="02070309020205020404" pitchFamily="49" charset="0"/>
              </a:rPr>
              <a:t>getRemoteSocketAddress</a:t>
            </a:r>
            <a:r>
              <a:rPr lang="en-US" altLang="zh-CN" sz="2400" dirty="0" smtClean="0">
                <a:solidFill>
                  <a:srgbClr val="555555"/>
                </a:solidFill>
                <a:latin typeface="Courier New" panose="02070309020205020404" pitchFamily="49" charset="0"/>
              </a:rPr>
              <a:t>());</a:t>
            </a:r>
          </a:p>
          <a:p>
            <a:pPr lvl="0">
              <a:buClr>
                <a:srgbClr val="E48312"/>
              </a:buClr>
            </a:pPr>
            <a:r>
              <a:rPr lang="zh-CN" altLang="en-US" dirty="0" smtClean="0">
                <a:solidFill>
                  <a:srgbClr val="000000">
                    <a:lumMod val="75000"/>
                    <a:lumOff val="25000"/>
                  </a:srgbClr>
                </a:solidFill>
              </a:rPr>
              <a:t>一般：时间戳和客户地址是必需的</a:t>
            </a:r>
            <a:endParaRPr lang="en-US" altLang="zh-CN" dirty="0">
              <a:solidFill>
                <a:srgbClr val="000000">
                  <a:lumMod val="75000"/>
                  <a:lumOff val="25000"/>
                </a:srgbClr>
              </a:solidFill>
            </a:endParaRPr>
          </a:p>
          <a:p>
            <a:pPr marL="0" indent="0">
              <a:buNone/>
            </a:pPr>
            <a:endParaRPr lang="zh-CN" altLang="en-US" sz="2400" dirty="0"/>
          </a:p>
        </p:txBody>
      </p:sp>
      <p:sp>
        <p:nvSpPr>
          <p:cNvPr id="4" name="矩形 3"/>
          <p:cNvSpPr/>
          <p:nvPr/>
        </p:nvSpPr>
        <p:spPr>
          <a:xfrm>
            <a:off x="6685503" y="6490607"/>
            <a:ext cx="229306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dirty="0"/>
              <a:t>LoggingDaytimeServer</a:t>
            </a:r>
          </a:p>
        </p:txBody>
      </p:sp>
    </p:spTree>
    <p:extLst>
      <p:ext uri="{BB962C8B-B14F-4D97-AF65-F5344CB8AC3E}">
        <p14:creationId xmlns="" xmlns:p14="http://schemas.microsoft.com/office/powerpoint/2010/main" val="28859339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 smtClean="0"/>
              <a:t>日志位置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11560" y="1628800"/>
            <a:ext cx="8153400" cy="4495800"/>
          </a:xfrm>
        </p:spPr>
        <p:txBody>
          <a:bodyPr/>
          <a:lstStyle/>
          <a:p>
            <a:r>
              <a:rPr lang="zh-CN" altLang="en-US" dirty="0" smtClean="0"/>
              <a:t>如何指定日志位置</a:t>
            </a:r>
            <a:endParaRPr lang="en-US" altLang="zh-CN" dirty="0" smtClean="0"/>
          </a:p>
          <a:p>
            <a:pPr lvl="1"/>
            <a:r>
              <a:rPr lang="zh-CN" altLang="en-US" dirty="0" smtClean="0"/>
              <a:t>虚拟机命令：</a:t>
            </a:r>
            <a:r>
              <a:rPr lang="en-US" altLang="zh-CN" sz="2000" dirty="0" smtClean="0"/>
              <a:t>-</a:t>
            </a:r>
            <a:r>
              <a:rPr lang="en-US" altLang="zh-CN" sz="2000" dirty="0" err="1" smtClean="0"/>
              <a:t>Djava.util.logging.config.file</a:t>
            </a:r>
            <a:r>
              <a:rPr lang="en-US" altLang="zh-CN" sz="2000" dirty="0" smtClean="0"/>
              <a:t>=filename</a:t>
            </a:r>
            <a:endParaRPr lang="en-US" altLang="zh-CN" dirty="0" smtClean="0"/>
          </a:p>
          <a:p>
            <a:pPr lvl="1"/>
            <a:r>
              <a:rPr lang="zh-CN" altLang="en-US" dirty="0" smtClean="0"/>
              <a:t>虚拟机配置文件</a:t>
            </a:r>
            <a:endParaRPr lang="en-US" altLang="zh-CN" dirty="0" smtClean="0"/>
          </a:p>
          <a:p>
            <a:pPr lvl="1"/>
            <a:endParaRPr lang="en-US" altLang="zh-CN" dirty="0"/>
          </a:p>
          <a:p>
            <a:pPr lvl="1"/>
            <a:endParaRPr lang="en-US" altLang="zh-CN" dirty="0" smtClean="0"/>
          </a:p>
          <a:p>
            <a:pPr lvl="1"/>
            <a:endParaRPr lang="en-US" altLang="zh-CN" dirty="0" smtClean="0"/>
          </a:p>
          <a:p>
            <a:pPr lvl="1"/>
            <a:endParaRPr lang="en-US" altLang="zh-CN" dirty="0" smtClean="0"/>
          </a:p>
          <a:p>
            <a:pPr lvl="1"/>
            <a:r>
              <a:rPr lang="zh-CN" altLang="en-US" dirty="0" smtClean="0"/>
              <a:t>日志属性文件</a:t>
            </a:r>
            <a:endParaRPr lang="en-US" altLang="zh-CN" dirty="0" smtClean="0"/>
          </a:p>
          <a:p>
            <a:pPr lvl="1"/>
            <a:endParaRPr lang="zh-CN" altLang="en-US" dirty="0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358555" y="3069708"/>
            <a:ext cx="5060760" cy="1583428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822958" y="4681331"/>
            <a:ext cx="8140621" cy="2003356"/>
          </a:xfrm>
          <a:prstGeom prst="rect">
            <a:avLst/>
          </a:prstGeom>
        </p:spPr>
      </p:pic>
    </p:spTree>
    <p:extLst>
      <p:ext uri="{BB962C8B-B14F-4D97-AF65-F5344CB8AC3E}">
        <p14:creationId xmlns="" xmlns:p14="http://schemas.microsoft.com/office/powerpoint/2010/main" val="42448590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标题 1"/>
          <p:cNvSpPr>
            <a:spLocks noGrp="1"/>
          </p:cNvSpPr>
          <p:nvPr>
            <p:ph type="title"/>
          </p:nvPr>
        </p:nvSpPr>
        <p:spPr>
          <a:xfrm>
            <a:off x="685800" y="152400"/>
            <a:ext cx="7775575" cy="972344"/>
          </a:xfrm>
        </p:spPr>
        <p:txBody>
          <a:bodyPr anchor="t">
            <a:noAutofit/>
          </a:bodyPr>
          <a:lstStyle/>
          <a:p>
            <a:r>
              <a:rPr lang="zh-CN" altLang="en-US" sz="3600" dirty="0" smtClean="0"/>
              <a:t>构造服务器</a:t>
            </a:r>
            <a:r>
              <a:rPr lang="en-US" altLang="zh-CN" sz="3600" dirty="0" smtClean="0"/>
              <a:t>Socket</a:t>
            </a:r>
            <a:endParaRPr lang="zh-CN" altLang="en-US" sz="3600" dirty="0" smtClean="0"/>
          </a:p>
        </p:txBody>
      </p:sp>
      <p:sp>
        <p:nvSpPr>
          <p:cNvPr id="12291" name="内容占位符 2"/>
          <p:cNvSpPr>
            <a:spLocks noGrp="1"/>
          </p:cNvSpPr>
          <p:nvPr>
            <p:ph idx="1"/>
          </p:nvPr>
        </p:nvSpPr>
        <p:spPr>
          <a:xfrm>
            <a:off x="251520" y="1556792"/>
            <a:ext cx="8540750" cy="5867400"/>
          </a:xfrm>
        </p:spPr>
        <p:txBody>
          <a:bodyPr>
            <a:normAutofit/>
          </a:bodyPr>
          <a:lstStyle/>
          <a:p>
            <a:r>
              <a:rPr lang="en-US" altLang="zh-CN" sz="2400" dirty="0" smtClean="0">
                <a:solidFill>
                  <a:schemeClr val="tx2"/>
                </a:solidFill>
                <a:latin typeface="Times New Roman" pitchFamily="18" charset="0"/>
                <a:cs typeface="Times New Roman" pitchFamily="18" charset="0"/>
              </a:rPr>
              <a:t>4</a:t>
            </a:r>
            <a:r>
              <a:rPr lang="zh-CN" altLang="en-US" sz="2400" dirty="0" smtClean="0">
                <a:solidFill>
                  <a:schemeClr val="tx2"/>
                </a:solidFill>
                <a:latin typeface="Times New Roman" pitchFamily="18" charset="0"/>
                <a:cs typeface="Times New Roman" pitchFamily="18" charset="0"/>
              </a:rPr>
              <a:t>个构造函数</a:t>
            </a:r>
            <a:endParaRPr lang="en-US" altLang="zh-CN" sz="2400" dirty="0" smtClean="0">
              <a:solidFill>
                <a:schemeClr val="tx2"/>
              </a:solidFill>
              <a:latin typeface="Times New Roman" pitchFamily="18" charset="0"/>
              <a:cs typeface="Times New Roman" pitchFamily="18" charset="0"/>
            </a:endParaRPr>
          </a:p>
          <a:p>
            <a:pPr lvl="1"/>
            <a:r>
              <a:rPr lang="en-US" altLang="zh-CN" sz="2000" dirty="0" err="1" smtClean="0">
                <a:latin typeface="Times New Roman" pitchFamily="18" charset="0"/>
                <a:cs typeface="Times New Roman" pitchFamily="18" charset="0"/>
              </a:rPr>
              <a:t>ServerSocket</a:t>
            </a:r>
            <a:r>
              <a:rPr lang="en-US" altLang="zh-CN" sz="2000" dirty="0" smtClean="0">
                <a:latin typeface="Times New Roman" pitchFamily="18" charset="0"/>
                <a:cs typeface="Times New Roman" pitchFamily="18" charset="0"/>
              </a:rPr>
              <a:t>()</a:t>
            </a:r>
          </a:p>
          <a:p>
            <a:pPr lvl="1"/>
            <a:r>
              <a:rPr lang="en-US" altLang="zh-CN" sz="2000" dirty="0" err="1" smtClean="0">
                <a:latin typeface="Times New Roman" pitchFamily="18" charset="0"/>
                <a:cs typeface="Times New Roman" pitchFamily="18" charset="0"/>
              </a:rPr>
              <a:t>ServerSocket</a:t>
            </a:r>
            <a:r>
              <a:rPr lang="en-US" altLang="zh-CN" sz="2000" dirty="0" smtClean="0">
                <a:latin typeface="Times New Roman" pitchFamily="18" charset="0"/>
                <a:cs typeface="Times New Roman" pitchFamily="18" charset="0"/>
              </a:rPr>
              <a:t>(</a:t>
            </a:r>
            <a:r>
              <a:rPr lang="en-US" altLang="zh-CN" sz="2000" dirty="0" err="1" smtClean="0">
                <a:latin typeface="Times New Roman" pitchFamily="18" charset="0"/>
                <a:cs typeface="Times New Roman" pitchFamily="18" charset="0"/>
              </a:rPr>
              <a:t>int</a:t>
            </a:r>
            <a:r>
              <a:rPr lang="en-US" altLang="zh-CN" sz="2000" dirty="0" smtClean="0">
                <a:latin typeface="Times New Roman" pitchFamily="18" charset="0"/>
                <a:cs typeface="Times New Roman" pitchFamily="18" charset="0"/>
              </a:rPr>
              <a:t> port)</a:t>
            </a:r>
          </a:p>
          <a:p>
            <a:pPr lvl="1"/>
            <a:r>
              <a:rPr lang="en-US" altLang="zh-CN" sz="2000" dirty="0" err="1" smtClean="0">
                <a:latin typeface="Times New Roman" pitchFamily="18" charset="0"/>
                <a:cs typeface="Times New Roman" pitchFamily="18" charset="0"/>
              </a:rPr>
              <a:t>ServerSocket</a:t>
            </a:r>
            <a:r>
              <a:rPr lang="en-US" altLang="zh-CN" sz="2000" dirty="0" smtClean="0">
                <a:latin typeface="Times New Roman" pitchFamily="18" charset="0"/>
                <a:cs typeface="Times New Roman" pitchFamily="18" charset="0"/>
              </a:rPr>
              <a:t>(</a:t>
            </a:r>
            <a:r>
              <a:rPr lang="en-US" altLang="zh-CN" sz="2000" dirty="0" err="1" smtClean="0">
                <a:latin typeface="Times New Roman" pitchFamily="18" charset="0"/>
                <a:cs typeface="Times New Roman" pitchFamily="18" charset="0"/>
              </a:rPr>
              <a:t>int</a:t>
            </a:r>
            <a:r>
              <a:rPr lang="en-US" altLang="zh-CN" sz="2000" dirty="0" smtClean="0">
                <a:latin typeface="Times New Roman" pitchFamily="18" charset="0"/>
                <a:cs typeface="Times New Roman" pitchFamily="18" charset="0"/>
              </a:rPr>
              <a:t> port, </a:t>
            </a:r>
            <a:r>
              <a:rPr lang="en-US" altLang="zh-CN" sz="2000" dirty="0" err="1" smtClean="0">
                <a:latin typeface="Times New Roman" pitchFamily="18" charset="0"/>
                <a:cs typeface="Times New Roman" pitchFamily="18" charset="0"/>
              </a:rPr>
              <a:t>int</a:t>
            </a:r>
            <a:r>
              <a:rPr lang="en-US" altLang="zh-CN" sz="2000" dirty="0" smtClean="0">
                <a:latin typeface="Times New Roman" pitchFamily="18" charset="0"/>
                <a:cs typeface="Times New Roman" pitchFamily="18" charset="0"/>
              </a:rPr>
              <a:t> backlog)</a:t>
            </a:r>
          </a:p>
          <a:p>
            <a:pPr lvl="1"/>
            <a:r>
              <a:rPr lang="en-US" altLang="zh-CN" sz="2000" dirty="0" err="1" smtClean="0">
                <a:latin typeface="Times New Roman" pitchFamily="18" charset="0"/>
                <a:cs typeface="Times New Roman" pitchFamily="18" charset="0"/>
              </a:rPr>
              <a:t>ServerSocket</a:t>
            </a:r>
            <a:r>
              <a:rPr lang="en-US" altLang="zh-CN" sz="2000" dirty="0" smtClean="0">
                <a:latin typeface="Times New Roman" pitchFamily="18" charset="0"/>
                <a:cs typeface="Times New Roman" pitchFamily="18" charset="0"/>
              </a:rPr>
              <a:t>(</a:t>
            </a:r>
            <a:r>
              <a:rPr lang="en-US" altLang="zh-CN" sz="2000" dirty="0" err="1" smtClean="0">
                <a:latin typeface="Times New Roman" pitchFamily="18" charset="0"/>
                <a:cs typeface="Times New Roman" pitchFamily="18" charset="0"/>
              </a:rPr>
              <a:t>int</a:t>
            </a:r>
            <a:r>
              <a:rPr lang="en-US" altLang="zh-CN" sz="2000" dirty="0" smtClean="0">
                <a:latin typeface="Times New Roman" pitchFamily="18" charset="0"/>
                <a:cs typeface="Times New Roman" pitchFamily="18" charset="0"/>
              </a:rPr>
              <a:t> port, </a:t>
            </a:r>
            <a:r>
              <a:rPr lang="en-US" altLang="zh-CN" sz="2000" dirty="0" err="1" smtClean="0">
                <a:latin typeface="Times New Roman" pitchFamily="18" charset="0"/>
                <a:cs typeface="Times New Roman" pitchFamily="18" charset="0"/>
              </a:rPr>
              <a:t>int</a:t>
            </a:r>
            <a:r>
              <a:rPr lang="en-US" altLang="zh-CN" sz="2000" dirty="0" smtClean="0">
                <a:latin typeface="Times New Roman" pitchFamily="18" charset="0"/>
                <a:cs typeface="Times New Roman" pitchFamily="18" charset="0"/>
              </a:rPr>
              <a:t> backlog, </a:t>
            </a:r>
            <a:r>
              <a:rPr lang="en-US" altLang="zh-CN" sz="2000" dirty="0" err="1" smtClean="0">
                <a:latin typeface="Times New Roman" pitchFamily="18" charset="0"/>
                <a:cs typeface="Times New Roman" pitchFamily="18" charset="0"/>
              </a:rPr>
              <a:t>InetAddress</a:t>
            </a:r>
            <a:r>
              <a:rPr lang="en-US" altLang="zh-CN" sz="20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2000" dirty="0" err="1" smtClean="0">
                <a:latin typeface="Times New Roman" pitchFamily="18" charset="0"/>
                <a:cs typeface="Times New Roman" pitchFamily="18" charset="0"/>
              </a:rPr>
              <a:t>bindAddr</a:t>
            </a:r>
            <a:r>
              <a:rPr lang="en-US" altLang="zh-CN" sz="2000" dirty="0" smtClean="0">
                <a:latin typeface="Times New Roman" pitchFamily="18" charset="0"/>
                <a:cs typeface="Times New Roman" pitchFamily="18" charset="0"/>
              </a:rPr>
              <a:t>)</a:t>
            </a:r>
          </a:p>
          <a:p>
            <a:r>
              <a:rPr lang="en-US" altLang="zh-CN" sz="2400" dirty="0" smtClean="0">
                <a:solidFill>
                  <a:schemeClr val="tx2"/>
                </a:solidFill>
                <a:latin typeface="Times New Roman" pitchFamily="18" charset="0"/>
                <a:cs typeface="Times New Roman" pitchFamily="18" charset="0"/>
              </a:rPr>
              <a:t>3</a:t>
            </a:r>
            <a:r>
              <a:rPr lang="zh-CN" altLang="en-US" sz="2400" dirty="0" smtClean="0">
                <a:solidFill>
                  <a:schemeClr val="tx2"/>
                </a:solidFill>
                <a:latin typeface="Times New Roman" pitchFamily="18" charset="0"/>
                <a:cs typeface="Times New Roman" pitchFamily="18" charset="0"/>
              </a:rPr>
              <a:t>个参数</a:t>
            </a:r>
            <a:endParaRPr lang="en-US" altLang="zh-CN" sz="2400" dirty="0" smtClean="0">
              <a:solidFill>
                <a:schemeClr val="tx2"/>
              </a:solidFill>
              <a:latin typeface="Times New Roman" pitchFamily="18" charset="0"/>
              <a:cs typeface="Times New Roman" pitchFamily="18" charset="0"/>
            </a:endParaRPr>
          </a:p>
          <a:p>
            <a:pPr lvl="1"/>
            <a:r>
              <a:rPr lang="zh-CN" altLang="en-US" sz="2000" dirty="0" smtClean="0">
                <a:latin typeface="Times New Roman" pitchFamily="18" charset="0"/>
                <a:cs typeface="Times New Roman" pitchFamily="18" charset="0"/>
              </a:rPr>
              <a:t>监听端口，</a:t>
            </a:r>
            <a:r>
              <a:rPr lang="en-US" altLang="zh-CN" sz="2000" dirty="0" smtClean="0">
                <a:latin typeface="Times New Roman" pitchFamily="18" charset="0"/>
                <a:cs typeface="Times New Roman" pitchFamily="18" charset="0"/>
              </a:rPr>
              <a:t>0</a:t>
            </a:r>
            <a:r>
              <a:rPr lang="zh-CN" altLang="en-US" sz="2000" dirty="0" smtClean="0">
                <a:latin typeface="Times New Roman" pitchFamily="18" charset="0"/>
                <a:cs typeface="Times New Roman" pitchFamily="18" charset="0"/>
              </a:rPr>
              <a:t>表示自动分配</a:t>
            </a:r>
            <a:endParaRPr lang="en-US" altLang="zh-CN" sz="2000" dirty="0" smtClean="0">
              <a:latin typeface="Times New Roman" pitchFamily="18" charset="0"/>
              <a:cs typeface="Times New Roman" pitchFamily="18" charset="0"/>
            </a:endParaRPr>
          </a:p>
          <a:p>
            <a:pPr lvl="1"/>
            <a:r>
              <a:rPr lang="zh-CN" altLang="en-US" sz="2000" dirty="0" smtClean="0">
                <a:latin typeface="Times New Roman" pitchFamily="18" charset="0"/>
                <a:cs typeface="Times New Roman" pitchFamily="18" charset="0"/>
              </a:rPr>
              <a:t>队列长度，</a:t>
            </a:r>
            <a:r>
              <a:rPr lang="en-US" altLang="zh-CN" sz="2000" dirty="0" smtClean="0">
                <a:latin typeface="Times New Roman" pitchFamily="18" charset="0"/>
                <a:cs typeface="Times New Roman" pitchFamily="18" charset="0"/>
              </a:rPr>
              <a:t>&gt;= </a:t>
            </a:r>
            <a:r>
              <a:rPr lang="zh-CN" altLang="en-US" sz="2000" dirty="0" smtClean="0">
                <a:latin typeface="Times New Roman" pitchFamily="18" charset="0"/>
                <a:cs typeface="Times New Roman" pitchFamily="18" charset="0"/>
              </a:rPr>
              <a:t>系统最大队列长度</a:t>
            </a:r>
            <a:endParaRPr lang="en-US" altLang="zh-CN" sz="2000" dirty="0" smtClean="0">
              <a:latin typeface="Times New Roman" pitchFamily="18" charset="0"/>
              <a:cs typeface="Times New Roman" pitchFamily="18" charset="0"/>
            </a:endParaRPr>
          </a:p>
          <a:p>
            <a:pPr lvl="1"/>
            <a:r>
              <a:rPr lang="zh-CN" altLang="en-US" sz="2000" dirty="0" smtClean="0">
                <a:latin typeface="Times New Roman" pitchFamily="18" charset="0"/>
                <a:cs typeface="Times New Roman" pitchFamily="18" charset="0"/>
              </a:rPr>
              <a:t>绑定地址，多</a:t>
            </a:r>
            <a:r>
              <a:rPr lang="en-US" altLang="zh-CN" sz="2000" dirty="0" smtClean="0">
                <a:latin typeface="Times New Roman" pitchFamily="18" charset="0"/>
                <a:cs typeface="Times New Roman" pitchFamily="18" charset="0"/>
              </a:rPr>
              <a:t>IP</a:t>
            </a:r>
            <a:r>
              <a:rPr lang="zh-CN" altLang="en-US" sz="2000" dirty="0" smtClean="0">
                <a:latin typeface="Times New Roman" pitchFamily="18" charset="0"/>
                <a:cs typeface="Times New Roman" pitchFamily="18" charset="0"/>
              </a:rPr>
              <a:t>情况下的特定</a:t>
            </a:r>
            <a:r>
              <a:rPr lang="en-US" altLang="zh-CN" sz="2000" dirty="0" smtClean="0">
                <a:latin typeface="Times New Roman" pitchFamily="18" charset="0"/>
                <a:cs typeface="Times New Roman" pitchFamily="18" charset="0"/>
              </a:rPr>
              <a:t>IP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229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229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229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229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229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229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229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229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229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229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229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229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1229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1229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1229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1229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思考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zh-CN" altLang="en-US" sz="2400" dirty="0" smtClean="0"/>
              <a:t>为何采用</a:t>
            </a:r>
            <a:r>
              <a:rPr lang="en-US" altLang="zh-CN" sz="2400" dirty="0" err="1" smtClean="0"/>
              <a:t>bindAddress</a:t>
            </a:r>
            <a:r>
              <a:rPr lang="zh-CN" altLang="en-US" sz="2400" dirty="0" smtClean="0"/>
              <a:t>参数？</a:t>
            </a:r>
            <a:endParaRPr lang="en-US" altLang="zh-CN" sz="2400" dirty="0" smtClean="0"/>
          </a:p>
          <a:p>
            <a:r>
              <a:rPr lang="en-US" altLang="zh-CN" sz="2400" dirty="0" err="1" smtClean="0">
                <a:solidFill>
                  <a:srgbClr val="000088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InetAddress</a:t>
            </a:r>
            <a:r>
              <a:rPr lang="en-US" altLang="zh-CN" sz="2400" dirty="0" smtClean="0">
                <a:solidFill>
                  <a:srgbClr val="1B1C20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 </a:t>
            </a:r>
            <a:r>
              <a:rPr lang="en-US" altLang="zh-CN" sz="2400" dirty="0" smtClean="0">
                <a:solidFill>
                  <a:srgbClr val="000088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local</a:t>
            </a:r>
            <a:r>
              <a:rPr lang="en-US" altLang="zh-CN" sz="2400" dirty="0" smtClean="0">
                <a:solidFill>
                  <a:srgbClr val="1B1C20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 </a:t>
            </a:r>
            <a:r>
              <a:rPr lang="en-US" altLang="zh-CN" sz="2400" dirty="0" smtClean="0">
                <a:solidFill>
                  <a:srgbClr val="555555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=</a:t>
            </a:r>
            <a:r>
              <a:rPr lang="en-US" altLang="zh-CN" sz="2400" dirty="0" smtClean="0">
                <a:solidFill>
                  <a:srgbClr val="1B1C20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 </a:t>
            </a:r>
            <a:r>
              <a:rPr lang="en-US" altLang="zh-CN" sz="2400" dirty="0" err="1" smtClean="0">
                <a:solidFill>
                  <a:srgbClr val="000088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InetAddress</a:t>
            </a:r>
            <a:r>
              <a:rPr lang="en-US" altLang="zh-CN" sz="2400" dirty="0" err="1" smtClean="0">
                <a:solidFill>
                  <a:srgbClr val="555555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.</a:t>
            </a:r>
            <a:r>
              <a:rPr lang="en-US" altLang="zh-CN" sz="2400" dirty="0" err="1" smtClean="0">
                <a:solidFill>
                  <a:srgbClr val="330099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getByName</a:t>
            </a:r>
            <a:r>
              <a:rPr lang="en-US" altLang="zh-CN" sz="2400" dirty="0" smtClean="0">
                <a:solidFill>
                  <a:srgbClr val="555555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(</a:t>
            </a:r>
            <a:r>
              <a:rPr lang="en-US" altLang="zh-CN" sz="2400" dirty="0" smtClean="0">
                <a:solidFill>
                  <a:srgbClr val="CC3300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"192.168.210.122"</a:t>
            </a:r>
            <a:r>
              <a:rPr lang="en-US" altLang="zh-CN" sz="2400" dirty="0" smtClean="0">
                <a:solidFill>
                  <a:srgbClr val="555555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);</a:t>
            </a:r>
            <a:endParaRPr lang="en-US" altLang="zh-CN" sz="2400" dirty="0" smtClean="0">
              <a:solidFill>
                <a:srgbClr val="000000"/>
              </a:solidFill>
              <a:latin typeface="Simsun" panose="02010600030101010101" pitchFamily="2" charset="-122"/>
              <a:ea typeface="Simsun" panose="02010600030101010101" pitchFamily="2" charset="-122"/>
            </a:endParaRPr>
          </a:p>
          <a:p>
            <a:r>
              <a:rPr lang="en-US" altLang="zh-CN" sz="2400" dirty="0" err="1" smtClean="0">
                <a:solidFill>
                  <a:srgbClr val="000088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ServerSocket</a:t>
            </a:r>
            <a:r>
              <a:rPr lang="en-US" altLang="zh-CN" sz="2400" dirty="0" smtClean="0">
                <a:solidFill>
                  <a:srgbClr val="1B1C20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 </a:t>
            </a:r>
            <a:r>
              <a:rPr lang="en-US" altLang="zh-CN" sz="2400" dirty="0" err="1" smtClean="0">
                <a:solidFill>
                  <a:srgbClr val="000088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httpd</a:t>
            </a:r>
            <a:r>
              <a:rPr lang="en-US" altLang="zh-CN" sz="2400" dirty="0" smtClean="0">
                <a:solidFill>
                  <a:srgbClr val="1B1C20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 </a:t>
            </a:r>
            <a:r>
              <a:rPr lang="en-US" altLang="zh-CN" sz="2400" dirty="0" smtClean="0">
                <a:solidFill>
                  <a:srgbClr val="555555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=</a:t>
            </a:r>
            <a:r>
              <a:rPr lang="en-US" altLang="zh-CN" sz="2400" dirty="0" smtClean="0">
                <a:solidFill>
                  <a:srgbClr val="1B1C20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 </a:t>
            </a:r>
            <a:r>
              <a:rPr lang="en-US" altLang="zh-CN" sz="2400" b="1" dirty="0" smtClean="0">
                <a:solidFill>
                  <a:srgbClr val="006699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new</a:t>
            </a:r>
            <a:r>
              <a:rPr lang="en-US" altLang="zh-CN" sz="2400" dirty="0" smtClean="0">
                <a:solidFill>
                  <a:srgbClr val="1B1C20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 </a:t>
            </a:r>
            <a:r>
              <a:rPr lang="en-US" altLang="zh-CN" sz="2400" dirty="0" err="1" smtClean="0">
                <a:solidFill>
                  <a:srgbClr val="000088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ServerSocket</a:t>
            </a:r>
            <a:r>
              <a:rPr lang="en-US" altLang="zh-CN" sz="2400" dirty="0" smtClean="0">
                <a:solidFill>
                  <a:srgbClr val="555555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(</a:t>
            </a:r>
            <a:r>
              <a:rPr lang="en-US" altLang="zh-CN" sz="2400" dirty="0" smtClean="0">
                <a:solidFill>
                  <a:srgbClr val="FF6600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5776</a:t>
            </a:r>
            <a:r>
              <a:rPr lang="en-US" altLang="zh-CN" sz="2400" dirty="0" smtClean="0">
                <a:solidFill>
                  <a:srgbClr val="555555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,</a:t>
            </a:r>
            <a:r>
              <a:rPr lang="en-US" altLang="zh-CN" sz="2400" dirty="0" smtClean="0">
                <a:solidFill>
                  <a:srgbClr val="1B1C20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 </a:t>
            </a:r>
            <a:r>
              <a:rPr lang="en-US" altLang="zh-CN" sz="2400" dirty="0" smtClean="0">
                <a:solidFill>
                  <a:srgbClr val="FF6600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10</a:t>
            </a:r>
            <a:r>
              <a:rPr lang="en-US" altLang="zh-CN" sz="2400" dirty="0" smtClean="0">
                <a:solidFill>
                  <a:srgbClr val="555555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,</a:t>
            </a:r>
            <a:r>
              <a:rPr lang="en-US" altLang="zh-CN" sz="2400" dirty="0" smtClean="0">
                <a:solidFill>
                  <a:srgbClr val="1B1C20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 </a:t>
            </a:r>
            <a:r>
              <a:rPr lang="en-US" altLang="zh-CN" sz="2400" dirty="0" smtClean="0">
                <a:solidFill>
                  <a:srgbClr val="000088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local</a:t>
            </a:r>
            <a:r>
              <a:rPr lang="en-US" altLang="zh-CN" sz="2400" dirty="0" smtClean="0">
                <a:solidFill>
                  <a:srgbClr val="555555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);</a:t>
            </a:r>
            <a:endParaRPr lang="en-US" altLang="zh-CN" sz="2400" dirty="0" smtClean="0">
              <a:solidFill>
                <a:srgbClr val="000000"/>
              </a:solidFill>
              <a:latin typeface="Simsun" panose="02010600030101010101" pitchFamily="2" charset="-122"/>
              <a:ea typeface="Simsun" panose="02010600030101010101" pitchFamily="2" charset="-122"/>
            </a:endParaRPr>
          </a:p>
          <a:p>
            <a:pPr>
              <a:buNone/>
            </a:pPr>
            <a:endParaRPr lang="zh-CN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构造但不绑定端口</a:t>
            </a:r>
            <a:endParaRPr lang="zh-CN" altLang="en-US" dirty="0"/>
          </a:p>
        </p:txBody>
      </p:sp>
      <p:sp>
        <p:nvSpPr>
          <p:cNvPr id="4" name="矩形 3"/>
          <p:cNvSpPr/>
          <p:nvPr/>
        </p:nvSpPr>
        <p:spPr>
          <a:xfrm>
            <a:off x="107504" y="1772816"/>
            <a:ext cx="7992888" cy="181588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1"/>
            <a:r>
              <a:rPr lang="zh-CN" altLang="en-US" sz="2800" dirty="0" smtClean="0">
                <a:latin typeface="Times New Roman" pitchFamily="18" charset="0"/>
                <a:cs typeface="Times New Roman" pitchFamily="18" charset="0"/>
              </a:rPr>
              <a:t>用于在绑定前设置某些</a:t>
            </a:r>
            <a:r>
              <a:rPr lang="en-US" altLang="zh-CN" sz="2800" dirty="0" smtClean="0">
                <a:latin typeface="Times New Roman" pitchFamily="18" charset="0"/>
                <a:cs typeface="Times New Roman" pitchFamily="18" charset="0"/>
              </a:rPr>
              <a:t>SO</a:t>
            </a:r>
            <a:r>
              <a:rPr lang="zh-CN" altLang="en-US" sz="2800" dirty="0" smtClean="0">
                <a:latin typeface="Times New Roman" pitchFamily="18" charset="0"/>
                <a:cs typeface="Times New Roman" pitchFamily="18" charset="0"/>
              </a:rPr>
              <a:t>选项</a:t>
            </a:r>
            <a:endParaRPr lang="en-US" altLang="zh-CN" sz="2800" dirty="0" smtClean="0">
              <a:latin typeface="Times New Roman" pitchFamily="18" charset="0"/>
              <a:cs typeface="Times New Roman" pitchFamily="18" charset="0"/>
            </a:endParaRPr>
          </a:p>
          <a:p>
            <a:pPr lvl="1"/>
            <a:r>
              <a:rPr lang="en-US" altLang="zh-CN" sz="2800" dirty="0" smtClean="0">
                <a:latin typeface="Times New Roman" pitchFamily="18" charset="0"/>
                <a:cs typeface="Times New Roman" pitchFamily="18" charset="0"/>
              </a:rPr>
              <a:t>void bind(</a:t>
            </a:r>
            <a:r>
              <a:rPr lang="en-US" altLang="zh-CN" sz="2800" dirty="0" err="1" smtClean="0">
                <a:latin typeface="Times New Roman" pitchFamily="18" charset="0"/>
                <a:cs typeface="Times New Roman" pitchFamily="18" charset="0"/>
              </a:rPr>
              <a:t>SocketAddress</a:t>
            </a:r>
            <a:r>
              <a:rPr lang="en-US" altLang="zh-CN" sz="2800" dirty="0" smtClean="0">
                <a:latin typeface="Times New Roman" pitchFamily="18" charset="0"/>
                <a:cs typeface="Times New Roman" pitchFamily="18" charset="0"/>
              </a:rPr>
              <a:t> endpoint)</a:t>
            </a:r>
          </a:p>
          <a:p>
            <a:pPr lvl="1"/>
            <a:r>
              <a:rPr lang="en-US" altLang="zh-CN" sz="2800" dirty="0" smtClean="0">
                <a:latin typeface="Times New Roman" pitchFamily="18" charset="0"/>
                <a:cs typeface="Times New Roman" pitchFamily="18" charset="0"/>
              </a:rPr>
              <a:t>void bind(</a:t>
            </a:r>
            <a:r>
              <a:rPr lang="en-US" altLang="zh-CN" sz="2800" dirty="0" err="1" smtClean="0">
                <a:latin typeface="Times New Roman" pitchFamily="18" charset="0"/>
                <a:cs typeface="Times New Roman" pitchFamily="18" charset="0"/>
              </a:rPr>
              <a:t>SocketAddress</a:t>
            </a:r>
            <a:r>
              <a:rPr lang="en-US" altLang="zh-CN" sz="2800" dirty="0" smtClean="0">
                <a:latin typeface="Times New Roman" pitchFamily="18" charset="0"/>
                <a:cs typeface="Times New Roman" pitchFamily="18" charset="0"/>
              </a:rPr>
              <a:t> endpoint, </a:t>
            </a:r>
            <a:r>
              <a:rPr lang="en-US" altLang="zh-CN" sz="2800" dirty="0" err="1" smtClean="0">
                <a:latin typeface="Times New Roman" pitchFamily="18" charset="0"/>
                <a:cs typeface="Times New Roman" pitchFamily="18" charset="0"/>
              </a:rPr>
              <a:t>int</a:t>
            </a:r>
            <a:r>
              <a:rPr lang="en-US" altLang="zh-CN" sz="2800" dirty="0" smtClean="0">
                <a:latin typeface="Times New Roman" pitchFamily="18" charset="0"/>
                <a:cs typeface="Times New Roman" pitchFamily="18" charset="0"/>
              </a:rPr>
              <a:t> backlog)</a:t>
            </a:r>
          </a:p>
          <a:p>
            <a:pPr lvl="1"/>
            <a:r>
              <a:rPr lang="en-US" altLang="zh-CN" sz="2800" dirty="0" err="1" smtClean="0">
                <a:latin typeface="Times New Roman" pitchFamily="18" charset="0"/>
                <a:cs typeface="Times New Roman" pitchFamily="18" charset="0"/>
              </a:rPr>
              <a:t>SocketAddress</a:t>
            </a:r>
            <a:r>
              <a:rPr lang="zh-CN" altLang="en-US" sz="2800" dirty="0" smtClean="0">
                <a:latin typeface="Times New Roman" pitchFamily="18" charset="0"/>
                <a:cs typeface="Times New Roman" pitchFamily="18" charset="0"/>
              </a:rPr>
              <a:t>可为</a:t>
            </a:r>
            <a:r>
              <a:rPr lang="en-US" altLang="zh-CN" sz="2800" dirty="0" smtClean="0">
                <a:latin typeface="Times New Roman" pitchFamily="18" charset="0"/>
                <a:cs typeface="Times New Roman" pitchFamily="18" charset="0"/>
              </a:rPr>
              <a:t>null</a:t>
            </a:r>
            <a:r>
              <a:rPr lang="zh-CN" altLang="en-US" sz="2800" dirty="0" smtClean="0">
                <a:latin typeface="Times New Roman" pitchFamily="18" charset="0"/>
                <a:cs typeface="Times New Roman" pitchFamily="18" charset="0"/>
              </a:rPr>
              <a:t>，表示待系统分配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代码实现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altLang="zh-CN" sz="2400" dirty="0" err="1" smtClean="0">
                <a:solidFill>
                  <a:srgbClr val="000088"/>
                </a:solidFill>
                <a:latin typeface="Times New Roman" pitchFamily="18" charset="0"/>
                <a:ea typeface="Simsun" panose="02010600030101010101" pitchFamily="2" charset="-122"/>
                <a:cs typeface="Times New Roman" pitchFamily="18" charset="0"/>
              </a:rPr>
              <a:t>ServerSocket</a:t>
            </a:r>
            <a:r>
              <a:rPr lang="en-US" altLang="zh-CN" sz="2400" dirty="0" smtClean="0">
                <a:solidFill>
                  <a:srgbClr val="1B1C20"/>
                </a:solidFill>
                <a:latin typeface="Times New Roman" pitchFamily="18" charset="0"/>
                <a:ea typeface="Simsun" panose="02010600030101010101" pitchFamily="2" charset="-122"/>
                <a:cs typeface="Times New Roman" pitchFamily="18" charset="0"/>
              </a:rPr>
              <a:t> </a:t>
            </a:r>
            <a:r>
              <a:rPr lang="en-US" altLang="zh-CN" sz="2400" dirty="0" err="1" smtClean="0">
                <a:solidFill>
                  <a:srgbClr val="000088"/>
                </a:solidFill>
                <a:latin typeface="Times New Roman" pitchFamily="18" charset="0"/>
                <a:ea typeface="Simsun" panose="02010600030101010101" pitchFamily="2" charset="-122"/>
                <a:cs typeface="Times New Roman" pitchFamily="18" charset="0"/>
              </a:rPr>
              <a:t>ss</a:t>
            </a:r>
            <a:r>
              <a:rPr lang="en-US" altLang="zh-CN" sz="2400" dirty="0" smtClean="0">
                <a:solidFill>
                  <a:srgbClr val="1B1C20"/>
                </a:solidFill>
                <a:latin typeface="Times New Roman" pitchFamily="18" charset="0"/>
                <a:ea typeface="Simsun" panose="02010600030101010101" pitchFamily="2" charset="-122"/>
                <a:cs typeface="Times New Roman" pitchFamily="18" charset="0"/>
              </a:rPr>
              <a:t> </a:t>
            </a:r>
            <a:r>
              <a:rPr lang="en-US" altLang="zh-CN" sz="2400" dirty="0" smtClean="0">
                <a:solidFill>
                  <a:srgbClr val="555555"/>
                </a:solidFill>
                <a:latin typeface="Times New Roman" pitchFamily="18" charset="0"/>
                <a:ea typeface="Simsun" panose="02010600030101010101" pitchFamily="2" charset="-122"/>
                <a:cs typeface="Times New Roman" pitchFamily="18" charset="0"/>
              </a:rPr>
              <a:t>=</a:t>
            </a:r>
            <a:r>
              <a:rPr lang="en-US" altLang="zh-CN" sz="2400" dirty="0" smtClean="0">
                <a:solidFill>
                  <a:srgbClr val="1B1C20"/>
                </a:solidFill>
                <a:latin typeface="Times New Roman" pitchFamily="18" charset="0"/>
                <a:ea typeface="Simsun" panose="02010600030101010101" pitchFamily="2" charset="-122"/>
                <a:cs typeface="Times New Roman" pitchFamily="18" charset="0"/>
              </a:rPr>
              <a:t> </a:t>
            </a:r>
            <a:r>
              <a:rPr lang="en-US" altLang="zh-CN" sz="2400" b="1" dirty="0" smtClean="0">
                <a:solidFill>
                  <a:srgbClr val="006699"/>
                </a:solidFill>
                <a:latin typeface="Times New Roman" pitchFamily="18" charset="0"/>
                <a:ea typeface="Simsun" panose="02010600030101010101" pitchFamily="2" charset="-122"/>
                <a:cs typeface="Times New Roman" pitchFamily="18" charset="0"/>
              </a:rPr>
              <a:t>new</a:t>
            </a:r>
            <a:r>
              <a:rPr lang="en-US" altLang="zh-CN" sz="2400" dirty="0" smtClean="0">
                <a:solidFill>
                  <a:srgbClr val="1B1C20"/>
                </a:solidFill>
                <a:latin typeface="Times New Roman" pitchFamily="18" charset="0"/>
                <a:ea typeface="Simsun" panose="02010600030101010101" pitchFamily="2" charset="-122"/>
                <a:cs typeface="Times New Roman" pitchFamily="18" charset="0"/>
              </a:rPr>
              <a:t> </a:t>
            </a:r>
            <a:r>
              <a:rPr lang="en-US" altLang="zh-CN" sz="2400" dirty="0" err="1" smtClean="0">
                <a:solidFill>
                  <a:srgbClr val="000088"/>
                </a:solidFill>
                <a:latin typeface="Times New Roman" pitchFamily="18" charset="0"/>
                <a:ea typeface="Simsun" panose="02010600030101010101" pitchFamily="2" charset="-122"/>
                <a:cs typeface="Times New Roman" pitchFamily="18" charset="0"/>
              </a:rPr>
              <a:t>ServerSocket</a:t>
            </a:r>
            <a:r>
              <a:rPr lang="en-US" altLang="zh-CN" sz="2400" dirty="0" smtClean="0">
                <a:solidFill>
                  <a:srgbClr val="555555"/>
                </a:solidFill>
                <a:latin typeface="Times New Roman" pitchFamily="18" charset="0"/>
                <a:ea typeface="Simsun" panose="02010600030101010101" pitchFamily="2" charset="-122"/>
                <a:cs typeface="Times New Roman" pitchFamily="18" charset="0"/>
              </a:rPr>
              <a:t>();</a:t>
            </a:r>
            <a:endParaRPr lang="en-US" altLang="zh-CN" sz="2400" dirty="0" smtClean="0">
              <a:solidFill>
                <a:srgbClr val="000000"/>
              </a:solidFill>
              <a:latin typeface="Times New Roman" pitchFamily="18" charset="0"/>
              <a:ea typeface="Simsun" panose="02010600030101010101" pitchFamily="2" charset="-122"/>
              <a:cs typeface="Times New Roman" pitchFamily="18" charset="0"/>
            </a:endParaRPr>
          </a:p>
          <a:p>
            <a:pPr marL="0" indent="0">
              <a:buNone/>
            </a:pPr>
            <a:r>
              <a:rPr lang="en-US" altLang="zh-CN" sz="2400" i="1" dirty="0" smtClean="0">
                <a:solidFill>
                  <a:srgbClr val="35586C"/>
                </a:solidFill>
                <a:latin typeface="Times New Roman" pitchFamily="18" charset="0"/>
                <a:ea typeface="Simsun" panose="02010600030101010101" pitchFamily="2" charset="-122"/>
                <a:cs typeface="Times New Roman" pitchFamily="18" charset="0"/>
              </a:rPr>
              <a:t>// set socket options...</a:t>
            </a:r>
            <a:endParaRPr lang="en-US" altLang="zh-CN" sz="2400" dirty="0" smtClean="0">
              <a:solidFill>
                <a:srgbClr val="000000"/>
              </a:solidFill>
              <a:latin typeface="Times New Roman" pitchFamily="18" charset="0"/>
              <a:ea typeface="Simsun" panose="02010600030101010101" pitchFamily="2" charset="-122"/>
              <a:cs typeface="Times New Roman" pitchFamily="18" charset="0"/>
            </a:endParaRPr>
          </a:p>
          <a:p>
            <a:pPr marL="0" indent="0">
              <a:buNone/>
            </a:pPr>
            <a:r>
              <a:rPr lang="en-US" altLang="zh-CN" sz="2400" dirty="0" err="1" smtClean="0">
                <a:solidFill>
                  <a:srgbClr val="000088"/>
                </a:solidFill>
                <a:latin typeface="Times New Roman" pitchFamily="18" charset="0"/>
                <a:ea typeface="Simsun" panose="02010600030101010101" pitchFamily="2" charset="-122"/>
                <a:cs typeface="Times New Roman" pitchFamily="18" charset="0"/>
              </a:rPr>
              <a:t>SocketAddress</a:t>
            </a:r>
            <a:r>
              <a:rPr lang="en-US" altLang="zh-CN" sz="2400" dirty="0" smtClean="0">
                <a:solidFill>
                  <a:srgbClr val="1B1C20"/>
                </a:solidFill>
                <a:latin typeface="Times New Roman" pitchFamily="18" charset="0"/>
                <a:ea typeface="Simsun" panose="02010600030101010101" pitchFamily="2" charset="-122"/>
                <a:cs typeface="Times New Roman" pitchFamily="18" charset="0"/>
              </a:rPr>
              <a:t> </a:t>
            </a:r>
            <a:r>
              <a:rPr lang="en-US" altLang="zh-CN" sz="2400" dirty="0" smtClean="0">
                <a:solidFill>
                  <a:srgbClr val="000088"/>
                </a:solidFill>
                <a:latin typeface="Times New Roman" pitchFamily="18" charset="0"/>
                <a:ea typeface="Simsun" panose="02010600030101010101" pitchFamily="2" charset="-122"/>
                <a:cs typeface="Times New Roman" pitchFamily="18" charset="0"/>
              </a:rPr>
              <a:t>http</a:t>
            </a:r>
            <a:r>
              <a:rPr lang="en-US" altLang="zh-CN" sz="2400" dirty="0" smtClean="0">
                <a:solidFill>
                  <a:srgbClr val="1B1C20"/>
                </a:solidFill>
                <a:latin typeface="Times New Roman" pitchFamily="18" charset="0"/>
                <a:ea typeface="Simsun" panose="02010600030101010101" pitchFamily="2" charset="-122"/>
                <a:cs typeface="Times New Roman" pitchFamily="18" charset="0"/>
              </a:rPr>
              <a:t> </a:t>
            </a:r>
            <a:r>
              <a:rPr lang="en-US" altLang="zh-CN" sz="2400" dirty="0" smtClean="0">
                <a:solidFill>
                  <a:srgbClr val="555555"/>
                </a:solidFill>
                <a:latin typeface="Times New Roman" pitchFamily="18" charset="0"/>
                <a:ea typeface="Simsun" panose="02010600030101010101" pitchFamily="2" charset="-122"/>
                <a:cs typeface="Times New Roman" pitchFamily="18" charset="0"/>
              </a:rPr>
              <a:t>=</a:t>
            </a:r>
            <a:r>
              <a:rPr lang="en-US" altLang="zh-CN" sz="2400" dirty="0" smtClean="0">
                <a:solidFill>
                  <a:srgbClr val="1B1C20"/>
                </a:solidFill>
                <a:latin typeface="Times New Roman" pitchFamily="18" charset="0"/>
                <a:ea typeface="Simsun" panose="02010600030101010101" pitchFamily="2" charset="-122"/>
                <a:cs typeface="Times New Roman" pitchFamily="18" charset="0"/>
              </a:rPr>
              <a:t> </a:t>
            </a:r>
            <a:r>
              <a:rPr lang="en-US" altLang="zh-CN" sz="2400" b="1" dirty="0" smtClean="0">
                <a:solidFill>
                  <a:srgbClr val="006699"/>
                </a:solidFill>
                <a:latin typeface="Times New Roman" pitchFamily="18" charset="0"/>
                <a:ea typeface="Simsun" panose="02010600030101010101" pitchFamily="2" charset="-122"/>
                <a:cs typeface="Times New Roman" pitchFamily="18" charset="0"/>
              </a:rPr>
              <a:t>new</a:t>
            </a:r>
            <a:r>
              <a:rPr lang="en-US" altLang="zh-CN" sz="2400" dirty="0" smtClean="0">
                <a:solidFill>
                  <a:srgbClr val="1B1C20"/>
                </a:solidFill>
                <a:latin typeface="Times New Roman" pitchFamily="18" charset="0"/>
                <a:ea typeface="Simsun" panose="02010600030101010101" pitchFamily="2" charset="-122"/>
                <a:cs typeface="Times New Roman" pitchFamily="18" charset="0"/>
              </a:rPr>
              <a:t> </a:t>
            </a:r>
            <a:r>
              <a:rPr lang="en-US" altLang="zh-CN" sz="2400" dirty="0" err="1" smtClean="0">
                <a:solidFill>
                  <a:srgbClr val="000088"/>
                </a:solidFill>
                <a:latin typeface="Times New Roman" pitchFamily="18" charset="0"/>
                <a:ea typeface="Simsun" panose="02010600030101010101" pitchFamily="2" charset="-122"/>
                <a:cs typeface="Times New Roman" pitchFamily="18" charset="0"/>
              </a:rPr>
              <a:t>InetSocketAddress</a:t>
            </a:r>
            <a:r>
              <a:rPr lang="en-US" altLang="zh-CN" sz="2400" dirty="0" smtClean="0">
                <a:solidFill>
                  <a:srgbClr val="555555"/>
                </a:solidFill>
                <a:latin typeface="Times New Roman" pitchFamily="18" charset="0"/>
                <a:ea typeface="Simsun" panose="02010600030101010101" pitchFamily="2" charset="-122"/>
                <a:cs typeface="Times New Roman" pitchFamily="18" charset="0"/>
              </a:rPr>
              <a:t>(</a:t>
            </a:r>
            <a:r>
              <a:rPr lang="en-US" altLang="zh-CN" sz="2400" dirty="0" smtClean="0">
                <a:solidFill>
                  <a:srgbClr val="FF6600"/>
                </a:solidFill>
                <a:latin typeface="Times New Roman" pitchFamily="18" charset="0"/>
                <a:ea typeface="Simsun" panose="02010600030101010101" pitchFamily="2" charset="-122"/>
                <a:cs typeface="Times New Roman" pitchFamily="18" charset="0"/>
              </a:rPr>
              <a:t>80</a:t>
            </a:r>
            <a:r>
              <a:rPr lang="en-US" altLang="zh-CN" sz="2400" dirty="0" smtClean="0">
                <a:solidFill>
                  <a:srgbClr val="555555"/>
                </a:solidFill>
                <a:latin typeface="Times New Roman" pitchFamily="18" charset="0"/>
                <a:ea typeface="Simsun" panose="02010600030101010101" pitchFamily="2" charset="-122"/>
                <a:cs typeface="Times New Roman" pitchFamily="18" charset="0"/>
              </a:rPr>
              <a:t>);</a:t>
            </a:r>
            <a:endParaRPr lang="en-US" altLang="zh-CN" sz="2400" dirty="0" smtClean="0">
              <a:solidFill>
                <a:srgbClr val="000000"/>
              </a:solidFill>
              <a:latin typeface="Times New Roman" pitchFamily="18" charset="0"/>
              <a:ea typeface="Simsun" panose="02010600030101010101" pitchFamily="2" charset="-122"/>
              <a:cs typeface="Times New Roman" pitchFamily="18" charset="0"/>
            </a:endParaRPr>
          </a:p>
          <a:p>
            <a:pPr marL="0" indent="0">
              <a:buNone/>
            </a:pPr>
            <a:r>
              <a:rPr lang="en-US" altLang="zh-CN" sz="2400" dirty="0" err="1" smtClean="0">
                <a:solidFill>
                  <a:srgbClr val="000088"/>
                </a:solidFill>
                <a:latin typeface="Times New Roman" pitchFamily="18" charset="0"/>
                <a:ea typeface="Simsun" panose="02010600030101010101" pitchFamily="2" charset="-122"/>
                <a:cs typeface="Times New Roman" pitchFamily="18" charset="0"/>
              </a:rPr>
              <a:t>ss</a:t>
            </a:r>
            <a:r>
              <a:rPr lang="en-US" altLang="zh-CN" sz="2400" dirty="0" err="1" smtClean="0">
                <a:solidFill>
                  <a:srgbClr val="555555"/>
                </a:solidFill>
                <a:latin typeface="Times New Roman" pitchFamily="18" charset="0"/>
                <a:ea typeface="Simsun" panose="02010600030101010101" pitchFamily="2" charset="-122"/>
                <a:cs typeface="Times New Roman" pitchFamily="18" charset="0"/>
              </a:rPr>
              <a:t>.</a:t>
            </a:r>
            <a:r>
              <a:rPr lang="en-US" altLang="zh-CN" sz="2400" dirty="0" err="1" smtClean="0">
                <a:solidFill>
                  <a:srgbClr val="330099"/>
                </a:solidFill>
                <a:latin typeface="Times New Roman" pitchFamily="18" charset="0"/>
                <a:ea typeface="Simsun" panose="02010600030101010101" pitchFamily="2" charset="-122"/>
                <a:cs typeface="Times New Roman" pitchFamily="18" charset="0"/>
              </a:rPr>
              <a:t>bind</a:t>
            </a:r>
            <a:r>
              <a:rPr lang="en-US" altLang="zh-CN" sz="2400" dirty="0" smtClean="0">
                <a:solidFill>
                  <a:srgbClr val="555555"/>
                </a:solidFill>
                <a:latin typeface="Times New Roman" pitchFamily="18" charset="0"/>
                <a:ea typeface="Simsun" panose="02010600030101010101" pitchFamily="2" charset="-122"/>
                <a:cs typeface="Times New Roman" pitchFamily="18" charset="0"/>
              </a:rPr>
              <a:t>(</a:t>
            </a:r>
            <a:r>
              <a:rPr lang="en-US" altLang="zh-CN" sz="2400" dirty="0" smtClean="0">
                <a:solidFill>
                  <a:srgbClr val="000088"/>
                </a:solidFill>
                <a:latin typeface="Times New Roman" pitchFamily="18" charset="0"/>
                <a:ea typeface="Simsun" panose="02010600030101010101" pitchFamily="2" charset="-122"/>
                <a:cs typeface="Times New Roman" pitchFamily="18" charset="0"/>
              </a:rPr>
              <a:t>http</a:t>
            </a:r>
            <a:r>
              <a:rPr lang="en-US" altLang="zh-CN" sz="2400" dirty="0" smtClean="0">
                <a:solidFill>
                  <a:srgbClr val="555555"/>
                </a:solidFill>
                <a:latin typeface="Times New Roman" pitchFamily="18" charset="0"/>
                <a:ea typeface="Simsun" panose="02010600030101010101" pitchFamily="2" charset="-122"/>
                <a:cs typeface="Times New Roman" pitchFamily="18" charset="0"/>
              </a:rPr>
              <a:t>);</a:t>
            </a:r>
            <a:endParaRPr lang="en-US" altLang="zh-CN" sz="2400" dirty="0" smtClean="0">
              <a:solidFill>
                <a:srgbClr val="000000"/>
              </a:solidFill>
              <a:latin typeface="Times New Roman" pitchFamily="18" charset="0"/>
              <a:ea typeface="Simsun" panose="02010600030101010101" pitchFamily="2" charset="-122"/>
              <a:cs typeface="Times New Roman" pitchFamily="18" charset="0"/>
            </a:endParaRPr>
          </a:p>
          <a:p>
            <a:pPr>
              <a:buNone/>
            </a:pPr>
            <a:endParaRPr lang="zh-CN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标题 1"/>
          <p:cNvSpPr>
            <a:spLocks noGrp="1"/>
          </p:cNvSpPr>
          <p:nvPr>
            <p:ph type="title"/>
          </p:nvPr>
        </p:nvSpPr>
        <p:spPr>
          <a:xfrm>
            <a:off x="685800" y="304800"/>
            <a:ext cx="7775575" cy="438150"/>
          </a:xfrm>
        </p:spPr>
        <p:txBody>
          <a:bodyPr anchor="t">
            <a:noAutofit/>
          </a:bodyPr>
          <a:lstStyle/>
          <a:p>
            <a:r>
              <a:rPr lang="zh-CN" altLang="en-US" sz="3600" dirty="0" smtClean="0"/>
              <a:t>获得服务器</a:t>
            </a:r>
            <a:r>
              <a:rPr lang="en-US" altLang="zh-CN" sz="3600" dirty="0" smtClean="0"/>
              <a:t>Socket</a:t>
            </a:r>
            <a:r>
              <a:rPr lang="zh-CN" altLang="en-US" sz="3600" dirty="0" smtClean="0"/>
              <a:t>的有关信息</a:t>
            </a:r>
          </a:p>
        </p:txBody>
      </p:sp>
      <p:sp>
        <p:nvSpPr>
          <p:cNvPr id="13315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sz="2400" smtClean="0">
                <a:latin typeface="Times New Roman" pitchFamily="18" charset="0"/>
                <a:cs typeface="Times New Roman" pitchFamily="18" charset="0"/>
              </a:rPr>
              <a:t>InetAddress	getInetAddress()</a:t>
            </a:r>
          </a:p>
          <a:p>
            <a:r>
              <a:rPr lang="en-US" altLang="zh-CN" sz="2400" smtClean="0">
                <a:latin typeface="Times New Roman" pitchFamily="18" charset="0"/>
                <a:cs typeface="Times New Roman" pitchFamily="18" charset="0"/>
              </a:rPr>
              <a:t>int	getLocalPort()</a:t>
            </a:r>
          </a:p>
          <a:p>
            <a:r>
              <a:rPr lang="en-US" altLang="zh-CN" sz="2400" smtClean="0">
                <a:latin typeface="Times New Roman" pitchFamily="18" charset="0"/>
                <a:cs typeface="Times New Roman" pitchFamily="18" charset="0"/>
              </a:rPr>
              <a:t>SocketAddress	getLocalSocketAddress()</a:t>
            </a:r>
          </a:p>
          <a:p>
            <a:endParaRPr lang="en-US" altLang="zh-CN" sz="2400" smtClean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标题 1"/>
          <p:cNvSpPr>
            <a:spLocks noGrp="1"/>
          </p:cNvSpPr>
          <p:nvPr>
            <p:ph type="title"/>
          </p:nvPr>
        </p:nvSpPr>
        <p:spPr>
          <a:xfrm>
            <a:off x="539552" y="332656"/>
            <a:ext cx="7775575" cy="438150"/>
          </a:xfrm>
        </p:spPr>
        <p:txBody>
          <a:bodyPr anchor="t">
            <a:noAutofit/>
          </a:bodyPr>
          <a:lstStyle/>
          <a:p>
            <a:r>
              <a:rPr lang="en-US" altLang="zh-CN" sz="3600" dirty="0" smtClean="0"/>
              <a:t>Socket</a:t>
            </a:r>
            <a:r>
              <a:rPr lang="zh-CN" altLang="en-US" sz="3600" dirty="0" smtClean="0"/>
              <a:t>选项</a:t>
            </a:r>
          </a:p>
        </p:txBody>
      </p:sp>
      <p:sp>
        <p:nvSpPr>
          <p:cNvPr id="14339" name="内容占位符 2"/>
          <p:cNvSpPr>
            <a:spLocks noGrp="1"/>
          </p:cNvSpPr>
          <p:nvPr>
            <p:ph idx="1"/>
          </p:nvPr>
        </p:nvSpPr>
        <p:spPr>
          <a:xfrm>
            <a:off x="395536" y="1700808"/>
            <a:ext cx="8540750" cy="4498975"/>
          </a:xfrm>
        </p:spPr>
        <p:txBody>
          <a:bodyPr>
            <a:normAutofit fontScale="92500" lnSpcReduction="20000"/>
          </a:bodyPr>
          <a:lstStyle/>
          <a:p>
            <a:r>
              <a:rPr lang="en-US" altLang="zh-CN" sz="2800" dirty="0" smtClean="0">
                <a:solidFill>
                  <a:schemeClr val="tx2"/>
                </a:solidFill>
                <a:latin typeface="Times New Roman" pitchFamily="18" charset="0"/>
                <a:cs typeface="Times New Roman" pitchFamily="18" charset="0"/>
              </a:rPr>
              <a:t>SO_TIMEOUT</a:t>
            </a:r>
          </a:p>
          <a:p>
            <a:pPr lvl="1"/>
            <a:r>
              <a:rPr lang="zh-CN" altLang="en-US" sz="2400" dirty="0" smtClean="0">
                <a:latin typeface="Times New Roman" pitchFamily="18" charset="0"/>
                <a:cs typeface="Times New Roman" pitchFamily="18" charset="0"/>
              </a:rPr>
              <a:t>默认</a:t>
            </a:r>
            <a:r>
              <a:rPr lang="en-US" altLang="zh-CN" sz="2400" dirty="0" smtClean="0">
                <a:latin typeface="Times New Roman" pitchFamily="18" charset="0"/>
                <a:cs typeface="Times New Roman" pitchFamily="18" charset="0"/>
              </a:rPr>
              <a:t>0</a:t>
            </a:r>
            <a:r>
              <a:rPr lang="zh-CN" altLang="en-US" sz="2400" dirty="0" smtClean="0">
                <a:latin typeface="Times New Roman" pitchFamily="18" charset="0"/>
                <a:cs typeface="Times New Roman" pitchFamily="18" charset="0"/>
              </a:rPr>
              <a:t>表示永不超时</a:t>
            </a:r>
            <a:endParaRPr lang="en-US" altLang="zh-CN" sz="2400" dirty="0" smtClean="0">
              <a:latin typeface="Times New Roman" pitchFamily="18" charset="0"/>
              <a:cs typeface="Times New Roman" pitchFamily="18" charset="0"/>
            </a:endParaRPr>
          </a:p>
          <a:p>
            <a:pPr lvl="1"/>
            <a:r>
              <a:rPr lang="zh-CN" altLang="en-US" sz="2400" dirty="0" smtClean="0">
                <a:latin typeface="Times New Roman" pitchFamily="18" charset="0"/>
                <a:cs typeface="Times New Roman" pitchFamily="18" charset="0"/>
              </a:rPr>
              <a:t>自调用</a:t>
            </a:r>
            <a:r>
              <a:rPr lang="en-US" altLang="zh-CN" sz="2400" dirty="0" smtClean="0">
                <a:latin typeface="Times New Roman" pitchFamily="18" charset="0"/>
                <a:cs typeface="Times New Roman" pitchFamily="18" charset="0"/>
              </a:rPr>
              <a:t>accept()</a:t>
            </a:r>
            <a:r>
              <a:rPr lang="zh-CN" altLang="en-US" sz="2400" dirty="0" smtClean="0">
                <a:latin typeface="Times New Roman" pitchFamily="18" charset="0"/>
                <a:cs typeface="Times New Roman" pitchFamily="18" charset="0"/>
              </a:rPr>
              <a:t>后开始计时（阻塞等待时间）</a:t>
            </a:r>
            <a:endParaRPr lang="en-US" altLang="zh-CN" sz="2400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en-US" altLang="zh-CN" sz="2800" dirty="0" smtClean="0">
                <a:solidFill>
                  <a:schemeClr val="tx2"/>
                </a:solidFill>
                <a:latin typeface="Times New Roman" pitchFamily="18" charset="0"/>
                <a:cs typeface="Times New Roman" pitchFamily="18" charset="0"/>
              </a:rPr>
              <a:t>SO_REUSEADDR</a:t>
            </a:r>
          </a:p>
          <a:p>
            <a:pPr lvl="1"/>
            <a:r>
              <a:rPr lang="zh-CN" altLang="en-US" sz="2400" dirty="0" smtClean="0">
                <a:latin typeface="Times New Roman" pitchFamily="18" charset="0"/>
                <a:cs typeface="Times New Roman" pitchFamily="18" charset="0"/>
              </a:rPr>
              <a:t>与客户端</a:t>
            </a:r>
            <a:r>
              <a:rPr lang="en-US" altLang="zh-CN" sz="2400" dirty="0" smtClean="0">
                <a:latin typeface="Times New Roman" pitchFamily="18" charset="0"/>
                <a:cs typeface="Times New Roman" pitchFamily="18" charset="0"/>
              </a:rPr>
              <a:t>Socket</a:t>
            </a:r>
            <a:r>
              <a:rPr lang="zh-CN" altLang="en-US" sz="2400" dirty="0" smtClean="0">
                <a:latin typeface="Times New Roman" pitchFamily="18" charset="0"/>
                <a:cs typeface="Times New Roman" pitchFamily="18" charset="0"/>
              </a:rPr>
              <a:t>的同名选项作用相同</a:t>
            </a:r>
            <a:endParaRPr lang="en-US" altLang="zh-CN" sz="2400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en-US" altLang="zh-CN" sz="2800" dirty="0" smtClean="0">
                <a:solidFill>
                  <a:schemeClr val="tx2"/>
                </a:solidFill>
                <a:latin typeface="Times New Roman" pitchFamily="18" charset="0"/>
                <a:cs typeface="Times New Roman" pitchFamily="18" charset="0"/>
              </a:rPr>
              <a:t>SO_RCVBUF</a:t>
            </a:r>
          </a:p>
          <a:p>
            <a:pPr lvl="1"/>
            <a:r>
              <a:rPr lang="zh-CN" altLang="en-US" sz="2400" dirty="0" smtClean="0">
                <a:latin typeface="Times New Roman" pitchFamily="18" charset="0"/>
                <a:cs typeface="Times New Roman" pitchFamily="18" charset="0"/>
              </a:rPr>
              <a:t>设置的是哪个缓冲区的大小？</a:t>
            </a:r>
            <a:endParaRPr lang="en-US" altLang="zh-CN" sz="2400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zh-CN" altLang="en-US" sz="2800" dirty="0" smtClean="0">
                <a:solidFill>
                  <a:schemeClr val="tx2"/>
                </a:solidFill>
                <a:latin typeface="Times New Roman" pitchFamily="18" charset="0"/>
                <a:cs typeface="Times New Roman" pitchFamily="18" charset="0"/>
              </a:rPr>
              <a:t>服务类型</a:t>
            </a:r>
            <a:endParaRPr lang="en-US" altLang="zh-CN" sz="2800" dirty="0" smtClean="0">
              <a:solidFill>
                <a:schemeClr val="tx2"/>
              </a:solidFill>
              <a:latin typeface="Times New Roman" pitchFamily="18" charset="0"/>
              <a:cs typeface="Times New Roman" pitchFamily="18" charset="0"/>
            </a:endParaRPr>
          </a:p>
          <a:p>
            <a:pPr lvl="1"/>
            <a:r>
              <a:rPr lang="en-US" altLang="zh-CN" sz="2400" dirty="0" smtClean="0">
                <a:latin typeface="Times New Roman" pitchFamily="18" charset="0"/>
                <a:cs typeface="Times New Roman" pitchFamily="18" charset="0"/>
              </a:rPr>
              <a:t>TCP</a:t>
            </a:r>
            <a:r>
              <a:rPr lang="zh-CN" altLang="en-US" sz="2400" dirty="0" smtClean="0">
                <a:latin typeface="Times New Roman" pitchFamily="18" charset="0"/>
                <a:cs typeface="Times New Roman" pitchFamily="18" charset="0"/>
              </a:rPr>
              <a:t>定义</a:t>
            </a:r>
            <a:r>
              <a:rPr lang="en-US" altLang="zh-CN" sz="2400" dirty="0" smtClean="0">
                <a:latin typeface="Times New Roman" pitchFamily="18" charset="0"/>
                <a:cs typeface="Times New Roman" pitchFamily="18" charset="0"/>
              </a:rPr>
              <a:t>4</a:t>
            </a:r>
            <a:r>
              <a:rPr lang="zh-CN" altLang="en-US" sz="2400" dirty="0" smtClean="0">
                <a:latin typeface="Times New Roman" pitchFamily="18" charset="0"/>
                <a:cs typeface="Times New Roman" pitchFamily="18" charset="0"/>
              </a:rPr>
              <a:t>个通用业务流类型：</a:t>
            </a:r>
            <a:r>
              <a:rPr lang="zh-CN" altLang="en-US" sz="2400" b="1" dirty="0" smtClean="0">
                <a:latin typeface="Times New Roman" pitchFamily="18" charset="0"/>
                <a:cs typeface="Times New Roman" pitchFamily="18" charset="0"/>
              </a:rPr>
              <a:t>高可靠性、低成本、最大吞吐量、最小延迟</a:t>
            </a:r>
            <a:endParaRPr lang="en-US" altLang="zh-CN" sz="2400" b="1" dirty="0" smtClean="0">
              <a:latin typeface="Times New Roman" pitchFamily="18" charset="0"/>
              <a:cs typeface="Times New Roman" pitchFamily="18" charset="0"/>
            </a:endParaRPr>
          </a:p>
          <a:p>
            <a:pPr lvl="1"/>
            <a:r>
              <a:rPr lang="en-US" altLang="zh-CN" sz="2000" dirty="0" err="1" smtClean="0">
                <a:latin typeface="Times New Roman" pitchFamily="18" charset="0"/>
                <a:cs typeface="Times New Roman" pitchFamily="18" charset="0"/>
              </a:rPr>
              <a:t>setPerformancePreferences</a:t>
            </a:r>
            <a:r>
              <a:rPr lang="en-US" altLang="zh-CN" sz="2000" dirty="0" smtClean="0">
                <a:latin typeface="Times New Roman" pitchFamily="18" charset="0"/>
                <a:cs typeface="Times New Roman" pitchFamily="18" charset="0"/>
              </a:rPr>
              <a:t>(</a:t>
            </a:r>
            <a:r>
              <a:rPr lang="en-US" altLang="zh-CN" sz="2000" dirty="0" err="1" smtClean="0">
                <a:latin typeface="Times New Roman" pitchFamily="18" charset="0"/>
                <a:cs typeface="Times New Roman" pitchFamily="18" charset="0"/>
              </a:rPr>
              <a:t>int</a:t>
            </a:r>
            <a:r>
              <a:rPr lang="en-US" altLang="zh-CN" sz="20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2000" dirty="0" err="1" smtClean="0">
                <a:latin typeface="Times New Roman" pitchFamily="18" charset="0"/>
                <a:cs typeface="Times New Roman" pitchFamily="18" charset="0"/>
              </a:rPr>
              <a:t>connectionTime</a:t>
            </a:r>
            <a:r>
              <a:rPr lang="en-US" altLang="zh-CN" sz="2000" dirty="0" smtClean="0"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en-US" altLang="zh-CN" sz="2000" dirty="0" err="1" smtClean="0">
                <a:latin typeface="Times New Roman" pitchFamily="18" charset="0"/>
                <a:cs typeface="Times New Roman" pitchFamily="18" charset="0"/>
              </a:rPr>
              <a:t>int</a:t>
            </a:r>
            <a:r>
              <a:rPr lang="en-US" altLang="zh-CN" sz="2000" dirty="0" smtClean="0">
                <a:latin typeface="Times New Roman" pitchFamily="18" charset="0"/>
                <a:cs typeface="Times New Roman" pitchFamily="18" charset="0"/>
              </a:rPr>
              <a:t> latency, </a:t>
            </a:r>
            <a:r>
              <a:rPr lang="en-US" altLang="zh-CN" sz="2000" dirty="0" err="1" smtClean="0">
                <a:latin typeface="Times New Roman" pitchFamily="18" charset="0"/>
                <a:cs typeface="Times New Roman" pitchFamily="18" charset="0"/>
              </a:rPr>
              <a:t>int</a:t>
            </a:r>
            <a:r>
              <a:rPr lang="en-US" altLang="zh-CN" sz="2000" dirty="0" smtClean="0">
                <a:latin typeface="Times New Roman" pitchFamily="18" charset="0"/>
                <a:cs typeface="Times New Roman" pitchFamily="18" charset="0"/>
              </a:rPr>
              <a:t> bandwidth)</a:t>
            </a:r>
            <a:r>
              <a:rPr lang="zh-CN" altLang="en-US" sz="2000" dirty="0" smtClean="0">
                <a:latin typeface="Times New Roman" pitchFamily="18" charset="0"/>
                <a:cs typeface="Times New Roman" pitchFamily="18" charset="0"/>
              </a:rPr>
              <a:t>，数值越高越重要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43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43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433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433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1433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1433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1433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1433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1433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1433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1433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1433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1433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1433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1433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1433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1433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1433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500" fill="hold"/>
                                        <p:tgtEl>
                                          <p:spTgt spid="1433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8" dur="500" fill="hold"/>
                                        <p:tgtEl>
                                          <p:spTgt spid="1433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3200" smtClean="0"/>
              <a:t>HTTP</a:t>
            </a:r>
            <a:r>
              <a:rPr lang="zh-CN" altLang="en-US" sz="3200" smtClean="0"/>
              <a:t>服务器</a:t>
            </a:r>
          </a:p>
        </p:txBody>
      </p:sp>
      <p:sp>
        <p:nvSpPr>
          <p:cNvPr id="15363" name="内容占位符 2"/>
          <p:cNvSpPr>
            <a:spLocks noGrp="1"/>
          </p:cNvSpPr>
          <p:nvPr>
            <p:ph idx="1"/>
          </p:nvPr>
        </p:nvSpPr>
        <p:spPr>
          <a:xfrm>
            <a:off x="323528" y="1700808"/>
            <a:ext cx="8540750" cy="4498975"/>
          </a:xfrm>
        </p:spPr>
        <p:txBody>
          <a:bodyPr/>
          <a:lstStyle/>
          <a:p>
            <a:r>
              <a:rPr lang="zh-CN" altLang="en-US" sz="2800" dirty="0" smtClean="0"/>
              <a:t>简单</a:t>
            </a:r>
            <a:r>
              <a:rPr lang="en-US" altLang="zh-CN" sz="2800" dirty="0" smtClean="0"/>
              <a:t>HTTP</a:t>
            </a:r>
            <a:r>
              <a:rPr lang="zh-CN" altLang="en-US" sz="2800" dirty="0" smtClean="0"/>
              <a:t>服务器用途</a:t>
            </a:r>
            <a:endParaRPr lang="en-US" altLang="zh-CN" sz="2800" dirty="0" smtClean="0"/>
          </a:p>
          <a:p>
            <a:pPr lvl="1"/>
            <a:r>
              <a:rPr lang="zh-CN" altLang="en-US" sz="2400" dirty="0" smtClean="0"/>
              <a:t>小且简单网站，定制服务器，节约资源</a:t>
            </a:r>
            <a:endParaRPr lang="en-US" altLang="zh-CN" sz="2400" dirty="0" smtClean="0"/>
          </a:p>
          <a:p>
            <a:pPr lvl="1"/>
            <a:r>
              <a:rPr lang="zh-CN" altLang="en-US" sz="2400" dirty="0" smtClean="0"/>
              <a:t>仅处理一件事情，高效</a:t>
            </a:r>
            <a:endParaRPr lang="en-US" altLang="zh-CN" sz="2400" dirty="0" smtClean="0"/>
          </a:p>
          <a:p>
            <a:pPr lvl="2"/>
            <a:r>
              <a:rPr lang="zh-CN" altLang="en-US" sz="2000" dirty="0" smtClean="0"/>
              <a:t>如一台专门服务器将常用文件存到</a:t>
            </a:r>
            <a:r>
              <a:rPr lang="en-US" altLang="zh-CN" sz="2000" dirty="0" smtClean="0"/>
              <a:t>RAM</a:t>
            </a:r>
            <a:r>
              <a:rPr lang="zh-CN" altLang="en-US" sz="2000" dirty="0" smtClean="0"/>
              <a:t>中</a:t>
            </a:r>
            <a:endParaRPr lang="en-US" altLang="zh-CN" sz="2000" dirty="0" smtClean="0"/>
          </a:p>
          <a:p>
            <a:pPr lvl="2"/>
            <a:r>
              <a:rPr lang="zh-CN" altLang="en-US" sz="2000" dirty="0" smtClean="0"/>
              <a:t>专门的重定向服务器（也可用域名解析来解决这个问题）</a:t>
            </a:r>
            <a:endParaRPr lang="en-US" altLang="zh-CN" sz="2000" dirty="0" smtClean="0"/>
          </a:p>
          <a:p>
            <a:r>
              <a:rPr lang="en-US" altLang="zh-CN" sz="2800" dirty="0" smtClean="0"/>
              <a:t>Java VS C/C++</a:t>
            </a:r>
          </a:p>
          <a:p>
            <a:pPr lvl="1"/>
            <a:r>
              <a:rPr lang="en-US" altLang="zh-CN" sz="2400" dirty="0" smtClean="0"/>
              <a:t>HTTP</a:t>
            </a:r>
            <a:r>
              <a:rPr lang="zh-CN" altLang="en-US" sz="2400" dirty="0" smtClean="0"/>
              <a:t>服务器的瓶颈在带宽等</a:t>
            </a:r>
            <a:r>
              <a:rPr lang="en-US" altLang="zh-CN" sz="2400" dirty="0" smtClean="0"/>
              <a:t>I/O</a:t>
            </a:r>
            <a:r>
              <a:rPr lang="zh-CN" altLang="en-US" sz="2400" dirty="0" smtClean="0"/>
              <a:t>问题；</a:t>
            </a:r>
            <a:endParaRPr lang="en-US" altLang="zh-CN" sz="2400" dirty="0" smtClean="0"/>
          </a:p>
          <a:p>
            <a:pPr lvl="1"/>
            <a:r>
              <a:rPr lang="en-US" altLang="zh-CN" sz="2400" dirty="0" smtClean="0"/>
              <a:t>CPU</a:t>
            </a:r>
            <a:r>
              <a:rPr lang="zh-CN" altLang="en-US" sz="2400" dirty="0" smtClean="0"/>
              <a:t>计算能力一般不是瓶颈</a:t>
            </a:r>
            <a:endParaRPr lang="en-US" altLang="zh-CN" sz="2400" dirty="0" smtClean="0"/>
          </a:p>
          <a:p>
            <a:pPr lvl="1"/>
            <a:r>
              <a:rPr lang="en-US" altLang="zh-CN" sz="2400" dirty="0" smtClean="0"/>
              <a:t>Java</a:t>
            </a:r>
            <a:r>
              <a:rPr lang="zh-CN" altLang="en-US" sz="2400" dirty="0" smtClean="0"/>
              <a:t>优势：内存保护、垃圾自动回收、</a:t>
            </a:r>
            <a:r>
              <a:rPr lang="en-US" altLang="zh-CN" sz="2400" dirty="0" smtClean="0"/>
              <a:t>…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536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536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536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536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536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536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1536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1536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1536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1536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1536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1536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536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536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1536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1536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1536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1536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sz="3600" dirty="0" smtClean="0"/>
              <a:t>单文件</a:t>
            </a:r>
            <a:r>
              <a:rPr lang="en-US" altLang="zh-CN" sz="3600" dirty="0" smtClean="0"/>
              <a:t>HTTP</a:t>
            </a:r>
            <a:r>
              <a:rPr lang="zh-CN" altLang="en-US" sz="3600" dirty="0" smtClean="0"/>
              <a:t>服务器</a:t>
            </a:r>
          </a:p>
        </p:txBody>
      </p:sp>
      <p:sp>
        <p:nvSpPr>
          <p:cNvPr id="16387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sz="2800" dirty="0" smtClean="0"/>
              <a:t>无论什么请求，服务器始终发送同一个文件</a:t>
            </a:r>
            <a:endParaRPr lang="en-US" altLang="zh-CN" sz="2800" dirty="0" smtClean="0"/>
          </a:p>
          <a:p>
            <a:r>
              <a:rPr lang="zh-CN" altLang="en-US" sz="2800" dirty="0" smtClean="0"/>
              <a:t>路程：</a:t>
            </a:r>
            <a:endParaRPr lang="en-US" altLang="zh-CN" sz="2800" dirty="0" smtClean="0"/>
          </a:p>
          <a:p>
            <a:pPr lvl="1"/>
            <a:r>
              <a:rPr lang="en-US" altLang="zh-CN" sz="2400" dirty="0" smtClean="0"/>
              <a:t>main:</a:t>
            </a:r>
            <a:r>
              <a:rPr lang="zh-CN" altLang="en-US" sz="2400" dirty="0" smtClean="0"/>
              <a:t>创建</a:t>
            </a:r>
            <a:r>
              <a:rPr lang="en-US" altLang="zh-CN" sz="2400" dirty="0" err="1" smtClean="0"/>
              <a:t>SingleFileHTTPServer</a:t>
            </a:r>
            <a:r>
              <a:rPr lang="zh-CN" altLang="en-US" sz="2400" dirty="0" smtClean="0"/>
              <a:t>对象</a:t>
            </a:r>
            <a:endParaRPr lang="en-US" altLang="zh-CN" sz="2400" dirty="0" smtClean="0"/>
          </a:p>
          <a:p>
            <a:pPr lvl="1"/>
            <a:r>
              <a:rPr lang="zh-CN" altLang="en-US" sz="2400" dirty="0" smtClean="0"/>
              <a:t>创建线程池</a:t>
            </a:r>
            <a:endParaRPr lang="en-US" altLang="zh-CN" sz="2400" dirty="0" smtClean="0"/>
          </a:p>
          <a:p>
            <a:pPr lvl="1"/>
            <a:r>
              <a:rPr lang="zh-CN" altLang="en-US" sz="2400" dirty="0" smtClean="0"/>
              <a:t>无限循环</a:t>
            </a:r>
            <a:endParaRPr lang="en-US" altLang="zh-CN" sz="2400" dirty="0" smtClean="0"/>
          </a:p>
          <a:p>
            <a:pPr lvl="2"/>
            <a:r>
              <a:rPr lang="zh-CN" altLang="en-US" sz="2000" dirty="0" smtClean="0"/>
              <a:t>有客户端连接</a:t>
            </a:r>
            <a:endParaRPr lang="en-US" altLang="zh-CN" sz="2000" dirty="0" smtClean="0"/>
          </a:p>
          <a:p>
            <a:pPr lvl="2"/>
            <a:r>
              <a:rPr lang="zh-CN" altLang="en-US" sz="2000" dirty="0" smtClean="0"/>
              <a:t>交由</a:t>
            </a:r>
            <a:r>
              <a:rPr lang="en-US" altLang="zh-CN" sz="2000" dirty="0" smtClean="0"/>
              <a:t>Handler</a:t>
            </a:r>
            <a:r>
              <a:rPr lang="zh-CN" altLang="en-US" sz="2000" dirty="0" smtClean="0"/>
              <a:t>对象处理</a:t>
            </a:r>
          </a:p>
        </p:txBody>
      </p:sp>
      <p:sp>
        <p:nvSpPr>
          <p:cNvPr id="16388" name="矩形 3"/>
          <p:cNvSpPr>
            <a:spLocks noChangeArrowheads="1"/>
          </p:cNvSpPr>
          <p:nvPr/>
        </p:nvSpPr>
        <p:spPr bwMode="auto">
          <a:xfrm>
            <a:off x="6691313" y="6488113"/>
            <a:ext cx="2162175" cy="369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zh-CN" altLang="en-US"/>
              <a:t>SingleFileHTTPServer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638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638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638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638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638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1638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638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638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1638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1638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1638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1638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标题 1"/>
          <p:cNvSpPr>
            <a:spLocks noGrp="1"/>
          </p:cNvSpPr>
          <p:nvPr>
            <p:ph type="title"/>
          </p:nvPr>
        </p:nvSpPr>
        <p:spPr>
          <a:xfrm>
            <a:off x="300038" y="152400"/>
            <a:ext cx="8540750" cy="762000"/>
          </a:xfrm>
        </p:spPr>
        <p:txBody>
          <a:bodyPr>
            <a:normAutofit/>
          </a:bodyPr>
          <a:lstStyle/>
          <a:p>
            <a:r>
              <a:rPr lang="zh-CN" altLang="en-US" sz="3600" dirty="0" smtClean="0"/>
              <a:t>重定向</a:t>
            </a:r>
            <a:r>
              <a:rPr lang="en-US" altLang="zh-CN" sz="3600" dirty="0" smtClean="0"/>
              <a:t>HTTP</a:t>
            </a:r>
            <a:r>
              <a:rPr lang="zh-CN" altLang="en-US" sz="3600" dirty="0" smtClean="0"/>
              <a:t>服务器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11560" y="1484784"/>
            <a:ext cx="7543800" cy="1457325"/>
          </a:xfrm>
        </p:spPr>
        <p:txBody>
          <a:bodyPr>
            <a:normAutofit fontScale="92500" lnSpcReduction="10000"/>
          </a:bodyPr>
          <a:lstStyle/>
          <a:p>
            <a:pPr>
              <a:defRPr/>
            </a:pPr>
            <a:r>
              <a:rPr lang="zh-CN" altLang="en-US" sz="3000" dirty="0" smtClean="0"/>
              <a:t>将请求重定向到一个新网站</a:t>
            </a:r>
            <a:endParaRPr lang="en-US" altLang="zh-CN" sz="3000" dirty="0" smtClean="0"/>
          </a:p>
          <a:p>
            <a:pPr marL="0" indent="0">
              <a:buFont typeface="Wingdings 2" pitchFamily="18" charset="2"/>
              <a:buNone/>
              <a:defRPr/>
            </a:pPr>
            <a:endParaRPr lang="en-US" altLang="zh-CN" sz="3000" dirty="0"/>
          </a:p>
          <a:p>
            <a:pPr marL="0" indent="0">
              <a:buFont typeface="Wingdings 2" pitchFamily="18" charset="2"/>
              <a:buNone/>
              <a:defRPr/>
            </a:pPr>
            <a:r>
              <a:rPr lang="zh-CN" altLang="en-US" sz="3000" dirty="0" smtClean="0">
                <a:solidFill>
                  <a:srgbClr val="C00000"/>
                </a:solidFill>
              </a:rPr>
              <a:t>客户端：</a:t>
            </a:r>
            <a:r>
              <a:rPr lang="en-US" altLang="zh-CN" sz="3000" dirty="0" smtClean="0">
                <a:solidFill>
                  <a:srgbClr val="C00000"/>
                </a:solidFill>
              </a:rPr>
              <a:t>GET /</a:t>
            </a:r>
            <a:r>
              <a:rPr lang="en-US" altLang="zh-CN" sz="3000" dirty="0" err="1" smtClean="0">
                <a:solidFill>
                  <a:srgbClr val="C00000"/>
                </a:solidFill>
              </a:rPr>
              <a:t>nc</a:t>
            </a:r>
            <a:r>
              <a:rPr lang="en-US" altLang="zh-CN" sz="3000" dirty="0" smtClean="0">
                <a:solidFill>
                  <a:srgbClr val="C00000"/>
                </a:solidFill>
              </a:rPr>
              <a:t>/ HTTP/1.1</a:t>
            </a:r>
          </a:p>
          <a:p>
            <a:pPr marL="0" indent="0">
              <a:buFont typeface="Wingdings 2" pitchFamily="18" charset="2"/>
              <a:buNone/>
              <a:defRPr/>
            </a:pPr>
            <a:endParaRPr lang="zh-CN" altLang="en-US" dirty="0"/>
          </a:p>
        </p:txBody>
      </p:sp>
      <p:pic>
        <p:nvPicPr>
          <p:cNvPr id="17412" name="图片 4"/>
          <p:cNvPicPr>
            <a:picLocks noChangeAspect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738188" y="2959100"/>
            <a:ext cx="7591425" cy="3086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7413" name="矩形 5"/>
          <p:cNvSpPr>
            <a:spLocks noChangeArrowheads="1"/>
          </p:cNvSpPr>
          <p:nvPr/>
        </p:nvSpPr>
        <p:spPr bwMode="auto">
          <a:xfrm>
            <a:off x="7678738" y="6488113"/>
            <a:ext cx="1162050" cy="369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zh-CN" altLang="en-US"/>
              <a:t>Redirector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174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174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z="3200" dirty="0" smtClean="0"/>
              <a:t>功能完善的</a:t>
            </a:r>
            <a:r>
              <a:rPr lang="en-US" altLang="zh-CN" sz="3200" dirty="0" smtClean="0"/>
              <a:t>HTTP</a:t>
            </a:r>
            <a:r>
              <a:rPr lang="zh-CN" altLang="en-US" sz="3200" dirty="0" smtClean="0"/>
              <a:t>服务器</a:t>
            </a:r>
          </a:p>
        </p:txBody>
      </p:sp>
      <p:sp>
        <p:nvSpPr>
          <p:cNvPr id="19459" name="内容占位符 2"/>
          <p:cNvSpPr>
            <a:spLocks noGrp="1"/>
          </p:cNvSpPr>
          <p:nvPr>
            <p:ph idx="1"/>
          </p:nvPr>
        </p:nvSpPr>
        <p:spPr>
          <a:xfrm>
            <a:off x="539552" y="1628800"/>
            <a:ext cx="8062913" cy="5135562"/>
          </a:xfrm>
        </p:spPr>
        <p:txBody>
          <a:bodyPr/>
          <a:lstStyle/>
          <a:p>
            <a:r>
              <a:rPr lang="zh-CN" altLang="en-US" dirty="0" smtClean="0"/>
              <a:t>流程：</a:t>
            </a:r>
            <a:endParaRPr lang="en-US" altLang="zh-CN" dirty="0" smtClean="0"/>
          </a:p>
          <a:p>
            <a:pPr lvl="1"/>
            <a:r>
              <a:rPr lang="en-US" altLang="zh-CN" dirty="0" smtClean="0"/>
              <a:t>main()</a:t>
            </a:r>
            <a:r>
              <a:rPr lang="zh-CN" altLang="en-US" dirty="0" smtClean="0"/>
              <a:t>获取主目录、端口参数</a:t>
            </a:r>
            <a:endParaRPr lang="en-US" altLang="zh-CN" dirty="0" smtClean="0"/>
          </a:p>
          <a:p>
            <a:pPr lvl="1"/>
            <a:r>
              <a:rPr lang="zh-CN" altLang="en-US" dirty="0" smtClean="0"/>
              <a:t>创建线程池</a:t>
            </a:r>
            <a:r>
              <a:rPr lang="en-US" altLang="zh-CN" dirty="0" smtClean="0"/>
              <a:t>pool</a:t>
            </a:r>
          </a:p>
          <a:p>
            <a:pPr lvl="1"/>
            <a:r>
              <a:rPr lang="zh-CN" altLang="en-US" dirty="0" smtClean="0"/>
              <a:t>每个客户端，一个线程处理 </a:t>
            </a:r>
            <a:r>
              <a:rPr lang="en-US" altLang="zh-CN" dirty="0" err="1" smtClean="0"/>
              <a:t>ExecutorService.submit</a:t>
            </a:r>
            <a:r>
              <a:rPr lang="en-US" altLang="zh-CN" dirty="0" smtClean="0"/>
              <a:t>()</a:t>
            </a:r>
          </a:p>
          <a:p>
            <a:pPr lvl="2"/>
            <a:r>
              <a:rPr lang="zh-CN" altLang="en-US" dirty="0" smtClean="0"/>
              <a:t>获取请求的文件路径</a:t>
            </a:r>
            <a:endParaRPr lang="en-US" altLang="zh-CN" dirty="0" smtClean="0"/>
          </a:p>
          <a:p>
            <a:pPr lvl="2"/>
            <a:r>
              <a:rPr lang="zh-CN" altLang="en-US" dirty="0" smtClean="0"/>
              <a:t>把文件发给客户端</a:t>
            </a:r>
          </a:p>
        </p:txBody>
      </p:sp>
      <p:sp>
        <p:nvSpPr>
          <p:cNvPr id="19460" name="矩形 3"/>
          <p:cNvSpPr>
            <a:spLocks noChangeArrowheads="1"/>
          </p:cNvSpPr>
          <p:nvPr/>
        </p:nvSpPr>
        <p:spPr bwMode="auto">
          <a:xfrm>
            <a:off x="7993063" y="6488113"/>
            <a:ext cx="747712" cy="369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zh-CN" altLang="en-US"/>
              <a:t>JHTTP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5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945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945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5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945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945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5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945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945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5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945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945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5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945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945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5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1945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1945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标题 1"/>
          <p:cNvSpPr>
            <a:spLocks noGrp="1"/>
          </p:cNvSpPr>
          <p:nvPr>
            <p:ph type="title"/>
          </p:nvPr>
        </p:nvSpPr>
        <p:spPr>
          <a:xfrm>
            <a:off x="533400" y="304800"/>
            <a:ext cx="7775575" cy="438150"/>
          </a:xfrm>
        </p:spPr>
        <p:txBody>
          <a:bodyPr anchor="t">
            <a:noAutofit/>
          </a:bodyPr>
          <a:lstStyle/>
          <a:p>
            <a:r>
              <a:rPr lang="zh-CN" altLang="en-US" sz="3600" dirty="0" smtClean="0"/>
              <a:t>课后</a:t>
            </a:r>
            <a:r>
              <a:rPr lang="zh-CN" altLang="en-US" sz="3600" dirty="0" smtClean="0"/>
              <a:t>任务：</a:t>
            </a:r>
            <a:endParaRPr lang="zh-CN" altLang="en-US" sz="3600" dirty="0" smtClean="0"/>
          </a:p>
        </p:txBody>
      </p:sp>
      <p:sp>
        <p:nvSpPr>
          <p:cNvPr id="18435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smtClean="0"/>
              <a:t>阅读理解下面</a:t>
            </a:r>
            <a:r>
              <a:rPr lang="en-US" altLang="zh-CN" smtClean="0"/>
              <a:t>3</a:t>
            </a:r>
            <a:r>
              <a:rPr lang="zh-CN" altLang="en-US" smtClean="0"/>
              <a:t>个程序</a:t>
            </a:r>
            <a:endParaRPr lang="en-US" altLang="zh-CN" smtClean="0"/>
          </a:p>
          <a:p>
            <a:pPr lvl="1"/>
            <a:r>
              <a:rPr lang="zh-CN" altLang="en-US" smtClean="0"/>
              <a:t>单文件服务器：</a:t>
            </a:r>
            <a:r>
              <a:rPr lang="en-US" altLang="zh-CN" smtClean="0"/>
              <a:t>P304-306</a:t>
            </a:r>
          </a:p>
          <a:p>
            <a:pPr lvl="1"/>
            <a:r>
              <a:rPr lang="zh-CN" altLang="en-US" smtClean="0"/>
              <a:t>重定向器</a:t>
            </a:r>
            <a:r>
              <a:rPr lang="en-US" altLang="zh-CN" smtClean="0"/>
              <a:t>Redirector</a:t>
            </a:r>
            <a:r>
              <a:rPr lang="zh-CN" altLang="en-US" smtClean="0"/>
              <a:t>：</a:t>
            </a:r>
            <a:r>
              <a:rPr lang="en-US" altLang="zh-CN" smtClean="0"/>
              <a:t>P307-310</a:t>
            </a:r>
          </a:p>
          <a:p>
            <a:pPr lvl="1"/>
            <a:r>
              <a:rPr lang="zh-CN" altLang="en-US" smtClean="0"/>
              <a:t>功能完备的</a:t>
            </a:r>
            <a:r>
              <a:rPr lang="en-US" altLang="zh-CN" smtClean="0"/>
              <a:t>HTTP</a:t>
            </a:r>
            <a:r>
              <a:rPr lang="zh-CN" altLang="en-US" smtClean="0"/>
              <a:t>服务器：</a:t>
            </a:r>
            <a:r>
              <a:rPr lang="en-US" altLang="zh-CN" smtClean="0"/>
              <a:t>P312-317</a:t>
            </a:r>
            <a:endParaRPr lang="zh-CN" altLang="en-US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中性">
  <a:themeElements>
    <a:clrScheme name="中性">
      <a:dk1>
        <a:sysClr val="windowText" lastClr="000000"/>
      </a:dk1>
      <a:lt1>
        <a:sysClr val="window" lastClr="FFFFFF"/>
      </a:lt1>
      <a:dk2>
        <a:srgbClr val="775F55"/>
      </a:dk2>
      <a:lt2>
        <a:srgbClr val="EBDDC3"/>
      </a:lt2>
      <a:accent1>
        <a:srgbClr val="94B6D2"/>
      </a:accent1>
      <a:accent2>
        <a:srgbClr val="DD8047"/>
      </a:accent2>
      <a:accent3>
        <a:srgbClr val="A5AB81"/>
      </a:accent3>
      <a:accent4>
        <a:srgbClr val="D8B25C"/>
      </a:accent4>
      <a:accent5>
        <a:srgbClr val="7BA79D"/>
      </a:accent5>
      <a:accent6>
        <a:srgbClr val="968C8C"/>
      </a:accent6>
      <a:hlink>
        <a:srgbClr val="F7B615"/>
      </a:hlink>
      <a:folHlink>
        <a:srgbClr val="704404"/>
      </a:folHlink>
    </a:clrScheme>
    <a:fontScheme name="中性">
      <a:majorFont>
        <a:latin typeface="Tw Cen MT"/>
        <a:ea typeface=""/>
        <a:cs typeface=""/>
        <a:font script="Grek" typeface="Calibri"/>
        <a:font script="Cyrl" typeface="Calibri"/>
        <a:font script="Jpan" typeface="HGPｺﾞｼｯｸE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ajorFont>
      <a:minorFont>
        <a:latin typeface="Tw Cen MT"/>
        <a:ea typeface=""/>
        <a:cs typeface=""/>
        <a:font script="Grek" typeface="Calibri"/>
        <a:font script="Cyrl" typeface="Calibri"/>
        <a:font script="Jpan" typeface="HGPｺﾞｼｯｸE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inorFont>
    </a:fontScheme>
    <a:fmtScheme name="中性">
      <a:fillStyleLst>
        <a:solidFill>
          <a:schemeClr val="phClr"/>
        </a:solidFill>
        <a:solidFill>
          <a:schemeClr val="phClr">
            <a:tint val="50000"/>
          </a:schemeClr>
        </a:solidFill>
        <a:solidFill>
          <a:schemeClr val="phClr"/>
        </a:solidFill>
      </a:fillStyleLst>
      <a:lnStyleLst>
        <a:ln w="100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47625" cap="flat" cmpd="dbl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300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38100" dist="300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  <a:scene3d>
            <a:camera prst="isometricTopDown" fov="0">
              <a:rot lat="0" lon="0" rev="0"/>
            </a:camera>
            <a:lightRig rig="balanced" dir="t">
              <a:rot lat="0" lon="0" rev="13800000"/>
            </a:lightRig>
          </a:scene3d>
          <a:sp3d extrusionH="12700" prstMaterial="plastic">
            <a:bevelT w="38100" h="25400" prst="softRound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blipFill>
          <a:blip xmlns:r="http://schemas.openxmlformats.org/officeDocument/2006/relationships" r:embed="rId1">
            <a:duotone>
              <a:schemeClr val="phClr">
                <a:shade val="90000"/>
                <a:satMod val="140000"/>
              </a:schemeClr>
              <a:schemeClr val="phClr">
                <a:satMod val="120000"/>
              </a:schemeClr>
            </a:duotone>
          </a:blip>
          <a:tile tx="0" ty="0" sx="100000" sy="100000" flip="none" algn="tl"/>
        </a:blipFill>
        <a:blipFill>
          <a:blip xmlns:r="http://schemas.openxmlformats.org/officeDocument/2006/relationships" r:embed="rId2">
            <a:duotone>
              <a:schemeClr val="phClr">
                <a:shade val="90000"/>
                <a:satMod val="140000"/>
              </a:schemeClr>
              <a:schemeClr val="phClr">
                <a:satMod val="120000"/>
              </a:schemeClr>
            </a:duotone>
          </a:blip>
          <a:tile tx="0" ty="0" sx="100000" sy="100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Median</Template>
  <TotalTime>3075</TotalTime>
  <Words>910</Words>
  <Application>Microsoft Office PowerPoint</Application>
  <PresentationFormat>全屏显示(4:3)</PresentationFormat>
  <Paragraphs>197</Paragraphs>
  <Slides>27</Slides>
  <Notes>3</Notes>
  <HiddenSlides>0</HiddenSlides>
  <MMClips>0</MMClips>
  <ScaleCrop>false</ScaleCrop>
  <HeadingPairs>
    <vt:vector size="4" baseType="variant">
      <vt:variant>
        <vt:lpstr>主题</vt:lpstr>
      </vt:variant>
      <vt:variant>
        <vt:i4>1</vt:i4>
      </vt:variant>
      <vt:variant>
        <vt:lpstr>幻灯片标题</vt:lpstr>
      </vt:variant>
      <vt:variant>
        <vt:i4>27</vt:i4>
      </vt:variant>
    </vt:vector>
  </HeadingPairs>
  <TitlesOfParts>
    <vt:vector size="28" baseType="lpstr">
      <vt:lpstr>中性</vt:lpstr>
      <vt:lpstr>               Server Socket</vt:lpstr>
      <vt:lpstr> 主要内容</vt:lpstr>
      <vt:lpstr>使用ServerSocket</vt:lpstr>
      <vt:lpstr>基本实现步骤</vt:lpstr>
      <vt:lpstr>SeverSocket 举例</vt:lpstr>
      <vt:lpstr>使用ServerSocket-应用实例（1）</vt:lpstr>
      <vt:lpstr>多线程服务器</vt:lpstr>
      <vt:lpstr>幻灯片 8</vt:lpstr>
      <vt:lpstr>使用ServerSocket-应用实例（3）</vt:lpstr>
      <vt:lpstr>使用ServerSocket-应用实例（3）</vt:lpstr>
      <vt:lpstr>使用ServerSocket</vt:lpstr>
      <vt:lpstr>服务器日志</vt:lpstr>
      <vt:lpstr>服务器日志</vt:lpstr>
      <vt:lpstr>如何记录日志</vt:lpstr>
      <vt:lpstr>日志级别</vt:lpstr>
      <vt:lpstr>日志位置</vt:lpstr>
      <vt:lpstr>构造服务器Socket</vt:lpstr>
      <vt:lpstr>思考</vt:lpstr>
      <vt:lpstr>构造但不绑定端口</vt:lpstr>
      <vt:lpstr>代码实现</vt:lpstr>
      <vt:lpstr>获得服务器Socket的有关信息</vt:lpstr>
      <vt:lpstr>Socket选项</vt:lpstr>
      <vt:lpstr>HTTP服务器</vt:lpstr>
      <vt:lpstr>单文件HTTP服务器</vt:lpstr>
      <vt:lpstr>重定向HTTP服务器</vt:lpstr>
      <vt:lpstr>功能完善的HTTP服务器</vt:lpstr>
      <vt:lpstr>课后任务：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端美科技高校合作产学研发展计划</dc:title>
  <cp:lastModifiedBy>dell</cp:lastModifiedBy>
  <cp:revision>269</cp:revision>
  <dcterms:modified xsi:type="dcterms:W3CDTF">2020-05-22T06:59:03Z</dcterms:modified>
</cp:coreProperties>
</file>