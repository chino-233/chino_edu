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9"/>
  </p:notesMasterIdLst>
  <p:sldIdLst>
    <p:sldId id="256" r:id="rId2"/>
    <p:sldId id="316" r:id="rId3"/>
    <p:sldId id="338" r:id="rId4"/>
    <p:sldId id="339" r:id="rId5"/>
    <p:sldId id="340" r:id="rId6"/>
    <p:sldId id="317" r:id="rId7"/>
    <p:sldId id="34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43" r:id="rId25"/>
    <p:sldId id="344" r:id="rId26"/>
    <p:sldId id="345" r:id="rId27"/>
    <p:sldId id="334" r:id="rId28"/>
    <p:sldId id="335" r:id="rId29"/>
    <p:sldId id="346" r:id="rId30"/>
    <p:sldId id="336" r:id="rId31"/>
    <p:sldId id="337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  <p:sldId id="368" r:id="rId52"/>
    <p:sldId id="370" r:id="rId53"/>
    <p:sldId id="371" r:id="rId54"/>
    <p:sldId id="372" r:id="rId55"/>
    <p:sldId id="373" r:id="rId56"/>
    <p:sldId id="374" r:id="rId57"/>
    <p:sldId id="375" r:id="rId58"/>
    <p:sldId id="376" r:id="rId59"/>
    <p:sldId id="377" r:id="rId60"/>
    <p:sldId id="378" r:id="rId61"/>
    <p:sldId id="379" r:id="rId62"/>
    <p:sldId id="380" r:id="rId63"/>
    <p:sldId id="381" r:id="rId64"/>
    <p:sldId id="382" r:id="rId65"/>
    <p:sldId id="383" r:id="rId66"/>
    <p:sldId id="384" r:id="rId67"/>
    <p:sldId id="385" r:id="rId68"/>
    <p:sldId id="386" r:id="rId69"/>
    <p:sldId id="387" r:id="rId70"/>
    <p:sldId id="388" r:id="rId71"/>
    <p:sldId id="389" r:id="rId72"/>
    <p:sldId id="390" r:id="rId73"/>
    <p:sldId id="391" r:id="rId74"/>
    <p:sldId id="392" r:id="rId75"/>
    <p:sldId id="393" r:id="rId76"/>
    <p:sldId id="394" r:id="rId77"/>
    <p:sldId id="395" r:id="rId78"/>
    <p:sldId id="396" r:id="rId79"/>
    <p:sldId id="397" r:id="rId80"/>
    <p:sldId id="398" r:id="rId81"/>
    <p:sldId id="402" r:id="rId82"/>
    <p:sldId id="403" r:id="rId83"/>
    <p:sldId id="404" r:id="rId84"/>
    <p:sldId id="405" r:id="rId85"/>
    <p:sldId id="406" r:id="rId86"/>
    <p:sldId id="407" r:id="rId87"/>
    <p:sldId id="399" r:id="rId88"/>
    <p:sldId id="400" r:id="rId89"/>
    <p:sldId id="401" r:id="rId90"/>
    <p:sldId id="408" r:id="rId91"/>
    <p:sldId id="409" r:id="rId92"/>
    <p:sldId id="410" r:id="rId93"/>
    <p:sldId id="411" r:id="rId94"/>
    <p:sldId id="412" r:id="rId95"/>
    <p:sldId id="413" r:id="rId96"/>
    <p:sldId id="414" r:id="rId97"/>
    <p:sldId id="415" r:id="rId98"/>
    <p:sldId id="416" r:id="rId99"/>
    <p:sldId id="417" r:id="rId100"/>
    <p:sldId id="418" r:id="rId101"/>
    <p:sldId id="419" r:id="rId102"/>
    <p:sldId id="420" r:id="rId103"/>
    <p:sldId id="421" r:id="rId104"/>
    <p:sldId id="422" r:id="rId105"/>
    <p:sldId id="423" r:id="rId106"/>
    <p:sldId id="424" r:id="rId107"/>
    <p:sldId id="425" r:id="rId10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68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29B6FA-7BF8-4698-AD0A-48196696DE5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5B53F7D-24C7-48D5-8EFA-A6A345D091A6}">
      <dgm:prSet phldrT="[文本]" custT="1"/>
      <dgm:spPr>
        <a:solidFill>
          <a:schemeClr val="tx2"/>
        </a:solidFill>
      </dgm:spPr>
      <dgm:t>
        <a:bodyPr/>
        <a:lstStyle/>
        <a:p>
          <a:r>
            <a:rPr lang="zh-CN" altLang="en-US" sz="2000" dirty="0" smtClean="0"/>
            <a:t>创建线程类重写</a:t>
          </a:r>
          <a:r>
            <a:rPr lang="en-US" altLang="zh-CN" sz="2000" dirty="0" smtClean="0"/>
            <a:t>run</a:t>
          </a:r>
          <a:r>
            <a:rPr lang="zh-CN" altLang="en-US" sz="2000" dirty="0" smtClean="0"/>
            <a:t>方法做“我想让线程干的事</a:t>
          </a:r>
          <a:r>
            <a:rPr lang="zh-CN" altLang="en-US" sz="2400" dirty="0" smtClean="0"/>
            <a:t>”</a:t>
          </a:r>
          <a:endParaRPr lang="zh-CN" altLang="en-US" sz="2400" dirty="0"/>
        </a:p>
      </dgm:t>
    </dgm:pt>
    <dgm:pt modelId="{AEE26EE2-856F-46D2-841C-6285E9A3603B}" type="parTrans" cxnId="{F4FDD824-45F9-4676-B1B3-48685E9580C2}">
      <dgm:prSet/>
      <dgm:spPr/>
      <dgm:t>
        <a:bodyPr/>
        <a:lstStyle/>
        <a:p>
          <a:endParaRPr lang="zh-CN" altLang="en-US"/>
        </a:p>
      </dgm:t>
    </dgm:pt>
    <dgm:pt modelId="{D349AD80-5A18-4E44-830E-0F65D6489203}" type="sibTrans" cxnId="{F4FDD824-45F9-4676-B1B3-48685E9580C2}">
      <dgm:prSet/>
      <dgm:spPr/>
      <dgm:t>
        <a:bodyPr/>
        <a:lstStyle/>
        <a:p>
          <a:endParaRPr lang="zh-CN" altLang="en-US"/>
        </a:p>
      </dgm:t>
    </dgm:pt>
    <dgm:pt modelId="{05754646-CCBF-4248-8EDC-E0A1C8BF171E}">
      <dgm:prSet phldrT="[文本]" custT="1"/>
      <dgm:spPr>
        <a:solidFill>
          <a:schemeClr val="tx2"/>
        </a:solidFill>
      </dgm:spPr>
      <dgm:t>
        <a:bodyPr/>
        <a:lstStyle/>
        <a:p>
          <a:r>
            <a:rPr lang="zh-CN" altLang="en-US" sz="2000" dirty="0" smtClean="0"/>
            <a:t>派生</a:t>
          </a:r>
          <a:r>
            <a:rPr lang="en-US" altLang="zh-CN" sz="2000" dirty="0" smtClean="0"/>
            <a:t>Thread</a:t>
          </a:r>
          <a:endParaRPr lang="zh-CN" altLang="en-US" sz="2000" dirty="0"/>
        </a:p>
      </dgm:t>
    </dgm:pt>
    <dgm:pt modelId="{B658EA7A-BC4E-4B74-92AC-AB145D761FE1}" type="parTrans" cxnId="{1EC99534-98AF-4730-870D-BF0ED42DCA7E}">
      <dgm:prSet/>
      <dgm:spPr/>
      <dgm:t>
        <a:bodyPr/>
        <a:lstStyle/>
        <a:p>
          <a:endParaRPr lang="zh-CN" altLang="en-US"/>
        </a:p>
      </dgm:t>
    </dgm:pt>
    <dgm:pt modelId="{229F0E2D-AA88-401B-AA2B-AC887866B3FB}" type="sibTrans" cxnId="{1EC99534-98AF-4730-870D-BF0ED42DCA7E}">
      <dgm:prSet/>
      <dgm:spPr/>
      <dgm:t>
        <a:bodyPr/>
        <a:lstStyle/>
        <a:p>
          <a:endParaRPr lang="zh-CN" altLang="en-US"/>
        </a:p>
      </dgm:t>
    </dgm:pt>
    <dgm:pt modelId="{E255B3EB-F009-4AE9-8C9B-D73DFBC9E4C2}">
      <dgm:prSet phldrT="[文本]" custT="1"/>
      <dgm:spPr>
        <a:solidFill>
          <a:schemeClr val="tx2"/>
        </a:solidFill>
      </dgm:spPr>
      <dgm:t>
        <a:bodyPr/>
        <a:lstStyle/>
        <a:p>
          <a:r>
            <a:rPr lang="zh-CN" altLang="en-US" sz="2000" dirty="0" smtClean="0"/>
            <a:t>实现</a:t>
          </a:r>
          <a:r>
            <a:rPr lang="en-US" altLang="zh-CN" sz="2000" dirty="0" smtClean="0"/>
            <a:t>Runnable</a:t>
          </a:r>
          <a:r>
            <a:rPr lang="zh-CN" altLang="en-US" sz="2000" dirty="0" smtClean="0"/>
            <a:t>接口</a:t>
          </a:r>
          <a:endParaRPr lang="zh-CN" altLang="en-US" sz="2000" dirty="0"/>
        </a:p>
      </dgm:t>
    </dgm:pt>
    <dgm:pt modelId="{80F05A3A-5A1D-4C9C-82B2-0212CDB2353C}" type="parTrans" cxnId="{FAE138EE-A4F6-4D06-BECA-5025F64B40F9}">
      <dgm:prSet/>
      <dgm:spPr/>
      <dgm:t>
        <a:bodyPr/>
        <a:lstStyle/>
        <a:p>
          <a:endParaRPr lang="zh-CN" altLang="en-US"/>
        </a:p>
      </dgm:t>
    </dgm:pt>
    <dgm:pt modelId="{B206C967-AE01-4750-9E15-4960F6904166}" type="sibTrans" cxnId="{FAE138EE-A4F6-4D06-BECA-5025F64B40F9}">
      <dgm:prSet/>
      <dgm:spPr/>
      <dgm:t>
        <a:bodyPr/>
        <a:lstStyle/>
        <a:p>
          <a:endParaRPr lang="zh-CN" altLang="en-US"/>
        </a:p>
      </dgm:t>
    </dgm:pt>
    <dgm:pt modelId="{4E595505-AFF0-4E61-9CAD-4E2CD33B6127}" type="pres">
      <dgm:prSet presAssocID="{D529B6FA-7BF8-4698-AD0A-48196696DE5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F4388EC-CAE5-4EC1-9E37-19E3BF873182}" type="pres">
      <dgm:prSet presAssocID="{25B53F7D-24C7-48D5-8EFA-A6A345D091A6}" presName="root1" presStyleCnt="0"/>
      <dgm:spPr/>
    </dgm:pt>
    <dgm:pt modelId="{DBFD5FCE-F704-4F48-B45C-843CD2C9711A}" type="pres">
      <dgm:prSet presAssocID="{25B53F7D-24C7-48D5-8EFA-A6A345D091A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9594116-2C3B-4DC9-A955-678D66F8F914}" type="pres">
      <dgm:prSet presAssocID="{25B53F7D-24C7-48D5-8EFA-A6A345D091A6}" presName="level2hierChild" presStyleCnt="0"/>
      <dgm:spPr/>
    </dgm:pt>
    <dgm:pt modelId="{D73FF560-2FA7-4775-A44B-942A1CBCBADC}" type="pres">
      <dgm:prSet presAssocID="{B658EA7A-BC4E-4B74-92AC-AB145D761FE1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DC8A7BFC-0A20-4C83-9BC6-6F0BB8C2DF75}" type="pres">
      <dgm:prSet presAssocID="{B658EA7A-BC4E-4B74-92AC-AB145D761FE1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2B8DF5E3-CC5A-44EC-A8BF-F97D950EF21C}" type="pres">
      <dgm:prSet presAssocID="{05754646-CCBF-4248-8EDC-E0A1C8BF171E}" presName="root2" presStyleCnt="0"/>
      <dgm:spPr/>
    </dgm:pt>
    <dgm:pt modelId="{E1E119AB-CA5A-46BA-97FA-3085616DAE08}" type="pres">
      <dgm:prSet presAssocID="{05754646-CCBF-4248-8EDC-E0A1C8BF171E}" presName="LevelTwoTextNode" presStyleLbl="node2" presStyleIdx="0" presStyleCnt="2" custScaleX="98000" custScaleY="5647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E11FA09-28F8-4922-B4C0-DF388EB17F09}" type="pres">
      <dgm:prSet presAssocID="{05754646-CCBF-4248-8EDC-E0A1C8BF171E}" presName="level3hierChild" presStyleCnt="0"/>
      <dgm:spPr/>
    </dgm:pt>
    <dgm:pt modelId="{BA097AE7-551F-4751-AC1B-E613DE1EA85F}" type="pres">
      <dgm:prSet presAssocID="{80F05A3A-5A1D-4C9C-82B2-0212CDB2353C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ABF512F5-340F-49D8-B46B-24232A4DBC54}" type="pres">
      <dgm:prSet presAssocID="{80F05A3A-5A1D-4C9C-82B2-0212CDB2353C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5730E22D-330F-4E28-AA68-FE58764B2B28}" type="pres">
      <dgm:prSet presAssocID="{E255B3EB-F009-4AE9-8C9B-D73DFBC9E4C2}" presName="root2" presStyleCnt="0"/>
      <dgm:spPr/>
    </dgm:pt>
    <dgm:pt modelId="{D6DBDEBB-35C5-4DD3-9EF6-31B239C86427}" type="pres">
      <dgm:prSet presAssocID="{E255B3EB-F009-4AE9-8C9B-D73DFBC9E4C2}" presName="LevelTwoTextNode" presStyleLbl="node2" presStyleIdx="1" presStyleCnt="2" custScaleX="110146" custScaleY="4414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42E7FFC-7BD6-4B62-BF34-F4D2A3B0B930}" type="pres">
      <dgm:prSet presAssocID="{E255B3EB-F009-4AE9-8C9B-D73DFBC9E4C2}" presName="level3hierChild" presStyleCnt="0"/>
      <dgm:spPr/>
    </dgm:pt>
  </dgm:ptLst>
  <dgm:cxnLst>
    <dgm:cxn modelId="{EF83DC24-A2B1-4F49-8B76-990F81A1E092}" type="presOf" srcId="{B658EA7A-BC4E-4B74-92AC-AB145D761FE1}" destId="{DC8A7BFC-0A20-4C83-9BC6-6F0BB8C2DF75}" srcOrd="1" destOrd="0" presId="urn:microsoft.com/office/officeart/2005/8/layout/hierarchy2"/>
    <dgm:cxn modelId="{044610B7-9C04-4188-A734-AD55D629D49B}" type="presOf" srcId="{D529B6FA-7BF8-4698-AD0A-48196696DE51}" destId="{4E595505-AFF0-4E61-9CAD-4E2CD33B6127}" srcOrd="0" destOrd="0" presId="urn:microsoft.com/office/officeart/2005/8/layout/hierarchy2"/>
    <dgm:cxn modelId="{FAE138EE-A4F6-4D06-BECA-5025F64B40F9}" srcId="{25B53F7D-24C7-48D5-8EFA-A6A345D091A6}" destId="{E255B3EB-F009-4AE9-8C9B-D73DFBC9E4C2}" srcOrd="1" destOrd="0" parTransId="{80F05A3A-5A1D-4C9C-82B2-0212CDB2353C}" sibTransId="{B206C967-AE01-4750-9E15-4960F6904166}"/>
    <dgm:cxn modelId="{F4FDD824-45F9-4676-B1B3-48685E9580C2}" srcId="{D529B6FA-7BF8-4698-AD0A-48196696DE51}" destId="{25B53F7D-24C7-48D5-8EFA-A6A345D091A6}" srcOrd="0" destOrd="0" parTransId="{AEE26EE2-856F-46D2-841C-6285E9A3603B}" sibTransId="{D349AD80-5A18-4E44-830E-0F65D6489203}"/>
    <dgm:cxn modelId="{D0ABCE1C-01D7-4AC3-A1BB-A7039412F437}" type="presOf" srcId="{E255B3EB-F009-4AE9-8C9B-D73DFBC9E4C2}" destId="{D6DBDEBB-35C5-4DD3-9EF6-31B239C86427}" srcOrd="0" destOrd="0" presId="urn:microsoft.com/office/officeart/2005/8/layout/hierarchy2"/>
    <dgm:cxn modelId="{98FDAE03-69CC-4773-82EC-1E2EE5382FA8}" type="presOf" srcId="{05754646-CCBF-4248-8EDC-E0A1C8BF171E}" destId="{E1E119AB-CA5A-46BA-97FA-3085616DAE08}" srcOrd="0" destOrd="0" presId="urn:microsoft.com/office/officeart/2005/8/layout/hierarchy2"/>
    <dgm:cxn modelId="{2B7A2422-2D08-4430-AAB2-45F6DAF1BCBF}" type="presOf" srcId="{80F05A3A-5A1D-4C9C-82B2-0212CDB2353C}" destId="{ABF512F5-340F-49D8-B46B-24232A4DBC54}" srcOrd="1" destOrd="0" presId="urn:microsoft.com/office/officeart/2005/8/layout/hierarchy2"/>
    <dgm:cxn modelId="{C4F485F2-0665-45A3-A867-6D3D25ECAD02}" type="presOf" srcId="{25B53F7D-24C7-48D5-8EFA-A6A345D091A6}" destId="{DBFD5FCE-F704-4F48-B45C-843CD2C9711A}" srcOrd="0" destOrd="0" presId="urn:microsoft.com/office/officeart/2005/8/layout/hierarchy2"/>
    <dgm:cxn modelId="{39E56962-218A-413D-AEC1-36F778436CF8}" type="presOf" srcId="{80F05A3A-5A1D-4C9C-82B2-0212CDB2353C}" destId="{BA097AE7-551F-4751-AC1B-E613DE1EA85F}" srcOrd="0" destOrd="0" presId="urn:microsoft.com/office/officeart/2005/8/layout/hierarchy2"/>
    <dgm:cxn modelId="{1EC99534-98AF-4730-870D-BF0ED42DCA7E}" srcId="{25B53F7D-24C7-48D5-8EFA-A6A345D091A6}" destId="{05754646-CCBF-4248-8EDC-E0A1C8BF171E}" srcOrd="0" destOrd="0" parTransId="{B658EA7A-BC4E-4B74-92AC-AB145D761FE1}" sibTransId="{229F0E2D-AA88-401B-AA2B-AC887866B3FB}"/>
    <dgm:cxn modelId="{1301B88B-DA5C-4FA2-BB30-C9BD1056B210}" type="presOf" srcId="{B658EA7A-BC4E-4B74-92AC-AB145D761FE1}" destId="{D73FF560-2FA7-4775-A44B-942A1CBCBADC}" srcOrd="0" destOrd="0" presId="urn:microsoft.com/office/officeart/2005/8/layout/hierarchy2"/>
    <dgm:cxn modelId="{EC2556F9-994F-427A-A22C-A508BB47E9AF}" type="presParOf" srcId="{4E595505-AFF0-4E61-9CAD-4E2CD33B6127}" destId="{2F4388EC-CAE5-4EC1-9E37-19E3BF873182}" srcOrd="0" destOrd="0" presId="urn:microsoft.com/office/officeart/2005/8/layout/hierarchy2"/>
    <dgm:cxn modelId="{B6629414-8592-4510-9042-F0206971B85B}" type="presParOf" srcId="{2F4388EC-CAE5-4EC1-9E37-19E3BF873182}" destId="{DBFD5FCE-F704-4F48-B45C-843CD2C9711A}" srcOrd="0" destOrd="0" presId="urn:microsoft.com/office/officeart/2005/8/layout/hierarchy2"/>
    <dgm:cxn modelId="{D7BD6C29-54F9-4AD4-B957-A830786E4999}" type="presParOf" srcId="{2F4388EC-CAE5-4EC1-9E37-19E3BF873182}" destId="{29594116-2C3B-4DC9-A955-678D66F8F914}" srcOrd="1" destOrd="0" presId="urn:microsoft.com/office/officeart/2005/8/layout/hierarchy2"/>
    <dgm:cxn modelId="{09A70F68-1B7A-4C6C-84AA-80E6FF056704}" type="presParOf" srcId="{29594116-2C3B-4DC9-A955-678D66F8F914}" destId="{D73FF560-2FA7-4775-A44B-942A1CBCBADC}" srcOrd="0" destOrd="0" presId="urn:microsoft.com/office/officeart/2005/8/layout/hierarchy2"/>
    <dgm:cxn modelId="{BC5AF8C4-2A00-4C11-934E-2F2BDA7052FC}" type="presParOf" srcId="{D73FF560-2FA7-4775-A44B-942A1CBCBADC}" destId="{DC8A7BFC-0A20-4C83-9BC6-6F0BB8C2DF75}" srcOrd="0" destOrd="0" presId="urn:microsoft.com/office/officeart/2005/8/layout/hierarchy2"/>
    <dgm:cxn modelId="{681788AB-0C0D-448D-AA27-361A74CA3011}" type="presParOf" srcId="{29594116-2C3B-4DC9-A955-678D66F8F914}" destId="{2B8DF5E3-CC5A-44EC-A8BF-F97D950EF21C}" srcOrd="1" destOrd="0" presId="urn:microsoft.com/office/officeart/2005/8/layout/hierarchy2"/>
    <dgm:cxn modelId="{EE377A41-6D35-4169-8A32-D897311AEE07}" type="presParOf" srcId="{2B8DF5E3-CC5A-44EC-A8BF-F97D950EF21C}" destId="{E1E119AB-CA5A-46BA-97FA-3085616DAE08}" srcOrd="0" destOrd="0" presId="urn:microsoft.com/office/officeart/2005/8/layout/hierarchy2"/>
    <dgm:cxn modelId="{A08536BA-514B-473D-A551-44D987D26C56}" type="presParOf" srcId="{2B8DF5E3-CC5A-44EC-A8BF-F97D950EF21C}" destId="{0E11FA09-28F8-4922-B4C0-DF388EB17F09}" srcOrd="1" destOrd="0" presId="urn:microsoft.com/office/officeart/2005/8/layout/hierarchy2"/>
    <dgm:cxn modelId="{436F6E54-E58B-49D5-8EC2-F2BAFDC5329F}" type="presParOf" srcId="{29594116-2C3B-4DC9-A955-678D66F8F914}" destId="{BA097AE7-551F-4751-AC1B-E613DE1EA85F}" srcOrd="2" destOrd="0" presId="urn:microsoft.com/office/officeart/2005/8/layout/hierarchy2"/>
    <dgm:cxn modelId="{E2B9DD13-907E-477A-A877-30C5B81C28BA}" type="presParOf" srcId="{BA097AE7-551F-4751-AC1B-E613DE1EA85F}" destId="{ABF512F5-340F-49D8-B46B-24232A4DBC54}" srcOrd="0" destOrd="0" presId="urn:microsoft.com/office/officeart/2005/8/layout/hierarchy2"/>
    <dgm:cxn modelId="{8B57A7B3-5C16-4E5F-85E8-1F1D86FFE056}" type="presParOf" srcId="{29594116-2C3B-4DC9-A955-678D66F8F914}" destId="{5730E22D-330F-4E28-AA68-FE58764B2B28}" srcOrd="3" destOrd="0" presId="urn:microsoft.com/office/officeart/2005/8/layout/hierarchy2"/>
    <dgm:cxn modelId="{A689A30F-296A-4EC2-94D8-FA9E6B487204}" type="presParOf" srcId="{5730E22D-330F-4E28-AA68-FE58764B2B28}" destId="{D6DBDEBB-35C5-4DD3-9EF6-31B239C86427}" srcOrd="0" destOrd="0" presId="urn:microsoft.com/office/officeart/2005/8/layout/hierarchy2"/>
    <dgm:cxn modelId="{1883E412-3B31-4941-AED4-B040A225D111}" type="presParOf" srcId="{5730E22D-330F-4E28-AA68-FE58764B2B28}" destId="{242E7FFC-7BD6-4B62-BF34-F4D2A3B0B930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BFD5FCE-F704-4F48-B45C-843CD2C9711A}">
      <dsp:nvSpPr>
        <dsp:cNvPr id="0" name=""/>
        <dsp:cNvSpPr/>
      </dsp:nvSpPr>
      <dsp:spPr>
        <a:xfrm>
          <a:off x="205" y="1422796"/>
          <a:ext cx="2436812" cy="1218406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创建线程类重写</a:t>
          </a:r>
          <a:r>
            <a:rPr lang="en-US" altLang="zh-CN" sz="2000" kern="1200" dirty="0" smtClean="0"/>
            <a:t>run</a:t>
          </a:r>
          <a:r>
            <a:rPr lang="zh-CN" altLang="en-US" sz="2000" kern="1200" dirty="0" smtClean="0"/>
            <a:t>方法做“我想让线程干的事</a:t>
          </a:r>
          <a:r>
            <a:rPr lang="zh-CN" altLang="en-US" sz="2400" kern="1200" dirty="0" smtClean="0"/>
            <a:t>”</a:t>
          </a:r>
          <a:endParaRPr lang="zh-CN" altLang="en-US" sz="2400" kern="1200" dirty="0"/>
        </a:p>
      </dsp:txBody>
      <dsp:txXfrm>
        <a:off x="205" y="1422796"/>
        <a:ext cx="2436812" cy="1218406"/>
      </dsp:txXfrm>
    </dsp:sp>
    <dsp:sp modelId="{D73FF560-2FA7-4775-A44B-942A1CBCBADC}">
      <dsp:nvSpPr>
        <dsp:cNvPr id="0" name=""/>
        <dsp:cNvSpPr/>
      </dsp:nvSpPr>
      <dsp:spPr>
        <a:xfrm rot="20382847">
          <a:off x="2404790" y="1824873"/>
          <a:ext cx="1039180" cy="53964"/>
        </a:xfrm>
        <a:custGeom>
          <a:avLst/>
          <a:gdLst/>
          <a:ahLst/>
          <a:cxnLst/>
          <a:rect l="0" t="0" r="0" b="0"/>
          <a:pathLst>
            <a:path>
              <a:moveTo>
                <a:pt x="0" y="26982"/>
              </a:moveTo>
              <a:lnTo>
                <a:pt x="1039180" y="269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 rot="20382847">
        <a:off x="2898400" y="1825876"/>
        <a:ext cx="51959" cy="51959"/>
      </dsp:txXfrm>
    </dsp:sp>
    <dsp:sp modelId="{E1E119AB-CA5A-46BA-97FA-3085616DAE08}">
      <dsp:nvSpPr>
        <dsp:cNvPr id="0" name=""/>
        <dsp:cNvSpPr/>
      </dsp:nvSpPr>
      <dsp:spPr>
        <a:xfrm>
          <a:off x="3411743" y="1327645"/>
          <a:ext cx="2388076" cy="688131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派生</a:t>
          </a:r>
          <a:r>
            <a:rPr lang="en-US" altLang="zh-CN" sz="2000" kern="1200" dirty="0" smtClean="0"/>
            <a:t>Thread</a:t>
          </a:r>
          <a:endParaRPr lang="zh-CN" altLang="en-US" sz="2000" kern="1200" dirty="0"/>
        </a:p>
      </dsp:txBody>
      <dsp:txXfrm>
        <a:off x="3411743" y="1327645"/>
        <a:ext cx="2388076" cy="688131"/>
      </dsp:txXfrm>
    </dsp:sp>
    <dsp:sp modelId="{BA097AE7-551F-4751-AC1B-E613DE1EA85F}">
      <dsp:nvSpPr>
        <dsp:cNvPr id="0" name=""/>
        <dsp:cNvSpPr/>
      </dsp:nvSpPr>
      <dsp:spPr>
        <a:xfrm rot="1444326">
          <a:off x="2390596" y="2222740"/>
          <a:ext cx="1067568" cy="53964"/>
        </a:xfrm>
        <a:custGeom>
          <a:avLst/>
          <a:gdLst/>
          <a:ahLst/>
          <a:cxnLst/>
          <a:rect l="0" t="0" r="0" b="0"/>
          <a:pathLst>
            <a:path>
              <a:moveTo>
                <a:pt x="0" y="26982"/>
              </a:moveTo>
              <a:lnTo>
                <a:pt x="1067568" y="2698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 rot="1444326">
        <a:off x="2897691" y="2223033"/>
        <a:ext cx="53378" cy="53378"/>
      </dsp:txXfrm>
    </dsp:sp>
    <dsp:sp modelId="{D6DBDEBB-35C5-4DD3-9EF6-31B239C86427}">
      <dsp:nvSpPr>
        <dsp:cNvPr id="0" name=""/>
        <dsp:cNvSpPr/>
      </dsp:nvSpPr>
      <dsp:spPr>
        <a:xfrm>
          <a:off x="3411743" y="2198537"/>
          <a:ext cx="2684051" cy="537816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实现</a:t>
          </a:r>
          <a:r>
            <a:rPr lang="en-US" altLang="zh-CN" sz="2000" kern="1200" dirty="0" smtClean="0"/>
            <a:t>Runnable</a:t>
          </a:r>
          <a:r>
            <a:rPr lang="zh-CN" altLang="en-US" sz="2000" kern="1200" dirty="0" smtClean="0"/>
            <a:t>接口</a:t>
          </a:r>
          <a:endParaRPr lang="zh-CN" altLang="en-US" sz="2000" kern="1200" dirty="0"/>
        </a:p>
      </dsp:txBody>
      <dsp:txXfrm>
        <a:off x="3411743" y="2198537"/>
        <a:ext cx="2684051" cy="537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成功概率高一些，但依然会发生</a:t>
            </a:r>
            <a:r>
              <a:rPr lang="en-US" altLang="zh-CN" dirty="0" err="1" smtClean="0"/>
              <a:t>NullPointer</a:t>
            </a:r>
            <a:r>
              <a:rPr lang="zh-CN" altLang="en-US" dirty="0" smtClean="0"/>
              <a:t>异常，因为这样的代码仍然无法保证能获取到</a:t>
            </a:r>
            <a:r>
              <a:rPr lang="en-US" altLang="zh-CN" dirty="0" smtClean="0"/>
              <a:t>digest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E00E7-A099-42A7-B543-1190FBB0595C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64774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查询耗费大量计算资源，拖慢速度，还可能导致子线程很长的时间无法获得执行，而无法完成子线程的任务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E00E7-A099-42A7-B543-1190FBB0595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346597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DD088-3A57-4AAD-8514-636C7E100E2E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07997A9-B227-4798-AB33-5A0F94823409}" type="slidenum">
              <a:rPr lang="zh-CN" altLang="en-US"/>
              <a:pPr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3B2A68C-501C-432F-A7EC-7ED76AE0C697}" type="slidenum">
              <a:rPr lang="zh-CN" altLang="en-US"/>
              <a:pPr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526605B-7412-4969-844D-D65A23C74E28}" type="slidenum">
              <a:rPr lang="en-US" altLang="zh-CN"/>
              <a:pPr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3101232-4D34-49F2-8147-BAFC5411D229}" type="slidenum">
              <a:rPr lang="en-US" altLang="zh-CN"/>
              <a:pPr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D9BB724-E5A7-4DFD-8BF9-5D23631452D5}" type="slidenum">
              <a:rPr lang="en-US" altLang="zh-CN"/>
              <a:pPr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F92F436-93D5-4324-9B98-C44BBDDE9785}" type="slidenum">
              <a:rPr lang="en-US" altLang="zh-CN"/>
              <a:pPr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8F255AC-3A61-4B1B-9DFD-8F2CF4DE09AA}" type="slidenum">
              <a:rPr lang="en-US" altLang="zh-CN"/>
              <a:pPr/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2019/6/13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                       </a:t>
            </a:r>
            <a:r>
              <a:rPr lang="en-US" altLang="zh-CN" dirty="0" smtClean="0"/>
              <a:t>Revision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周宇          助理教授            深圳大学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多线程与线程池</a:t>
            </a:r>
            <a:endParaRPr lang="en-US" altLang="zh-CN" dirty="0" smtClean="0"/>
          </a:p>
          <a:p>
            <a:r>
              <a:rPr lang="zh-CN" altLang="en-US" dirty="0" smtClean="0"/>
              <a:t>类图</a:t>
            </a:r>
            <a:endParaRPr lang="zh-CN" altLang="en-US" dirty="0"/>
          </a:p>
          <a:p>
            <a:r>
              <a:rPr lang="en-US" altLang="zh-CN" dirty="0" smtClean="0"/>
              <a:t>InetAddress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r>
              <a:rPr lang="en-US" altLang="zh-CN" dirty="0" smtClean="0"/>
              <a:t>URL</a:t>
            </a:r>
            <a:r>
              <a:rPr lang="zh-CN" altLang="en-US" dirty="0" smtClean="0"/>
              <a:t>与</a:t>
            </a:r>
            <a:r>
              <a:rPr lang="en-US" altLang="zh-CN" dirty="0" smtClean="0"/>
              <a:t>URI</a:t>
            </a:r>
          </a:p>
          <a:p>
            <a:r>
              <a:rPr lang="en-US" altLang="zh-CN" dirty="0" err="1" smtClean="0"/>
              <a:t>URLConnection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r>
              <a:rPr lang="en-US" altLang="zh-CN" dirty="0" smtClean="0"/>
              <a:t>UDP</a:t>
            </a:r>
            <a:endParaRPr lang="zh-CN" altLang="en-US" dirty="0"/>
          </a:p>
          <a:p>
            <a:endParaRPr lang="zh-CN" altLang="en-US" dirty="0"/>
          </a:p>
          <a:p>
            <a:pPr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2917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进程与线程（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0" y="1556792"/>
            <a:ext cx="8820472" cy="4495800"/>
          </a:xfrm>
        </p:spPr>
        <p:txBody>
          <a:bodyPr/>
          <a:lstStyle/>
          <a:p>
            <a:r>
              <a:rPr lang="zh-CN" altLang="en-US" b="1" dirty="0" smtClean="0"/>
              <a:t>进程</a:t>
            </a:r>
            <a:r>
              <a:rPr lang="zh-CN" altLang="en-US" dirty="0" smtClean="0"/>
              <a:t>：具有一定独立功能的程序关于某个数据集合上的一次运行活动，进程是系统</a:t>
            </a:r>
            <a:r>
              <a:rPr lang="zh-CN" altLang="en-US" b="1" dirty="0" smtClean="0">
                <a:solidFill>
                  <a:srgbClr val="FF0000"/>
                </a:solidFill>
              </a:rPr>
              <a:t>进行资源分配和调度</a:t>
            </a:r>
            <a:r>
              <a:rPr lang="zh-CN" altLang="en-US" dirty="0" smtClean="0"/>
              <a:t>的一个</a:t>
            </a:r>
            <a:r>
              <a:rPr lang="zh-CN" altLang="en-US" b="1" dirty="0" smtClean="0">
                <a:solidFill>
                  <a:srgbClr val="FF0000"/>
                </a:solidFill>
              </a:rPr>
              <a:t>独立单元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2708920"/>
            <a:ext cx="4752528" cy="3910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3429000"/>
            <a:ext cx="356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Windows</a:t>
            </a:r>
            <a:r>
              <a:rPr lang="zh-CN" altLang="en-US" dirty="0" smtClean="0"/>
              <a:t>系统任务管理器下的进程：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进程与线程（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线程：</a:t>
            </a:r>
            <a:endParaRPr lang="en-US" altLang="zh-CN" dirty="0" smtClean="0"/>
          </a:p>
          <a:p>
            <a:pPr>
              <a:buNone/>
            </a:pPr>
            <a:r>
              <a:rPr lang="en-US" altLang="zh-CN" sz="2400" dirty="0" smtClean="0"/>
              <a:t>1 </a:t>
            </a:r>
            <a:r>
              <a:rPr lang="zh-CN" altLang="en-US" sz="2400" dirty="0" smtClean="0"/>
              <a:t>进程的一个实体。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2 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CPU</a:t>
            </a:r>
            <a:r>
              <a:rPr lang="zh-CN" altLang="en-US" sz="2400" dirty="0" smtClean="0"/>
              <a:t>调度和分派的基本单位。它是比进程更小的能独立运行的基本单位。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3 </a:t>
            </a:r>
            <a:r>
              <a:rPr lang="zh-CN" altLang="en-US" sz="2400" dirty="0" smtClean="0"/>
              <a:t>线程自己基本上不拥有系统资源，只拥有一点在运行中必不可少的资源（程序计数器，一组寄存器和栈。）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400" dirty="0" smtClean="0"/>
              <a:t>4 </a:t>
            </a:r>
            <a:r>
              <a:rPr lang="zh-CN" altLang="en-US" sz="2400" dirty="0" smtClean="0"/>
              <a:t>可与同属一个进程的其他的线程共享进程所拥有的全部资源。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进程与线程（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一个线程可以创建和撤销另一个线程，同一个进程中的多个线程可以并发执行。</a:t>
            </a:r>
            <a:endParaRPr lang="en-US" altLang="zh-CN" dirty="0" smtClean="0"/>
          </a:p>
          <a:p>
            <a:r>
              <a:rPr lang="zh-CN" altLang="en-US" dirty="0" smtClean="0"/>
              <a:t>一个程序至少有一个进程，一个进程</a:t>
            </a:r>
            <a:r>
              <a:rPr lang="zh-CN" altLang="en-US" b="1" dirty="0" smtClean="0"/>
              <a:t>至少有一个线程</a:t>
            </a:r>
            <a:r>
              <a:rPr lang="zh-CN" altLang="en-US" dirty="0" smtClean="0"/>
              <a:t>（主线程）。</a:t>
            </a:r>
            <a:endParaRPr lang="en-US" altLang="zh-CN" dirty="0" smtClean="0"/>
          </a:p>
          <a:p>
            <a:r>
              <a:rPr lang="zh-CN" altLang="en-US" dirty="0" smtClean="0"/>
              <a:t>进程拥有</a:t>
            </a:r>
            <a:r>
              <a:rPr lang="zh-CN" altLang="en-US" b="1" dirty="0" smtClean="0"/>
              <a:t>独立内存单元</a:t>
            </a:r>
            <a:r>
              <a:rPr lang="zh-CN" altLang="en-US" dirty="0" smtClean="0"/>
              <a:t>，多个线程共享内存。</a:t>
            </a:r>
            <a:endParaRPr lang="en-US" altLang="zh-CN" dirty="0" smtClean="0"/>
          </a:p>
          <a:p>
            <a:r>
              <a:rPr lang="zh-CN" altLang="en-US" dirty="0" smtClean="0"/>
              <a:t>创建</a:t>
            </a:r>
            <a:r>
              <a:rPr lang="zh-CN" altLang="en-US" b="1" dirty="0" smtClean="0"/>
              <a:t>进程开销大</a:t>
            </a:r>
            <a:r>
              <a:rPr lang="zh-CN" altLang="en-US" dirty="0" smtClean="0"/>
              <a:t>，线程</a:t>
            </a:r>
            <a:r>
              <a:rPr lang="zh-CN" altLang="en-US" b="1" dirty="0" smtClean="0"/>
              <a:t>开销较小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从多进程到多线程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提升并发量的方法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过去：以进程为单位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en-US" dirty="0"/>
              <a:t>多进程：支持几百个进程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en-US" dirty="0"/>
              <a:t>进程池：支持上千个进程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当前：以线程为单位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en-US" dirty="0"/>
              <a:t>多线程：支持几千个线程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en-US" dirty="0"/>
              <a:t>线程池：支持上万个线程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其他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异步</a:t>
            </a:r>
            <a:r>
              <a:rPr lang="en-US" altLang="zh-CN" dirty="0" smtClean="0"/>
              <a:t>I/O</a:t>
            </a:r>
          </a:p>
          <a:p>
            <a:pPr lvl="1"/>
            <a:r>
              <a:rPr lang="zh-CN" altLang="en-US" dirty="0" smtClean="0"/>
              <a:t>多个冗余服务器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6448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431800"/>
          </a:xfrm>
        </p:spPr>
        <p:txBody>
          <a:bodyPr>
            <a:noAutofit/>
          </a:bodyPr>
          <a:lstStyle/>
          <a:p>
            <a:pPr algn="l"/>
            <a:r>
              <a:rPr lang="en-US" altLang="zh-CN" sz="3600" dirty="0" smtClean="0"/>
              <a:t>java</a:t>
            </a:r>
            <a:r>
              <a:rPr lang="zh-CN" altLang="en-US" sz="3600" dirty="0" smtClean="0"/>
              <a:t>多线程编程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229600" cy="4497388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altLang="zh-CN" sz="2800" dirty="0" smtClean="0"/>
              <a:t>1.</a:t>
            </a:r>
            <a:r>
              <a:rPr lang="zh-CN" altLang="en-US" sz="2800" dirty="0" smtClean="0"/>
              <a:t>创建启动线程对象</a:t>
            </a:r>
            <a:endParaRPr lang="en-US" altLang="zh-CN" sz="2800" dirty="0" smtClean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800" dirty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800" dirty="0" smtClean="0"/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altLang="zh-CN" sz="2800" dirty="0" smtClean="0"/>
              <a:t>2.</a:t>
            </a:r>
            <a:r>
              <a:rPr lang="zh-CN" altLang="en-US" sz="2800" dirty="0" smtClean="0"/>
              <a:t>让线程完成的任务放在哪儿？重写</a:t>
            </a:r>
            <a:r>
              <a:rPr lang="en-US" altLang="zh-CN" sz="2800" dirty="0" smtClean="0"/>
              <a:t>run</a:t>
            </a:r>
            <a:r>
              <a:rPr lang="zh-CN" altLang="en-US" sz="2800" dirty="0" smtClean="0"/>
              <a:t>（）方法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85800" y="2133600"/>
            <a:ext cx="4876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Thread t = new Thread(   );</a:t>
            </a:r>
          </a:p>
          <a:p>
            <a:r>
              <a:rPr lang="en-US" altLang="zh-CN" sz="2000"/>
              <a:t>t.start( );</a:t>
            </a:r>
            <a:endParaRPr lang="zh-CN" altLang="en-US" sz="2000"/>
          </a:p>
        </p:txBody>
      </p:sp>
      <p:graphicFrame>
        <p:nvGraphicFramePr>
          <p:cNvPr id="4" name="图示 3"/>
          <p:cNvGraphicFramePr/>
          <p:nvPr/>
        </p:nvGraphicFramePr>
        <p:xfrm>
          <a:off x="1295400" y="286688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运行线程：方法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创建线程对象，执行</a:t>
            </a:r>
            <a:r>
              <a:rPr lang="en-US" altLang="zh-CN" dirty="0" smtClean="0"/>
              <a:t>start()</a:t>
            </a:r>
            <a:r>
              <a:rPr lang="zh-CN" altLang="en-US" dirty="0" smtClean="0"/>
              <a:t>方法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t = new </a:t>
            </a:r>
            <a:r>
              <a:rPr lang="en-US" altLang="zh-CN" sz="20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DigestThread</a:t>
            </a:r>
            <a:r>
              <a:rPr lang="en-US" altLang="zh-CN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altLang="zh-CN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zh-CN" altLang="en-US" dirty="0"/>
              <a:t>需要</a:t>
            </a:r>
            <a:r>
              <a:rPr lang="zh-CN" altLang="en-US" dirty="0" smtClean="0"/>
              <a:t>定义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子类，并实现</a:t>
            </a:r>
            <a:r>
              <a:rPr lang="en-US" altLang="zh-CN" dirty="0" smtClean="0"/>
              <a:t>run()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DigestThread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Thread 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run() 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zh-CN" altLang="en-US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｝</a:t>
            </a:r>
            <a:endParaRPr lang="en-US" altLang="zh-CN" sz="20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/>
              <a:t>多线程程序需要</a:t>
            </a:r>
            <a:r>
              <a:rPr lang="en-US" altLang="zh-CN" dirty="0"/>
              <a:t>main()</a:t>
            </a:r>
            <a:r>
              <a:rPr lang="zh-CN" altLang="en-US" dirty="0"/>
              <a:t>方法和子线程都返回后才退出程序</a:t>
            </a:r>
          </a:p>
        </p:txBody>
      </p:sp>
      <p:sp>
        <p:nvSpPr>
          <p:cNvPr id="4" name="矩形 3"/>
          <p:cNvSpPr/>
          <p:nvPr/>
        </p:nvSpPr>
        <p:spPr>
          <a:xfrm>
            <a:off x="7327805" y="6488668"/>
            <a:ext cx="1425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DigestThread</a:t>
            </a:r>
          </a:p>
        </p:txBody>
      </p:sp>
    </p:spTree>
    <p:extLst>
      <p:ext uri="{BB962C8B-B14F-4D97-AF65-F5344CB8AC3E}">
        <p14:creationId xmlns="" xmlns:p14="http://schemas.microsoft.com/office/powerpoint/2010/main" val="12006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运行线程：方法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实现</a:t>
            </a:r>
            <a:r>
              <a:rPr lang="en-US" altLang="zh-CN" dirty="0" smtClean="0"/>
              <a:t>Runnable</a:t>
            </a:r>
            <a:r>
              <a:rPr lang="zh-CN" altLang="en-US" dirty="0" smtClean="0"/>
              <a:t>接口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zh-CN" sz="20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DigestRunnable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 </a:t>
            </a:r>
            <a:r>
              <a:rPr lang="en-US" altLang="zh-CN" sz="2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Runnable</a:t>
            </a:r>
            <a:r>
              <a:rPr lang="en-US" altLang="zh-CN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run() 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｝</a:t>
            </a:r>
            <a:endParaRPr lang="en-US" altLang="zh-CN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= new Thread(new </a:t>
            </a:r>
            <a:r>
              <a:rPr lang="en-US" altLang="zh-CN" sz="20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DigestRunnable</a:t>
            </a:r>
            <a:r>
              <a:rPr lang="en-US" altLang="zh-CN" sz="20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n-US" altLang="zh-CN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</p:txBody>
      </p:sp>
      <p:sp>
        <p:nvSpPr>
          <p:cNvPr id="4" name="矩形 3"/>
          <p:cNvSpPr/>
          <p:nvPr/>
        </p:nvSpPr>
        <p:spPr>
          <a:xfrm>
            <a:off x="7327805" y="6488668"/>
            <a:ext cx="165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DigestRunnable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79423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从线程返回信息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556792"/>
            <a:ext cx="7543801" cy="1466377"/>
          </a:xfrm>
        </p:spPr>
        <p:txBody>
          <a:bodyPr/>
          <a:lstStyle/>
          <a:p>
            <a:r>
              <a:rPr lang="en-US" altLang="zh-CN" dirty="0" smtClean="0"/>
              <a:t>run()</a:t>
            </a:r>
            <a:r>
              <a:rPr lang="zh-CN" altLang="en-US" dirty="0" smtClean="0"/>
              <a:t>和</a:t>
            </a:r>
            <a:r>
              <a:rPr lang="en-US" altLang="zh-CN" dirty="0" smtClean="0"/>
              <a:t>start()</a:t>
            </a:r>
            <a:r>
              <a:rPr lang="zh-CN" altLang="en-US" dirty="0" smtClean="0"/>
              <a:t>不返回任何数据</a:t>
            </a:r>
            <a:endParaRPr lang="en-US" altLang="zh-CN" dirty="0" smtClean="0"/>
          </a:p>
          <a:p>
            <a:r>
              <a:rPr lang="zh-CN" altLang="en-US" dirty="0" smtClean="0"/>
              <a:t>可否在线程中定一个方法，由主线程调用？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215627" y="6488668"/>
            <a:ext cx="2672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ReturnDigestUserInterface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2780928"/>
            <a:ext cx="6552728" cy="364145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3446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从线程返回信息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出错原因：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ReturnDigestUserInterface</a:t>
            </a:r>
            <a:r>
              <a:rPr lang="en-US" altLang="zh-CN" dirty="0" smtClean="0"/>
              <a:t>.java</a:t>
            </a:r>
            <a:r>
              <a:rPr lang="zh-CN" altLang="en-US" dirty="0" smtClean="0"/>
              <a:t>中，由于</a:t>
            </a:r>
            <a:r>
              <a:rPr lang="en-US" altLang="zh-CN" dirty="0" smtClean="0"/>
              <a:t>start()</a:t>
            </a:r>
            <a:r>
              <a:rPr lang="zh-CN" altLang="en-US" dirty="0" smtClean="0"/>
              <a:t>方法立刻返回，并不等子线程执行完毕，所以</a:t>
            </a:r>
            <a:r>
              <a:rPr lang="en-US" altLang="zh-CN" dirty="0" err="1" smtClean="0"/>
              <a:t>getDigest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返回的是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解决方法：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竞态条件？即把</a:t>
            </a:r>
            <a:r>
              <a:rPr lang="en-US" altLang="zh-CN" dirty="0" err="1" smtClean="0"/>
              <a:t>getDigest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的执行放在</a:t>
            </a:r>
            <a:r>
              <a:rPr lang="en-US" altLang="zh-CN" dirty="0" smtClean="0"/>
              <a:t>main()</a:t>
            </a:r>
            <a:r>
              <a:rPr lang="zh-CN" altLang="en-US" dirty="0" smtClean="0"/>
              <a:t>的最后面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13118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从线程返回信息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556792"/>
            <a:ext cx="7543801" cy="691124"/>
          </a:xfrm>
        </p:spPr>
        <p:txBody>
          <a:bodyPr/>
          <a:lstStyle/>
          <a:p>
            <a:r>
              <a:rPr lang="zh-CN" altLang="en-US" dirty="0" smtClean="0"/>
              <a:t>竞态条件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584" y="2348880"/>
            <a:ext cx="8119167" cy="431589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97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从线程返回信息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7543801" cy="89984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轮询</a:t>
            </a:r>
            <a:r>
              <a:rPr lang="en-US" altLang="zh-CN" dirty="0"/>
              <a:t>(Polling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设置一个标志，不停地查询标志值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31640" y="2466656"/>
            <a:ext cx="6529516" cy="43467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5962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从线程返回信息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28800"/>
            <a:ext cx="7543801" cy="129741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回调</a:t>
            </a:r>
            <a:r>
              <a:rPr lang="en-US" altLang="zh-CN" dirty="0" smtClean="0"/>
              <a:t>(Callback)</a:t>
            </a:r>
          </a:p>
          <a:p>
            <a:pPr lvl="1"/>
            <a:r>
              <a:rPr lang="zh-CN" altLang="en-US" dirty="0" smtClean="0"/>
              <a:t>子线程告诉主线程已经结束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子线程调用主类中的一个方法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3140968"/>
            <a:ext cx="7710491" cy="33843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07764" y="6488668"/>
            <a:ext cx="2811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CallbackDigestUserInterface</a:t>
            </a:r>
          </a:p>
        </p:txBody>
      </p:sp>
    </p:spTree>
    <p:extLst>
      <p:ext uri="{BB962C8B-B14F-4D97-AF65-F5344CB8AC3E}">
        <p14:creationId xmlns="" xmlns:p14="http://schemas.microsoft.com/office/powerpoint/2010/main" val="136166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从线程返回信息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r>
              <a:rPr lang="en-US" altLang="zh-CN" dirty="0" smtClean="0"/>
              <a:t>CallbackDigest.java</a:t>
            </a:r>
            <a:r>
              <a:rPr lang="zh-CN" altLang="en-US" dirty="0" smtClean="0"/>
              <a:t>为静态方法回调</a:t>
            </a:r>
            <a:endParaRPr lang="en-US" altLang="zh-CN" dirty="0" smtClean="0"/>
          </a:p>
          <a:p>
            <a:r>
              <a:rPr lang="zh-CN" altLang="en-US" dirty="0" smtClean="0"/>
              <a:t>实例方法回调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3068960"/>
            <a:ext cx="8021141" cy="30046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347377" y="6463015"/>
            <a:ext cx="359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InstanceCallbackDigestUserInterface</a:t>
            </a:r>
          </a:p>
        </p:txBody>
      </p:sp>
    </p:spTree>
    <p:extLst>
      <p:ext uri="{BB962C8B-B14F-4D97-AF65-F5344CB8AC3E}">
        <p14:creationId xmlns="" xmlns:p14="http://schemas.microsoft.com/office/powerpoint/2010/main" val="152618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多线程同时访问资源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修改内存数据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文件操作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</a:t>
            </a:r>
          </a:p>
          <a:p>
            <a:r>
              <a:rPr lang="zh-CN" altLang="en-US" dirty="0" smtClean="0"/>
              <a:t>实现方法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同步块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同步方法</a:t>
            </a: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325660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 smtClean="0"/>
              <a:t>同步块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556792"/>
            <a:ext cx="8241528" cy="5135336"/>
          </a:xfrm>
        </p:spPr>
        <p:txBody>
          <a:bodyPr/>
          <a:lstStyle/>
          <a:p>
            <a:r>
              <a:rPr lang="zh-CN" altLang="en-US" sz="2400" dirty="0"/>
              <a:t>解决方案</a:t>
            </a:r>
            <a:endParaRPr lang="en-US" altLang="zh-CN" sz="2400" dirty="0"/>
          </a:p>
          <a:p>
            <a:pPr lvl="1"/>
            <a:r>
              <a:rPr lang="zh-CN" altLang="en-US" sz="2400" dirty="0"/>
              <a:t>同步块：</a:t>
            </a:r>
            <a:r>
              <a:rPr lang="en-US" altLang="zh-CN" sz="2400" dirty="0"/>
              <a:t>synchronized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zh-CN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(input + ": ");</a:t>
            </a:r>
          </a:p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altLang="zh-CN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(...(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digest));</a:t>
            </a:r>
          </a:p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14133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17248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同步块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half" idx="1"/>
          </p:nvPr>
        </p:nvSpPr>
        <p:spPr>
          <a:xfrm>
            <a:off x="149087" y="1845734"/>
            <a:ext cx="4377193" cy="176217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zh-CN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4" name="内容占位符 9"/>
          <p:cNvSpPr>
            <a:spLocks noGrp="1"/>
          </p:cNvSpPr>
          <p:nvPr>
            <p:ph sz="half" idx="1"/>
          </p:nvPr>
        </p:nvSpPr>
        <p:spPr>
          <a:xfrm>
            <a:off x="4766807" y="1845734"/>
            <a:ext cx="4377193" cy="176217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zh-CN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(b)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US" altLang="zh-C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86882" y="3969654"/>
            <a:ext cx="7185517" cy="1047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" lvl="0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60000"/>
              <a:buFont typeface="Calibri" panose="020F0502020204030204" pitchFamily="34" charset="0"/>
              <a:buChar char="●"/>
            </a:pPr>
            <a:r>
              <a:rPr lang="zh-CN" altLang="en-US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同一个对象上同步的代码串行执行</a:t>
            </a:r>
            <a:endParaRPr lang="en-US" altLang="zh-CN" sz="2800" dirty="0" smtClean="0">
              <a:solidFill>
                <a:srgbClr val="000000">
                  <a:lumMod val="75000"/>
                  <a:lumOff val="2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91440" lvl="0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60000"/>
              <a:buFont typeface="Calibri" panose="020F0502020204030204" pitchFamily="34" charset="0"/>
              <a:buChar char="●"/>
            </a:pPr>
            <a:r>
              <a:rPr lang="zh-CN" altLang="en-US" sz="280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不同对象上同步的代码可并行</a:t>
            </a:r>
            <a:endParaRPr lang="en-US" altLang="zh-CN" sz="2800" dirty="0">
              <a:solidFill>
                <a:srgbClr val="000000">
                  <a:lumMod val="75000"/>
                  <a:lumOff val="2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248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同步块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多个线程写</a:t>
            </a:r>
            <a:r>
              <a:rPr lang="en-US" altLang="zh-CN" dirty="0" smtClean="0"/>
              <a:t>Log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2171187"/>
            <a:ext cx="6480720" cy="46868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5790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同步块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1556792"/>
            <a:ext cx="7543801" cy="691124"/>
          </a:xfrm>
        </p:spPr>
        <p:txBody>
          <a:bodyPr/>
          <a:lstStyle/>
          <a:p>
            <a:r>
              <a:rPr lang="zh-CN" altLang="en-US" dirty="0" smtClean="0"/>
              <a:t>同步的两种实现方法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584" y="2204864"/>
            <a:ext cx="7391400" cy="2276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2960" y="4457700"/>
            <a:ext cx="7543800" cy="24003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770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同步方法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916832"/>
            <a:ext cx="7543801" cy="621550"/>
          </a:xfrm>
        </p:spPr>
        <p:txBody>
          <a:bodyPr/>
          <a:lstStyle/>
          <a:p>
            <a:r>
              <a:rPr lang="zh-CN" altLang="en-US" dirty="0" smtClean="0"/>
              <a:t>对方法声明添加</a:t>
            </a:r>
            <a:r>
              <a:rPr lang="en-US" altLang="zh-CN" dirty="0" smtClean="0"/>
              <a:t>synchronized</a:t>
            </a:r>
            <a:r>
              <a:rPr lang="zh-CN" altLang="en-US" dirty="0" smtClean="0"/>
              <a:t>修饰符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/>
          <a:srcRect r="26979"/>
          <a:stretch/>
        </p:blipFill>
        <p:spPr>
          <a:xfrm>
            <a:off x="164581" y="2924944"/>
            <a:ext cx="8979419" cy="257257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3102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同步带来的问题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程序性能下降，甚至严重下降</a:t>
            </a:r>
            <a:endParaRPr lang="en-US" altLang="zh-CN" dirty="0" smtClean="0"/>
          </a:p>
          <a:p>
            <a:r>
              <a:rPr lang="zh-CN" altLang="en-US" dirty="0" smtClean="0"/>
              <a:t>增加了死锁可能性</a:t>
            </a:r>
            <a:endParaRPr lang="en-US" altLang="zh-CN" dirty="0" smtClean="0"/>
          </a:p>
          <a:p>
            <a:r>
              <a:rPr lang="zh-CN" altLang="en-US" dirty="0" smtClean="0"/>
              <a:t>可能不能有效保护数据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如前面例子保护的是对象，不是文件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7620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死锁</a:t>
            </a:r>
            <a:r>
              <a:rPr lang="en-US" altLang="zh-CN" dirty="0" smtClean="0"/>
              <a:t>(deadlock)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4048" y="1556792"/>
            <a:ext cx="3851920" cy="513533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两个线程需要独占访问同样的资源集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防止死锁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避免不必要的同步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同步块尽可能的小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尽可能不一次同步多个对象（但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类库内方法可能含有同步）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556792"/>
            <a:ext cx="4421747" cy="51571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2102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死锁举例（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71600" y="2708920"/>
          <a:ext cx="7344816" cy="404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08"/>
                <a:gridCol w="3672408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：存入</a:t>
                      </a:r>
                      <a:r>
                        <a:rPr lang="en-US" altLang="zh-CN" dirty="0" smtClean="0"/>
                        <a:t>500</a:t>
                      </a:r>
                      <a:r>
                        <a:rPr lang="zh-CN" altLang="en-US" dirty="0" smtClean="0"/>
                        <a:t>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：取出</a:t>
                      </a:r>
                      <a:r>
                        <a:rPr lang="en-US" altLang="zh-CN" dirty="0" smtClean="0"/>
                        <a:t>300</a:t>
                      </a:r>
                      <a:r>
                        <a:rPr lang="zh-CN" altLang="en-US" dirty="0" smtClean="0"/>
                        <a:t>元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获取当前余额：</a:t>
                      </a:r>
                      <a:r>
                        <a:rPr lang="en-US" altLang="zh-CN" dirty="0" smtClean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计算最新余额：</a:t>
                      </a:r>
                      <a:r>
                        <a:rPr lang="en-US" altLang="zh-CN" dirty="0" smtClean="0"/>
                        <a:t>2000+500=2500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线程中断，等待下次被系统挑中执行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获得当前余额：</a:t>
                      </a:r>
                      <a:r>
                        <a:rPr lang="en-US" altLang="zh-CN" dirty="0" smtClean="0"/>
                        <a:t>2000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计算最新余额：</a:t>
                      </a:r>
                      <a:r>
                        <a:rPr lang="en-US" altLang="zh-CN" dirty="0" smtClean="0"/>
                        <a:t>2000-300=1700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线程中断，等待下次被系统挑中执行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再次执行，给更新余额</a:t>
                      </a:r>
                      <a:r>
                        <a:rPr lang="en-US" altLang="zh-CN" dirty="0" smtClean="0"/>
                        <a:t>2500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再次执行，更新余额：</a:t>
                      </a:r>
                      <a:r>
                        <a:rPr lang="en-US" altLang="zh-CN" dirty="0" smtClean="0"/>
                        <a:t>1700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3528" y="1628800"/>
            <a:ext cx="619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一个银行账号：账户</a:t>
            </a:r>
            <a:r>
              <a:rPr lang="en-US" altLang="zh-CN" dirty="0" smtClean="0"/>
              <a:t>A, </a:t>
            </a:r>
            <a:r>
              <a:rPr lang="zh-CN" altLang="en-US" dirty="0" smtClean="0"/>
              <a:t>余额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元</a:t>
            </a:r>
            <a:endParaRPr lang="en-US" altLang="zh-CN" dirty="0" smtClean="0"/>
          </a:p>
          <a:p>
            <a:r>
              <a:rPr lang="zh-CN" altLang="en-US" dirty="0" smtClean="0"/>
              <a:t>线程</a:t>
            </a:r>
            <a:r>
              <a:rPr lang="en-US" altLang="zh-CN" dirty="0" smtClean="0"/>
              <a:t>1:</a:t>
            </a:r>
            <a:r>
              <a:rPr lang="zh-CN" altLang="en-US" dirty="0" smtClean="0"/>
              <a:t>存款线程</a:t>
            </a:r>
            <a:endParaRPr lang="en-US" altLang="zh-CN" dirty="0" smtClean="0"/>
          </a:p>
          <a:p>
            <a:r>
              <a:rPr lang="zh-CN" altLang="en-US" dirty="0" smtClean="0"/>
              <a:t>线程</a:t>
            </a:r>
            <a:r>
              <a:rPr lang="en-US" altLang="zh-CN" dirty="0" smtClean="0"/>
              <a:t>2: </a:t>
            </a:r>
            <a:r>
              <a:rPr lang="zh-CN" altLang="en-US" dirty="0" smtClean="0"/>
              <a:t>取款线程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804248" y="206084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无锁状态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死锁举例（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27584" y="1484784"/>
          <a:ext cx="8208912" cy="5251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4456"/>
                <a:gridCol w="4104456"/>
              </a:tblGrid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：存入</a:t>
                      </a:r>
                      <a:r>
                        <a:rPr lang="en-US" altLang="zh-CN" dirty="0" smtClean="0"/>
                        <a:t>500</a:t>
                      </a:r>
                      <a:r>
                        <a:rPr lang="zh-CN" altLang="en-US" dirty="0" smtClean="0"/>
                        <a:t>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：取出</a:t>
                      </a:r>
                      <a:r>
                        <a:rPr lang="en-US" altLang="zh-CN" dirty="0" smtClean="0"/>
                        <a:t>300</a:t>
                      </a:r>
                      <a:r>
                        <a:rPr lang="zh-CN" altLang="en-US" dirty="0" smtClean="0"/>
                        <a:t>元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获取当前余额：</a:t>
                      </a:r>
                      <a:r>
                        <a:rPr lang="en-US" altLang="zh-CN" dirty="0" smtClean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计算最新余额：</a:t>
                      </a:r>
                      <a:r>
                        <a:rPr lang="en-US" altLang="zh-CN" dirty="0" smtClean="0"/>
                        <a:t>2000+500=2500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线程中断，等待下次被系统挑中执行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的锁：失败，进入阻塞状态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被系统选中，再次执行，</a:t>
                      </a:r>
                      <a:r>
                        <a:rPr lang="en-US" altLang="zh-CN" dirty="0" smtClean="0"/>
                        <a:t>2500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释放账户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的锁：成功</a:t>
                      </a:r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获得当前余额：</a:t>
                      </a:r>
                      <a:r>
                        <a:rPr lang="en-US" altLang="zh-CN" dirty="0" smtClean="0"/>
                        <a:t>2500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计算最新余额：</a:t>
                      </a:r>
                      <a:r>
                        <a:rPr lang="en-US" altLang="zh-CN" dirty="0" smtClean="0"/>
                        <a:t>2500-300=2200</a:t>
                      </a:r>
                      <a:endParaRPr lang="zh-CN" altLang="en-US" dirty="0" smtClean="0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更新余额：</a:t>
                      </a:r>
                      <a:r>
                        <a:rPr lang="en-US" altLang="zh-CN" dirty="0" smtClean="0"/>
                        <a:t>2200</a:t>
                      </a:r>
                      <a:endParaRPr lang="zh-CN" alt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 smtClean="0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释放账户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1628800"/>
            <a:ext cx="827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加锁状态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死锁举例（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A</a:t>
            </a:r>
            <a:r>
              <a:rPr lang="zh-CN" altLang="en-US" dirty="0" smtClean="0"/>
              <a:t>给</a:t>
            </a:r>
            <a:r>
              <a:rPr lang="en-US" altLang="zh-CN" dirty="0" smtClean="0"/>
              <a:t>B</a:t>
            </a:r>
            <a:r>
              <a:rPr lang="zh-CN" altLang="en-US" dirty="0" smtClean="0"/>
              <a:t>转账，同时</a:t>
            </a:r>
            <a:r>
              <a:rPr lang="en-US" altLang="zh-CN" dirty="0" smtClean="0"/>
              <a:t>B</a:t>
            </a:r>
            <a:r>
              <a:rPr lang="zh-CN" altLang="en-US" dirty="0" smtClean="0"/>
              <a:t>给</a:t>
            </a:r>
            <a:r>
              <a:rPr lang="en-US" altLang="zh-CN" dirty="0" smtClean="0"/>
              <a:t>A</a:t>
            </a:r>
            <a:r>
              <a:rPr lang="zh-CN" altLang="en-US" dirty="0" smtClean="0"/>
              <a:t>转账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1560" y="2348880"/>
          <a:ext cx="820891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4456"/>
                <a:gridCol w="4104456"/>
              </a:tblGrid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给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转账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给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转账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的锁：成功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线程中断，等待下次被系统挑中执行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的锁：成功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线程中断，等待下次被系统挑中执行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的锁：失败，继续等待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的锁：失败，继续等待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同步的替代方式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使用局部变量</a:t>
            </a:r>
            <a:endParaRPr lang="en-US" altLang="zh-CN" dirty="0" smtClean="0"/>
          </a:p>
          <a:p>
            <a:r>
              <a:rPr lang="zh-CN" altLang="en-US" dirty="0" smtClean="0"/>
              <a:t>创建不可修改对象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</a:t>
            </a:r>
            <a:r>
              <a:rPr lang="en-US" altLang="zh-CN" dirty="0" smtClean="0"/>
              <a:t>String</a:t>
            </a:r>
          </a:p>
          <a:p>
            <a:r>
              <a:rPr lang="zh-CN" altLang="en-US" dirty="0" smtClean="0"/>
              <a:t>将非线程安全的类作为线程安全类的一个私有属性</a:t>
            </a:r>
            <a:endParaRPr lang="en-US" altLang="zh-CN" dirty="0" smtClean="0"/>
          </a:p>
          <a:p>
            <a:r>
              <a:rPr lang="en-US" altLang="zh-CN" dirty="0" err="1" smtClean="0"/>
              <a:t>java.util.concurrent.atomic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int</a:t>
            </a:r>
            <a:r>
              <a:rPr lang="en-US" altLang="zh-CN" dirty="0" smtClean="0"/>
              <a:t>-&gt;</a:t>
            </a:r>
            <a:r>
              <a:rPr lang="en-US" altLang="zh-CN" dirty="0" err="1" smtClean="0"/>
              <a:t>AtomicInteger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long-</a:t>
            </a:r>
            <a:r>
              <a:rPr lang="en-US" altLang="zh-CN" dirty="0" err="1" smtClean="0"/>
              <a:t>AtomicLong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如方法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AtomicInteger.addAndGet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delta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Collections.synchronizedSet</a:t>
            </a:r>
            <a:r>
              <a:rPr lang="en-US" altLang="zh-CN" dirty="0" smtClean="0"/>
              <a:t>(foo)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58020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线程优先级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public final void </a:t>
            </a:r>
            <a:r>
              <a:rPr lang="en-US" altLang="zh-CN" dirty="0" err="1" smtClean="0"/>
              <a:t>setPriority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</a:t>
            </a:r>
          </a:p>
          <a:p>
            <a:r>
              <a:rPr lang="zh-CN" altLang="en-US" dirty="0" smtClean="0"/>
              <a:t>优先级值：</a:t>
            </a:r>
            <a:r>
              <a:rPr lang="en-US" altLang="zh-CN" dirty="0" smtClean="0"/>
              <a:t>0-10</a:t>
            </a:r>
          </a:p>
          <a:p>
            <a:pPr lvl="1"/>
            <a:r>
              <a:rPr lang="en-US" altLang="zh-CN" dirty="0" err="1" smtClean="0"/>
              <a:t>Thread.MIN_PRIORITY</a:t>
            </a:r>
            <a:r>
              <a:rPr lang="en-US" altLang="zh-CN" dirty="0" smtClean="0"/>
              <a:t> (1)</a:t>
            </a:r>
          </a:p>
          <a:p>
            <a:pPr lvl="1"/>
            <a:r>
              <a:rPr lang="en-US" altLang="zh-CN" dirty="0" err="1" smtClean="0"/>
              <a:t>Thread.NORMAL_PRIORITY</a:t>
            </a:r>
            <a:r>
              <a:rPr lang="en-US" altLang="zh-CN" dirty="0" smtClean="0"/>
              <a:t> (5)</a:t>
            </a:r>
            <a:r>
              <a:rPr lang="zh-CN" altLang="en-US" dirty="0" smtClean="0"/>
              <a:t>，默认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Thread.MAX_PRIORITY</a:t>
            </a:r>
            <a:r>
              <a:rPr lang="en-US" altLang="zh-CN" dirty="0" smtClean="0"/>
              <a:t> (10)</a:t>
            </a:r>
          </a:p>
          <a:p>
            <a:r>
              <a:rPr lang="zh-CN" altLang="en-US" dirty="0" smtClean="0"/>
              <a:t>不同操作系统支持不同（小心！）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00316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举例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39552" y="1340768"/>
          <a:ext cx="820891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4456"/>
                <a:gridCol w="4104456"/>
              </a:tblGrid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：账户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给账户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转账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</a:t>
                      </a:r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：账户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给账户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转账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的锁：成功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线程中断，等待下次被系统挑中执行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的锁：失败，继续等待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5224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的锁：成功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执行转账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释放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的锁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释放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的锁：成功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获取账户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的锁：成功</a:t>
                      </a:r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执行转账</a:t>
                      </a:r>
                      <a:endParaRPr lang="zh-CN" altLang="en-US" dirty="0"/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释放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的锁</a:t>
                      </a:r>
                    </a:p>
                  </a:txBody>
                  <a:tcPr/>
                </a:tc>
              </a:tr>
              <a:tr h="29855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释放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的锁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连接线程</a:t>
            </a:r>
            <a:r>
              <a:rPr lang="en-US" altLang="zh-CN" dirty="0" smtClean="0"/>
              <a:t>(join)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714" y="1556792"/>
            <a:ext cx="9014790" cy="2186112"/>
          </a:xfrm>
        </p:spPr>
        <p:txBody>
          <a:bodyPr>
            <a:noAutofit/>
          </a:bodyPr>
          <a:lstStyle/>
          <a:p>
            <a:r>
              <a:rPr lang="en-US" altLang="zh-CN" sz="22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6699"/>
                </a:solidFill>
                <a:latin typeface="Courier New" panose="02070309020205020404" pitchFamily="49" charset="0"/>
              </a:rPr>
              <a:t>final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7788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dirty="0">
                <a:solidFill>
                  <a:srgbClr val="CC00FF"/>
                </a:solidFill>
                <a:latin typeface="Courier New" panose="02070309020205020404" pitchFamily="49" charset="0"/>
              </a:rPr>
              <a:t>join</a:t>
            </a:r>
            <a:r>
              <a:rPr lang="en-US" altLang="zh-CN" sz="2200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InterruptedException</a:t>
            </a:r>
            <a:endParaRPr lang="en-US" altLang="zh-CN" sz="2200" dirty="0" smtClean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r>
              <a:rPr lang="en-US" altLang="zh-CN" sz="22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6699"/>
                </a:solidFill>
                <a:latin typeface="Courier New" panose="02070309020205020404" pitchFamily="49" charset="0"/>
              </a:rPr>
              <a:t>final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7788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dirty="0">
                <a:solidFill>
                  <a:srgbClr val="CC00FF"/>
                </a:solidFill>
                <a:latin typeface="Courier New" panose="02070309020205020404" pitchFamily="49" charset="0"/>
              </a:rPr>
              <a:t>join</a:t>
            </a:r>
            <a:r>
              <a:rPr lang="en-US" altLang="zh-CN" sz="22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200" b="1" dirty="0">
                <a:solidFill>
                  <a:srgbClr val="007788"/>
                </a:solidFill>
                <a:latin typeface="Courier New" panose="02070309020205020404" pitchFamily="49" charset="0"/>
              </a:rPr>
              <a:t>long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dirty="0">
                <a:solidFill>
                  <a:srgbClr val="000088"/>
                </a:solidFill>
                <a:latin typeface="Courier New" panose="02070309020205020404" pitchFamily="49" charset="0"/>
              </a:rPr>
              <a:t>milliseconds</a:t>
            </a:r>
            <a:r>
              <a:rPr lang="en-US" altLang="zh-CN" sz="22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22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200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InterruptedException</a:t>
            </a:r>
            <a:endParaRPr lang="en-US" altLang="zh-CN" sz="2200" dirty="0" smtClean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zh-CN" altLang="en-US" sz="2000" dirty="0" smtClean="0"/>
              <a:t>等待线程执行完毕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例子：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600" y="3460448"/>
            <a:ext cx="7632848" cy="320891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59632" y="5273622"/>
            <a:ext cx="1324541" cy="2436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736738" y="0"/>
            <a:ext cx="2407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JoinDigestUserInterface</a:t>
            </a:r>
          </a:p>
        </p:txBody>
      </p:sp>
    </p:spTree>
    <p:extLst>
      <p:ext uri="{BB962C8B-B14F-4D97-AF65-F5344CB8AC3E}">
        <p14:creationId xmlns="" xmlns:p14="http://schemas.microsoft.com/office/powerpoint/2010/main" val="126849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线程池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556792"/>
            <a:ext cx="8153400" cy="449580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400" dirty="0" smtClean="0"/>
              <a:t>优点：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降低线程创建和释放的开销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避免运行过多线程超出计算机处理能力</a:t>
            </a:r>
            <a:endParaRPr lang="en-US" altLang="zh-CN" sz="2000" dirty="0" smtClean="0"/>
          </a:p>
          <a:p>
            <a:r>
              <a:rPr lang="en-US" altLang="zh-CN" sz="2400" dirty="0" smtClean="0"/>
              <a:t>submit()</a:t>
            </a:r>
            <a:r>
              <a:rPr lang="zh-CN" altLang="en-US" sz="2400" dirty="0"/>
              <a:t>提交</a:t>
            </a:r>
            <a:r>
              <a:rPr lang="zh-CN" altLang="en-US" sz="2400" dirty="0" smtClean="0"/>
              <a:t>任务，由</a:t>
            </a:r>
            <a:r>
              <a:rPr lang="en-US" altLang="zh-CN" sz="2400" dirty="0" smtClean="0"/>
              <a:t>THREAD_COUNT</a:t>
            </a:r>
            <a:r>
              <a:rPr lang="zh-CN" altLang="en-US" sz="2400" dirty="0" smtClean="0"/>
              <a:t>个线程之一处理</a:t>
            </a:r>
            <a:endParaRPr lang="en-US" altLang="zh-CN" sz="2400" dirty="0"/>
          </a:p>
          <a:p>
            <a:pPr lvl="1"/>
            <a:endParaRPr lang="en-US" altLang="zh-CN" sz="2000" dirty="0" smtClean="0"/>
          </a:p>
          <a:p>
            <a:pPr lvl="1"/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 smtClean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 smtClean="0"/>
          </a:p>
          <a:p>
            <a:pPr lvl="1"/>
            <a:endParaRPr lang="en-US" altLang="zh-CN" sz="2000" dirty="0"/>
          </a:p>
          <a:p>
            <a:r>
              <a:rPr lang="en-US" altLang="zh-CN" sz="2400" dirty="0"/>
              <a:t>shutdown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方法：通知线程池没有更多的线程了。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046" y="3140968"/>
            <a:ext cx="8934450" cy="2124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552" y="587727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一个故事帮你理解线程和线程池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smtClean="0"/>
              <a:t>https://blog.csdn.net/jiuhanfengganlin/article/details/51614082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60179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4318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200" dirty="0" smtClean="0"/>
              <a:t>类图：</a:t>
            </a:r>
            <a:r>
              <a:rPr lang="en-US" altLang="zh-CN" sz="3200" dirty="0" smtClean="0"/>
              <a:t>Executor</a:t>
            </a:r>
            <a:r>
              <a:rPr lang="zh-CN" altLang="en-US" sz="3200" dirty="0" smtClean="0"/>
              <a:t>框架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8610600" cy="3810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CN" sz="2400" dirty="0" smtClean="0"/>
              <a:t>Executor</a:t>
            </a:r>
            <a:r>
              <a:rPr lang="zh-CN" altLang="en-US" sz="2400" dirty="0" smtClean="0"/>
              <a:t>框架类之间的关系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在</a:t>
            </a:r>
            <a:r>
              <a:rPr lang="en-US" altLang="zh-CN" sz="2400" dirty="0" smtClean="0"/>
              <a:t>Executor</a:t>
            </a:r>
            <a:r>
              <a:rPr lang="zh-CN" altLang="en-US" sz="2400" dirty="0" smtClean="0"/>
              <a:t>框架中，使用执行器</a:t>
            </a:r>
            <a:r>
              <a:rPr lang="en-US" altLang="zh-CN" sz="2400" dirty="0" smtClean="0"/>
              <a:t>(Executor)</a:t>
            </a:r>
            <a:r>
              <a:rPr lang="zh-CN" altLang="en-US" sz="2400" dirty="0" smtClean="0"/>
              <a:t>来管理</a:t>
            </a:r>
            <a:r>
              <a:rPr lang="en-US" altLang="zh-CN" sz="2400" dirty="0" smtClean="0"/>
              <a:t>Thread</a:t>
            </a:r>
            <a:r>
              <a:rPr lang="zh-CN" altLang="en-US" sz="2400" dirty="0" smtClean="0"/>
              <a:t>对象，从而简化了并发编程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endParaRPr lang="en-US" altLang="zh-CN" sz="2400" dirty="0" smtClean="0"/>
          </a:p>
        </p:txBody>
      </p:sp>
      <p:pic>
        <p:nvPicPr>
          <p:cNvPr id="12292" name="图片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162" y="2420888"/>
            <a:ext cx="8859838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文本框 5"/>
          <p:cNvSpPr txBox="1">
            <a:spLocks noChangeArrowheads="1"/>
          </p:cNvSpPr>
          <p:nvPr/>
        </p:nvSpPr>
        <p:spPr bwMode="auto">
          <a:xfrm>
            <a:off x="609600" y="5334000"/>
            <a:ext cx="4495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/>
              <a:t>Callable</a:t>
            </a:r>
            <a:r>
              <a:rPr lang="zh-CN" altLang="en-US" sz="1600"/>
              <a:t>接口类似于</a:t>
            </a:r>
            <a:r>
              <a:rPr lang="en-US" altLang="zh-CN" sz="1600"/>
              <a:t>Runnable</a:t>
            </a:r>
            <a:r>
              <a:rPr lang="zh-CN" altLang="en-US" sz="1600"/>
              <a:t>，为那些其实例可能被另一个线程执行的类设计的。</a:t>
            </a:r>
            <a:r>
              <a:rPr lang="en-US" altLang="zh-CN" sz="1600"/>
              <a:t> </a:t>
            </a:r>
            <a:r>
              <a:rPr lang="zh-CN" altLang="en-US" sz="1600"/>
              <a:t>提供一个</a:t>
            </a:r>
            <a:r>
              <a:rPr lang="en-US" altLang="zh-CN" sz="1600"/>
              <a:t>call()</a:t>
            </a:r>
            <a:r>
              <a:rPr lang="zh-CN" altLang="en-US" sz="1600"/>
              <a:t>方法作为线程的执行体。</a:t>
            </a:r>
            <a:r>
              <a:rPr lang="en-US" altLang="zh-CN" sz="1600"/>
              <a:t>call()</a:t>
            </a:r>
            <a:r>
              <a:rPr lang="zh-CN" altLang="en-US" sz="1600"/>
              <a:t>方法比</a:t>
            </a:r>
            <a:r>
              <a:rPr lang="en-US" altLang="zh-CN" sz="1600"/>
              <a:t>run()</a:t>
            </a:r>
            <a:r>
              <a:rPr lang="zh-CN" altLang="en-US" sz="1600"/>
              <a:t>方法更加强大：有返回值，可以抛出异常。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Executor</a:t>
            </a:r>
            <a:r>
              <a:rPr lang="zh-CN" altLang="en-US" dirty="0" smtClean="0"/>
              <a:t>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CN" sz="3200" dirty="0" smtClean="0"/>
              <a:t>Executor</a:t>
            </a:r>
            <a:r>
              <a:rPr lang="zh-CN" altLang="en-US" sz="3200" dirty="0" smtClean="0"/>
              <a:t>框架：是指</a:t>
            </a:r>
            <a:r>
              <a:rPr lang="en-US" altLang="zh-CN" sz="3200" dirty="0" err="1" smtClean="0"/>
              <a:t>jdk</a:t>
            </a:r>
            <a:r>
              <a:rPr lang="zh-CN" altLang="en-US" sz="3200" dirty="0" smtClean="0"/>
              <a:t>并发库中与</a:t>
            </a:r>
            <a:r>
              <a:rPr lang="en-US" altLang="zh-CN" sz="3200" dirty="0" smtClean="0"/>
              <a:t>Executor</a:t>
            </a:r>
            <a:r>
              <a:rPr lang="zh-CN" altLang="en-US" sz="3200" dirty="0" smtClean="0"/>
              <a:t>相关的功能类，包括</a:t>
            </a:r>
            <a:r>
              <a:rPr lang="en-US" altLang="zh-CN" sz="3200" dirty="0" smtClean="0"/>
              <a:t>Executor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Executors</a:t>
            </a:r>
            <a:r>
              <a:rPr lang="zh-CN" altLang="en-US" sz="3200" dirty="0" smtClean="0"/>
              <a:t>、</a:t>
            </a:r>
            <a:r>
              <a:rPr lang="en-US" altLang="zh-CN" sz="3200" dirty="0" err="1" smtClean="0"/>
              <a:t>ExecutorService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Future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Callable</a:t>
            </a:r>
            <a:r>
              <a:rPr lang="zh-CN" altLang="en-US" sz="3200" dirty="0" smtClean="0"/>
              <a:t>等。</a:t>
            </a:r>
            <a:endParaRPr lang="en-US" altLang="zh-C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431800"/>
          </a:xfrm>
        </p:spPr>
        <p:txBody>
          <a:bodyPr>
            <a:noAutofit/>
          </a:bodyPr>
          <a:lstStyle/>
          <a:p>
            <a:pPr algn="l"/>
            <a:r>
              <a:rPr lang="zh-CN" altLang="en-US" sz="3600" dirty="0" smtClean="0"/>
              <a:t>编程应用问题场景</a:t>
            </a:r>
            <a:r>
              <a:rPr lang="en-US" altLang="zh-CN" sz="3600" dirty="0" smtClean="0"/>
              <a:t>:</a:t>
            </a:r>
            <a:r>
              <a:rPr lang="zh-CN" altLang="en-US" sz="3600" dirty="0" smtClean="0"/>
              <a:t>压缩文件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323528" y="1772816"/>
            <a:ext cx="82296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对目录中的每一个文件完成</a:t>
            </a:r>
            <a:r>
              <a:rPr lang="en-US" altLang="zh-CN" sz="2800" dirty="0" err="1" smtClean="0"/>
              <a:t>gzip</a:t>
            </a:r>
            <a:r>
              <a:rPr lang="zh-CN" altLang="en-US" sz="2800" dirty="0" smtClean="0"/>
              <a:t>压缩。</a:t>
            </a:r>
            <a:endParaRPr lang="en-US" altLang="zh-CN" sz="28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应用特点：大量</a:t>
            </a:r>
            <a:r>
              <a:rPr lang="en-US" altLang="zh-CN" sz="2800" dirty="0" smtClean="0"/>
              <a:t>I/O</a:t>
            </a:r>
            <a:r>
              <a:rPr lang="zh-CN" altLang="en-US" sz="2800" dirty="0" smtClean="0"/>
              <a:t>操作</a:t>
            </a:r>
            <a:endParaRPr lang="en-US" altLang="zh-CN" sz="28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应用特点：数据压缩是</a:t>
            </a:r>
            <a:r>
              <a:rPr lang="en-US" altLang="zh-CN" sz="2800" dirty="0" smtClean="0"/>
              <a:t>CPU</a:t>
            </a:r>
            <a:r>
              <a:rPr lang="zh-CN" altLang="en-US" sz="2800" dirty="0" smtClean="0"/>
              <a:t>密集度高的操作</a:t>
            </a:r>
            <a:endParaRPr lang="en-US" altLang="zh-CN" sz="28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不要同时运行太多线程</a:t>
            </a:r>
            <a:endParaRPr lang="en-US" altLang="zh-CN" sz="2800" dirty="0" smtClean="0"/>
          </a:p>
          <a:p>
            <a:pPr>
              <a:buFont typeface="Wingdings" pitchFamily="2" charset="2"/>
              <a:buChar char="Ø"/>
            </a:pPr>
            <a:endParaRPr lang="en-US" altLang="zh-CN" sz="28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使用线程池编程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431800"/>
          </a:xfrm>
        </p:spPr>
        <p:txBody>
          <a:bodyPr>
            <a:noAutofit/>
          </a:bodyPr>
          <a:lstStyle/>
          <a:p>
            <a:pPr algn="l"/>
            <a:r>
              <a:rPr lang="zh-CN" altLang="en-US" sz="3600" dirty="0" smtClean="0"/>
              <a:t>使用线程池实现压缩文件编程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2296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程序设计思想</a:t>
            </a:r>
            <a:endParaRPr lang="en-US" altLang="zh-CN" sz="2800" dirty="0" smtClean="0"/>
          </a:p>
        </p:txBody>
      </p:sp>
      <p:sp>
        <p:nvSpPr>
          <p:cNvPr id="28676" name="矩形 7"/>
          <p:cNvSpPr>
            <a:spLocks noChangeArrowheads="1"/>
          </p:cNvSpPr>
          <p:nvPr/>
        </p:nvSpPr>
        <p:spPr bwMode="auto">
          <a:xfrm>
            <a:off x="794792" y="2132856"/>
            <a:ext cx="19050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zh-CN" altLang="en-US" sz="2000" dirty="0"/>
              <a:t>主程序：</a:t>
            </a:r>
            <a:endParaRPr lang="en-US" altLang="zh-CN" sz="2000" dirty="0"/>
          </a:p>
          <a:p>
            <a:r>
              <a:rPr lang="zh-CN" altLang="en-US" sz="2000" dirty="0"/>
              <a:t>列出目录中的文件，确定要压缩哪个文件</a:t>
            </a:r>
            <a:endParaRPr lang="en-US" altLang="zh-CN" sz="2000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执行速度快</a:t>
            </a:r>
          </a:p>
        </p:txBody>
      </p:sp>
      <p:sp>
        <p:nvSpPr>
          <p:cNvPr id="28677" name="矩形 7"/>
          <p:cNvSpPr>
            <a:spLocks noChangeArrowheads="1"/>
          </p:cNvSpPr>
          <p:nvPr/>
        </p:nvSpPr>
        <p:spPr bwMode="auto">
          <a:xfrm>
            <a:off x="4716016" y="2276872"/>
            <a:ext cx="1905000" cy="1752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zh-CN" altLang="en-US" sz="2000"/>
              <a:t>压缩线程：</a:t>
            </a:r>
            <a:endParaRPr lang="en-US" altLang="zh-CN" sz="2000"/>
          </a:p>
          <a:p>
            <a:r>
              <a:rPr lang="zh-CN" altLang="en-US" sz="2000"/>
              <a:t>压缩文件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执行速度慢</a:t>
            </a:r>
            <a:endParaRPr lang="en-US" altLang="zh-CN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个数受限制</a:t>
            </a:r>
            <a:endParaRPr lang="en-US" altLang="zh-CN" sz="2000">
              <a:solidFill>
                <a:srgbClr val="FF0000"/>
              </a:solidFill>
            </a:endParaRPr>
          </a:p>
        </p:txBody>
      </p:sp>
      <p:sp>
        <p:nvSpPr>
          <p:cNvPr id="28678" name="流程图: 可选过程 2"/>
          <p:cNvSpPr>
            <a:spLocks noChangeArrowheads="1"/>
          </p:cNvSpPr>
          <p:nvPr/>
        </p:nvSpPr>
        <p:spPr bwMode="auto">
          <a:xfrm>
            <a:off x="2514600" y="4789512"/>
            <a:ext cx="2743200" cy="1447800"/>
          </a:xfrm>
          <a:prstGeom prst="flowChartAlternateProcess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en-US" altLang="zh-CN" sz="2000"/>
              <a:t>ExecutorServiece</a:t>
            </a:r>
          </a:p>
          <a:p>
            <a:r>
              <a:rPr lang="zh-CN" altLang="en-US" sz="2000"/>
              <a:t>线程池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使主程序与压缩线程并行运行</a:t>
            </a:r>
          </a:p>
        </p:txBody>
      </p:sp>
      <p:sp>
        <p:nvSpPr>
          <p:cNvPr id="28679" name="左弧形箭头 3"/>
          <p:cNvSpPr>
            <a:spLocks noChangeArrowheads="1"/>
          </p:cNvSpPr>
          <p:nvPr/>
        </p:nvSpPr>
        <p:spPr bwMode="auto">
          <a:xfrm>
            <a:off x="1562100" y="4077072"/>
            <a:ext cx="609600" cy="1447800"/>
          </a:xfrm>
          <a:prstGeom prst="curvedRightArrow">
            <a:avLst>
              <a:gd name="adj1" fmla="val 24992"/>
              <a:gd name="adj2" fmla="val 49996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680" name="右弧形箭头 10"/>
          <p:cNvSpPr>
            <a:spLocks noChangeArrowheads="1"/>
          </p:cNvSpPr>
          <p:nvPr/>
        </p:nvSpPr>
        <p:spPr bwMode="auto">
          <a:xfrm>
            <a:off x="5478760" y="4082008"/>
            <a:ext cx="533400" cy="1219200"/>
          </a:xfrm>
          <a:prstGeom prst="curvedLeftArrow">
            <a:avLst>
              <a:gd name="adj1" fmla="val 25005"/>
              <a:gd name="adj2" fmla="val 50000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8681" name="TextBox 11"/>
          <p:cNvSpPr txBox="1">
            <a:spLocks noChangeArrowheads="1"/>
          </p:cNvSpPr>
          <p:nvPr/>
        </p:nvSpPr>
        <p:spPr bwMode="auto">
          <a:xfrm>
            <a:off x="5710238" y="5448300"/>
            <a:ext cx="3230562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演示运行示例代码：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Ch3.threadPool.GZipAllFiles.java, GZipRunnable.java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讲析程序结构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431800"/>
          </a:xfrm>
        </p:spPr>
        <p:txBody>
          <a:bodyPr>
            <a:noAutofit/>
          </a:bodyPr>
          <a:lstStyle/>
          <a:p>
            <a:pPr algn="l"/>
            <a:r>
              <a:rPr lang="zh-CN" altLang="en-US" sz="3600" dirty="0" smtClean="0"/>
              <a:t>使用线程池实现压缩文件编程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0" y="1556792"/>
            <a:ext cx="8229600" cy="952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sz="2800" dirty="0" smtClean="0"/>
              <a:t>程序结构</a:t>
            </a:r>
            <a:endParaRPr lang="en-US" altLang="zh-CN" sz="2800" dirty="0" smtClean="0"/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179512" y="3870705"/>
            <a:ext cx="1905000" cy="1242333"/>
            <a:chOff x="914400" y="3124200"/>
            <a:chExt cx="1905000" cy="1056815"/>
          </a:xfrm>
          <a:solidFill>
            <a:srgbClr val="00B0F0"/>
          </a:solidFill>
        </p:grpSpPr>
        <p:sp>
          <p:nvSpPr>
            <p:cNvPr id="6" name="矩形 7"/>
            <p:cNvSpPr>
              <a:spLocks noChangeArrowheads="1"/>
            </p:cNvSpPr>
            <p:nvPr/>
          </p:nvSpPr>
          <p:spPr bwMode="auto">
            <a:xfrm>
              <a:off x="914400" y="3124200"/>
              <a:ext cx="1905000" cy="457200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dirty="0" err="1">
                  <a:latin typeface="Arial" charset="0"/>
                </a:rPr>
                <a:t>GZipRunnable</a:t>
              </a:r>
              <a:r>
                <a:rPr lang="zh-CN" altLang="en-US" dirty="0">
                  <a:latin typeface="Arial" charset="0"/>
                </a:rPr>
                <a:t>类</a:t>
              </a:r>
            </a:p>
          </p:txBody>
        </p:sp>
        <p:sp>
          <p:nvSpPr>
            <p:cNvPr id="7" name="矩形 8"/>
            <p:cNvSpPr>
              <a:spLocks noChangeArrowheads="1"/>
            </p:cNvSpPr>
            <p:nvPr/>
          </p:nvSpPr>
          <p:spPr bwMode="auto">
            <a:xfrm>
              <a:off x="914400" y="3519714"/>
              <a:ext cx="1905000" cy="32464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dirty="0">
                  <a:latin typeface="Arial" charset="0"/>
                </a:rPr>
                <a:t>input: File</a:t>
              </a:r>
              <a:endParaRPr lang="zh-CN" altLang="en-US" dirty="0">
                <a:latin typeface="Arial" charset="0"/>
              </a:endParaRPr>
            </a:p>
          </p:txBody>
        </p:sp>
        <p:sp>
          <p:nvSpPr>
            <p:cNvPr id="8" name="矩形 9"/>
            <p:cNvSpPr>
              <a:spLocks noChangeArrowheads="1"/>
            </p:cNvSpPr>
            <p:nvPr/>
          </p:nvSpPr>
          <p:spPr bwMode="auto">
            <a:xfrm>
              <a:off x="914400" y="3799548"/>
              <a:ext cx="1905000" cy="381467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dirty="0">
                  <a:latin typeface="Arial" charset="0"/>
                </a:rPr>
                <a:t>run( )</a:t>
              </a:r>
            </a:p>
          </p:txBody>
        </p:sp>
      </p:grpSp>
      <p:grpSp>
        <p:nvGrpSpPr>
          <p:cNvPr id="3" name="组合 12"/>
          <p:cNvGrpSpPr>
            <a:grpSpLocks/>
          </p:cNvGrpSpPr>
          <p:nvPr/>
        </p:nvGrpSpPr>
        <p:grpSpPr bwMode="auto">
          <a:xfrm>
            <a:off x="408112" y="2144986"/>
            <a:ext cx="1905000" cy="919162"/>
            <a:chOff x="914400" y="3124200"/>
            <a:chExt cx="1905000" cy="782611"/>
          </a:xfrm>
        </p:grpSpPr>
        <p:sp>
          <p:nvSpPr>
            <p:cNvPr id="29718" name="矩形 7"/>
            <p:cNvSpPr>
              <a:spLocks noChangeArrowheads="1"/>
            </p:cNvSpPr>
            <p:nvPr/>
          </p:nvSpPr>
          <p:spPr bwMode="auto">
            <a:xfrm>
              <a:off x="914400" y="3124200"/>
              <a:ext cx="1905000" cy="4572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Runnable</a:t>
              </a:r>
              <a:r>
                <a:rPr lang="zh-CN" altLang="en-US"/>
                <a:t>接口</a:t>
              </a:r>
            </a:p>
          </p:txBody>
        </p:sp>
        <p:sp>
          <p:nvSpPr>
            <p:cNvPr id="29719" name="矩形 9"/>
            <p:cNvSpPr>
              <a:spLocks noChangeArrowheads="1"/>
            </p:cNvSpPr>
            <p:nvPr/>
          </p:nvSpPr>
          <p:spPr bwMode="auto">
            <a:xfrm>
              <a:off x="914400" y="3525344"/>
              <a:ext cx="1905000" cy="38146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run( )</a:t>
              </a:r>
            </a:p>
          </p:txBody>
        </p:sp>
      </p:grpSp>
      <p:cxnSp>
        <p:nvCxnSpPr>
          <p:cNvPr id="29702" name="直接箭头连接符 2"/>
          <p:cNvCxnSpPr>
            <a:cxnSpLocks noChangeShapeType="1"/>
            <a:endCxn id="29719" idx="2"/>
          </p:cNvCxnSpPr>
          <p:nvPr/>
        </p:nvCxnSpPr>
        <p:spPr bwMode="auto">
          <a:xfrm flipV="1">
            <a:off x="1132012" y="3064148"/>
            <a:ext cx="228600" cy="8064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pSp>
        <p:nvGrpSpPr>
          <p:cNvPr id="4" name="组合 12"/>
          <p:cNvGrpSpPr>
            <a:grpSpLocks/>
          </p:cNvGrpSpPr>
          <p:nvPr/>
        </p:nvGrpSpPr>
        <p:grpSpPr bwMode="auto">
          <a:xfrm>
            <a:off x="3289198" y="5443617"/>
            <a:ext cx="2895600" cy="1242333"/>
            <a:chOff x="914400" y="3124200"/>
            <a:chExt cx="1905000" cy="1056815"/>
          </a:xfrm>
          <a:solidFill>
            <a:srgbClr val="00B0F0"/>
          </a:solidFill>
        </p:grpSpPr>
        <p:sp>
          <p:nvSpPr>
            <p:cNvPr id="15" name="矩形 7"/>
            <p:cNvSpPr>
              <a:spLocks noChangeArrowheads="1"/>
            </p:cNvSpPr>
            <p:nvPr/>
          </p:nvSpPr>
          <p:spPr bwMode="auto">
            <a:xfrm>
              <a:off x="914400" y="3124200"/>
              <a:ext cx="1905000" cy="457200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dirty="0" err="1">
                  <a:latin typeface="Arial" charset="0"/>
                </a:rPr>
                <a:t>GZipAllFiles</a:t>
              </a:r>
              <a:r>
                <a:rPr lang="zh-CN" altLang="en-US" dirty="0">
                  <a:latin typeface="Arial" charset="0"/>
                </a:rPr>
                <a:t>类</a:t>
              </a:r>
            </a:p>
          </p:txBody>
        </p:sp>
        <p:sp>
          <p:nvSpPr>
            <p:cNvPr id="16" name="矩形 8"/>
            <p:cNvSpPr>
              <a:spLocks noChangeArrowheads="1"/>
            </p:cNvSpPr>
            <p:nvPr/>
          </p:nvSpPr>
          <p:spPr bwMode="auto">
            <a:xfrm>
              <a:off x="914400" y="3519714"/>
              <a:ext cx="1905000" cy="324644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sz="1600" dirty="0">
                  <a:latin typeface="Arial" charset="0"/>
                </a:rPr>
                <a:t>THREAD_COUNT=4</a:t>
              </a:r>
              <a:r>
                <a:rPr lang="en-US" altLang="zh-CN" dirty="0">
                  <a:latin typeface="Arial" charset="0"/>
                </a:rPr>
                <a:t> </a:t>
              </a:r>
              <a:endParaRPr lang="zh-CN" altLang="en-US" dirty="0">
                <a:latin typeface="Arial" charset="0"/>
              </a:endParaRPr>
            </a:p>
          </p:txBody>
        </p:sp>
        <p:sp>
          <p:nvSpPr>
            <p:cNvPr id="17" name="矩形 9"/>
            <p:cNvSpPr>
              <a:spLocks noChangeArrowheads="1"/>
            </p:cNvSpPr>
            <p:nvPr/>
          </p:nvSpPr>
          <p:spPr bwMode="auto">
            <a:xfrm>
              <a:off x="914400" y="3799548"/>
              <a:ext cx="1905000" cy="381467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dirty="0">
                  <a:latin typeface="Arial" charset="0"/>
                </a:rPr>
                <a:t>main( )</a:t>
              </a:r>
            </a:p>
          </p:txBody>
        </p:sp>
      </p:grpSp>
      <p:grpSp>
        <p:nvGrpSpPr>
          <p:cNvPr id="5" name="组合 12"/>
          <p:cNvGrpSpPr>
            <a:grpSpLocks/>
          </p:cNvGrpSpPr>
          <p:nvPr/>
        </p:nvGrpSpPr>
        <p:grpSpPr bwMode="auto">
          <a:xfrm>
            <a:off x="3227512" y="2060848"/>
            <a:ext cx="2362200" cy="1163638"/>
            <a:chOff x="914400" y="3124200"/>
            <a:chExt cx="1905000" cy="989412"/>
          </a:xfrm>
        </p:grpSpPr>
        <p:sp>
          <p:nvSpPr>
            <p:cNvPr id="29716" name="矩形 7"/>
            <p:cNvSpPr>
              <a:spLocks noChangeArrowheads="1"/>
            </p:cNvSpPr>
            <p:nvPr/>
          </p:nvSpPr>
          <p:spPr bwMode="auto">
            <a:xfrm>
              <a:off x="914400" y="3124200"/>
              <a:ext cx="1905000" cy="4572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ExecutorService</a:t>
              </a:r>
              <a:r>
                <a:rPr lang="zh-CN" altLang="en-US"/>
                <a:t>接口</a:t>
              </a:r>
            </a:p>
          </p:txBody>
        </p:sp>
        <p:sp>
          <p:nvSpPr>
            <p:cNvPr id="29717" name="矩形 9"/>
            <p:cNvSpPr>
              <a:spLocks noChangeArrowheads="1"/>
            </p:cNvSpPr>
            <p:nvPr/>
          </p:nvSpPr>
          <p:spPr bwMode="auto">
            <a:xfrm>
              <a:off x="914400" y="3531729"/>
              <a:ext cx="1905000" cy="58188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shutdown( )</a:t>
              </a:r>
            </a:p>
            <a:p>
              <a:r>
                <a:rPr lang="en-US" altLang="zh-CN"/>
                <a:t>submit( )</a:t>
              </a:r>
            </a:p>
          </p:txBody>
        </p:sp>
      </p:grpSp>
      <p:cxnSp>
        <p:nvCxnSpPr>
          <p:cNvPr id="29705" name="直接箭头连接符 12"/>
          <p:cNvCxnSpPr>
            <a:cxnSpLocks noChangeShapeType="1"/>
            <a:endCxn id="29717" idx="2"/>
          </p:cNvCxnSpPr>
          <p:nvPr/>
        </p:nvCxnSpPr>
        <p:spPr bwMode="auto">
          <a:xfrm flipH="1" flipV="1">
            <a:off x="4408612" y="3224486"/>
            <a:ext cx="163513" cy="21399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</p:spPr>
      </p:cxnSp>
      <p:sp>
        <p:nvSpPr>
          <p:cNvPr id="29706" name="TextBox 21"/>
          <p:cNvSpPr txBox="1">
            <a:spLocks noChangeArrowheads="1"/>
          </p:cNvSpPr>
          <p:nvPr/>
        </p:nvSpPr>
        <p:spPr bwMode="auto">
          <a:xfrm>
            <a:off x="3303712" y="3832498"/>
            <a:ext cx="2743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pool: ExecutorService</a:t>
            </a:r>
            <a:endParaRPr lang="zh-CN" altLang="en-US"/>
          </a:p>
        </p:txBody>
      </p:sp>
      <p:grpSp>
        <p:nvGrpSpPr>
          <p:cNvPr id="9" name="组合 12"/>
          <p:cNvGrpSpPr>
            <a:grpSpLocks/>
          </p:cNvGrpSpPr>
          <p:nvPr/>
        </p:nvGrpSpPr>
        <p:grpSpPr bwMode="auto">
          <a:xfrm>
            <a:off x="6207250" y="2154511"/>
            <a:ext cx="2743200" cy="1243012"/>
            <a:chOff x="914400" y="3124200"/>
            <a:chExt cx="1905000" cy="1056815"/>
          </a:xfrm>
        </p:grpSpPr>
        <p:sp>
          <p:nvSpPr>
            <p:cNvPr id="29713" name="矩形 7"/>
            <p:cNvSpPr>
              <a:spLocks noChangeArrowheads="1"/>
            </p:cNvSpPr>
            <p:nvPr/>
          </p:nvSpPr>
          <p:spPr bwMode="auto">
            <a:xfrm>
              <a:off x="914400" y="3124200"/>
              <a:ext cx="1905000" cy="4572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Executor</a:t>
              </a:r>
              <a:r>
                <a:rPr lang="zh-CN" altLang="en-US"/>
                <a:t>类</a:t>
              </a:r>
            </a:p>
          </p:txBody>
        </p:sp>
        <p:sp>
          <p:nvSpPr>
            <p:cNvPr id="29714" name="矩形 8"/>
            <p:cNvSpPr>
              <a:spLocks noChangeArrowheads="1"/>
            </p:cNvSpPr>
            <p:nvPr/>
          </p:nvSpPr>
          <p:spPr bwMode="auto">
            <a:xfrm>
              <a:off x="914400" y="3519714"/>
              <a:ext cx="1905000" cy="324644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 </a:t>
              </a:r>
              <a:endParaRPr lang="zh-CN" altLang="en-US"/>
            </a:p>
          </p:txBody>
        </p:sp>
        <p:sp>
          <p:nvSpPr>
            <p:cNvPr id="29715" name="矩形 9"/>
            <p:cNvSpPr>
              <a:spLocks noChangeArrowheads="1"/>
            </p:cNvSpPr>
            <p:nvPr/>
          </p:nvSpPr>
          <p:spPr bwMode="auto">
            <a:xfrm>
              <a:off x="914400" y="3799548"/>
              <a:ext cx="1905000" cy="38146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r>
                <a:rPr lang="en-US" altLang="zh-CN"/>
                <a:t>newFixedThreadPool( )</a:t>
              </a:r>
            </a:p>
          </p:txBody>
        </p:sp>
      </p:grpSp>
      <p:cxnSp>
        <p:nvCxnSpPr>
          <p:cNvPr id="29708" name="直接箭头连接符 29"/>
          <p:cNvCxnSpPr>
            <a:cxnSpLocks noChangeShapeType="1"/>
          </p:cNvCxnSpPr>
          <p:nvPr/>
        </p:nvCxnSpPr>
        <p:spPr bwMode="auto">
          <a:xfrm flipV="1">
            <a:off x="5742112" y="3400698"/>
            <a:ext cx="838200" cy="20113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</p:spPr>
      </p:cxnSp>
      <p:cxnSp>
        <p:nvCxnSpPr>
          <p:cNvPr id="29709" name="直接箭头连接符 17407"/>
          <p:cNvCxnSpPr>
            <a:cxnSpLocks noChangeShapeType="1"/>
          </p:cNvCxnSpPr>
          <p:nvPr/>
        </p:nvCxnSpPr>
        <p:spPr bwMode="auto">
          <a:xfrm flipH="1" flipV="1">
            <a:off x="1703512" y="5113611"/>
            <a:ext cx="1585913" cy="5984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</p:spPr>
      </p:cxnSp>
      <p:cxnSp>
        <p:nvCxnSpPr>
          <p:cNvPr id="29710" name="直接箭头连接符 17412"/>
          <p:cNvCxnSpPr>
            <a:cxnSpLocks noChangeShapeType="1"/>
          </p:cNvCxnSpPr>
          <p:nvPr/>
        </p:nvCxnSpPr>
        <p:spPr bwMode="auto">
          <a:xfrm flipH="1" flipV="1">
            <a:off x="2313112" y="3064148"/>
            <a:ext cx="990600" cy="23479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</p:spPr>
      </p:cxnSp>
      <p:sp>
        <p:nvSpPr>
          <p:cNvPr id="29711" name="TextBox 17413"/>
          <p:cNvSpPr txBox="1">
            <a:spLocks noChangeArrowheads="1"/>
          </p:cNvSpPr>
          <p:nvPr/>
        </p:nvSpPr>
        <p:spPr bwMode="auto">
          <a:xfrm>
            <a:off x="1894012" y="3467373"/>
            <a:ext cx="1752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Task:Runnable</a:t>
            </a:r>
            <a:endParaRPr lang="zh-CN" altLang="en-US"/>
          </a:p>
        </p:txBody>
      </p:sp>
      <p:cxnSp>
        <p:nvCxnSpPr>
          <p:cNvPr id="29712" name="直接箭头连接符 42"/>
          <p:cNvCxnSpPr>
            <a:cxnSpLocks noChangeShapeType="1"/>
          </p:cNvCxnSpPr>
          <p:nvPr/>
        </p:nvCxnSpPr>
        <p:spPr bwMode="auto">
          <a:xfrm flipH="1" flipV="1">
            <a:off x="5589712" y="2692673"/>
            <a:ext cx="595313" cy="255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InetAddress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人难以记住大量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r>
              <a:rPr lang="zh-CN" altLang="en-US" dirty="0" smtClean="0"/>
              <a:t>域名系统（</a:t>
            </a:r>
            <a:r>
              <a:rPr lang="en-US" altLang="zh-CN" dirty="0" smtClean="0">
                <a:solidFill>
                  <a:srgbClr val="FF0000"/>
                </a:solidFill>
              </a:rPr>
              <a:t>Domain Name System, DNS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DNS</a:t>
            </a:r>
            <a:r>
              <a:rPr lang="zh-CN" altLang="en-US" dirty="0" smtClean="0"/>
              <a:t>将易于记忆的</a:t>
            </a:r>
            <a:r>
              <a:rPr lang="zh-CN" altLang="en-US" dirty="0" smtClean="0">
                <a:solidFill>
                  <a:srgbClr val="FF0000"/>
                </a:solidFill>
              </a:rPr>
              <a:t>域名与</a:t>
            </a:r>
            <a:r>
              <a:rPr lang="en-US" altLang="zh-CN" dirty="0" smtClean="0">
                <a:solidFill>
                  <a:srgbClr val="FF0000"/>
                </a:solidFill>
              </a:rPr>
              <a:t>IP</a:t>
            </a:r>
            <a:r>
              <a:rPr lang="zh-CN" altLang="en-US" dirty="0" smtClean="0"/>
              <a:t>地址联系起来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210.39.3.164 &lt;-&gt; www.szu.edu.cn</a:t>
            </a:r>
          </a:p>
          <a:p>
            <a:r>
              <a:rPr lang="zh-CN" altLang="en-US" dirty="0" smtClean="0"/>
              <a:t>关系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一台主机可能有多个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zh-CN" altLang="en-US" dirty="0" smtClean="0"/>
              <a:t>可能被多个域名指向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一个域名可能指向多个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3392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InetAddress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中对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地址描述的类（</a:t>
            </a:r>
            <a:r>
              <a:rPr lang="en-US" altLang="zh-CN" dirty="0" smtClean="0"/>
              <a:t>IPv4&amp;IPv6</a:t>
            </a:r>
            <a:r>
              <a:rPr lang="zh-CN" altLang="en-US" dirty="0" smtClean="0"/>
              <a:t>）也是其高层的表示；</a:t>
            </a:r>
            <a:endParaRPr lang="en-US" altLang="zh-CN" dirty="0" smtClean="0"/>
          </a:p>
          <a:p>
            <a:r>
              <a:rPr lang="zh-CN" altLang="en-US" dirty="0" smtClean="0"/>
              <a:t>大部分网络类都要用到这个类</a:t>
            </a:r>
            <a:endParaRPr lang="en-US" altLang="zh-CN" dirty="0" smtClean="0"/>
          </a:p>
          <a:p>
            <a:r>
              <a:rPr lang="zh-CN" altLang="en-US" dirty="0" smtClean="0"/>
              <a:t>常用子类有：</a:t>
            </a:r>
            <a:r>
              <a:rPr lang="en-US" altLang="zh-CN" sz="3200" dirty="0" smtClean="0"/>
              <a:t> Inet4Address</a:t>
            </a:r>
            <a:r>
              <a:rPr lang="zh-CN" altLang="en-US" sz="3200" dirty="0" smtClean="0"/>
              <a:t>和</a:t>
            </a:r>
            <a:r>
              <a:rPr lang="en-US" altLang="zh-CN" sz="3200" dirty="0" smtClean="0"/>
              <a:t>Inet6Address</a:t>
            </a:r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3783120" y="6488668"/>
            <a:ext cx="5654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ResolveName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ResolveAllName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MyAddress</a:t>
            </a:r>
            <a:r>
              <a:rPr lang="en-US" altLang="zh-CN" dirty="0"/>
              <a:t>, </a:t>
            </a:r>
            <a:r>
              <a:rPr lang="en-US" altLang="zh-CN" dirty="0" err="1"/>
              <a:t>ReverseName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0613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创建方法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4869160"/>
            <a:ext cx="67687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创建方法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 smtClean="0"/>
              <a:t>Static InetAddress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getByName</a:t>
            </a:r>
            <a:r>
              <a:rPr lang="en-US" altLang="zh-CN" sz="2400" dirty="0" smtClean="0"/>
              <a:t>(String s)</a:t>
            </a:r>
          </a:p>
          <a:p>
            <a:pPr lvl="1"/>
            <a:r>
              <a:rPr lang="en-US" altLang="zh-CN" sz="2400" dirty="0" smtClean="0"/>
              <a:t>Static InetAddress[]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getAllByName</a:t>
            </a:r>
            <a:r>
              <a:rPr lang="en-US" altLang="zh-CN" sz="2400" dirty="0" smtClean="0"/>
              <a:t>(String s)</a:t>
            </a:r>
          </a:p>
          <a:p>
            <a:pPr lvl="1"/>
            <a:r>
              <a:rPr lang="en-US" altLang="zh-CN" sz="2400" dirty="0" smtClean="0"/>
              <a:t>Static InetAddress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getLocalHost</a:t>
            </a:r>
            <a:r>
              <a:rPr lang="en-US" altLang="zh-CN" sz="2400" dirty="0" smtClean="0"/>
              <a:t>()</a:t>
            </a:r>
            <a:endParaRPr lang="en-US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683568" y="1628800"/>
            <a:ext cx="80648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由于</a:t>
            </a:r>
            <a:r>
              <a:rPr lang="en-US" altLang="zh-CN" sz="2400" dirty="0" smtClean="0"/>
              <a:t>InetAddress</a:t>
            </a:r>
            <a:r>
              <a:rPr lang="zh-CN" altLang="en-US" sz="2400" dirty="0" smtClean="0"/>
              <a:t>没有</a:t>
            </a:r>
            <a:r>
              <a:rPr lang="en-US" altLang="zh-CN" sz="2400" dirty="0" smtClean="0"/>
              <a:t>public</a:t>
            </a:r>
            <a:r>
              <a:rPr lang="zh-CN" altLang="en-US" sz="2400" dirty="0" smtClean="0"/>
              <a:t>的构造方法，因此，要想创建</a:t>
            </a:r>
            <a:r>
              <a:rPr lang="en-US" altLang="zh-CN" sz="2400" dirty="0" smtClean="0"/>
              <a:t>InetAddress</a:t>
            </a:r>
            <a:r>
              <a:rPr lang="zh-CN" altLang="en-US" sz="2400" dirty="0" smtClean="0"/>
              <a:t>对象，必须得依靠它的四个</a:t>
            </a:r>
            <a:r>
              <a:rPr lang="zh-CN" altLang="en-US" sz="2400" dirty="0" smtClean="0">
                <a:solidFill>
                  <a:srgbClr val="FF0000"/>
                </a:solidFill>
              </a:rPr>
              <a:t>静态方法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2400" dirty="0" smtClean="0"/>
              <a:t>InetAddress</a:t>
            </a:r>
            <a:r>
              <a:rPr lang="zh-CN" altLang="en-US" sz="2400" dirty="0" smtClean="0"/>
              <a:t>可以通过</a:t>
            </a:r>
            <a:r>
              <a:rPr lang="en-US" altLang="zh-CN" sz="2400" dirty="0" err="1" smtClean="0"/>
              <a:t>getLocalHost</a:t>
            </a:r>
            <a:r>
              <a:rPr lang="zh-CN" altLang="en-US" sz="2400" dirty="0" smtClean="0"/>
              <a:t>方法得到</a:t>
            </a:r>
            <a:r>
              <a:rPr lang="zh-CN" altLang="en-US" sz="2400" dirty="0" smtClean="0">
                <a:solidFill>
                  <a:srgbClr val="FF0000"/>
                </a:solidFill>
              </a:rPr>
              <a:t>本机的</a:t>
            </a:r>
            <a:r>
              <a:rPr lang="en-US" altLang="zh-CN" sz="2400" dirty="0" smtClean="0">
                <a:solidFill>
                  <a:srgbClr val="FF0000"/>
                </a:solidFill>
              </a:rPr>
              <a:t>InetAddress</a:t>
            </a:r>
            <a:r>
              <a:rPr lang="zh-CN" altLang="en-US" sz="2400" dirty="0" smtClean="0">
                <a:solidFill>
                  <a:srgbClr val="FF0000"/>
                </a:solidFill>
              </a:rPr>
              <a:t>对象；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也可以通过</a:t>
            </a:r>
            <a:r>
              <a:rPr lang="en-US" altLang="zh-CN" sz="2400" dirty="0" err="1" smtClean="0"/>
              <a:t>getByName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getAllByName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getByAddress</a:t>
            </a:r>
            <a:r>
              <a:rPr lang="zh-CN" altLang="en-US" sz="2400" dirty="0" smtClean="0"/>
              <a:t>得到</a:t>
            </a:r>
            <a:r>
              <a:rPr lang="zh-CN" altLang="en-US" sz="2400" dirty="0" smtClean="0">
                <a:solidFill>
                  <a:srgbClr val="FF0000"/>
                </a:solidFill>
              </a:rPr>
              <a:t>远程主机的</a:t>
            </a:r>
            <a:r>
              <a:rPr lang="en-US" altLang="zh-CN" sz="2400" dirty="0" smtClean="0">
                <a:solidFill>
                  <a:srgbClr val="FF0000"/>
                </a:solidFill>
              </a:rPr>
              <a:t>InetAddress</a:t>
            </a:r>
            <a:r>
              <a:rPr lang="zh-CN" altLang="en-US" sz="2400" dirty="0" smtClean="0">
                <a:solidFill>
                  <a:srgbClr val="FF0000"/>
                </a:solidFill>
              </a:rPr>
              <a:t>对象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getLocalhost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 smtClean="0"/>
              <a:t>使用</a:t>
            </a:r>
            <a:r>
              <a:rPr lang="en-US" altLang="zh-CN" sz="3200" dirty="0" err="1" smtClean="0"/>
              <a:t>getLocalHost</a:t>
            </a:r>
            <a:r>
              <a:rPr lang="zh-CN" altLang="en-US" sz="3200" dirty="0" smtClean="0"/>
              <a:t>可以得到描述本机</a:t>
            </a:r>
            <a:r>
              <a:rPr lang="en-US" altLang="zh-CN" sz="3200" dirty="0" smtClean="0"/>
              <a:t>IP</a:t>
            </a:r>
            <a:r>
              <a:rPr lang="zh-CN" altLang="en-US" sz="3200" dirty="0" smtClean="0"/>
              <a:t>的</a:t>
            </a:r>
            <a:r>
              <a:rPr lang="en-US" altLang="zh-CN" sz="3200" dirty="0" smtClean="0"/>
              <a:t>InetAddress</a:t>
            </a:r>
            <a:r>
              <a:rPr lang="zh-CN" altLang="en-US" sz="3200" dirty="0" smtClean="0"/>
              <a:t>对象。这个方法的定义：</a:t>
            </a:r>
            <a:endParaRPr lang="en-US" altLang="zh-CN" sz="3200" dirty="0" smtClean="0"/>
          </a:p>
          <a:p>
            <a:r>
              <a:rPr lang="en-US" altLang="zh-CN" sz="3200" dirty="0" smtClean="0"/>
              <a:t>public static InetAddress </a:t>
            </a:r>
            <a:r>
              <a:rPr lang="en-US" altLang="zh-CN" sz="3200" dirty="0" err="1" smtClean="0"/>
              <a:t>getLocalHost</a:t>
            </a:r>
            <a:r>
              <a:rPr lang="en-US" altLang="zh-CN" sz="3200" dirty="0" smtClean="0"/>
              <a:t>() throws </a:t>
            </a:r>
            <a:r>
              <a:rPr lang="en-US" altLang="zh-CN" sz="3200" dirty="0" err="1" smtClean="0"/>
              <a:t>UnknownHostException</a:t>
            </a:r>
            <a:endParaRPr lang="en-US" altLang="zh-CN" sz="3200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getLocalhost</a:t>
            </a:r>
            <a:r>
              <a:rPr lang="zh-CN" altLang="en-US" dirty="0" smtClean="0"/>
              <a:t>举例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35696" y="1412776"/>
            <a:ext cx="60131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import java.net.*;</a:t>
            </a:r>
          </a:p>
          <a:p>
            <a:r>
              <a:rPr lang="en-US" altLang="zh-CN" dirty="0" smtClean="0"/>
              <a:t>public class </a:t>
            </a:r>
            <a:r>
              <a:rPr lang="en-US" altLang="zh-CN" dirty="0" err="1" smtClean="0">
                <a:solidFill>
                  <a:srgbClr val="FF0000"/>
                </a:solidFill>
              </a:rPr>
              <a:t>MyAddress</a:t>
            </a:r>
            <a:r>
              <a:rPr lang="en-US" altLang="zh-CN" dirty="0" smtClean="0"/>
              <a:t>{</a:t>
            </a:r>
          </a:p>
          <a:p>
            <a:r>
              <a:rPr lang="en-US" altLang="zh-CN" dirty="0" smtClean="0"/>
              <a:t>    public static void main(String[] </a:t>
            </a:r>
            <a:r>
              <a:rPr lang="en-US" altLang="zh-CN" dirty="0" err="1" smtClean="0"/>
              <a:t>args</a:t>
            </a:r>
            <a:r>
              <a:rPr lang="en-US" altLang="zh-CN" dirty="0" smtClean="0"/>
              <a:t>){</a:t>
            </a:r>
          </a:p>
          <a:p>
            <a:r>
              <a:rPr lang="en-US" altLang="zh-CN" dirty="0" smtClean="0"/>
              <a:t>        try{</a:t>
            </a:r>
          </a:p>
          <a:p>
            <a:r>
              <a:rPr lang="en-US" altLang="zh-CN" dirty="0" smtClean="0"/>
              <a:t>            InetAddress address = </a:t>
            </a:r>
            <a:r>
              <a:rPr lang="en-US" altLang="zh-CN" dirty="0" err="1" smtClean="0"/>
              <a:t>InetAddress.getLocalHost</a:t>
            </a:r>
            <a:r>
              <a:rPr lang="en-US" altLang="zh-CN" dirty="0" smtClean="0"/>
              <a:t>();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(address);</a:t>
            </a:r>
          </a:p>
          <a:p>
            <a:r>
              <a:rPr lang="en-US" altLang="zh-CN" dirty="0" smtClean="0"/>
              <a:t>        }</a:t>
            </a:r>
          </a:p>
          <a:p>
            <a:r>
              <a:rPr lang="en-US" altLang="zh-CN" dirty="0" smtClean="0"/>
              <a:t>        catch(Exception e){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(e);</a:t>
            </a:r>
          </a:p>
          <a:p>
            <a:r>
              <a:rPr lang="en-US" altLang="zh-CN" dirty="0" smtClean="0"/>
              <a:t>        }</a:t>
            </a:r>
          </a:p>
          <a:p>
            <a:r>
              <a:rPr lang="en-US" altLang="zh-CN" dirty="0" smtClean="0"/>
              <a:t>    }</a:t>
            </a:r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5013176"/>
            <a:ext cx="17281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运行结果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5013176"/>
            <a:ext cx="6696745" cy="83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0" y="1556792"/>
            <a:ext cx="17281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代码实例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093296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当本机绑定了多个</a:t>
            </a:r>
            <a:r>
              <a:rPr lang="en-US" altLang="zh-CN" sz="2400" dirty="0" smtClean="0">
                <a:solidFill>
                  <a:srgbClr val="FF0000"/>
                </a:solidFill>
              </a:rPr>
              <a:t>IP</a:t>
            </a:r>
            <a:r>
              <a:rPr lang="zh-CN" altLang="en-US" sz="2400" dirty="0" smtClean="0">
                <a:solidFill>
                  <a:srgbClr val="FF0000"/>
                </a:solidFill>
              </a:rPr>
              <a:t>地址时候，只返回第一个地址！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getByName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1502688"/>
            <a:ext cx="84969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import java.net.*;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public class </a:t>
            </a:r>
            <a:r>
              <a:rPr lang="en-US" altLang="zh-CN" dirty="0" err="1" smtClean="0">
                <a:solidFill>
                  <a:srgbClr val="FF0000"/>
                </a:solidFill>
              </a:rPr>
              <a:t>ResolveName</a:t>
            </a:r>
            <a:r>
              <a:rPr lang="en-US" altLang="zh-CN" dirty="0" smtClean="0"/>
              <a:t>{</a:t>
            </a:r>
          </a:p>
          <a:p>
            <a:r>
              <a:rPr lang="en-US" altLang="zh-CN" dirty="0" smtClean="0"/>
              <a:t>    public static void main(String[] </a:t>
            </a:r>
            <a:r>
              <a:rPr lang="en-US" altLang="zh-CN" dirty="0" err="1" smtClean="0"/>
              <a:t>args</a:t>
            </a:r>
            <a:r>
              <a:rPr lang="en-US" altLang="zh-CN" dirty="0" smtClean="0"/>
              <a:t>){</a:t>
            </a:r>
          </a:p>
          <a:p>
            <a:r>
              <a:rPr lang="en-US" altLang="zh-CN" dirty="0" smtClean="0"/>
              <a:t>        if(</a:t>
            </a:r>
            <a:r>
              <a:rPr lang="en-US" altLang="zh-CN" dirty="0" err="1" smtClean="0"/>
              <a:t>args.length</a:t>
            </a:r>
            <a:r>
              <a:rPr lang="en-US" altLang="zh-CN" dirty="0" smtClean="0"/>
              <a:t> != 1)</a:t>
            </a:r>
          </a:p>
          <a:p>
            <a:r>
              <a:rPr lang="en-US" altLang="zh-CN" dirty="0" smtClean="0"/>
              <a:t>        {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("</a:t>
            </a:r>
            <a:r>
              <a:rPr lang="en-US" altLang="zh-CN" dirty="0" smtClean="0">
                <a:solidFill>
                  <a:srgbClr val="00B0F0"/>
                </a:solidFill>
              </a:rPr>
              <a:t>Usage: java </a:t>
            </a:r>
            <a:r>
              <a:rPr lang="en-US" altLang="zh-CN" dirty="0" err="1" smtClean="0">
                <a:solidFill>
                  <a:srgbClr val="00B0F0"/>
                </a:solidFill>
              </a:rPr>
              <a:t>ResolveName</a:t>
            </a:r>
            <a:r>
              <a:rPr lang="en-US" altLang="zh-CN" dirty="0" smtClean="0">
                <a:solidFill>
                  <a:srgbClr val="00B0F0"/>
                </a:solidFill>
              </a:rPr>
              <a:t> domain.name</a:t>
            </a:r>
            <a:r>
              <a:rPr lang="en-US" altLang="zh-CN" dirty="0" smtClean="0"/>
              <a:t>");</a:t>
            </a:r>
          </a:p>
          <a:p>
            <a:r>
              <a:rPr lang="en-US" altLang="zh-CN" dirty="0" smtClean="0"/>
              <a:t>            return;</a:t>
            </a:r>
          </a:p>
          <a:p>
            <a:r>
              <a:rPr lang="en-US" altLang="zh-CN" dirty="0" smtClean="0"/>
              <a:t>        }</a:t>
            </a:r>
          </a:p>
          <a:p>
            <a:r>
              <a:rPr lang="en-US" altLang="zh-CN" dirty="0" smtClean="0"/>
              <a:t>        try{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            InetAddress address = </a:t>
            </a:r>
            <a:r>
              <a:rPr lang="en-US" altLang="zh-CN" dirty="0" err="1" smtClean="0">
                <a:solidFill>
                  <a:srgbClr val="FF0000"/>
                </a:solidFill>
              </a:rPr>
              <a:t>InetAddress.getByName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 err="1" smtClean="0">
                <a:solidFill>
                  <a:srgbClr val="FF0000"/>
                </a:solidFill>
              </a:rPr>
              <a:t>args</a:t>
            </a:r>
            <a:r>
              <a:rPr lang="en-US" altLang="zh-CN" dirty="0" smtClean="0">
                <a:solidFill>
                  <a:srgbClr val="FF0000"/>
                </a:solidFill>
              </a:rPr>
              <a:t>[0]);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(address);</a:t>
            </a:r>
          </a:p>
          <a:p>
            <a:r>
              <a:rPr lang="en-US" altLang="zh-CN" dirty="0" smtClean="0"/>
              <a:t>        }</a:t>
            </a:r>
          </a:p>
          <a:p>
            <a:r>
              <a:rPr lang="en-US" altLang="zh-CN" dirty="0" smtClean="0"/>
              <a:t>        catch(Exception e){</a:t>
            </a:r>
          </a:p>
          <a:p>
            <a:r>
              <a:rPr lang="en-US" altLang="zh-CN" dirty="0" smtClean="0"/>
              <a:t>            </a:t>
            </a:r>
            <a:r>
              <a:rPr lang="en-US" altLang="zh-CN" dirty="0" err="1" smtClean="0"/>
              <a:t>System.out.println</a:t>
            </a:r>
            <a:r>
              <a:rPr lang="en-US" altLang="zh-CN" dirty="0" smtClean="0"/>
              <a:t>(e);</a:t>
            </a:r>
          </a:p>
          <a:p>
            <a:r>
              <a:rPr lang="en-US" altLang="zh-CN" dirty="0" smtClean="0"/>
              <a:t>        }</a:t>
            </a:r>
          </a:p>
          <a:p>
            <a:r>
              <a:rPr lang="en-US" altLang="zh-CN" dirty="0" smtClean="0"/>
              <a:t>        </a:t>
            </a:r>
          </a:p>
          <a:p>
            <a:r>
              <a:rPr lang="en-US" altLang="zh-CN" dirty="0" smtClean="0"/>
              <a:t>    }</a:t>
            </a:r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getByName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3528" y="1772816"/>
            <a:ext cx="84249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200" dirty="0" smtClean="0"/>
              <a:t>可以通过该方法指定域名从</a:t>
            </a:r>
            <a:r>
              <a:rPr lang="en-US" altLang="zh-CN" sz="2200" dirty="0" smtClean="0"/>
              <a:t>DNS</a:t>
            </a:r>
            <a:r>
              <a:rPr lang="zh-CN" altLang="en-US" sz="2200" dirty="0" smtClean="0"/>
              <a:t>中查得与域名相对应的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地址。</a:t>
            </a:r>
            <a:endParaRPr lang="en-US" altLang="zh-CN" sz="22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en-US" altLang="zh-CN" sz="2200" dirty="0" err="1" smtClean="0"/>
              <a:t>getByName</a:t>
            </a:r>
            <a:r>
              <a:rPr lang="zh-CN" altLang="en-US" sz="2200" dirty="0" smtClean="0"/>
              <a:t>一个</a:t>
            </a:r>
            <a:r>
              <a:rPr lang="en-US" altLang="zh-CN" sz="2200" dirty="0" smtClean="0"/>
              <a:t>String</a:t>
            </a:r>
            <a:r>
              <a:rPr lang="zh-CN" altLang="en-US" sz="2200" dirty="0" smtClean="0"/>
              <a:t>类型参数，可以通过这个参数指定远程主机的域名，它的定义如下</a:t>
            </a:r>
            <a:endParaRPr lang="zh-CN" altLang="en-US" sz="2200" dirty="0"/>
          </a:p>
        </p:txBody>
      </p:sp>
      <p:sp>
        <p:nvSpPr>
          <p:cNvPr id="5" name="矩形 4"/>
          <p:cNvSpPr/>
          <p:nvPr/>
        </p:nvSpPr>
        <p:spPr>
          <a:xfrm>
            <a:off x="323528" y="3861048"/>
            <a:ext cx="835292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200" dirty="0" smtClean="0"/>
              <a:t>如果</a:t>
            </a:r>
            <a:r>
              <a:rPr lang="en-US" altLang="zh-CN" sz="2200" dirty="0" smtClean="0"/>
              <a:t>host</a:t>
            </a:r>
            <a:r>
              <a:rPr lang="zh-CN" altLang="en-US" sz="2200" dirty="0" smtClean="0"/>
              <a:t>所指的域名对应多个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，</a:t>
            </a:r>
            <a:r>
              <a:rPr lang="en-US" altLang="zh-CN" sz="2200" dirty="0" err="1" smtClean="0"/>
              <a:t>getByName</a:t>
            </a:r>
            <a:r>
              <a:rPr lang="zh-CN" altLang="en-US" sz="2200" dirty="0" smtClean="0"/>
              <a:t>返回第一个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200" dirty="0" smtClean="0"/>
              <a:t>如果本机名已知，可以使用</a:t>
            </a:r>
            <a:r>
              <a:rPr lang="en-US" altLang="zh-CN" sz="2200" dirty="0" err="1" smtClean="0"/>
              <a:t>getByName</a:t>
            </a:r>
            <a:r>
              <a:rPr lang="zh-CN" altLang="en-US" sz="2200" dirty="0" smtClean="0"/>
              <a:t>方法来代替</a:t>
            </a:r>
            <a:r>
              <a:rPr lang="en-US" altLang="zh-CN" sz="2200" dirty="0" err="1" smtClean="0"/>
              <a:t>getLocalHost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200" dirty="0" smtClean="0"/>
              <a:t>当</a:t>
            </a:r>
            <a:r>
              <a:rPr lang="en-US" altLang="zh-CN" sz="2200" dirty="0" smtClean="0"/>
              <a:t>host</a:t>
            </a:r>
            <a:r>
              <a:rPr lang="zh-CN" altLang="en-US" sz="2200" dirty="0" smtClean="0"/>
              <a:t>的值是</a:t>
            </a:r>
            <a:r>
              <a:rPr lang="en-US" altLang="zh-CN" sz="2200" dirty="0" err="1" smtClean="0"/>
              <a:t>localhost</a:t>
            </a:r>
            <a:r>
              <a:rPr lang="zh-CN" altLang="en-US" sz="2200" dirty="0" smtClean="0"/>
              <a:t>时，返回的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一般是</a:t>
            </a:r>
            <a:r>
              <a:rPr lang="en-US" altLang="zh-CN" sz="2200" dirty="0" smtClean="0"/>
              <a:t>127.0.0.1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200" dirty="0" smtClean="0"/>
              <a:t>如果</a:t>
            </a:r>
            <a:r>
              <a:rPr lang="en-US" altLang="zh-CN" sz="2200" dirty="0" smtClean="0"/>
              <a:t>host</a:t>
            </a:r>
            <a:r>
              <a:rPr lang="zh-CN" altLang="en-US" sz="2200" dirty="0" smtClean="0"/>
              <a:t>是不存在的域名，</a:t>
            </a:r>
            <a:r>
              <a:rPr lang="en-US" altLang="zh-CN" sz="2200" dirty="0" err="1" smtClean="0"/>
              <a:t>getByName</a:t>
            </a:r>
            <a:r>
              <a:rPr lang="zh-CN" altLang="en-US" sz="2200" dirty="0" smtClean="0"/>
              <a:t>将抛出</a:t>
            </a:r>
            <a:r>
              <a:rPr lang="en-US" altLang="zh-CN" sz="2200" dirty="0" err="1" smtClean="0"/>
              <a:t>UnknownHostException</a:t>
            </a:r>
            <a:r>
              <a:rPr lang="zh-CN" altLang="en-US" sz="2200" dirty="0" smtClean="0"/>
              <a:t>异常，如果</a:t>
            </a:r>
            <a:r>
              <a:rPr lang="en-US" altLang="zh-CN" sz="2200" dirty="0" smtClean="0"/>
              <a:t>host</a:t>
            </a:r>
            <a:r>
              <a:rPr lang="zh-CN" altLang="en-US" sz="2200" dirty="0" smtClean="0"/>
              <a:t>是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地址，无论这个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地址是否存在，</a:t>
            </a:r>
            <a:r>
              <a:rPr lang="en-US" altLang="zh-CN" sz="2200" dirty="0" err="1" smtClean="0"/>
              <a:t>getByName</a:t>
            </a:r>
            <a:r>
              <a:rPr lang="zh-CN" altLang="en-US" sz="2200" dirty="0" smtClean="0"/>
              <a:t>方法都会返回这个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地址（因此</a:t>
            </a:r>
            <a:r>
              <a:rPr lang="en-US" altLang="zh-CN" sz="2200" dirty="0" err="1" smtClean="0"/>
              <a:t>getByName</a:t>
            </a:r>
            <a:r>
              <a:rPr lang="zh-CN" altLang="en-US" sz="2200" dirty="0" smtClean="0"/>
              <a:t>并不验证</a:t>
            </a:r>
            <a:r>
              <a:rPr lang="en-US" altLang="zh-CN" sz="2200" dirty="0" smtClean="0"/>
              <a:t>IP</a:t>
            </a:r>
            <a:r>
              <a:rPr lang="zh-CN" altLang="en-US" sz="2200" dirty="0" smtClean="0"/>
              <a:t>地址的正确性）。</a:t>
            </a:r>
            <a:endParaRPr lang="en-US" altLang="zh-CN" sz="2200" dirty="0" smtClean="0"/>
          </a:p>
        </p:txBody>
      </p:sp>
      <p:sp>
        <p:nvSpPr>
          <p:cNvPr id="6" name="矩形 5"/>
          <p:cNvSpPr/>
          <p:nvPr/>
        </p:nvSpPr>
        <p:spPr>
          <a:xfrm>
            <a:off x="467544" y="2996952"/>
            <a:ext cx="75608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 smtClean="0">
                <a:solidFill>
                  <a:srgbClr val="7F0055"/>
                </a:solidFill>
                <a:latin typeface="Consolas" pitchFamily="49" charset="0"/>
              </a:rPr>
              <a:t>public static InetAddress </a:t>
            </a:r>
            <a:r>
              <a:rPr lang="en-US" altLang="zh-CN" sz="2200" b="1" dirty="0" err="1" smtClean="0">
                <a:solidFill>
                  <a:srgbClr val="7F0055"/>
                </a:solidFill>
                <a:latin typeface="Consolas" pitchFamily="49" charset="0"/>
              </a:rPr>
              <a:t>getByName</a:t>
            </a:r>
            <a:r>
              <a:rPr lang="en-US" altLang="zh-CN" sz="2200" b="1" dirty="0" smtClean="0">
                <a:solidFill>
                  <a:srgbClr val="7F0055"/>
                </a:solidFill>
                <a:latin typeface="Consolas" pitchFamily="49" charset="0"/>
              </a:rPr>
              <a:t>(String host) throws </a:t>
            </a:r>
            <a:r>
              <a:rPr lang="en-US" altLang="zh-CN" sz="2200" b="1" dirty="0" err="1" smtClean="0">
                <a:solidFill>
                  <a:srgbClr val="7F0055"/>
                </a:solidFill>
                <a:latin typeface="Consolas" pitchFamily="49" charset="0"/>
              </a:rPr>
              <a:t>UnknownHostException</a:t>
            </a:r>
            <a:endParaRPr lang="en-US" altLang="zh-CN" sz="2200" b="1" dirty="0">
              <a:solidFill>
                <a:srgbClr val="000000"/>
              </a:solidFill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getByName</a:t>
            </a:r>
            <a:r>
              <a:rPr lang="zh-CN" altLang="en-US" dirty="0" smtClean="0"/>
              <a:t>实例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5229200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执行 </a:t>
            </a:r>
            <a:r>
              <a:rPr lang="en-US" altLang="zh-CN" dirty="0" smtClean="0"/>
              <a:t>java  </a:t>
            </a:r>
            <a:r>
              <a:rPr lang="en-US" altLang="zh-CN" dirty="0" err="1" smtClean="0"/>
              <a:t>ResolveName</a:t>
            </a:r>
            <a:r>
              <a:rPr lang="en-US" altLang="zh-CN" dirty="0" smtClean="0"/>
              <a:t> www.szu.edu.cn </a:t>
            </a: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0" y="1502688"/>
            <a:ext cx="8496944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/>
              <a:t>import java.net.*;</a:t>
            </a:r>
          </a:p>
          <a:p>
            <a:endParaRPr lang="en-US" altLang="zh-CN" sz="1600" dirty="0" smtClean="0"/>
          </a:p>
          <a:p>
            <a:r>
              <a:rPr lang="en-US" altLang="zh-CN" sz="1600" dirty="0" smtClean="0"/>
              <a:t>public class </a:t>
            </a:r>
            <a:r>
              <a:rPr lang="en-US" altLang="zh-CN" sz="1600" dirty="0" err="1" smtClean="0"/>
              <a:t>ResolveName</a:t>
            </a:r>
            <a:r>
              <a:rPr lang="en-US" altLang="zh-CN" sz="1600" dirty="0" smtClean="0"/>
              <a:t>{</a:t>
            </a:r>
          </a:p>
          <a:p>
            <a:r>
              <a:rPr lang="en-US" altLang="zh-CN" sz="1600" dirty="0" smtClean="0"/>
              <a:t>    public static void main(String[] </a:t>
            </a:r>
            <a:r>
              <a:rPr lang="en-US" altLang="zh-CN" sz="1600" dirty="0" err="1" smtClean="0"/>
              <a:t>args</a:t>
            </a:r>
            <a:r>
              <a:rPr lang="en-US" altLang="zh-CN" sz="1600" dirty="0" smtClean="0"/>
              <a:t>){</a:t>
            </a:r>
          </a:p>
          <a:p>
            <a:r>
              <a:rPr lang="en-US" altLang="zh-CN" sz="1600" dirty="0" smtClean="0"/>
              <a:t>        if(</a:t>
            </a:r>
            <a:r>
              <a:rPr lang="en-US" altLang="zh-CN" sz="1600" dirty="0" err="1" smtClean="0"/>
              <a:t>args.length</a:t>
            </a:r>
            <a:r>
              <a:rPr lang="en-US" altLang="zh-CN" sz="1600" dirty="0" smtClean="0"/>
              <a:t> != 1)</a:t>
            </a:r>
          </a:p>
          <a:p>
            <a:r>
              <a:rPr lang="en-US" altLang="zh-CN" sz="1600" dirty="0" smtClean="0"/>
              <a:t>        {</a:t>
            </a:r>
          </a:p>
          <a:p>
            <a:r>
              <a:rPr lang="en-US" altLang="zh-CN" sz="1600" dirty="0" smtClean="0"/>
              <a:t>            </a:t>
            </a:r>
            <a:r>
              <a:rPr lang="en-US" altLang="zh-CN" sz="1600" dirty="0" err="1" smtClean="0"/>
              <a:t>System.out.println</a:t>
            </a:r>
            <a:r>
              <a:rPr lang="en-US" altLang="zh-CN" sz="1600" dirty="0" smtClean="0"/>
              <a:t>("Usage: java </a:t>
            </a:r>
            <a:r>
              <a:rPr lang="en-US" altLang="zh-CN" sz="1600" dirty="0" err="1" smtClean="0"/>
              <a:t>ResolveName</a:t>
            </a:r>
            <a:r>
              <a:rPr lang="en-US" altLang="zh-CN" sz="1600" dirty="0" smtClean="0"/>
              <a:t> domain.name");</a:t>
            </a:r>
          </a:p>
          <a:p>
            <a:r>
              <a:rPr lang="en-US" altLang="zh-CN" sz="1600" dirty="0" smtClean="0"/>
              <a:t>            return;</a:t>
            </a:r>
          </a:p>
          <a:p>
            <a:r>
              <a:rPr lang="en-US" altLang="zh-CN" sz="1600" dirty="0" smtClean="0"/>
              <a:t>        }</a:t>
            </a:r>
          </a:p>
          <a:p>
            <a:r>
              <a:rPr lang="en-US" altLang="zh-CN" sz="1600" dirty="0" smtClean="0"/>
              <a:t>        try{</a:t>
            </a:r>
          </a:p>
          <a:p>
            <a:r>
              <a:rPr lang="en-US" altLang="zh-CN" sz="1600" dirty="0" smtClean="0">
                <a:solidFill>
                  <a:srgbClr val="FF0000"/>
                </a:solidFill>
              </a:rPr>
              <a:t>            InetAddress address =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InetAddress.getByName</a:t>
            </a:r>
            <a:r>
              <a:rPr lang="en-US" altLang="zh-CN" sz="1600" dirty="0" smtClean="0">
                <a:solidFill>
                  <a:srgbClr val="FF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args</a:t>
            </a:r>
            <a:r>
              <a:rPr lang="en-US" altLang="zh-CN" sz="1600" dirty="0" smtClean="0">
                <a:solidFill>
                  <a:srgbClr val="FF0000"/>
                </a:solidFill>
              </a:rPr>
              <a:t>[0</a:t>
            </a:r>
            <a:r>
              <a:rPr lang="en-US" altLang="zh-CN" sz="1600" dirty="0" smtClean="0"/>
              <a:t>]);</a:t>
            </a:r>
          </a:p>
          <a:p>
            <a:r>
              <a:rPr lang="en-US" altLang="zh-CN" sz="1600" dirty="0" smtClean="0"/>
              <a:t>            </a:t>
            </a:r>
            <a:r>
              <a:rPr lang="en-US" altLang="zh-CN" sz="1600" dirty="0" err="1" smtClean="0"/>
              <a:t>System.out.println</a:t>
            </a:r>
            <a:r>
              <a:rPr lang="en-US" altLang="zh-CN" sz="1600" dirty="0" smtClean="0"/>
              <a:t>(address);</a:t>
            </a:r>
          </a:p>
          <a:p>
            <a:r>
              <a:rPr lang="en-US" altLang="zh-CN" sz="1600" dirty="0" smtClean="0"/>
              <a:t>        }</a:t>
            </a:r>
          </a:p>
          <a:p>
            <a:r>
              <a:rPr lang="en-US" altLang="zh-CN" sz="1600" dirty="0" smtClean="0"/>
              <a:t>        catch(Exception e){</a:t>
            </a:r>
          </a:p>
          <a:p>
            <a:r>
              <a:rPr lang="en-US" altLang="zh-CN" sz="1600" dirty="0" smtClean="0"/>
              <a:t>            </a:t>
            </a:r>
            <a:r>
              <a:rPr lang="en-US" altLang="zh-CN" sz="1600" dirty="0" err="1" smtClean="0"/>
              <a:t>System.out.println</a:t>
            </a:r>
            <a:r>
              <a:rPr lang="en-US" altLang="zh-CN" sz="1600" dirty="0" smtClean="0"/>
              <a:t>(e);</a:t>
            </a:r>
          </a:p>
          <a:p>
            <a:r>
              <a:rPr lang="en-US" altLang="zh-CN" sz="1600" dirty="0" smtClean="0"/>
              <a:t>        }</a:t>
            </a:r>
          </a:p>
          <a:p>
            <a:r>
              <a:rPr lang="en-US" altLang="zh-CN" sz="1600" dirty="0" smtClean="0"/>
              <a:t>        </a:t>
            </a:r>
          </a:p>
          <a:p>
            <a:r>
              <a:rPr lang="en-US" altLang="zh-CN" sz="1600" dirty="0" smtClean="0"/>
              <a:t>    }</a:t>
            </a:r>
          </a:p>
          <a:p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1757" y="5949280"/>
            <a:ext cx="7422243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getByName</a:t>
            </a:r>
            <a:r>
              <a:rPr lang="zh-CN" altLang="en-US" dirty="0" smtClean="0"/>
              <a:t>实例（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1916832"/>
            <a:ext cx="84249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测试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：本机名  </a:t>
            </a:r>
            <a:r>
              <a:rPr lang="en-US" altLang="zh-CN" sz="2400" dirty="0" smtClean="0"/>
              <a:t>DESKTOP-VKK8CFC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执行如下命令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2400" dirty="0" smtClean="0">
                <a:solidFill>
                  <a:srgbClr val="FF0000"/>
                </a:solidFill>
              </a:rPr>
              <a:t>java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ResolveName</a:t>
            </a:r>
            <a:r>
              <a:rPr lang="en-US" altLang="zh-CN" sz="2400" dirty="0" smtClean="0">
                <a:solidFill>
                  <a:srgbClr val="FF0000"/>
                </a:solidFill>
              </a:rPr>
              <a:t> DESKTOP-VKK8CFC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运行结果</a:t>
            </a:r>
            <a:endParaRPr lang="zh-CN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05064"/>
            <a:ext cx="8173163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getByName</a:t>
            </a:r>
            <a:r>
              <a:rPr lang="zh-CN" altLang="en-US" dirty="0" smtClean="0"/>
              <a:t>实例（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95536" y="1772816"/>
            <a:ext cx="770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测试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：代表本机的</a:t>
            </a:r>
            <a:r>
              <a:rPr lang="en-US" altLang="zh-CN" sz="2400" dirty="0" err="1" smtClean="0"/>
              <a:t>localhost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执行如下命令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2400" dirty="0" smtClean="0">
                <a:solidFill>
                  <a:srgbClr val="FF0000"/>
                </a:solidFill>
              </a:rPr>
              <a:t>java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ResolveName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localhost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运行结果：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789040"/>
            <a:ext cx="6768752" cy="491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getByName</a:t>
            </a:r>
            <a:r>
              <a:rPr lang="zh-CN" altLang="en-US" dirty="0" smtClean="0"/>
              <a:t>实例（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1700808"/>
            <a:ext cx="81369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对于本机来说，除了可以使用本机名或</a:t>
            </a:r>
            <a:r>
              <a:rPr lang="en-US" altLang="zh-CN" sz="2400" dirty="0" err="1" smtClean="0"/>
              <a:t>localhost</a:t>
            </a:r>
            <a:r>
              <a:rPr lang="zh-CN" altLang="en-US" sz="2400" dirty="0" smtClean="0"/>
              <a:t>外，还可以在</a:t>
            </a:r>
            <a:r>
              <a:rPr lang="en-US" altLang="zh-CN" sz="2400" dirty="0" smtClean="0"/>
              <a:t>hosts</a:t>
            </a:r>
            <a:r>
              <a:rPr lang="zh-CN" altLang="en-US" sz="2400" dirty="0" smtClean="0"/>
              <a:t>文件中对本机做“</a:t>
            </a:r>
            <a:r>
              <a:rPr lang="en-US" altLang="zh-CN" sz="2400" dirty="0" smtClean="0"/>
              <a:t>IP/</a:t>
            </a:r>
            <a:r>
              <a:rPr lang="zh-CN" altLang="en-US" sz="2400" dirty="0" smtClean="0"/>
              <a:t>域名”映射（在</a:t>
            </a:r>
            <a:r>
              <a:rPr lang="en-US" altLang="zh-CN" sz="2400" dirty="0" smtClean="0"/>
              <a:t>Windows</a:t>
            </a:r>
            <a:r>
              <a:rPr lang="zh-CN" altLang="en-US" sz="2400" dirty="0" smtClean="0"/>
              <a:t>操作系统下）。这个文件在</a:t>
            </a:r>
            <a:r>
              <a:rPr lang="en-US" altLang="zh-CN" sz="2400" dirty="0" smtClean="0"/>
              <a:t>C:\Windows\System32\drivers\etc</a:t>
            </a:r>
            <a:r>
              <a:rPr lang="zh-CN" altLang="en-US" sz="2400" dirty="0" smtClean="0"/>
              <a:t>中。打开</a:t>
            </a:r>
            <a:r>
              <a:rPr lang="en-US" altLang="zh-CN" sz="2400" dirty="0" smtClean="0"/>
              <a:t>hosts</a:t>
            </a:r>
            <a:r>
              <a:rPr lang="zh-CN" altLang="en-US" sz="2400" dirty="0" smtClean="0"/>
              <a:t>，在最后加一行如下所示的字符串：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2400" dirty="0" smtClean="0"/>
              <a:t>192.168.18.100   www.mysite.com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测试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：本机域名</a:t>
            </a:r>
            <a:r>
              <a:rPr lang="en-US" altLang="zh-CN" sz="2400" dirty="0" smtClean="0"/>
              <a:t>www.mysite.com 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执行如下命令</a:t>
            </a:r>
            <a:endParaRPr lang="en-US" altLang="zh-CN" sz="24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2400" dirty="0" smtClean="0">
                <a:solidFill>
                  <a:srgbClr val="FF0000"/>
                </a:solidFill>
              </a:rPr>
              <a:t>java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ResolveName</a:t>
            </a:r>
            <a:r>
              <a:rPr lang="en-US" altLang="zh-CN" sz="2400" dirty="0" smtClean="0">
                <a:solidFill>
                  <a:srgbClr val="FF0000"/>
                </a:solidFill>
              </a:rPr>
              <a:t> www.mysite.com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/>
              <a:t>运行结果</a:t>
            </a:r>
            <a:endParaRPr lang="zh-CN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5157192"/>
            <a:ext cx="713348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getAllByName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55576" y="1988840"/>
            <a:ext cx="7776864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 smtClean="0"/>
              <a:t>使用</a:t>
            </a:r>
            <a:r>
              <a:rPr lang="en-US" altLang="zh-CN" sz="2400" dirty="0" err="1" smtClean="0"/>
              <a:t>getAllByName</a:t>
            </a:r>
            <a:r>
              <a:rPr lang="zh-CN" altLang="en-US" sz="2400" dirty="0" smtClean="0"/>
              <a:t>方法可以从</a:t>
            </a:r>
            <a:r>
              <a:rPr lang="en-US" altLang="zh-CN" sz="2400" dirty="0" smtClean="0"/>
              <a:t>DNS</a:t>
            </a:r>
            <a:r>
              <a:rPr lang="zh-CN" altLang="en-US" sz="2400" dirty="0" smtClean="0"/>
              <a:t>上得到域名对应的所有的</a:t>
            </a:r>
            <a:r>
              <a:rPr lang="en-US" altLang="zh-CN" sz="2400" dirty="0" smtClean="0"/>
              <a:t>IP</a:t>
            </a:r>
            <a:r>
              <a:rPr lang="zh-CN" altLang="en-US" sz="2400" dirty="0" smtClean="0"/>
              <a:t>。这个方法返回一个</a:t>
            </a:r>
            <a:r>
              <a:rPr lang="en-US" altLang="zh-CN" sz="2400" dirty="0" smtClean="0"/>
              <a:t>InetAddress</a:t>
            </a:r>
            <a:r>
              <a:rPr lang="zh-CN" altLang="en-US" sz="2400" dirty="0" smtClean="0"/>
              <a:t>类型的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数组</a:t>
            </a:r>
            <a:r>
              <a:rPr lang="zh-CN" altLang="en-US" sz="2400" dirty="0" smtClean="0"/>
              <a:t>。这个方法的定义如下：</a:t>
            </a:r>
            <a:endParaRPr lang="en-US" altLang="zh-CN" sz="2400" dirty="0" smtClean="0"/>
          </a:p>
          <a:p>
            <a:pPr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</a:rPr>
              <a:t>public static InetAddress[]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Consolas" pitchFamily="49" charset="0"/>
              </a:rPr>
              <a:t>getAllByName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</a:rPr>
              <a:t>(String host) throws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Consolas" pitchFamily="49" charset="0"/>
              </a:rPr>
              <a:t>UnknownHostException</a:t>
            </a:r>
            <a:endParaRPr lang="en-US" altLang="zh-CN" sz="2000" b="1" dirty="0" smtClean="0">
              <a:solidFill>
                <a:srgbClr val="FF0000"/>
              </a:solidFill>
              <a:latin typeface="Consolas" pitchFamily="49" charset="0"/>
            </a:endParaRPr>
          </a:p>
          <a:p>
            <a:pPr>
              <a:defRPr/>
            </a:pPr>
            <a:endParaRPr lang="en-US" altLang="zh-CN" sz="2400" dirty="0" smtClean="0"/>
          </a:p>
          <a:p>
            <a:pPr>
              <a:defRPr/>
            </a:pPr>
            <a:endParaRPr lang="en-US" altLang="zh-CN" sz="24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400" dirty="0" smtClean="0"/>
              <a:t>与</a:t>
            </a:r>
            <a:r>
              <a:rPr lang="en-US" altLang="zh-CN" sz="2400" dirty="0" err="1" smtClean="0"/>
              <a:t>getByName</a:t>
            </a:r>
            <a:r>
              <a:rPr lang="zh-CN" altLang="en-US" sz="2400" dirty="0" smtClean="0"/>
              <a:t>方法一样，当</a:t>
            </a:r>
            <a:r>
              <a:rPr lang="en-US" altLang="zh-CN" sz="2400" dirty="0" smtClean="0"/>
              <a:t>host</a:t>
            </a:r>
            <a:r>
              <a:rPr lang="zh-CN" altLang="en-US" sz="2400" dirty="0" smtClean="0"/>
              <a:t>不存在时，</a:t>
            </a:r>
            <a:r>
              <a:rPr lang="en-US" altLang="zh-CN" sz="2400" dirty="0" err="1" smtClean="0"/>
              <a:t>getAllByName</a:t>
            </a:r>
            <a:r>
              <a:rPr lang="zh-CN" altLang="en-US" sz="2400" dirty="0" smtClean="0"/>
              <a:t>也会抛出</a:t>
            </a:r>
            <a:r>
              <a:rPr lang="en-US" altLang="zh-CN" sz="2400" dirty="0" err="1" smtClean="0"/>
              <a:t>UnknowHostException</a:t>
            </a:r>
            <a:r>
              <a:rPr lang="zh-CN" altLang="en-US" sz="2400" dirty="0" smtClean="0"/>
              <a:t>异常，</a:t>
            </a:r>
            <a:r>
              <a:rPr lang="en-US" altLang="zh-CN" sz="2400" dirty="0" err="1" smtClean="0"/>
              <a:t>getAllByName</a:t>
            </a:r>
            <a:r>
              <a:rPr lang="zh-CN" altLang="en-US" sz="2400" dirty="0" smtClean="0"/>
              <a:t>也不会验证</a:t>
            </a:r>
            <a:r>
              <a:rPr lang="en-US" altLang="zh-CN" sz="2400" dirty="0" smtClean="0"/>
              <a:t>IP</a:t>
            </a:r>
            <a:r>
              <a:rPr lang="zh-CN" altLang="en-US" sz="2400" dirty="0" smtClean="0"/>
              <a:t>地址是否存在。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getAllByName</a:t>
            </a:r>
            <a:r>
              <a:rPr lang="zh-CN" altLang="en-US" dirty="0" smtClean="0"/>
              <a:t>实例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5733256"/>
            <a:ext cx="6456363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7504" y="1556792"/>
            <a:ext cx="82089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import java.net.*;</a:t>
            </a:r>
          </a:p>
          <a:p>
            <a:endParaRPr lang="en-US" altLang="zh-CN" sz="1600" dirty="0" smtClean="0"/>
          </a:p>
          <a:p>
            <a:r>
              <a:rPr lang="en-US" altLang="zh-CN" sz="1600" dirty="0" smtClean="0"/>
              <a:t>public class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ResolveAllName</a:t>
            </a:r>
            <a:r>
              <a:rPr lang="en-US" altLang="zh-CN" sz="1600" dirty="0" smtClean="0"/>
              <a:t>{</a:t>
            </a:r>
          </a:p>
          <a:p>
            <a:r>
              <a:rPr lang="en-US" altLang="zh-CN" sz="1600" dirty="0" smtClean="0"/>
              <a:t>    public static void main(String[] </a:t>
            </a:r>
            <a:r>
              <a:rPr lang="en-US" altLang="zh-CN" sz="1600" dirty="0" err="1" smtClean="0"/>
              <a:t>args</a:t>
            </a:r>
            <a:r>
              <a:rPr lang="en-US" altLang="zh-CN" sz="1600" dirty="0" smtClean="0"/>
              <a:t>){</a:t>
            </a:r>
          </a:p>
          <a:p>
            <a:r>
              <a:rPr lang="en-US" altLang="zh-CN" sz="1600" dirty="0" smtClean="0"/>
              <a:t>        if(</a:t>
            </a:r>
            <a:r>
              <a:rPr lang="en-US" altLang="zh-CN" sz="1600" dirty="0" err="1" smtClean="0"/>
              <a:t>args.length</a:t>
            </a:r>
            <a:r>
              <a:rPr lang="en-US" altLang="zh-CN" sz="1600" dirty="0" smtClean="0"/>
              <a:t> != 1)</a:t>
            </a:r>
          </a:p>
          <a:p>
            <a:r>
              <a:rPr lang="en-US" altLang="zh-CN" sz="1600" dirty="0" smtClean="0"/>
              <a:t>        {</a:t>
            </a:r>
          </a:p>
          <a:p>
            <a:r>
              <a:rPr lang="en-US" altLang="zh-CN" sz="1600" dirty="0" smtClean="0"/>
              <a:t>            </a:t>
            </a:r>
            <a:r>
              <a:rPr lang="en-US" altLang="zh-CN" sz="1600" dirty="0" err="1" smtClean="0"/>
              <a:t>System.out.println</a:t>
            </a:r>
            <a:r>
              <a:rPr lang="en-US" altLang="zh-CN" sz="1600" dirty="0" smtClean="0"/>
              <a:t>("</a:t>
            </a:r>
            <a:r>
              <a:rPr lang="en-US" altLang="zh-CN" sz="1600" dirty="0" smtClean="0">
                <a:solidFill>
                  <a:srgbClr val="00B0F0"/>
                </a:solidFill>
              </a:rPr>
              <a:t>Usage: java </a:t>
            </a:r>
            <a:r>
              <a:rPr lang="en-US" altLang="zh-CN" sz="1600" dirty="0" err="1" smtClean="0">
                <a:solidFill>
                  <a:srgbClr val="00B0F0"/>
                </a:solidFill>
              </a:rPr>
              <a:t>ResolveAllName</a:t>
            </a:r>
            <a:r>
              <a:rPr lang="en-US" altLang="zh-CN" sz="1600" dirty="0" smtClean="0">
                <a:solidFill>
                  <a:srgbClr val="00B0F0"/>
                </a:solidFill>
              </a:rPr>
              <a:t> domain.name</a:t>
            </a:r>
            <a:r>
              <a:rPr lang="en-US" altLang="zh-CN" sz="1600" dirty="0" smtClean="0"/>
              <a:t>");</a:t>
            </a:r>
          </a:p>
          <a:p>
            <a:r>
              <a:rPr lang="en-US" altLang="zh-CN" sz="1600" dirty="0" smtClean="0"/>
              <a:t>            return;</a:t>
            </a:r>
          </a:p>
          <a:p>
            <a:r>
              <a:rPr lang="en-US" altLang="zh-CN" sz="1600" dirty="0" smtClean="0"/>
              <a:t>        }</a:t>
            </a:r>
          </a:p>
          <a:p>
            <a:r>
              <a:rPr lang="en-US" altLang="zh-CN" sz="1600" dirty="0" smtClean="0"/>
              <a:t>        try{</a:t>
            </a:r>
          </a:p>
          <a:p>
            <a:r>
              <a:rPr lang="en-US" altLang="zh-CN" sz="1600" dirty="0" smtClean="0"/>
              <a:t>            </a:t>
            </a:r>
            <a:r>
              <a:rPr lang="en-US" altLang="zh-CN" sz="1600" dirty="0" smtClean="0">
                <a:solidFill>
                  <a:srgbClr val="FF0000"/>
                </a:solidFill>
              </a:rPr>
              <a:t>InetAddress[] addresses = 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InetAddress.getAllByName</a:t>
            </a:r>
            <a:r>
              <a:rPr lang="en-US" altLang="zh-CN" sz="1600" dirty="0" smtClean="0">
                <a:solidFill>
                  <a:srgbClr val="FF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args</a:t>
            </a:r>
            <a:r>
              <a:rPr lang="en-US" altLang="zh-CN" sz="1600" dirty="0" smtClean="0">
                <a:solidFill>
                  <a:srgbClr val="FF0000"/>
                </a:solidFill>
              </a:rPr>
              <a:t>[0]);</a:t>
            </a:r>
          </a:p>
          <a:p>
            <a:r>
              <a:rPr lang="en-US" altLang="zh-CN" sz="1600" dirty="0" smtClean="0">
                <a:solidFill>
                  <a:srgbClr val="FF0000"/>
                </a:solidFill>
              </a:rPr>
              <a:t>            for(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InetAddress</a:t>
            </a:r>
            <a:r>
              <a:rPr lang="en-US" altLang="zh-CN" sz="1600" dirty="0" smtClean="0">
                <a:solidFill>
                  <a:srgbClr val="FF0000"/>
                </a:solidFill>
              </a:rPr>
              <a:t> address: addresses)</a:t>
            </a:r>
          </a:p>
          <a:p>
            <a:r>
              <a:rPr lang="en-US" altLang="zh-CN" sz="1600" dirty="0" smtClean="0"/>
              <a:t>                </a:t>
            </a:r>
            <a:r>
              <a:rPr lang="en-US" altLang="zh-CN" sz="1600" dirty="0" err="1" smtClean="0"/>
              <a:t>System.out.println</a:t>
            </a:r>
            <a:r>
              <a:rPr lang="en-US" altLang="zh-CN" sz="1600" dirty="0" smtClean="0"/>
              <a:t>(address);</a:t>
            </a:r>
          </a:p>
          <a:p>
            <a:r>
              <a:rPr lang="en-US" altLang="zh-CN" sz="1600" dirty="0" smtClean="0"/>
              <a:t>        }</a:t>
            </a:r>
          </a:p>
          <a:p>
            <a:r>
              <a:rPr lang="en-US" altLang="zh-CN" sz="1600" dirty="0" smtClean="0"/>
              <a:t>        catch(Exception e){</a:t>
            </a:r>
          </a:p>
          <a:p>
            <a:r>
              <a:rPr lang="en-US" altLang="zh-CN" sz="1600" dirty="0" smtClean="0"/>
              <a:t>            </a:t>
            </a:r>
            <a:r>
              <a:rPr lang="en-US" altLang="zh-CN" sz="1600" dirty="0" err="1" smtClean="0"/>
              <a:t>System.out.println</a:t>
            </a:r>
            <a:r>
              <a:rPr lang="en-US" altLang="zh-CN" sz="1600" dirty="0" smtClean="0"/>
              <a:t>(e);</a:t>
            </a:r>
          </a:p>
          <a:p>
            <a:r>
              <a:rPr lang="en-US" altLang="zh-CN" sz="1600" dirty="0" smtClean="0"/>
              <a:t>        }</a:t>
            </a:r>
          </a:p>
          <a:p>
            <a:r>
              <a:rPr lang="en-US" altLang="zh-CN" sz="1600" dirty="0" smtClean="0"/>
              <a:t>        </a:t>
            </a:r>
          </a:p>
          <a:p>
            <a:r>
              <a:rPr lang="en-US" altLang="zh-CN" sz="1600" dirty="0" smtClean="0"/>
              <a:t>    }</a:t>
            </a:r>
          </a:p>
          <a:p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getByAddress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95536" y="1772816"/>
            <a:ext cx="835292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zh-CN" altLang="en-US" sz="2000" dirty="0" smtClean="0"/>
              <a:t>这个方法必须通过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地址来创建</a:t>
            </a:r>
            <a:r>
              <a:rPr lang="en-US" altLang="zh-CN" sz="2000" dirty="0" smtClean="0"/>
              <a:t>InetAddress</a:t>
            </a:r>
            <a:r>
              <a:rPr lang="zh-CN" altLang="en-US" sz="2000" dirty="0" smtClean="0"/>
              <a:t>对象，而且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地址必须是</a:t>
            </a:r>
            <a:r>
              <a:rPr lang="en-US" altLang="zh-CN" sz="2000" dirty="0" smtClean="0"/>
              <a:t>byte</a:t>
            </a:r>
            <a:r>
              <a:rPr lang="zh-CN" altLang="en-US" sz="2000" dirty="0" smtClean="0"/>
              <a:t>数组形式。</a:t>
            </a:r>
            <a:r>
              <a:rPr lang="en-US" altLang="zh-CN" sz="2000" dirty="0" smtClean="0"/>
              <a:t>getByAddress</a:t>
            </a:r>
            <a:r>
              <a:rPr lang="zh-CN" altLang="en-US" sz="2000" dirty="0" smtClean="0"/>
              <a:t>方法有两个重载形式，定义如下：</a:t>
            </a:r>
            <a:endParaRPr lang="en-US" altLang="zh-CN" sz="2000" dirty="0" smtClean="0"/>
          </a:p>
          <a:p>
            <a:pPr>
              <a:defRPr/>
            </a:pPr>
            <a:endParaRPr lang="en-US" altLang="zh-CN" sz="2000" dirty="0" smtClean="0"/>
          </a:p>
          <a:p>
            <a:pPr>
              <a:buFont typeface="Wingdings" pitchFamily="2" charset="2"/>
              <a:buChar char="Ø"/>
              <a:defRPr/>
            </a:pPr>
            <a:endParaRPr lang="en-US" altLang="zh-CN" sz="2000" dirty="0" smtClean="0"/>
          </a:p>
          <a:p>
            <a:pPr>
              <a:defRPr/>
            </a:pPr>
            <a:endParaRPr lang="en-US" altLang="zh-CN" sz="2000" dirty="0" smtClean="0"/>
          </a:p>
          <a:p>
            <a:pPr>
              <a:defRPr/>
            </a:pPr>
            <a:endParaRPr lang="en-US" altLang="zh-CN" sz="2000" dirty="0" smtClean="0"/>
          </a:p>
          <a:p>
            <a:pPr>
              <a:defRPr/>
            </a:pPr>
            <a:endParaRPr lang="en-US" altLang="zh-CN" sz="20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000" dirty="0" smtClean="0"/>
              <a:t>第一个重载形式只需要传递</a:t>
            </a:r>
            <a:r>
              <a:rPr lang="en-US" altLang="zh-CN" sz="2000" dirty="0" smtClean="0"/>
              <a:t>byte</a:t>
            </a:r>
            <a:r>
              <a:rPr lang="zh-CN" altLang="en-US" sz="2000" dirty="0" smtClean="0"/>
              <a:t>数组形式的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地址，</a:t>
            </a:r>
            <a:r>
              <a:rPr lang="en-US" altLang="zh-CN" sz="2000" dirty="0" smtClean="0"/>
              <a:t>getByAddress</a:t>
            </a:r>
            <a:r>
              <a:rPr lang="zh-CN" altLang="en-US" sz="2000" dirty="0" smtClean="0"/>
              <a:t>方法并不验证这个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地址是否存在，只是简单地创建一个</a:t>
            </a:r>
            <a:r>
              <a:rPr lang="en-US" altLang="zh-CN" sz="2000" dirty="0" smtClean="0"/>
              <a:t>InetAddress</a:t>
            </a:r>
            <a:r>
              <a:rPr lang="zh-CN" altLang="en-US" sz="2000" dirty="0" smtClean="0"/>
              <a:t>对象。</a:t>
            </a:r>
            <a:r>
              <a:rPr lang="en-US" altLang="zh-CN" sz="2000" dirty="0" err="1" smtClean="0"/>
              <a:t>addr</a:t>
            </a:r>
            <a:r>
              <a:rPr lang="zh-CN" altLang="en-US" sz="2000" dirty="0" smtClean="0"/>
              <a:t>数组的长度必须是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IPv4</a:t>
            </a:r>
            <a:r>
              <a:rPr lang="zh-CN" altLang="en-US" sz="2000" dirty="0" smtClean="0"/>
              <a:t>）或</a:t>
            </a:r>
            <a:r>
              <a:rPr lang="en-US" altLang="zh-CN" sz="2000" dirty="0" smtClean="0"/>
              <a:t>16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IPv6</a:t>
            </a:r>
            <a:r>
              <a:rPr lang="zh-CN" altLang="en-US" sz="2000" dirty="0" smtClean="0"/>
              <a:t>），如果是其他长度的</a:t>
            </a:r>
            <a:r>
              <a:rPr lang="en-US" altLang="zh-CN" sz="2000" dirty="0" smtClean="0"/>
              <a:t>byte</a:t>
            </a:r>
            <a:r>
              <a:rPr lang="zh-CN" altLang="en-US" sz="2000" dirty="0" smtClean="0"/>
              <a:t>数组，</a:t>
            </a:r>
            <a:r>
              <a:rPr lang="en-US" altLang="zh-CN" sz="2000" dirty="0" smtClean="0"/>
              <a:t>getByAddress</a:t>
            </a:r>
            <a:r>
              <a:rPr lang="zh-CN" altLang="en-US" sz="2000" dirty="0" smtClean="0"/>
              <a:t>将抛出一个</a:t>
            </a:r>
            <a:r>
              <a:rPr lang="en-US" altLang="zh-CN" sz="2000" dirty="0" err="1" smtClean="0"/>
              <a:t>UnknownHostException</a:t>
            </a:r>
            <a:r>
              <a:rPr lang="zh-CN" altLang="en-US" sz="2000" dirty="0" smtClean="0"/>
              <a:t>异常。</a:t>
            </a:r>
            <a:endParaRPr lang="en-US" altLang="zh-CN" sz="2000" dirty="0" smtClean="0"/>
          </a:p>
          <a:p>
            <a:pPr>
              <a:defRPr/>
            </a:pPr>
            <a:endParaRPr lang="en-US" altLang="zh-CN" sz="2000" dirty="0" smtClean="0"/>
          </a:p>
          <a:p>
            <a:pPr>
              <a:buFont typeface="Wingdings" pitchFamily="2" charset="2"/>
              <a:buChar char="Ø"/>
              <a:defRPr/>
            </a:pPr>
            <a:r>
              <a:rPr lang="zh-CN" altLang="en-US" sz="2000" dirty="0" smtClean="0"/>
              <a:t>第二个重载形式多了一个</a:t>
            </a:r>
            <a:r>
              <a:rPr lang="en-US" altLang="zh-CN" sz="2000" dirty="0" smtClean="0"/>
              <a:t>host</a:t>
            </a:r>
            <a:r>
              <a:rPr lang="zh-CN" altLang="en-US" sz="2000" dirty="0" smtClean="0"/>
              <a:t>，这个</a:t>
            </a:r>
            <a:r>
              <a:rPr lang="en-US" altLang="zh-CN" sz="2000" dirty="0" smtClean="0"/>
              <a:t>host</a:t>
            </a:r>
            <a:r>
              <a:rPr lang="zh-CN" altLang="en-US" sz="2000" dirty="0" smtClean="0"/>
              <a:t>和</a:t>
            </a:r>
            <a:r>
              <a:rPr lang="en-US" altLang="zh-CN" sz="2000" dirty="0" err="1" smtClean="0"/>
              <a:t>getByName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getAllByName</a:t>
            </a:r>
            <a:r>
              <a:rPr lang="zh-CN" altLang="en-US" sz="2000" dirty="0" smtClean="0"/>
              <a:t>方法中的</a:t>
            </a:r>
            <a:r>
              <a:rPr lang="en-US" altLang="zh-CN" sz="2000" dirty="0" smtClean="0"/>
              <a:t>host</a:t>
            </a:r>
            <a:r>
              <a:rPr lang="zh-CN" altLang="en-US" sz="2000" dirty="0" smtClean="0"/>
              <a:t>的意义不同，</a:t>
            </a:r>
            <a:r>
              <a:rPr lang="en-US" altLang="zh-CN" sz="2000" dirty="0" smtClean="0"/>
              <a:t>getByAddress</a:t>
            </a:r>
            <a:r>
              <a:rPr lang="zh-CN" altLang="en-US" sz="2000" dirty="0" smtClean="0"/>
              <a:t>方法并不使用</a:t>
            </a:r>
            <a:r>
              <a:rPr lang="en-US" altLang="zh-CN" sz="2000" dirty="0" smtClean="0"/>
              <a:t>host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DNS</a:t>
            </a:r>
            <a:r>
              <a:rPr lang="zh-CN" altLang="en-US" sz="2000" dirty="0" smtClean="0"/>
              <a:t>上查找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地址，这个</a:t>
            </a:r>
            <a:r>
              <a:rPr lang="en-US" altLang="zh-CN" sz="2000" dirty="0" smtClean="0"/>
              <a:t>host</a:t>
            </a:r>
            <a:r>
              <a:rPr lang="zh-CN" altLang="en-US" sz="2000" dirty="0" smtClean="0"/>
              <a:t>只是一个用于表示</a:t>
            </a:r>
            <a:r>
              <a:rPr lang="en-US" altLang="zh-CN" sz="2000" dirty="0" err="1" smtClean="0"/>
              <a:t>addr</a:t>
            </a:r>
            <a:r>
              <a:rPr lang="zh-CN" altLang="en-US" sz="2000" dirty="0" smtClean="0"/>
              <a:t>的别名。</a:t>
            </a:r>
            <a:endParaRPr lang="en-US" altLang="zh-CN" sz="2000" dirty="0" smtClean="0"/>
          </a:p>
        </p:txBody>
      </p:sp>
      <p:sp>
        <p:nvSpPr>
          <p:cNvPr id="7" name="矩形 6"/>
          <p:cNvSpPr/>
          <p:nvPr/>
        </p:nvSpPr>
        <p:spPr>
          <a:xfrm>
            <a:off x="467544" y="2492896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</a:rPr>
              <a:t>public static InetAddress getByAddress(byte[] </a:t>
            </a:r>
            <a:r>
              <a:rPr lang="en-US" altLang="zh-CN" b="1" dirty="0" err="1" smtClean="0">
                <a:solidFill>
                  <a:srgbClr val="FF0000"/>
                </a:solidFill>
                <a:latin typeface="Consolas" pitchFamily="49" charset="0"/>
              </a:rPr>
              <a:t>addr</a:t>
            </a:r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</a:rPr>
              <a:t>) throws </a:t>
            </a:r>
            <a:r>
              <a:rPr lang="en-US" altLang="zh-CN" b="1" dirty="0" err="1" smtClean="0">
                <a:solidFill>
                  <a:srgbClr val="FF0000"/>
                </a:solidFill>
                <a:latin typeface="Consolas" pitchFamily="49" charset="0"/>
              </a:rPr>
              <a:t>UnknownHostException</a:t>
            </a:r>
            <a:endParaRPr lang="en-US" altLang="zh-CN" b="1" dirty="0">
              <a:solidFill>
                <a:srgbClr val="FF0000"/>
              </a:solidFill>
              <a:latin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7544" y="3140968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</a:rPr>
              <a:t>public static InetAddress getByAddress(String host, byte[] </a:t>
            </a:r>
            <a:r>
              <a:rPr lang="en-US" altLang="zh-CN" b="1" dirty="0" err="1" smtClean="0">
                <a:solidFill>
                  <a:srgbClr val="FF0000"/>
                </a:solidFill>
                <a:latin typeface="Consolas" pitchFamily="49" charset="0"/>
              </a:rPr>
              <a:t>addr</a:t>
            </a:r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</a:rPr>
              <a:t>) throws </a:t>
            </a:r>
            <a:r>
              <a:rPr lang="en-US" altLang="zh-CN" b="1" dirty="0" err="1" smtClean="0">
                <a:solidFill>
                  <a:srgbClr val="FF0000"/>
                </a:solidFill>
                <a:latin typeface="Consolas" pitchFamily="49" charset="0"/>
              </a:rPr>
              <a:t>UnknownHostException</a:t>
            </a:r>
            <a:endParaRPr lang="en-US" altLang="zh-CN" b="1" dirty="0">
              <a:solidFill>
                <a:srgbClr val="FF0000"/>
              </a:solidFill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getByAddress</a:t>
            </a:r>
            <a:r>
              <a:rPr lang="zh-CN" altLang="en-US" dirty="0" smtClean="0"/>
              <a:t>实例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155679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7F0055"/>
                </a:solidFill>
                <a:latin typeface="Consolas" pitchFamily="49" charset="0"/>
              </a:rPr>
              <a:t>import </a:t>
            </a:r>
            <a:r>
              <a:rPr lang="en-US" altLang="zh-CN" b="1" dirty="0" smtClean="0">
                <a:solidFill>
                  <a:srgbClr val="000000"/>
                </a:solidFill>
                <a:latin typeface="Consolas" pitchFamily="49" charset="0"/>
              </a:rPr>
              <a:t>java.net.*;</a:t>
            </a:r>
          </a:p>
          <a:p>
            <a:r>
              <a:rPr lang="en-US" altLang="zh-CN" b="1" dirty="0" smtClean="0">
                <a:solidFill>
                  <a:srgbClr val="7F0055"/>
                </a:solidFill>
                <a:latin typeface="Consolas" pitchFamily="49" charset="0"/>
              </a:rPr>
              <a:t>public class </a:t>
            </a:r>
            <a:r>
              <a:rPr lang="en-US" altLang="zh-CN" b="1" dirty="0" smtClean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MyInetAddress4</a:t>
            </a:r>
            <a:r>
              <a:rPr lang="en-US" altLang="zh-CN" b="1" dirty="0" smtClean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dirty="0" smtClean="0">
                <a:solidFill>
                  <a:srgbClr val="7F0055"/>
                </a:solidFill>
                <a:latin typeface="Consolas" pitchFamily="49" charset="0"/>
              </a:rPr>
              <a:t>public static void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main(String[] 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args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) </a:t>
            </a:r>
            <a:r>
              <a:rPr lang="en-US" altLang="zh-CN" dirty="0" smtClean="0">
                <a:solidFill>
                  <a:srgbClr val="7F0055"/>
                </a:solidFill>
                <a:latin typeface="Consolas" pitchFamily="49" charset="0"/>
              </a:rPr>
              <a:t>throws 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Exception{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        byte 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ip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[] = new byte[] { (byte) 141, (byte) 146, 8 , 66};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        InetAddress address1 = 	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                         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InetAddress.getByAddress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ip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);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        InetAddress address2 = 	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                         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InetAddress.getByAddress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("Oracle</a:t>
            </a:r>
            <a:r>
              <a:rPr lang="zh-CN" altLang="en-US" dirty="0" smtClean="0">
                <a:solidFill>
                  <a:srgbClr val="000000"/>
                </a:solidFill>
                <a:latin typeface="Consolas" pitchFamily="49" charset="0"/>
              </a:rPr>
              <a:t>官方网站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", 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ip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);         	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System.out.println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(address1);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latin typeface="Consolas" pitchFamily="49" charset="0"/>
              </a:rPr>
              <a:t>System.out.println</a:t>
            </a:r>
            <a:r>
              <a:rPr lang="en-US" altLang="zh-CN" dirty="0" smtClean="0">
                <a:solidFill>
                  <a:srgbClr val="000000"/>
                </a:solidFill>
                <a:latin typeface="Consolas" pitchFamily="49" charset="0"/>
              </a:rPr>
              <a:t>(address2);</a:t>
            </a:r>
            <a:r>
              <a:rPr lang="en-US" altLang="zh-CN" b="1" dirty="0" smtClean="0">
                <a:solidFill>
                  <a:srgbClr val="000000"/>
                </a:solidFill>
                <a:latin typeface="Consolas" pitchFamily="49" charset="0"/>
              </a:rPr>
              <a:t>    </a:t>
            </a:r>
          </a:p>
          <a:p>
            <a:r>
              <a:rPr lang="en-US" altLang="zh-CN" b="1" dirty="0" smtClean="0">
                <a:solidFill>
                  <a:srgbClr val="000000"/>
                </a:solidFill>
                <a:latin typeface="Consolas" pitchFamily="49" charset="0"/>
              </a:rPr>
              <a:t>    }</a:t>
            </a:r>
          </a:p>
          <a:p>
            <a:r>
              <a:rPr lang="en-US" altLang="zh-CN" b="1" dirty="0" smtClean="0">
                <a:solidFill>
                  <a:srgbClr val="000000"/>
                </a:solidFill>
                <a:latin typeface="Consolas" pitchFamily="49" charset="0"/>
              </a:rPr>
              <a:t>}</a:t>
            </a:r>
            <a:endParaRPr lang="en-US" altLang="zh-CN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52292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运行结果：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5661248"/>
            <a:ext cx="44958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URL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java.net.URL</a:t>
            </a:r>
          </a:p>
          <a:p>
            <a:pPr lvl="1"/>
            <a:r>
              <a:rPr lang="en-US" altLang="zh-CN" dirty="0" smtClean="0"/>
              <a:t>final</a:t>
            </a:r>
          </a:p>
          <a:p>
            <a:pPr lvl="1"/>
            <a:r>
              <a:rPr lang="zh-CN" altLang="en-US" dirty="0"/>
              <a:t>创建</a:t>
            </a:r>
            <a:r>
              <a:rPr lang="zh-CN" altLang="en-US" dirty="0" smtClean="0"/>
              <a:t>后不可修改</a:t>
            </a:r>
            <a:endParaRPr lang="en-US" altLang="zh-CN" dirty="0" smtClean="0"/>
          </a:p>
          <a:p>
            <a:r>
              <a:rPr lang="zh-CN" altLang="en-US" dirty="0" smtClean="0"/>
              <a:t>创建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检查模式是否支持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检查</a:t>
            </a:r>
            <a:r>
              <a:rPr lang="en-US" altLang="zh-CN" dirty="0" smtClean="0"/>
              <a:t>URL</a:t>
            </a:r>
            <a:r>
              <a:rPr lang="zh-CN" altLang="en-US" dirty="0" smtClean="0"/>
              <a:t>是否格式正确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检查资源是否存在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55732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URL</a:t>
            </a:r>
            <a:r>
              <a:rPr lang="zh-CN" altLang="en-US" dirty="0" smtClean="0"/>
              <a:t>类：协议支持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772816"/>
            <a:ext cx="8532440" cy="272564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0308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字符串构造</a:t>
            </a:r>
            <a:r>
              <a:rPr lang="en-US" altLang="zh-CN" dirty="0"/>
              <a:t>URL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7898347" cy="5135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 smtClean="0">
                <a:solidFill>
                  <a:schemeClr val="tx1"/>
                </a:solidFill>
              </a:rPr>
              <a:t>定义：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endParaRPr lang="en-US" altLang="zh-CN" sz="2000" dirty="0" smtClean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tx1"/>
                </a:solidFill>
              </a:rPr>
              <a:t>例子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://www.szu.edu.cn/"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56374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分块构造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484784"/>
            <a:ext cx="7543801" cy="5250561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protocol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hostname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file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例子：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URL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"www.eff.org"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"/</a:t>
            </a:r>
            <a:r>
              <a:rPr lang="en-US" altLang="zh-CN" sz="18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blueribbon.html#intro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18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    throw</a:t>
            </a:r>
            <a:r>
              <a:rPr lang="en-US" altLang="zh-CN" sz="18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 err="1">
                <a:solidFill>
                  <a:srgbClr val="CC00FF"/>
                </a:solidFill>
                <a:latin typeface="Courier New" panose="02070309020205020404" pitchFamily="49" charset="0"/>
              </a:rPr>
              <a:t>RuntimeException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dirty="0">
                <a:solidFill>
                  <a:srgbClr val="CC3300"/>
                </a:solidFill>
                <a:latin typeface="Courier New" panose="02070309020205020404" pitchFamily="49" charset="0"/>
              </a:rPr>
              <a:t>"shouldn't happen; all VMs recognize http</a:t>
            </a:r>
            <a:r>
              <a:rPr lang="en-US" altLang="zh-CN" sz="1800" dirty="0" smtClean="0">
                <a:solidFill>
                  <a:srgbClr val="CC3300"/>
                </a:solidFill>
                <a:latin typeface="Courier New" panose="02070309020205020404" pitchFamily="49" charset="0"/>
              </a:rPr>
              <a:t>"</a:t>
            </a: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1800" dirty="0"/>
          </a:p>
        </p:txBody>
      </p:sp>
      <p:sp>
        <p:nvSpPr>
          <p:cNvPr id="5" name="矩形 4"/>
          <p:cNvSpPr/>
          <p:nvPr/>
        </p:nvSpPr>
        <p:spPr>
          <a:xfrm>
            <a:off x="2267744" y="2708920"/>
            <a:ext cx="6159058" cy="707886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0000"/>
                </a:solidFill>
              </a:rPr>
              <a:t>注意：勿遗漏</a:t>
            </a:r>
            <a:r>
              <a:rPr lang="en-US" altLang="zh-CN" sz="4000" dirty="0" smtClean="0">
                <a:solidFill>
                  <a:srgbClr val="FF0000"/>
                </a:solidFill>
              </a:rPr>
              <a:t>file</a:t>
            </a:r>
            <a:r>
              <a:rPr lang="zh-CN" altLang="en-US" sz="4000" dirty="0" smtClean="0">
                <a:solidFill>
                  <a:srgbClr val="FF0000"/>
                </a:solidFill>
              </a:rPr>
              <a:t>参数前的</a:t>
            </a:r>
            <a:r>
              <a:rPr lang="en-US" altLang="zh-CN" sz="4000" dirty="0" smtClean="0">
                <a:solidFill>
                  <a:srgbClr val="FF0000"/>
                </a:solidFill>
              </a:rPr>
              <a:t>/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0678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构造相对</a:t>
            </a:r>
            <a:r>
              <a:rPr lang="en-US" altLang="zh-CN" dirty="0" smtClean="0"/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8260656" cy="513533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CC00FF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base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relative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endParaRPr lang="en-US" altLang="zh-CN" dirty="0"/>
          </a:p>
          <a:p>
            <a:r>
              <a:rPr lang="zh-CN" altLang="en-US" dirty="0" smtClean="0"/>
              <a:t>例子：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u1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www.szu.edu.cn/a/b.html"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u2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u1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"mailinglists.html"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49478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URL</a:t>
            </a:r>
            <a:r>
              <a:rPr lang="zh-CN" altLang="en-US" dirty="0" smtClean="0"/>
              <a:t>获取数据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322" y="1606032"/>
            <a:ext cx="8226150" cy="513533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URL</a:t>
            </a:r>
            <a:r>
              <a:rPr lang="zh-CN" altLang="en-US" dirty="0" smtClean="0"/>
              <a:t>类的获取数据方法</a:t>
            </a:r>
            <a:endParaRPr lang="en-US" altLang="zh-CN" dirty="0" smtClean="0"/>
          </a:p>
          <a:p>
            <a:r>
              <a:rPr lang="zh-CN" altLang="en-US" dirty="0" smtClean="0"/>
              <a:t>获得</a:t>
            </a:r>
            <a:r>
              <a:rPr lang="en-US" altLang="zh-CN" dirty="0" err="1" smtClean="0"/>
              <a:t>InputStream</a:t>
            </a:r>
            <a:endParaRPr lang="en-US" altLang="zh-CN" dirty="0" smtClean="0"/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InputStream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openStream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/>
              <a:t>获得</a:t>
            </a:r>
            <a:r>
              <a:rPr lang="en-US" altLang="zh-CN" dirty="0" err="1"/>
              <a:t>URLConnection</a:t>
            </a:r>
            <a:r>
              <a:rPr lang="zh-CN" altLang="en-US" dirty="0"/>
              <a:t>对象</a:t>
            </a:r>
            <a:endParaRPr lang="en-US" altLang="zh-CN" dirty="0"/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openConnection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openConnection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Proxy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proxy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获得内容对象</a:t>
            </a:r>
            <a:r>
              <a:rPr lang="zh-CN" altLang="en-US" dirty="0"/>
              <a:t>如</a:t>
            </a:r>
            <a:r>
              <a:rPr lang="en-US" altLang="zh-CN" dirty="0"/>
              <a:t>String</a:t>
            </a:r>
            <a:r>
              <a:rPr lang="zh-CN" altLang="en-US" dirty="0"/>
              <a:t>或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Object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getContent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Object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getContent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Class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classes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272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</a:t>
            </a:r>
            <a:r>
              <a:rPr lang="zh-CN" altLang="en-US" dirty="0" smtClean="0"/>
              <a:t>数据：</a:t>
            </a:r>
            <a:r>
              <a:rPr lang="en-US" altLang="zh-CN" dirty="0" err="1" smtClean="0"/>
              <a:t>openStream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28800"/>
            <a:ext cx="8617789" cy="5135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URL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</a:t>
            </a:r>
            <a:r>
              <a:rPr lang="en-US" altLang="zh-CN" sz="24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www.szu.edu.cn"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InputStream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openStream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b="1" dirty="0" err="1" smtClean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while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((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read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!=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-</a:t>
            </a:r>
            <a:r>
              <a:rPr lang="en-US" altLang="zh-CN" sz="24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out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write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close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r>
              <a:rPr lang="en-US" altLang="zh-CN" sz="24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sz="24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sz="24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sz="24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152517" y="6488668"/>
            <a:ext cx="1888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SourceViewer</a:t>
            </a:r>
            <a:r>
              <a:rPr lang="en-US" altLang="zh-CN" dirty="0" smtClean="0"/>
              <a:t>.java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58063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59" y="286605"/>
            <a:ext cx="8208897" cy="69311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获取数据：</a:t>
            </a:r>
            <a:r>
              <a:rPr lang="en-US" altLang="zh-CN" dirty="0" err="1" smtClean="0"/>
              <a:t>openConnection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8764437" cy="51353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try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http://www.szu.edu.cn/"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try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URLConnection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openConnection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InputStream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uc</a:t>
            </a:r>
            <a:r>
              <a:rPr lang="en-US" altLang="zh-CN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getInputStream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// </a:t>
            </a:r>
            <a:r>
              <a:rPr lang="en-US" altLang="zh-CN" i="1" dirty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read from the connection...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}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IOException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}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catch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MalformedURLException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{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err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ex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}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152517" y="6488668"/>
            <a:ext cx="2028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SourceViewer</a:t>
            </a:r>
            <a:r>
              <a:rPr lang="en-US" altLang="zh-CN" dirty="0" smtClean="0"/>
              <a:t>2.java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7478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700808"/>
            <a:ext cx="8532440" cy="4495800"/>
          </a:xfrm>
        </p:spPr>
        <p:txBody>
          <a:bodyPr/>
          <a:lstStyle/>
          <a:p>
            <a:r>
              <a:rPr lang="zh-CN" altLang="en-US" dirty="0" smtClean="0"/>
              <a:t>可访问服务器发送的所有数据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头信息</a:t>
            </a:r>
            <a:endParaRPr lang="en-US" altLang="zh-CN" dirty="0" smtClean="0"/>
          </a:p>
          <a:p>
            <a:r>
              <a:rPr lang="zh-CN" altLang="en-US" dirty="0" smtClean="0"/>
              <a:t>可以向服务器发送数据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Email</a:t>
            </a:r>
          </a:p>
          <a:p>
            <a:pPr lvl="1"/>
            <a:r>
              <a:rPr lang="zh-CN" altLang="en-US" dirty="0" smtClean="0"/>
              <a:t>提交表单</a:t>
            </a:r>
            <a:endParaRPr lang="en-US" altLang="zh-CN" dirty="0" smtClean="0"/>
          </a:p>
          <a:p>
            <a:r>
              <a:rPr lang="en-US" altLang="zh-CN" dirty="0" err="1" smtClean="0"/>
              <a:t>openConnection</a:t>
            </a:r>
            <a:r>
              <a:rPr lang="en-US" altLang="zh-CN" dirty="0" smtClean="0"/>
              <a:t>(Proxy proxy)</a:t>
            </a:r>
          </a:p>
          <a:p>
            <a:pPr lvl="1"/>
            <a:r>
              <a:rPr lang="zh-CN" altLang="en-US" dirty="0" smtClean="0"/>
              <a:t>可设置代理服务器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22959" y="286605"/>
            <a:ext cx="8208897" cy="69311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获取数据：</a:t>
            </a:r>
            <a:r>
              <a:rPr lang="en-US" altLang="zh-CN" dirty="0" err="1" smtClean="0"/>
              <a:t>openConnection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8838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URL</a:t>
            </a:r>
            <a:r>
              <a:rPr lang="zh-CN" altLang="en-US" dirty="0"/>
              <a:t>获取数据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getContent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556792"/>
            <a:ext cx="8626415" cy="5135336"/>
          </a:xfrm>
        </p:spPr>
        <p:txBody>
          <a:bodyPr/>
          <a:lstStyle/>
          <a:p>
            <a:r>
              <a:rPr lang="zh-CN" altLang="en-US" dirty="0" smtClean="0"/>
              <a:t>用法：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"http://mesola.obspm.fr/"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Object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</a:t>
            </a:r>
            <a:r>
              <a:rPr lang="en-US" altLang="zh-CN" sz="24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getContent</a:t>
            </a:r>
            <a:r>
              <a:rPr lang="en-US" altLang="zh-CN" sz="24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//</a:t>
            </a:r>
            <a:r>
              <a:rPr lang="zh-CN" altLang="en-US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强制将对象</a:t>
            </a:r>
            <a:r>
              <a:rPr lang="en-US" altLang="zh-CN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</a:t>
            </a:r>
            <a:r>
              <a:rPr lang="zh-CN" altLang="en-US" sz="2400" i="1" dirty="0" smtClean="0">
                <a:solidFill>
                  <a:srgbClr val="35586C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转换为特定类型</a:t>
            </a:r>
            <a:endParaRPr lang="en-US" altLang="zh-CN" sz="2400" i="1" dirty="0" smtClean="0">
              <a:solidFill>
                <a:srgbClr val="35586C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if(o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instanceof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URLImageSource</a:t>
            </a: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){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...</a:t>
            </a:r>
          </a:p>
          <a:p>
            <a:r>
              <a:rPr lang="zh-CN" altLang="en-US" dirty="0" smtClean="0"/>
              <a:t>缺点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难以事先预知对象类型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不同的类型在不同的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版本中不同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140467" y="6488668"/>
            <a:ext cx="1947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ContentGetter</a:t>
            </a:r>
            <a:r>
              <a:rPr lang="en-US" altLang="zh-CN" dirty="0" smtClean="0"/>
              <a:t>.java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94608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URI</a:t>
            </a:r>
            <a:r>
              <a:rPr lang="zh-CN" altLang="en-US" dirty="0"/>
              <a:t>：</a:t>
            </a:r>
            <a:r>
              <a:rPr lang="en-US" altLang="zh-CN" dirty="0"/>
              <a:t>Uniform Resource Identifier</a:t>
            </a:r>
          </a:p>
          <a:p>
            <a:pPr lvl="1"/>
            <a:r>
              <a:rPr lang="en-US" altLang="zh-CN" dirty="0"/>
              <a:t>URL</a:t>
            </a:r>
            <a:r>
              <a:rPr lang="zh-CN" altLang="en-US" dirty="0"/>
              <a:t>：</a:t>
            </a:r>
            <a:r>
              <a:rPr lang="en-US" altLang="zh-CN" dirty="0"/>
              <a:t>Uniform Resource </a:t>
            </a:r>
            <a:r>
              <a:rPr lang="en-US" altLang="zh-CN" dirty="0" smtClean="0"/>
              <a:t>Locator</a:t>
            </a:r>
          </a:p>
          <a:p>
            <a:pPr lvl="2"/>
            <a:r>
              <a:rPr lang="en-US" altLang="zh-CN" dirty="0" smtClean="0"/>
              <a:t>http://www.szu.edu.cn/szu.asp</a:t>
            </a:r>
          </a:p>
          <a:p>
            <a:pPr lvl="1"/>
            <a:r>
              <a:rPr lang="en-US" altLang="zh-CN" dirty="0" smtClean="0"/>
              <a:t>URN</a:t>
            </a:r>
            <a:r>
              <a:rPr lang="zh-CN" altLang="en-US" dirty="0" smtClean="0"/>
              <a:t>：</a:t>
            </a:r>
            <a:r>
              <a:rPr lang="en-US" altLang="zh-CN" dirty="0" smtClean="0"/>
              <a:t>Uniform Resource Name</a:t>
            </a:r>
          </a:p>
          <a:p>
            <a:pPr lvl="2"/>
            <a:r>
              <a:rPr lang="en-US" altLang="zh-CN" dirty="0" smtClean="0"/>
              <a:t>urn:isbn:0-486-27557-4</a:t>
            </a:r>
          </a:p>
          <a:p>
            <a:pPr lvl="2"/>
            <a:r>
              <a:rPr lang="en-US" altLang="zh-CN" dirty="0" smtClean="0"/>
              <a:t>mailto:yu.zhou@szu.edu.cn</a:t>
            </a:r>
          </a:p>
          <a:p>
            <a:r>
              <a:rPr lang="zh-CN" altLang="en-US" dirty="0" smtClean="0"/>
              <a:t>虽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可视作一种</a:t>
            </a:r>
            <a:r>
              <a:rPr lang="en-US" altLang="zh-CN" dirty="0" smtClean="0"/>
              <a:t>URI</a:t>
            </a:r>
            <a:r>
              <a:rPr lang="zh-CN" altLang="en-US" dirty="0" smtClean="0"/>
              <a:t>的抽象，但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类</a:t>
            </a:r>
            <a:r>
              <a:rPr lang="en-US" altLang="zh-CN" dirty="0" smtClean="0"/>
              <a:t>URL</a:t>
            </a:r>
            <a:r>
              <a:rPr lang="zh-CN" altLang="en-US" dirty="0" smtClean="0"/>
              <a:t>并不是</a:t>
            </a:r>
            <a:r>
              <a:rPr lang="en-US" altLang="zh-CN" dirty="0" smtClean="0"/>
              <a:t>URI</a:t>
            </a:r>
            <a:r>
              <a:rPr lang="zh-CN" altLang="en-US" dirty="0" smtClean="0"/>
              <a:t>的子类</a:t>
            </a:r>
            <a:endParaRPr lang="en-US" altLang="zh-CN" dirty="0" smtClean="0"/>
          </a:p>
          <a:p>
            <a:r>
              <a:rPr lang="en-US" altLang="zh-CN" dirty="0" smtClean="0"/>
              <a:t>URL</a:t>
            </a:r>
            <a:r>
              <a:rPr lang="zh-CN" altLang="en-US" dirty="0" smtClean="0"/>
              <a:t>类与</a:t>
            </a:r>
            <a:r>
              <a:rPr lang="en-US" altLang="zh-CN" dirty="0" smtClean="0"/>
              <a:t>URI</a:t>
            </a:r>
            <a:r>
              <a:rPr lang="zh-CN" altLang="en-US" dirty="0" smtClean="0"/>
              <a:t>类皆是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的子类</a:t>
            </a:r>
            <a:endParaRPr lang="en-US" altLang="zh-CN" dirty="0"/>
          </a:p>
        </p:txBody>
      </p:sp>
    </p:spTree>
    <p:extLst>
      <p:ext uri="{BB962C8B-B14F-4D97-AF65-F5344CB8AC3E}">
        <p14:creationId xmlns="" xmlns:p14="http://schemas.microsoft.com/office/powerpoint/2010/main" val="183311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的语法由一个模式和一个模式特定部分组成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模式：模式特定部分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其中模式包括：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data, file, ftp, http, mailto, magnet, telnet, urn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形式： </a:t>
            </a:r>
            <a:r>
              <a:rPr lang="en-US" altLang="zh-CN" dirty="0" smtClean="0"/>
              <a:t>//authority/path</a:t>
            </a:r>
            <a:r>
              <a:rPr lang="zh-CN" altLang="en-US" dirty="0" smtClean="0"/>
              <a:t>？</a:t>
            </a:r>
            <a:r>
              <a:rPr lang="en-US" altLang="zh-CN" dirty="0" smtClean="0"/>
              <a:t>query</a:t>
            </a:r>
          </a:p>
          <a:p>
            <a:pPr>
              <a:buNone/>
            </a:pPr>
            <a:r>
              <a:rPr lang="en-US" altLang="zh-CN" dirty="0" smtClean="0"/>
              <a:t> 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构造方法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226148" cy="513533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CC00FF"/>
                </a:solidFill>
                <a:latin typeface="Courier New" panose="02070309020205020404" pitchFamily="49" charset="0"/>
              </a:rPr>
              <a:t>URI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URISyntaxException</a:t>
            </a:r>
            <a:endParaRPr lang="en-US" altLang="zh-CN" dirty="0" smtClean="0"/>
          </a:p>
          <a:p>
            <a:r>
              <a:rPr lang="zh-CN" altLang="en-US" dirty="0" smtClean="0"/>
              <a:t>只检查</a:t>
            </a:r>
            <a:r>
              <a:rPr lang="en-US" altLang="zh-CN" dirty="0" smtClean="0"/>
              <a:t>URI</a:t>
            </a:r>
            <a:r>
              <a:rPr lang="zh-CN" altLang="en-US" dirty="0" smtClean="0"/>
              <a:t>语法，不检查协议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voice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tel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:+1-800-9988-9938"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web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www.a.com/a.jsp#id=hbc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book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"urn:isbn:1-565-92870-9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scheme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schemeSpecificPart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fragment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 </a:t>
            </a:r>
            <a:r>
              <a:rPr lang="en-US" altLang="zh-CN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throws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URISyntaxException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absolute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"//www.ibiblio.org"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null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relative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null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"/</a:t>
            </a:r>
            <a:r>
              <a:rPr lang="en-US" altLang="zh-CN" sz="20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javafaq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/index.shtml"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"today"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495041" y="6488668"/>
            <a:ext cx="148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URITester.java</a:t>
            </a:r>
          </a:p>
        </p:txBody>
      </p:sp>
    </p:spTree>
    <p:extLst>
      <p:ext uri="{BB962C8B-B14F-4D97-AF65-F5344CB8AC3E}">
        <p14:creationId xmlns="" xmlns:p14="http://schemas.microsoft.com/office/powerpoint/2010/main" val="280231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URI</a:t>
            </a:r>
            <a:r>
              <a:rPr lang="zh-CN" altLang="en-US" dirty="0" smtClean="0"/>
              <a:t>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err="1" smtClean="0"/>
              <a:t>scheme:scheme-specific-part:fragment</a:t>
            </a:r>
            <a:endParaRPr lang="en-US" altLang="zh-CN" dirty="0"/>
          </a:p>
          <a:p>
            <a:pPr lvl="1"/>
            <a:r>
              <a:rPr lang="zh-CN" altLang="en-US" dirty="0" smtClean="0"/>
              <a:t>模式：模式特定部分：片段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方法</a:t>
            </a:r>
            <a:endParaRPr lang="en-US" altLang="zh-CN" b="1" dirty="0" smtClean="0">
              <a:solidFill>
                <a:srgbClr val="006699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getScheme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getSchemeSpecificPart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getRawSchemeSpecificPart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getFragment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getRawFragment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()</a:t>
            </a:r>
          </a:p>
          <a:p>
            <a:pPr lvl="1"/>
            <a:endParaRPr lang="en-US" altLang="zh-CN" dirty="0">
              <a:solidFill>
                <a:srgbClr val="555555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7788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CC00FF"/>
                </a:solidFill>
                <a:latin typeface="Courier New" panose="02070309020205020404" pitchFamily="49" charset="0"/>
              </a:rPr>
              <a:t>isOpaque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174767" y="6418855"/>
            <a:ext cx="18484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URISplitter</a:t>
            </a:r>
            <a:r>
              <a:rPr lang="en-US" altLang="zh-CN" dirty="0" smtClean="0"/>
              <a:t>.java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00731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相对</a:t>
            </a:r>
            <a:r>
              <a:rPr lang="en-US" altLang="zh-CN" dirty="0" smtClean="0"/>
              <a:t>URI</a:t>
            </a:r>
            <a:r>
              <a:rPr lang="zh-CN" altLang="en-US" dirty="0" smtClean="0"/>
              <a:t>的解析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628800"/>
            <a:ext cx="8321041" cy="513533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absolute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"http://www.example.com/"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relative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"images/logo.png"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absolute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relative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 smtClean="0"/>
              <a:t>resolved</a:t>
            </a:r>
            <a:r>
              <a:rPr lang="zh-CN" altLang="en-US" dirty="0" smtClean="0"/>
              <a:t>结果是：</a:t>
            </a:r>
            <a:r>
              <a:rPr lang="en-US" altLang="zh-CN" dirty="0"/>
              <a:t>http://www.example.com/ </a:t>
            </a:r>
            <a:r>
              <a:rPr lang="en-US" altLang="zh-CN" dirty="0" smtClean="0"/>
              <a:t>images/logo.png</a:t>
            </a:r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top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err="1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javafaq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/books/"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URI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resolved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top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resolve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 smtClean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jnp3/index.html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dirty="0"/>
              <a:t>resolved</a:t>
            </a:r>
            <a:r>
              <a:rPr lang="zh-CN" altLang="en-US" dirty="0"/>
              <a:t>结果是</a:t>
            </a:r>
            <a:r>
              <a:rPr lang="zh-CN" altLang="en-US" dirty="0" smtClean="0"/>
              <a:t>：</a:t>
            </a:r>
            <a:r>
              <a:rPr lang="en-US" altLang="zh-CN" dirty="0" err="1"/>
              <a:t>javafaq</a:t>
            </a:r>
            <a:r>
              <a:rPr lang="en-US" altLang="zh-CN" dirty="0"/>
              <a:t>/books/jnp3/index.html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8159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绝对</a:t>
            </a:r>
            <a:r>
              <a:rPr lang="en-US" altLang="zh-CN" dirty="0" smtClean="0"/>
              <a:t>URI</a:t>
            </a:r>
            <a:r>
              <a:rPr lang="zh-CN" altLang="en-US" dirty="0" smtClean="0"/>
              <a:t>转相对</a:t>
            </a:r>
            <a:r>
              <a:rPr lang="en-US" altLang="zh-CN" dirty="0" smtClean="0"/>
              <a:t>URI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 smtClean="0"/>
              <a:t>Public URI </a:t>
            </a:r>
            <a:r>
              <a:rPr lang="en-US" altLang="zh-CN" dirty="0" err="1" smtClean="0"/>
              <a:t>relativize</a:t>
            </a:r>
            <a:r>
              <a:rPr lang="en-US" altLang="zh-CN" dirty="0" smtClean="0"/>
              <a:t>(URL </a:t>
            </a:r>
            <a:r>
              <a:rPr lang="en-US" altLang="zh-CN" dirty="0" err="1" smtClean="0"/>
              <a:t>uri</a:t>
            </a:r>
            <a:r>
              <a:rPr lang="en-US" altLang="zh-CN" dirty="0" smtClean="0"/>
              <a:t>)</a:t>
            </a:r>
          </a:p>
          <a:p>
            <a:pPr>
              <a:buNone/>
            </a:pPr>
            <a:r>
              <a:rPr lang="en-US" altLang="zh-CN" sz="2000" dirty="0" smtClean="0"/>
              <a:t>URI absolute = new URI(“http://www.example.com/images/logo.png”);</a:t>
            </a:r>
          </a:p>
          <a:p>
            <a:pPr>
              <a:buNone/>
            </a:pPr>
            <a:r>
              <a:rPr lang="en-US" altLang="zh-CN" sz="2000" dirty="0" smtClean="0"/>
              <a:t>URI top = new URI(“http://www.example.com/”);</a:t>
            </a:r>
          </a:p>
          <a:p>
            <a:pPr>
              <a:buNone/>
            </a:pPr>
            <a:r>
              <a:rPr lang="en-US" altLang="zh-CN" sz="2000" dirty="0" smtClean="0"/>
              <a:t>URI relative = </a:t>
            </a:r>
            <a:r>
              <a:rPr lang="en-US" altLang="zh-CN" sz="2000" dirty="0" err="1" smtClean="0"/>
              <a:t>top.relativize</a:t>
            </a:r>
            <a:r>
              <a:rPr lang="en-US" altLang="zh-CN" sz="2000" dirty="0" smtClean="0"/>
              <a:t>(absolute);</a:t>
            </a:r>
          </a:p>
          <a:p>
            <a:pPr>
              <a:buNone/>
            </a:pPr>
            <a:r>
              <a:rPr lang="en-US" altLang="zh-CN" sz="2800" dirty="0" smtClean="0">
                <a:solidFill>
                  <a:srgbClr val="FF0000"/>
                </a:solidFill>
              </a:rPr>
              <a:t>URI</a:t>
            </a:r>
            <a:r>
              <a:rPr lang="zh-CN" altLang="en-US" sz="2800" dirty="0" smtClean="0">
                <a:solidFill>
                  <a:srgbClr val="FF0000"/>
                </a:solidFill>
              </a:rPr>
              <a:t>对象</a:t>
            </a:r>
            <a:r>
              <a:rPr lang="en-US" altLang="zh-CN" sz="2800" dirty="0" smtClean="0">
                <a:solidFill>
                  <a:srgbClr val="FF0000"/>
                </a:solidFill>
              </a:rPr>
              <a:t>relative</a:t>
            </a:r>
            <a:r>
              <a:rPr lang="zh-CN" altLang="en-US" sz="2800" dirty="0" smtClean="0">
                <a:solidFill>
                  <a:srgbClr val="FF0000"/>
                </a:solidFill>
              </a:rPr>
              <a:t>包含相对</a:t>
            </a:r>
            <a:r>
              <a:rPr lang="en-US" altLang="zh-CN" sz="2800" dirty="0" smtClean="0">
                <a:solidFill>
                  <a:srgbClr val="FF0000"/>
                </a:solidFill>
              </a:rPr>
              <a:t>URI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FF0000"/>
                </a:solidFill>
              </a:rPr>
              <a:t>Images/logo.png</a:t>
            </a:r>
          </a:p>
          <a:p>
            <a:pPr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>
              <a:lnSpc>
                <a:spcPct val="170000"/>
              </a:lnSpc>
              <a:defRPr/>
            </a:pPr>
            <a:r>
              <a:rPr lang="en-US" altLang="zh-CN" sz="3200" b="1" kern="1200" dirty="0" err="1" smtClean="0">
                <a:solidFill>
                  <a:srgbClr val="C00000"/>
                </a:solidFill>
                <a:cs typeface="+mn-cs"/>
              </a:rPr>
              <a:t>URLConnection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424863" cy="4284663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400" dirty="0" smtClean="0"/>
              <a:t>public abstract class </a:t>
            </a:r>
            <a:r>
              <a:rPr lang="en-US" altLang="zh-CN" sz="2400" dirty="0" err="1" smtClean="0"/>
              <a:t>URLConnection</a:t>
            </a:r>
            <a:r>
              <a:rPr lang="en-US" altLang="zh-CN" sz="2400" dirty="0" smtClean="0"/>
              <a:t> extends Object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400" dirty="0" err="1" smtClean="0"/>
              <a:t>URLConnection</a:t>
            </a:r>
            <a:r>
              <a:rPr lang="zh-CN" altLang="en-US" sz="2400" dirty="0" smtClean="0"/>
              <a:t>是一个抽象类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400" dirty="0" err="1" smtClean="0"/>
              <a:t>URLConnection</a:t>
            </a:r>
            <a:r>
              <a:rPr lang="en-US" altLang="zh-CN" sz="2400" dirty="0" smtClean="0"/>
              <a:t>  -&gt;  </a:t>
            </a:r>
            <a:r>
              <a:rPr lang="en-US" altLang="zh-CN" sz="2400" dirty="0" err="1" smtClean="0"/>
              <a:t>HttpURLConnection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 smtClean="0"/>
              <a:t>提供了更多与</a:t>
            </a:r>
            <a:r>
              <a:rPr lang="en-US" altLang="zh-CN" sz="2400" dirty="0" smtClean="0"/>
              <a:t>HTTP</a:t>
            </a:r>
            <a:r>
              <a:rPr lang="zh-CN" altLang="en-US" sz="2400" dirty="0" smtClean="0"/>
              <a:t>服务器的交互控制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 smtClean="0"/>
              <a:t>可以检查服务器发送的首部，做出响应。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 smtClean="0"/>
              <a:t>可以设置客户端请求中使用的首部字段。</a:t>
            </a:r>
            <a:endParaRPr lang="en-US" altLang="zh-CN" sz="2400" dirty="0" smtClean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400" dirty="0" smtClean="0"/>
              <a:t>可用</a:t>
            </a:r>
            <a:r>
              <a:rPr lang="en-US" altLang="zh-CN" sz="2400" dirty="0" smtClean="0"/>
              <a:t>GET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POST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PUT</a:t>
            </a:r>
            <a:r>
              <a:rPr lang="zh-CN" altLang="en-US" sz="2400" dirty="0" smtClean="0"/>
              <a:t>等</a:t>
            </a:r>
            <a:r>
              <a:rPr lang="en-US" altLang="zh-CN" sz="2400" dirty="0" smtClean="0"/>
              <a:t>HTTP</a:t>
            </a:r>
            <a:r>
              <a:rPr lang="zh-CN" altLang="en-US" sz="2400" dirty="0" smtClean="0"/>
              <a:t>请求方法向服务器发回数据。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URLConnection</a:t>
            </a:r>
            <a:r>
              <a:rPr lang="zh-CN" altLang="en-US" sz="3200" smtClean="0"/>
              <a:t>类的使用步骤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67544" y="1700808"/>
            <a:ext cx="8153400" cy="4495800"/>
          </a:xfrm>
        </p:spPr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/>
              <a:t>创建</a:t>
            </a:r>
            <a:r>
              <a:rPr lang="en-US" altLang="zh-CN" sz="2400" dirty="0" smtClean="0"/>
              <a:t>URL</a:t>
            </a:r>
            <a:r>
              <a:rPr lang="zh-CN" altLang="en-US" sz="2400" dirty="0" smtClean="0"/>
              <a:t>对象</a:t>
            </a:r>
            <a:endParaRPr lang="en-US" altLang="zh-CN" sz="2400" dirty="0" smtClean="0"/>
          </a:p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/>
              <a:t>调用</a:t>
            </a:r>
            <a:r>
              <a:rPr lang="en-US" altLang="zh-CN" sz="2400" dirty="0" err="1" smtClean="0"/>
              <a:t>URL.openConnection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获取</a:t>
            </a:r>
            <a:r>
              <a:rPr lang="en-US" altLang="zh-CN" sz="2400" dirty="0" err="1" smtClean="0"/>
              <a:t>URLConnection</a:t>
            </a:r>
            <a:r>
              <a:rPr lang="zh-CN" altLang="en-US" sz="2400" dirty="0" smtClean="0"/>
              <a:t>对象</a:t>
            </a:r>
            <a:endParaRPr lang="en-US" altLang="zh-CN" sz="2400" dirty="0" smtClean="0"/>
          </a:p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>
                <a:solidFill>
                  <a:srgbClr val="FF0000"/>
                </a:solidFill>
              </a:rPr>
              <a:t>配置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URLConnection</a:t>
            </a:r>
            <a:r>
              <a:rPr lang="zh-CN" altLang="en-US" sz="2400" dirty="0" smtClean="0">
                <a:solidFill>
                  <a:srgbClr val="FF0000"/>
                </a:solidFill>
              </a:rPr>
              <a:t>对象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>
                <a:solidFill>
                  <a:srgbClr val="FF0000"/>
                </a:solidFill>
              </a:rPr>
              <a:t>读取头信息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>
                <a:solidFill>
                  <a:srgbClr val="FF0000"/>
                </a:solidFill>
              </a:rPr>
              <a:t>获得输入流，并读数据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>
                <a:solidFill>
                  <a:srgbClr val="FF0000"/>
                </a:solidFill>
              </a:rPr>
              <a:t>获得输出流，并写数据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marL="514350" indent="-514350">
              <a:buFont typeface="Arial" charset="0"/>
              <a:buAutoNum type="arabicPeriod"/>
            </a:pPr>
            <a:r>
              <a:rPr lang="zh-CN" altLang="en-US" sz="2400" dirty="0" smtClean="0"/>
              <a:t>关闭连接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创建</a:t>
            </a:r>
            <a:r>
              <a:rPr lang="en-US" altLang="zh-CN" sz="3200" smtClean="0"/>
              <a:t>URLConnection</a:t>
            </a:r>
            <a:r>
              <a:rPr lang="zh-CN" altLang="en-US" sz="3200" smtClean="0"/>
              <a:t>对象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207963" y="1556792"/>
            <a:ext cx="8936037" cy="5157192"/>
          </a:xfrm>
        </p:spPr>
        <p:txBody>
          <a:bodyPr/>
          <a:lstStyle/>
          <a:p>
            <a:pPr marL="0" indent="0">
              <a:buFont typeface="Wingdings 2" pitchFamily="18" charset="2"/>
              <a:buNone/>
            </a:pPr>
            <a:r>
              <a:rPr lang="en-US" altLang="zh-CN" sz="2400" b="1" dirty="0" smtClean="0">
                <a:solidFill>
                  <a:srgbClr val="006699"/>
                </a:solidFill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    URL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6699"/>
                </a:solidFill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URL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smtClean="0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"http://www.szu.edu.cn/"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URLConnection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uc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dirty="0" err="1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Times New Roman" pitchFamily="18" charset="0"/>
                <a:cs typeface="Times New Roman" pitchFamily="18" charset="0"/>
              </a:rPr>
              <a:t>openConnection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();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i="1" dirty="0" smtClean="0">
                <a:solidFill>
                  <a:srgbClr val="35586C"/>
                </a:solidFill>
                <a:latin typeface="Times New Roman" pitchFamily="18" charset="0"/>
                <a:cs typeface="Times New Roman" pitchFamily="18" charset="0"/>
              </a:rPr>
              <a:t>    // read from the URL...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altLang="zh-CN" sz="2400" dirty="0" smtClean="0">
              <a:solidFill>
                <a:srgbClr val="1B1C2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b="1" dirty="0" smtClean="0">
                <a:solidFill>
                  <a:srgbClr val="006699"/>
                </a:solidFill>
                <a:latin typeface="Times New Roman" pitchFamily="18" charset="0"/>
                <a:cs typeface="Times New Roman" pitchFamily="18" charset="0"/>
              </a:rPr>
              <a:t>catch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MalformedURLException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ex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altLang="zh-CN" sz="2400" dirty="0" err="1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Times New Roman" pitchFamily="18" charset="0"/>
                <a:cs typeface="Times New Roman" pitchFamily="18" charset="0"/>
              </a:rPr>
              <a:t>err</a:t>
            </a:r>
            <a:r>
              <a:rPr lang="en-US" altLang="zh-CN" sz="2400" dirty="0" err="1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Times New Roman" pitchFamily="18" charset="0"/>
                <a:cs typeface="Times New Roman" pitchFamily="18" charset="0"/>
              </a:rPr>
              <a:t>println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ex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Font typeface="Wingdings 2" pitchFamily="18" charset="2"/>
              <a:buNone/>
            </a:pPr>
            <a:r>
              <a:rPr lang="en-US" altLang="zh-CN" sz="2400" b="1" dirty="0" smtClean="0">
                <a:solidFill>
                  <a:srgbClr val="006699"/>
                </a:solidFill>
                <a:latin typeface="Times New Roman" pitchFamily="18" charset="0"/>
                <a:cs typeface="Times New Roman" pitchFamily="18" charset="0"/>
              </a:rPr>
              <a:t>catch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IOException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ex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dirty="0" smtClean="0">
                <a:solidFill>
                  <a:srgbClr val="1B1C2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dirty="0" err="1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altLang="zh-CN" sz="2400" dirty="0" err="1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Times New Roman" pitchFamily="18" charset="0"/>
                <a:cs typeface="Times New Roman" pitchFamily="18" charset="0"/>
              </a:rPr>
              <a:t>err</a:t>
            </a:r>
            <a:r>
              <a:rPr lang="en-US" altLang="zh-CN" sz="2400" dirty="0" err="1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altLang="zh-CN" sz="2400" dirty="0" err="1" smtClean="0">
                <a:solidFill>
                  <a:srgbClr val="330099"/>
                </a:solidFill>
                <a:latin typeface="Times New Roman" pitchFamily="18" charset="0"/>
                <a:cs typeface="Times New Roman" pitchFamily="18" charset="0"/>
              </a:rPr>
              <a:t>println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dirty="0" smtClean="0">
                <a:solidFill>
                  <a:srgbClr val="000088"/>
                </a:solidFill>
                <a:latin typeface="Times New Roman" pitchFamily="18" charset="0"/>
                <a:cs typeface="Times New Roman" pitchFamily="18" charset="0"/>
              </a:rPr>
              <a:t>ex</a:t>
            </a: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 smtClean="0">
                <a:solidFill>
                  <a:srgbClr val="555555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zh-CN" altLang="en-US" sz="3200" smtClean="0"/>
              <a:t>读取服务器的数据</a:t>
            </a:r>
          </a:p>
        </p:txBody>
      </p:sp>
      <p:sp>
        <p:nvSpPr>
          <p:cNvPr id="13315" name="矩形 3"/>
          <p:cNvSpPr>
            <a:spLocks noChangeArrowheads="1"/>
          </p:cNvSpPr>
          <p:nvPr/>
        </p:nvSpPr>
        <p:spPr bwMode="auto">
          <a:xfrm>
            <a:off x="395536" y="72851"/>
            <a:ext cx="8305800" cy="674052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InputStream in = null;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try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// Open the URL for reading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URL u = new URL(args[0]);</a:t>
            </a:r>
          </a:p>
          <a:p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URLConnection uc = u.openConnection();</a:t>
            </a:r>
          </a:p>
          <a:p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in = uc.getInputStream();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// buffer the input to increase performance </a:t>
            </a:r>
          </a:p>
          <a:p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in = new BufferedInputStream(in);       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// chain the InputStream to a Reader</a:t>
            </a:r>
          </a:p>
          <a:p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Reader r = new InputStreamReader(in);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int c;</a:t>
            </a:r>
          </a:p>
          <a:p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while ((c = r.read()) != -1)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  System.out.print((char) c);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} 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} catch (MalformedURLException ex)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System.err.println(args[0] + " is not a parseable URL");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} catch (IOException ex)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System.err.println(ex);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} finally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if (in != null)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  try {</a:t>
            </a:r>
          </a:p>
          <a:p>
            <a:r>
              <a:rPr lang="en-US" altLang="zh-CN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in.close();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  } catch (IOException e) {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    // ignore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  }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r>
              <a:rPr lang="en-US" altLang="zh-CN" sz="1600" b="1">
                <a:latin typeface="Times New Roman" pitchFamily="18" charset="0"/>
                <a:cs typeface="Times New Roman" pitchFamily="18" charset="0"/>
              </a:rPr>
              <a:t>      }</a:t>
            </a:r>
          </a:p>
        </p:txBody>
      </p:sp>
      <p:sp>
        <p:nvSpPr>
          <p:cNvPr id="13316" name="矩形 3"/>
          <p:cNvSpPr>
            <a:spLocks noChangeArrowheads="1"/>
          </p:cNvSpPr>
          <p:nvPr/>
        </p:nvSpPr>
        <p:spPr bwMode="auto">
          <a:xfrm>
            <a:off x="5078413" y="6381328"/>
            <a:ext cx="40655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/>
              <a:t>SourceViewer2</a:t>
            </a:r>
            <a:r>
              <a:rPr lang="zh-CN" altLang="en-US" dirty="0"/>
              <a:t>，使用</a:t>
            </a:r>
            <a:r>
              <a:rPr lang="en-US" altLang="zh-CN" dirty="0" err="1"/>
              <a:t>URLConnection</a:t>
            </a:r>
            <a:endParaRPr lang="zh-CN" altLang="en-US" dirty="0"/>
          </a:p>
        </p:txBody>
      </p:sp>
      <p:sp>
        <p:nvSpPr>
          <p:cNvPr id="13317" name="矩形 4"/>
          <p:cNvSpPr>
            <a:spLocks noChangeArrowheads="1"/>
          </p:cNvSpPr>
          <p:nvPr/>
        </p:nvSpPr>
        <p:spPr bwMode="auto">
          <a:xfrm>
            <a:off x="4551362" y="5661248"/>
            <a:ext cx="42742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 smtClean="0"/>
              <a:t>实现</a:t>
            </a:r>
            <a:r>
              <a:rPr lang="zh-CN" altLang="en-US" dirty="0"/>
              <a:t>使用</a:t>
            </a:r>
            <a:r>
              <a:rPr lang="en-US" altLang="zh-CN" dirty="0" err="1"/>
              <a:t>URLConnection</a:t>
            </a:r>
            <a:r>
              <a:rPr lang="zh-CN" altLang="en-US" dirty="0"/>
              <a:t>下载一个</a:t>
            </a:r>
            <a:r>
              <a:rPr lang="en-US" altLang="zh-CN" dirty="0"/>
              <a:t>Web</a:t>
            </a:r>
            <a:r>
              <a:rPr lang="zh-CN" altLang="en-US" dirty="0"/>
              <a:t>页面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348880"/>
            <a:ext cx="8790309" cy="3417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79512" y="1844824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Java SourceViewer2  </a:t>
            </a:r>
            <a:r>
              <a:rPr lang="en-US" altLang="zh-CN" dirty="0" smtClean="0">
                <a:solidFill>
                  <a:srgbClr val="FF0000"/>
                </a:solidFill>
              </a:rPr>
              <a:t>http:// www. baidu.com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smtClean="0"/>
              <a:t>URL</a:t>
            </a:r>
            <a:r>
              <a:rPr lang="zh-CN" altLang="en-US" sz="3200" smtClean="0"/>
              <a:t>与</a:t>
            </a:r>
            <a:r>
              <a:rPr lang="en-US" altLang="zh-CN" sz="3200" smtClean="0"/>
              <a:t>URLConnection</a:t>
            </a:r>
            <a:r>
              <a:rPr lang="zh-CN" altLang="en-US" sz="3200" smtClean="0"/>
              <a:t>区别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smtClean="0"/>
              <a:t>URLConnection</a:t>
            </a:r>
            <a:r>
              <a:rPr lang="zh-CN" altLang="en-US" sz="2800" smtClean="0"/>
              <a:t>提供了对</a:t>
            </a:r>
            <a:r>
              <a:rPr lang="en-US" altLang="zh-CN" sz="2800" smtClean="0"/>
              <a:t>HTTP</a:t>
            </a:r>
            <a:r>
              <a:rPr lang="zh-CN" altLang="en-US" sz="2800" smtClean="0"/>
              <a:t>头信息访问</a:t>
            </a:r>
            <a:endParaRPr lang="en-US" altLang="zh-CN" sz="2800" smtClean="0"/>
          </a:p>
          <a:p>
            <a:r>
              <a:rPr lang="en-US" altLang="zh-CN" sz="2800" smtClean="0"/>
              <a:t>URLConnection</a:t>
            </a:r>
            <a:r>
              <a:rPr lang="zh-CN" altLang="en-US" sz="2800" smtClean="0"/>
              <a:t>可以配置发给服务器的参数</a:t>
            </a:r>
            <a:endParaRPr lang="en-US" altLang="zh-CN" sz="2800" smtClean="0"/>
          </a:p>
          <a:p>
            <a:r>
              <a:rPr lang="en-US" altLang="zh-CN" sz="2800" smtClean="0"/>
              <a:t>URLConnection</a:t>
            </a:r>
            <a:r>
              <a:rPr lang="zh-CN" altLang="en-US" sz="2800" smtClean="0"/>
              <a:t>可向服务器发送</a:t>
            </a:r>
            <a:r>
              <a:rPr lang="zh-CN" altLang="en-US" sz="2800" smtClean="0">
                <a:solidFill>
                  <a:srgbClr val="FF0000"/>
                </a:solidFill>
              </a:rPr>
              <a:t>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一个</a:t>
            </a:r>
            <a:r>
              <a:rPr lang="en-US" altLang="zh-CN" sz="3200" smtClean="0"/>
              <a:t>HTTP</a:t>
            </a:r>
            <a:r>
              <a:rPr lang="zh-CN" altLang="en-US" sz="3200" smtClean="0"/>
              <a:t>服务器响应的头部信息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头部中的常用字段有：</a:t>
            </a:r>
            <a:endParaRPr lang="en-US" altLang="zh-CN" sz="2800" dirty="0" smtClean="0"/>
          </a:p>
          <a:p>
            <a:r>
              <a:rPr lang="en-US" altLang="zh-CN" sz="2800" dirty="0" smtClean="0"/>
              <a:t>Content-type</a:t>
            </a:r>
          </a:p>
          <a:p>
            <a:r>
              <a:rPr lang="en-US" altLang="zh-CN" sz="2800" dirty="0" smtClean="0"/>
              <a:t>Content-length</a:t>
            </a:r>
          </a:p>
          <a:p>
            <a:r>
              <a:rPr lang="en-US" altLang="zh-CN" sz="2800" dirty="0" smtClean="0"/>
              <a:t>Content-encoding</a:t>
            </a:r>
          </a:p>
          <a:p>
            <a:r>
              <a:rPr lang="en-US" altLang="zh-CN" sz="2800" dirty="0" smtClean="0"/>
              <a:t>Date</a:t>
            </a:r>
          </a:p>
          <a:p>
            <a:r>
              <a:rPr lang="en-US" altLang="zh-CN" sz="2800" dirty="0" smtClean="0"/>
              <a:t>Last-modified</a:t>
            </a:r>
          </a:p>
          <a:p>
            <a:r>
              <a:rPr lang="en-US" altLang="zh-CN" sz="2800" dirty="0" smtClean="0"/>
              <a:t>Expires</a:t>
            </a:r>
            <a:endParaRPr lang="en-US" altLang="zh-CN" dirty="0" smtClean="0"/>
          </a:p>
        </p:txBody>
      </p:sp>
      <p:sp>
        <p:nvSpPr>
          <p:cNvPr id="16388" name="矩形 3"/>
          <p:cNvSpPr>
            <a:spLocks noChangeArrowheads="1"/>
          </p:cNvSpPr>
          <p:nvPr/>
        </p:nvSpPr>
        <p:spPr bwMode="auto">
          <a:xfrm>
            <a:off x="3635896" y="2492896"/>
            <a:ext cx="5334000" cy="286226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一个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Appache Web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服务器返回的响应信息中的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头部：</a:t>
            </a:r>
            <a:endParaRPr lang="en-US" altLang="zh-CN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altLang="zh-CN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HTTP/1.1  301  Moved Permanently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Date:  Sun, 21 Apr 2013  15:12:46 GMT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Server: Apache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Location: http://www.ibiblio.org/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Content-Length:  296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Connection: close</a:t>
            </a:r>
          </a:p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Content-type:  text/html;  charset = iso-8859-1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smtClean="0"/>
              <a:t>头字段信息获取的方法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0"/>
            <a:ext cx="8586536" cy="4495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sz="2800" dirty="0"/>
              <a:t>public String </a:t>
            </a:r>
            <a:r>
              <a:rPr lang="en-US" altLang="zh-CN" sz="2800" dirty="0" err="1"/>
              <a:t>getContentType</a:t>
            </a:r>
            <a:r>
              <a:rPr lang="en-US" altLang="zh-CN" sz="2800" dirty="0"/>
              <a:t>()</a:t>
            </a:r>
          </a:p>
          <a:p>
            <a:pPr lvl="1">
              <a:defRPr/>
            </a:pPr>
            <a:r>
              <a:rPr lang="zh-CN" altLang="en-US" sz="2400" dirty="0" smtClean="0"/>
              <a:t>返回响应主体的</a:t>
            </a:r>
            <a:r>
              <a:rPr lang="en-US" altLang="zh-CN" sz="2400" dirty="0" smtClean="0"/>
              <a:t>MIME</a:t>
            </a:r>
            <a:r>
              <a:rPr lang="zh-CN" altLang="en-US" sz="2400" dirty="0" smtClean="0"/>
              <a:t>类型，如：</a:t>
            </a:r>
            <a:r>
              <a:rPr lang="en-US" altLang="zh-CN" sz="2400" dirty="0" smtClean="0"/>
              <a:t>text/html</a:t>
            </a:r>
            <a:r>
              <a:rPr lang="en-US" altLang="zh-CN" sz="2400" dirty="0"/>
              <a:t>; </a:t>
            </a:r>
            <a:r>
              <a:rPr lang="en-US" altLang="zh-CN" sz="2400" dirty="0" err="1" smtClean="0"/>
              <a:t>charset</a:t>
            </a:r>
            <a:r>
              <a:rPr lang="en-US" altLang="zh-CN" sz="2400" dirty="0" smtClean="0"/>
              <a:t>=UTF-8</a:t>
            </a:r>
          </a:p>
          <a:p>
            <a:pPr lvl="1">
              <a:defRPr/>
            </a:pPr>
            <a:r>
              <a:rPr lang="en-US" altLang="zh-CN" sz="2400" dirty="0" smtClean="0"/>
              <a:t>http</a:t>
            </a:r>
            <a:r>
              <a:rPr lang="zh-CN" altLang="en-US" sz="2400" dirty="0" smtClean="0"/>
              <a:t>默认编码方式 </a:t>
            </a:r>
            <a:r>
              <a:rPr lang="en-US" altLang="zh-CN" sz="2400" dirty="0" smtClean="0"/>
              <a:t>ISO-8859-1</a:t>
            </a:r>
          </a:p>
          <a:p>
            <a:pPr marL="0" indent="0">
              <a:buFont typeface="Wingdings 2" pitchFamily="18" charset="2"/>
              <a:buNone/>
              <a:defRPr/>
            </a:pPr>
            <a:endParaRPr lang="en-US" altLang="zh-CN" sz="2800" dirty="0"/>
          </a:p>
          <a:p>
            <a:pPr>
              <a:defRPr/>
            </a:pPr>
            <a:r>
              <a:rPr lang="en-US" altLang="zh-CN" sz="2800" dirty="0" smtClean="0"/>
              <a:t>public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getContentLength</a:t>
            </a:r>
            <a:r>
              <a:rPr lang="en-US" altLang="zh-CN" sz="2800" dirty="0" smtClean="0"/>
              <a:t>()</a:t>
            </a:r>
          </a:p>
          <a:p>
            <a:pPr>
              <a:defRPr/>
            </a:pPr>
            <a:r>
              <a:rPr lang="en-US" altLang="zh-CN" sz="2800" dirty="0" smtClean="0"/>
              <a:t>public long </a:t>
            </a:r>
            <a:r>
              <a:rPr lang="en-US" altLang="zh-CN" sz="2800" dirty="0" err="1" smtClean="0"/>
              <a:t>getContentLengthLong</a:t>
            </a:r>
            <a:r>
              <a:rPr lang="en-US" altLang="zh-CN" sz="2800" dirty="0" smtClean="0"/>
              <a:t>()</a:t>
            </a:r>
          </a:p>
          <a:p>
            <a:pPr lvl="1">
              <a:defRPr/>
            </a:pPr>
            <a:r>
              <a:rPr lang="zh-CN" altLang="en-US" sz="2400" dirty="0" smtClean="0"/>
              <a:t>返回响应主体的字节数</a:t>
            </a:r>
            <a:endParaRPr lang="en-US" altLang="zh-CN" sz="2400" dirty="0" smtClean="0"/>
          </a:p>
          <a:p>
            <a:pPr lvl="1">
              <a:defRPr/>
            </a:pPr>
            <a:r>
              <a:rPr lang="zh-CN" altLang="en-US" sz="2400" dirty="0" smtClean="0"/>
              <a:t>如无</a:t>
            </a:r>
            <a:r>
              <a:rPr lang="en-US" altLang="zh-CN" sz="2400" dirty="0" smtClean="0"/>
              <a:t>Content-length</a:t>
            </a:r>
            <a:r>
              <a:rPr lang="zh-CN" altLang="en-US" sz="2400" dirty="0" smtClean="0"/>
              <a:t>首部，返回</a:t>
            </a:r>
            <a:r>
              <a:rPr lang="en-US" altLang="zh-CN" sz="2400" dirty="0" smtClean="0"/>
              <a:t>-1</a:t>
            </a:r>
          </a:p>
          <a:p>
            <a:pPr lvl="1">
              <a:defRPr/>
            </a:pPr>
            <a:r>
              <a:rPr lang="zh-CN" altLang="en-US" sz="2400" dirty="0" smtClean="0"/>
              <a:t>当程序中需要准备知道要读取的字节数，或需要预先创建一个足够大的缓冲区来保存数据时使用。</a:t>
            </a:r>
            <a:endParaRPr lang="en-US" altLang="zh-CN" sz="2400" dirty="0" smtClean="0"/>
          </a:p>
          <a:p>
            <a:pPr lvl="1">
              <a:defRPr/>
            </a:pPr>
            <a:endParaRPr lang="en-US" altLang="zh-CN" dirty="0" smtClean="0"/>
          </a:p>
        </p:txBody>
      </p:sp>
      <p:sp>
        <p:nvSpPr>
          <p:cNvPr id="17412" name="矩形 3"/>
          <p:cNvSpPr>
            <a:spLocks noChangeArrowheads="1"/>
          </p:cNvSpPr>
          <p:nvPr/>
        </p:nvSpPr>
        <p:spPr bwMode="auto">
          <a:xfrm>
            <a:off x="3519488" y="6488113"/>
            <a:ext cx="2936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EncodingAwareSourceViewer</a:t>
            </a:r>
            <a:endParaRPr lang="zh-CN" altLang="en-US"/>
          </a:p>
        </p:txBody>
      </p:sp>
      <p:sp>
        <p:nvSpPr>
          <p:cNvPr id="17413" name="矩形 4"/>
          <p:cNvSpPr>
            <a:spLocks noChangeArrowheads="1"/>
          </p:cNvSpPr>
          <p:nvPr/>
        </p:nvSpPr>
        <p:spPr bwMode="auto">
          <a:xfrm>
            <a:off x="7224713" y="6488113"/>
            <a:ext cx="12906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BinarySaver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zh-CN" altLang="en-US" sz="3200" dirty="0" smtClean="0"/>
              <a:t>头部字段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395536" y="1772816"/>
            <a:ext cx="8540750" cy="4498975"/>
          </a:xfrm>
        </p:spPr>
        <p:txBody>
          <a:bodyPr/>
          <a:lstStyle/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public String 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getContentEncoding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返回内容压缩编码（与字符编码不同）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public long 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getDate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发送文档的时间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public long 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getExpiration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文档失效时间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public long 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getLastModified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lvl="1"/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文档最后修改时间</a:t>
            </a:r>
            <a:endParaRPr lang="en-US" altLang="zh-C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getContentLength</a:t>
            </a:r>
            <a:r>
              <a:rPr lang="en-US" altLang="zh-CN" dirty="0" smtClean="0"/>
              <a:t>()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1772816"/>
            <a:ext cx="8496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Q:</a:t>
            </a:r>
            <a:r>
              <a:rPr lang="zh-CN" altLang="en-US" sz="2400" dirty="0" smtClean="0"/>
              <a:t>如何获取二进制文件并且保存在磁盘中？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2420888"/>
            <a:ext cx="8280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问题：</a:t>
            </a:r>
            <a:r>
              <a:rPr lang="en-US" altLang="zh-CN" sz="2000" dirty="0" smtClean="0"/>
              <a:t>URL</a:t>
            </a:r>
            <a:r>
              <a:rPr lang="zh-CN" altLang="en-US" sz="2000" dirty="0" smtClean="0"/>
              <a:t>类中</a:t>
            </a:r>
            <a:r>
              <a:rPr lang="en-US" altLang="zh-CN" sz="2000" dirty="0" err="1" smtClean="0"/>
              <a:t>openstream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可以下载文本文件，但是</a:t>
            </a:r>
            <a:r>
              <a:rPr lang="en-US" altLang="zh-CN" sz="2000" dirty="0" smtClean="0"/>
              <a:t>HTTP</a:t>
            </a:r>
            <a:r>
              <a:rPr lang="zh-CN" altLang="en-US" sz="2000" dirty="0" smtClean="0"/>
              <a:t>服务器并不总会在数据发送完后就立刻关闭连接，因此，无法判断停止读取的时机，也会造成信息不准确。</a:t>
            </a:r>
            <a:endParaRPr lang="zh-CN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4221088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解决思路：</a:t>
            </a:r>
            <a:endParaRPr lang="en-US" altLang="zh-CN" sz="2400" b="1" dirty="0" smtClean="0"/>
          </a:p>
          <a:p>
            <a:r>
              <a:rPr lang="zh-CN" altLang="en-US" sz="2400" dirty="0" smtClean="0"/>
              <a:t>利用</a:t>
            </a:r>
            <a:r>
              <a:rPr lang="en-US" altLang="zh-CN" sz="2400" dirty="0" err="1" smtClean="0"/>
              <a:t>URLConnection</a:t>
            </a:r>
            <a:r>
              <a:rPr lang="zh-CN" altLang="en-US" sz="2400" dirty="0" smtClean="0"/>
              <a:t>的</a:t>
            </a:r>
            <a:r>
              <a:rPr lang="en-US" altLang="zh-CN" sz="2400" dirty="0" err="1" smtClean="0"/>
              <a:t>getContentLength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方法，得到需要下载文件的长度，然后以此为终止条件，读取相应的字节数。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具体实现（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3528" y="1628800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/>
              <a:t>saveBinaryFile</a:t>
            </a:r>
            <a:r>
              <a:rPr lang="zh-CN" altLang="en-US" sz="2400" dirty="0" smtClean="0"/>
              <a:t>方法：</a:t>
            </a:r>
            <a:r>
              <a:rPr lang="en-US" altLang="zh-CN" sz="2400" dirty="0" smtClean="0"/>
              <a:t>part2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204864"/>
            <a:ext cx="7570787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27584" y="5445224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字节数组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用来读取二进制文件（字节数组的大小为多少？）</a:t>
            </a:r>
            <a:endParaRPr lang="en-US" altLang="zh-CN" dirty="0" smtClean="0"/>
          </a:p>
          <a:p>
            <a:r>
              <a:rPr lang="en-US" altLang="zh-CN" dirty="0" smtClean="0"/>
              <a:t>2 </a:t>
            </a:r>
            <a:r>
              <a:rPr lang="zh-CN" altLang="en-US" dirty="0" smtClean="0"/>
              <a:t>循环读取文件中的字节，变量</a:t>
            </a:r>
            <a:r>
              <a:rPr lang="en-US" altLang="zh-CN" dirty="0" smtClean="0"/>
              <a:t>offset</a:t>
            </a:r>
            <a:r>
              <a:rPr lang="zh-CN" altLang="en-US" dirty="0" smtClean="0"/>
              <a:t>用来计数</a:t>
            </a:r>
            <a:endParaRPr lang="en-US" altLang="zh-CN" dirty="0" smtClean="0"/>
          </a:p>
          <a:p>
            <a:r>
              <a:rPr lang="en-US" altLang="zh-CN" dirty="0" smtClean="0"/>
              <a:t>3 read()</a:t>
            </a:r>
            <a:r>
              <a:rPr lang="zh-CN" altLang="en-US" dirty="0" smtClean="0"/>
              <a:t>返回</a:t>
            </a:r>
            <a:r>
              <a:rPr lang="en-US" altLang="zh-CN" dirty="0" smtClean="0"/>
              <a:t>-1</a:t>
            </a:r>
            <a:r>
              <a:rPr lang="zh-CN" altLang="en-US" dirty="0" smtClean="0"/>
              <a:t>，表示流意外结束，跳出循环，</a:t>
            </a:r>
            <a:r>
              <a:rPr lang="en-US" altLang="zh-CN" dirty="0" smtClean="0"/>
              <a:t>offset</a:t>
            </a:r>
            <a:r>
              <a:rPr lang="zh-CN" altLang="en-US" dirty="0" smtClean="0"/>
              <a:t>用来保证按照规定字节数读取了文件。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99592" y="2636912"/>
            <a:ext cx="468052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9592" y="3068960"/>
            <a:ext cx="4680520" cy="2160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99592" y="3501008"/>
            <a:ext cx="4680520" cy="216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9592" y="4221088"/>
            <a:ext cx="4680520" cy="216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具体实现（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1628800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/>
              <a:t>saveBinaryFile</a:t>
            </a:r>
            <a:r>
              <a:rPr lang="zh-CN" altLang="en-US" sz="2400" dirty="0" smtClean="0"/>
              <a:t>方法：</a:t>
            </a:r>
            <a:r>
              <a:rPr lang="en-US" altLang="zh-CN" sz="2400" dirty="0" smtClean="0"/>
              <a:t>part3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49041"/>
            <a:ext cx="7323137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99592" y="4653136"/>
            <a:ext cx="7560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使用</a:t>
            </a:r>
            <a:r>
              <a:rPr lang="en-US" altLang="zh-CN" dirty="0" err="1" smtClean="0"/>
              <a:t>getfile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方法从</a:t>
            </a:r>
            <a:r>
              <a:rPr lang="en-US" altLang="zh-CN" dirty="0" smtClean="0"/>
              <a:t>URL</a:t>
            </a:r>
            <a:r>
              <a:rPr lang="zh-CN" altLang="en-US" dirty="0" smtClean="0"/>
              <a:t>获得文件名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去掉路径信息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为文件打开一个新的</a:t>
            </a:r>
            <a:r>
              <a:rPr lang="en-US" altLang="zh-CN" dirty="0" err="1" smtClean="0"/>
              <a:t>fileOutputStream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fout</a:t>
            </a:r>
            <a:r>
              <a:rPr lang="zh-CN" altLang="en-US" dirty="0" smtClean="0"/>
              <a:t>（写入文件）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将文件一次性写入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注意</a:t>
            </a:r>
            <a:r>
              <a:rPr lang="en-US" altLang="zh-CN" dirty="0" smtClean="0"/>
              <a:t>flush</a:t>
            </a:r>
            <a:r>
              <a:rPr lang="zh-CN" altLang="en-US" dirty="0" smtClean="0"/>
              <a:t>的作用（</a:t>
            </a:r>
            <a:r>
              <a:rPr lang="en-US" altLang="zh-CN" dirty="0" smtClean="0"/>
              <a:t>I/O stream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71600" y="2276872"/>
            <a:ext cx="35283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43608" y="2492896"/>
            <a:ext cx="7128792" cy="2160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71600" y="2708920"/>
            <a:ext cx="7128792" cy="216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9592" y="2924944"/>
            <a:ext cx="273630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71600" y="3140968"/>
            <a:ext cx="2736304" cy="2160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Web</a:t>
            </a:r>
            <a:r>
              <a:rPr lang="zh-CN" altLang="en-US" dirty="0" smtClean="0"/>
              <a:t>页面下载</a:t>
            </a:r>
            <a:r>
              <a:rPr lang="en-US" altLang="zh-CN" dirty="0" smtClean="0"/>
              <a:t>(</a:t>
            </a:r>
            <a:r>
              <a:rPr lang="zh-CN" altLang="en-US" dirty="0" smtClean="0"/>
              <a:t>考虑字符编码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52520" cy="66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115616" y="1916832"/>
            <a:ext cx="5472608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1196752"/>
            <a:ext cx="324036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en-US" altLang="zh-CN" sz="3200" smtClean="0"/>
              <a:t>Java</a:t>
            </a:r>
            <a:r>
              <a:rPr lang="zh-CN" altLang="en-US" sz="3200" smtClean="0"/>
              <a:t>的</a:t>
            </a:r>
            <a:r>
              <a:rPr lang="en-US" altLang="zh-CN" sz="3200" smtClean="0"/>
              <a:t>Web</a:t>
            </a:r>
            <a:r>
              <a:rPr lang="zh-CN" altLang="en-US" sz="3200" smtClean="0"/>
              <a:t>缓存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10550" cy="5135562"/>
          </a:xfrm>
        </p:spPr>
        <p:txBody>
          <a:bodyPr/>
          <a:lstStyle/>
          <a:p>
            <a:r>
              <a:rPr lang="en-US" altLang="zh-CN" sz="2800" dirty="0" smtClean="0"/>
              <a:t>JVM</a:t>
            </a:r>
            <a:r>
              <a:rPr lang="zh-CN" altLang="en-US" sz="2800" dirty="0" smtClean="0"/>
              <a:t>只支持一个共享缓存，在</a:t>
            </a:r>
            <a:r>
              <a:rPr lang="en-US" altLang="zh-CN" sz="2800" dirty="0" smtClean="0"/>
              <a:t>HTTP</a:t>
            </a:r>
            <a:r>
              <a:rPr lang="zh-CN" altLang="en-US" sz="2800" dirty="0" smtClean="0"/>
              <a:t>客户端程序中要使用缓存需要使用到自定义的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个具体子类来安装</a:t>
            </a:r>
            <a:r>
              <a:rPr lang="en-US" altLang="zh-CN" sz="2800" dirty="0" smtClean="0"/>
              <a:t>URL</a:t>
            </a:r>
            <a:r>
              <a:rPr lang="zh-CN" altLang="en-US" sz="2800" dirty="0" smtClean="0"/>
              <a:t>类使用的系统级缓存。</a:t>
            </a:r>
            <a:endParaRPr lang="en-US" altLang="zh-CN" sz="2800" dirty="0" smtClean="0"/>
          </a:p>
          <a:p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的一个具体子类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的一个具体子类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CacheResponse</a:t>
            </a:r>
            <a:r>
              <a:rPr lang="zh-CN" altLang="en-US" sz="2400" dirty="0" smtClean="0"/>
              <a:t>的一个具体子类</a:t>
            </a:r>
            <a:endParaRPr lang="en-US" altLang="zh-CN" sz="2400" dirty="0" smtClean="0"/>
          </a:p>
          <a:p>
            <a:r>
              <a:rPr lang="zh-CN" altLang="en-US" sz="2800" dirty="0" smtClean="0"/>
              <a:t>使用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ResponseCache.setDefault</a:t>
            </a:r>
            <a:r>
              <a:rPr lang="en-US" altLang="zh-CN" sz="2400" dirty="0" smtClean="0">
                <a:solidFill>
                  <a:srgbClr val="FF0000"/>
                </a:solidFill>
              </a:rPr>
              <a:t>()</a:t>
            </a:r>
            <a:r>
              <a:rPr lang="zh-CN" altLang="en-US" sz="2800" dirty="0" smtClean="0"/>
              <a:t>方法把自定义缓存子类对象安装为默认缓存，来处理自定义的</a:t>
            </a:r>
            <a:r>
              <a:rPr lang="en-US" altLang="zh-CN" sz="2800" dirty="0" err="1" smtClean="0"/>
              <a:t>CacheRequest</a:t>
            </a:r>
            <a:r>
              <a:rPr lang="zh-CN" altLang="en-US" sz="2800" dirty="0" smtClean="0"/>
              <a:t>和</a:t>
            </a:r>
            <a:r>
              <a:rPr lang="en-US" altLang="zh-CN" sz="2800" dirty="0" err="1" smtClean="0"/>
              <a:t>CacheResponse</a:t>
            </a:r>
            <a:r>
              <a:rPr lang="zh-CN" altLang="en-US" sz="2800" dirty="0" smtClean="0"/>
              <a:t>子类。</a:t>
            </a:r>
            <a:endParaRPr lang="en-US" altLang="zh-CN" sz="2800" dirty="0" smtClean="0"/>
          </a:p>
          <a:p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en-US" altLang="zh-CN" sz="3200" smtClean="0"/>
              <a:t>Java</a:t>
            </a:r>
            <a:r>
              <a:rPr lang="zh-CN" altLang="en-US" sz="3200" smtClean="0"/>
              <a:t>的</a:t>
            </a:r>
            <a:r>
              <a:rPr lang="en-US" altLang="zh-CN" sz="3200" smtClean="0"/>
              <a:t>Web</a:t>
            </a:r>
            <a:r>
              <a:rPr lang="zh-CN" altLang="en-US" sz="3200" smtClean="0"/>
              <a:t>缓存</a:t>
            </a:r>
            <a:r>
              <a:rPr lang="en-US" altLang="zh-CN" sz="3200" smtClean="0"/>
              <a:t>-- </a:t>
            </a:r>
            <a:r>
              <a:rPr lang="en-US" altLang="zh-CN" sz="2800" smtClean="0">
                <a:solidFill>
                  <a:srgbClr val="FF0000"/>
                </a:solidFill>
              </a:rPr>
              <a:t>CacheRequest</a:t>
            </a:r>
            <a:r>
              <a:rPr lang="zh-CN" altLang="en-US" sz="2800" smtClean="0">
                <a:solidFill>
                  <a:srgbClr val="FF0000"/>
                </a:solidFill>
              </a:rPr>
              <a:t>类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683568" y="1484784"/>
            <a:ext cx="8210550" cy="5135562"/>
          </a:xfrm>
        </p:spPr>
        <p:txBody>
          <a:bodyPr/>
          <a:lstStyle/>
          <a:p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put()</a:t>
            </a:r>
            <a:r>
              <a:rPr lang="zh-CN" altLang="en-US" sz="2400" dirty="0" smtClean="0"/>
              <a:t>方法返回一个</a:t>
            </a:r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类型 的对象。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类表示在 </a:t>
            </a:r>
            <a:r>
              <a:rPr lang="en-US" altLang="zh-CN" sz="2400" dirty="0" err="1" smtClean="0"/>
              <a:t>ResponseCache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中存储资源的通道。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类的实例包装了一个</a:t>
            </a:r>
            <a:r>
              <a:rPr lang="en-US" altLang="zh-CN" sz="2400" dirty="0" err="1" smtClean="0"/>
              <a:t>OutputStream</a:t>
            </a:r>
            <a:r>
              <a:rPr lang="zh-CN" altLang="en-US" sz="2400" dirty="0" smtClean="0"/>
              <a:t>对象，</a:t>
            </a:r>
            <a:r>
              <a:rPr lang="en-US" altLang="zh-CN" sz="2400" dirty="0" smtClean="0"/>
              <a:t>HTTP</a:t>
            </a:r>
            <a:r>
              <a:rPr lang="zh-CN" altLang="en-US" sz="2400" dirty="0" smtClean="0"/>
              <a:t>客户端程序可以调用该对象来将资源数据存储到缓存中。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类</a:t>
            </a:r>
            <a:r>
              <a:rPr lang="zh-CN" altLang="en-US" sz="2800" dirty="0" smtClean="0"/>
              <a:t> </a:t>
            </a:r>
            <a:r>
              <a:rPr lang="en-US" altLang="zh-CN" sz="2400" dirty="0" smtClean="0"/>
              <a:t>ex7-7 CacheRequest.java</a:t>
            </a:r>
            <a:r>
              <a:rPr lang="zh-CN" altLang="en-US" sz="2400" dirty="0" smtClean="0"/>
              <a:t> ：</a:t>
            </a:r>
            <a:endParaRPr lang="en-US" altLang="zh-CN" sz="2800" dirty="0" smtClean="0"/>
          </a:p>
          <a:p>
            <a:endParaRPr lang="en-US" altLang="zh-CN" sz="2400" dirty="0" smtClean="0"/>
          </a:p>
          <a:p>
            <a:endParaRPr lang="en-US" altLang="zh-CN" sz="2800" dirty="0" smtClean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99592" y="4221088"/>
            <a:ext cx="7083425" cy="224631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Package java.net</a:t>
            </a:r>
          </a:p>
          <a:p>
            <a:endParaRPr lang="en-US" altLang="zh-C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Public abstract class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CacheRequest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  //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返回可以将响应正文写入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cache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库的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OutputStream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  public abstract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OutputStream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getBody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( ) throws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IOException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  public abstract void abort( );//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中止缓存响应的尝试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zh-CN" altLang="en-US" sz="3200" smtClean="0"/>
              <a:t>自定义</a:t>
            </a:r>
            <a:r>
              <a:rPr lang="en-US" altLang="zh-CN" sz="3200" smtClean="0"/>
              <a:t>CacheRequest</a:t>
            </a:r>
            <a:r>
              <a:rPr lang="zh-CN" altLang="en-US" sz="3200" smtClean="0"/>
              <a:t>子类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67544" y="1916832"/>
            <a:ext cx="8210550" cy="2550219"/>
          </a:xfrm>
        </p:spPr>
        <p:txBody>
          <a:bodyPr/>
          <a:lstStyle/>
          <a:p>
            <a:r>
              <a:rPr lang="zh-CN" altLang="en-US" sz="2400" dirty="0" smtClean="0"/>
              <a:t>自定义一个</a:t>
            </a:r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子类，可返回一个</a:t>
            </a:r>
            <a:r>
              <a:rPr lang="en-US" altLang="zh-CN" sz="2400" dirty="0" err="1" smtClean="0"/>
              <a:t>ByteArrayOutputStream</a:t>
            </a:r>
            <a:r>
              <a:rPr lang="zh-CN" altLang="en-US" sz="2400" dirty="0" smtClean="0"/>
              <a:t>，支持</a:t>
            </a:r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对象的</a:t>
            </a:r>
            <a:r>
              <a:rPr lang="en-US" altLang="zh-CN" sz="2400" dirty="0" smtClean="0"/>
              <a:t>put()</a:t>
            </a:r>
            <a:r>
              <a:rPr lang="zh-CN" altLang="en-US" sz="2400" dirty="0" smtClean="0"/>
              <a:t>方法将资源数据以字节数组文件存入缓存中。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en-US" altLang="zh-CN" sz="3200" smtClean="0"/>
              <a:t>Java</a:t>
            </a:r>
            <a:r>
              <a:rPr lang="zh-CN" altLang="en-US" sz="3200" smtClean="0"/>
              <a:t>的</a:t>
            </a:r>
            <a:r>
              <a:rPr lang="en-US" altLang="zh-CN" sz="3200" smtClean="0"/>
              <a:t>Web</a:t>
            </a:r>
            <a:r>
              <a:rPr lang="zh-CN" altLang="en-US" sz="3200" smtClean="0"/>
              <a:t>缓存</a:t>
            </a:r>
            <a:r>
              <a:rPr lang="en-US" altLang="zh-CN" sz="3200" smtClean="0"/>
              <a:t>-- </a:t>
            </a:r>
            <a:r>
              <a:rPr lang="en-US" altLang="zh-CN" sz="2800" smtClean="0"/>
              <a:t>CacheResponse</a:t>
            </a:r>
            <a:r>
              <a:rPr lang="zh-CN" altLang="en-US" sz="2800" smtClean="0"/>
              <a:t>类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8210550" cy="3024336"/>
          </a:xfrm>
        </p:spPr>
        <p:txBody>
          <a:bodyPr/>
          <a:lstStyle/>
          <a:p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get()</a:t>
            </a:r>
            <a:r>
              <a:rPr lang="zh-CN" altLang="en-US" sz="2400" dirty="0" smtClean="0"/>
              <a:t>方法从缓存中获取资源的数据和首部，包装在一个</a:t>
            </a:r>
            <a:r>
              <a:rPr lang="en-US" altLang="zh-CN" sz="2400" dirty="0" err="1" smtClean="0"/>
              <a:t>CacheRsponse</a:t>
            </a:r>
            <a:r>
              <a:rPr lang="zh-CN" altLang="en-US" sz="2400" dirty="0" smtClean="0"/>
              <a:t>类型的对象中返回。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CacheRsponse</a:t>
            </a:r>
            <a:r>
              <a:rPr lang="zh-CN" altLang="en-US" sz="2400" dirty="0" smtClean="0"/>
              <a:t>类表示在 </a:t>
            </a:r>
            <a:r>
              <a:rPr lang="en-US" altLang="zh-CN" sz="2400" dirty="0" err="1" smtClean="0"/>
              <a:t>ResponseCache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中检索资源的通道。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CacheRsponse</a:t>
            </a:r>
            <a:r>
              <a:rPr lang="zh-CN" altLang="en-US" sz="2400" dirty="0" smtClean="0"/>
              <a:t>类的实例包装了一个</a:t>
            </a:r>
            <a:r>
              <a:rPr lang="en-US" altLang="zh-CN" sz="2400" dirty="0" smtClean="0"/>
              <a:t>URI</a:t>
            </a:r>
            <a:r>
              <a:rPr lang="zh-CN" altLang="en-US" sz="2400" dirty="0" smtClean="0"/>
              <a:t>请求资源的数据和首部，</a:t>
            </a:r>
            <a:r>
              <a:rPr lang="en-US" altLang="zh-CN" sz="2400" dirty="0" smtClean="0"/>
              <a:t>HTTP</a:t>
            </a:r>
            <a:r>
              <a:rPr lang="zh-CN" altLang="en-US" sz="2400" dirty="0" smtClean="0"/>
              <a:t>客户端程序可以调用该对象将资源的数据或首部从缓存中取出。</a:t>
            </a:r>
            <a:endParaRPr lang="en-US" altLang="zh-CN" sz="2400" dirty="0" smtClean="0"/>
          </a:p>
          <a:p>
            <a:endParaRPr lang="en-US" altLang="zh-CN" sz="2800" dirty="0" smtClean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04800" y="4572000"/>
            <a:ext cx="8763000" cy="2246313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Package java.net</a:t>
            </a:r>
          </a:p>
          <a:p>
            <a:endParaRPr lang="en-US" altLang="zh-CN" sz="20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Public abstract class CacheResponse{</a:t>
            </a:r>
          </a:p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        //</a:t>
            </a:r>
            <a:r>
              <a:rPr lang="zh-CN" altLang="en-US" sz="2000">
                <a:latin typeface="Times New Roman" pitchFamily="18" charset="0"/>
                <a:cs typeface="Times New Roman" pitchFamily="18" charset="0"/>
              </a:rPr>
              <a:t>返回响应的主体作为</a:t>
            </a:r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InputStream</a:t>
            </a:r>
          </a:p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        public abstract Map&lt;String, List&lt;String&gt;&gt; getHeaders( ) throws IOException;</a:t>
            </a:r>
          </a:p>
          <a:p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        public abstract InputStream  getBody( ) throws IOException;//</a:t>
            </a:r>
            <a:r>
              <a:rPr lang="zh-CN" altLang="en-US" sz="2000">
                <a:latin typeface="Times New Roman" pitchFamily="18" charset="0"/>
                <a:cs typeface="Times New Roman" pitchFamily="18" charset="0"/>
              </a:rPr>
              <a:t>返回响应头作为一个</a:t>
            </a:r>
            <a:r>
              <a:rPr lang="en-US" altLang="zh-CN" sz="2000">
                <a:latin typeface="Times New Roman" pitchFamily="18" charset="0"/>
                <a:cs typeface="Times New Roman" pitchFamily="18" charset="0"/>
              </a:rPr>
              <a:t>Map}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zh-CN" altLang="en-US" sz="3200" smtClean="0"/>
              <a:t>自定义</a:t>
            </a:r>
            <a:r>
              <a:rPr lang="en-US" altLang="zh-CN" sz="3200" smtClean="0"/>
              <a:t>CacheResponse</a:t>
            </a:r>
            <a:r>
              <a:rPr lang="zh-CN" altLang="en-US" sz="3200" smtClean="0"/>
              <a:t>子类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210550" cy="3096344"/>
          </a:xfrm>
        </p:spPr>
        <p:txBody>
          <a:bodyPr/>
          <a:lstStyle/>
          <a:p>
            <a:r>
              <a:rPr lang="zh-CN" altLang="en-US" sz="2400" dirty="0" smtClean="0"/>
              <a:t>自定义一个</a:t>
            </a:r>
            <a:r>
              <a:rPr lang="en-US" altLang="zh-CN" sz="2400" dirty="0" err="1" smtClean="0"/>
              <a:t>CacheResponse</a:t>
            </a:r>
            <a:r>
              <a:rPr lang="zh-CN" altLang="en-US" sz="2400" dirty="0" smtClean="0"/>
              <a:t>子类，与一个自定义的</a:t>
            </a:r>
            <a:r>
              <a:rPr lang="en-US" altLang="zh-CN" sz="2400" dirty="0" err="1" smtClean="0"/>
              <a:t>CacheRequest</a:t>
            </a:r>
            <a:r>
              <a:rPr lang="zh-CN" altLang="en-US" sz="2400" dirty="0" smtClean="0"/>
              <a:t>子类（</a:t>
            </a:r>
            <a:r>
              <a:rPr lang="en-US" altLang="zh-CN" sz="2400" dirty="0" err="1" smtClean="0"/>
              <a:t>SimpleCacheRequest</a:t>
            </a:r>
            <a:r>
              <a:rPr lang="zh-CN" altLang="en-US" sz="2400" dirty="0" smtClean="0"/>
              <a:t>）对象和一个</a:t>
            </a:r>
            <a:r>
              <a:rPr lang="en-US" altLang="zh-CN" sz="2400" dirty="0" err="1" smtClean="0"/>
              <a:t>CacheControl</a:t>
            </a:r>
            <a:r>
              <a:rPr lang="zh-CN" altLang="en-US" sz="2400" dirty="0" smtClean="0"/>
              <a:t>对象绑定，支持</a:t>
            </a:r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对象的</a:t>
            </a:r>
            <a:r>
              <a:rPr lang="en-US" altLang="zh-CN" sz="2400" dirty="0" smtClean="0"/>
              <a:t>get()</a:t>
            </a:r>
            <a:r>
              <a:rPr lang="zh-CN" altLang="en-US" sz="2400" dirty="0" smtClean="0"/>
              <a:t>方法从缓存中读取资源的数据或首部。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en-US" altLang="zh-CN" sz="3200" smtClean="0"/>
              <a:t>Java</a:t>
            </a:r>
            <a:r>
              <a:rPr lang="zh-CN" altLang="en-US" sz="3200" smtClean="0"/>
              <a:t>的</a:t>
            </a:r>
            <a:r>
              <a:rPr lang="en-US" altLang="zh-CN" sz="3200" smtClean="0"/>
              <a:t>Web</a:t>
            </a:r>
            <a:r>
              <a:rPr lang="zh-CN" altLang="en-US" sz="3200" smtClean="0"/>
              <a:t>缓存</a:t>
            </a:r>
            <a:r>
              <a:rPr lang="en-US" altLang="zh-CN" sz="3200" smtClean="0"/>
              <a:t>-- ResponseCache</a:t>
            </a:r>
            <a:r>
              <a:rPr lang="zh-CN" altLang="en-US" sz="2800" smtClean="0"/>
              <a:t>类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611560" y="1556792"/>
            <a:ext cx="8210550" cy="5135562"/>
          </a:xfrm>
        </p:spPr>
        <p:txBody>
          <a:bodyPr/>
          <a:lstStyle/>
          <a:p>
            <a:r>
              <a:rPr lang="zh-CN" altLang="en-US" sz="2400" dirty="0" smtClean="0"/>
              <a:t>代表</a:t>
            </a:r>
            <a:r>
              <a:rPr lang="en-US" altLang="zh-CN" sz="2400" dirty="0" err="1" smtClean="0"/>
              <a:t>URLConnection</a:t>
            </a:r>
            <a:r>
              <a:rPr lang="zh-CN" altLang="en-US" sz="2400" dirty="0" smtClean="0"/>
              <a:t>缓存的实现。</a:t>
            </a:r>
            <a:endParaRPr lang="en-US" altLang="zh-CN" sz="2400" dirty="0" smtClean="0"/>
          </a:p>
          <a:p>
            <a:r>
              <a:rPr lang="zh-CN" altLang="en-US" sz="2400" dirty="0" smtClean="0"/>
              <a:t>它的实例可以通过</a:t>
            </a:r>
            <a:r>
              <a:rPr lang="en-US" altLang="zh-CN" sz="2400" dirty="0" err="1" smtClean="0"/>
              <a:t>ResponseCache.setDefault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ResponseCache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向系统注册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系统将调用这个对象</a:t>
            </a:r>
            <a:r>
              <a:rPr lang="en-US" altLang="zh-CN" sz="2400" dirty="0" smtClean="0"/>
              <a:t>:</a:t>
            </a:r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）存储从外部源已检索资源数据到缓存中。</a:t>
            </a:r>
            <a:endParaRPr lang="en-US" altLang="zh-CN" sz="2400" dirty="0" smtClean="0"/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）试图获取可能是存储在缓存中的所请求的资源。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实现决定哪些资源应该被缓存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多长时间 。如果不能从缓存检索请求的资源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 协议处理程序将从其原始位置获取资源。</a:t>
            </a:r>
            <a:endParaRPr lang="en-US" altLang="zh-CN" sz="2400" dirty="0" smtClean="0"/>
          </a:p>
          <a:p>
            <a:r>
              <a:rPr lang="en-US" altLang="zh-CN" sz="2400" dirty="0" err="1" smtClean="0"/>
              <a:t>ResponseCache</a:t>
            </a:r>
            <a:r>
              <a:rPr lang="zh-CN" altLang="en-US" sz="2400" dirty="0" smtClean="0"/>
              <a:t>类</a:t>
            </a:r>
            <a:r>
              <a:rPr lang="zh-CN" altLang="en-US" sz="2800" dirty="0" smtClean="0"/>
              <a:t> </a:t>
            </a:r>
            <a:r>
              <a:rPr lang="zh-CN" altLang="en-US" sz="2400" dirty="0" smtClean="0"/>
              <a:t>如下 </a:t>
            </a:r>
            <a:r>
              <a:rPr lang="zh-CN" altLang="en-US" sz="2000" dirty="0" smtClean="0"/>
              <a:t>：</a:t>
            </a:r>
            <a:endParaRPr lang="en-US" altLang="zh-CN" sz="2800" dirty="0" smtClean="0"/>
          </a:p>
          <a:p>
            <a:endParaRPr lang="en-US" altLang="zh-CN" sz="2400" dirty="0" smtClean="0"/>
          </a:p>
          <a:p>
            <a:endParaRPr lang="en-US" altLang="zh-CN" sz="2800" dirty="0" smtClean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99592" y="1772816"/>
            <a:ext cx="7696200" cy="4154488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Package java.net</a:t>
            </a:r>
          </a:p>
          <a:p>
            <a:endParaRPr lang="en-US" altLang="zh-CN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Public abstract class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ResponseCache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extends Object {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  //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检索缓存的响应基于请求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uri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请求方法和请求头。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  public abstract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CacheResponse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get(URI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uri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, String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rqstMethod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,          Map&lt;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String,List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&lt;String&gt;&gt;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rqstHeaders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throws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IOExceiption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//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协议处理器调用此方法检索资源之后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ResponseCache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必须决定          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是否存储缓存的资源。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     public abstract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CacheRequest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put(URI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uri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URLConnection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conn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) throws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IOExceiption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… … </a:t>
            </a:r>
          </a:p>
          <a:p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zh-CN" altLang="en-US" sz="3200" smtClean="0"/>
              <a:t>协议处理框架</a:t>
            </a:r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80975" y="1722438"/>
            <a:ext cx="8963025" cy="3434754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URL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类：表示远程资源</a:t>
            </a:r>
          </a:p>
          <a:p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URLConnection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类：客户端与服务端的连接，获得输入、输出流</a:t>
            </a:r>
          </a:p>
          <a:p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URLStreamHandler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类：协议处理器，负责创建与协议相关的</a:t>
            </a:r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URLconnection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对象</a:t>
            </a:r>
          </a:p>
          <a:p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对于具体的协议，需要创建这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个抽象类的子类</a:t>
            </a:r>
          </a:p>
          <a:p>
            <a:endParaRPr lang="zh-CN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400" dirty="0" err="1" smtClean="0">
                <a:latin typeface="Times New Roman" pitchFamily="18" charset="0"/>
                <a:cs typeface="Times New Roman" pitchFamily="18" charset="0"/>
              </a:rPr>
              <a:t>ContentHandler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类：内容处理器，负责解析服务器发送的数据并转换为相应的</a:t>
            </a:r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zh-CN" altLang="en-US" sz="2400" dirty="0" smtClean="0">
                <a:latin typeface="Times New Roman" pitchFamily="18" charset="0"/>
                <a:cs typeface="Times New Roman" pitchFamily="18" charset="0"/>
              </a:rPr>
              <a:t>对象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zh-CN" altLang="en-US" sz="3200" smtClean="0"/>
              <a:t>协议处理框架</a:t>
            </a:r>
          </a:p>
        </p:txBody>
      </p:sp>
      <p:pic>
        <p:nvPicPr>
          <p:cNvPr id="78851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" y="1556792"/>
            <a:ext cx="7897813" cy="52927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en-US" altLang="zh-CN" sz="3200" smtClean="0"/>
              <a:t>URL</a:t>
            </a:r>
            <a:r>
              <a:rPr lang="zh-CN" altLang="en-US" sz="3200" smtClean="0"/>
              <a:t>和</a:t>
            </a:r>
            <a:r>
              <a:rPr lang="en-US" altLang="zh-CN" sz="3200" smtClean="0"/>
              <a:t>URLConnection</a:t>
            </a:r>
            <a:r>
              <a:rPr lang="zh-CN" altLang="en-US" sz="3200" smtClean="0"/>
              <a:t>的关联</a:t>
            </a:r>
          </a:p>
        </p:txBody>
      </p:sp>
      <p:pic>
        <p:nvPicPr>
          <p:cNvPr id="79875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43608" y="1628800"/>
            <a:ext cx="6192688" cy="2667619"/>
          </a:xfrm>
          <a:noFill/>
        </p:spPr>
      </p:pic>
      <p:sp>
        <p:nvSpPr>
          <p:cNvPr id="75780" name="文本框 5"/>
          <p:cNvSpPr txBox="1">
            <a:spLocks noChangeArrowheads="1"/>
          </p:cNvSpPr>
          <p:nvPr/>
        </p:nvSpPr>
        <p:spPr bwMode="auto">
          <a:xfrm>
            <a:off x="301625" y="4495800"/>
            <a:ext cx="81565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en-US" altLang="zh-CN" sz="2000" dirty="0" smtClean="0"/>
              <a:t>URL</a:t>
            </a:r>
            <a:r>
              <a:rPr lang="zh-CN" altLang="en-US" sz="2000" dirty="0" smtClean="0"/>
              <a:t>类的</a:t>
            </a:r>
            <a:r>
              <a:rPr lang="en-US" altLang="zh-CN" sz="2000" dirty="0" err="1" smtClean="0"/>
              <a:t>openConnection</a:t>
            </a:r>
            <a:r>
              <a:rPr lang="zh-CN" altLang="en-US" sz="2000" dirty="0" smtClean="0"/>
              <a:t>方法是通过调用</a:t>
            </a:r>
            <a:r>
              <a:rPr lang="en-US" altLang="zh-CN" sz="2000" dirty="0" err="1" smtClean="0"/>
              <a:t>URLStreamHandler</a:t>
            </a:r>
            <a:r>
              <a:rPr lang="zh-CN" altLang="en-US" sz="2000" dirty="0" smtClean="0"/>
              <a:t>类的同名方法创建的</a:t>
            </a:r>
            <a:endParaRPr lang="en-US" altLang="zh-CN" sz="2000" dirty="0" smtClean="0"/>
          </a:p>
          <a:p>
            <a:pPr marL="457200" indent="-457200"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en-US" altLang="zh-CN" sz="2000" dirty="0" smtClean="0"/>
              <a:t>URL</a:t>
            </a:r>
            <a:r>
              <a:rPr lang="zh-CN" altLang="en-US" sz="2000" dirty="0" smtClean="0"/>
              <a:t>类的</a:t>
            </a:r>
            <a:r>
              <a:rPr lang="en-US" altLang="zh-CN" sz="2000" dirty="0" err="1" smtClean="0"/>
              <a:t>openStream</a:t>
            </a:r>
            <a:r>
              <a:rPr lang="zh-CN" altLang="en-US" sz="2000" dirty="0" smtClean="0"/>
              <a:t>方法是通过调用</a:t>
            </a:r>
            <a:r>
              <a:rPr lang="en-US" altLang="zh-CN" sz="2000" dirty="0" err="1" smtClean="0"/>
              <a:t>URLConnection</a:t>
            </a:r>
            <a:r>
              <a:rPr lang="zh-CN" altLang="en-US" sz="2000" dirty="0" smtClean="0"/>
              <a:t>类的</a:t>
            </a:r>
            <a:r>
              <a:rPr lang="en-US" altLang="zh-CN" sz="2000" dirty="0" err="1" smtClean="0"/>
              <a:t>getInputStream</a:t>
            </a:r>
            <a:r>
              <a:rPr lang="zh-CN" altLang="en-US" sz="2000" dirty="0" smtClean="0"/>
              <a:t>方法获得的</a:t>
            </a:r>
            <a:endParaRPr lang="en-US" altLang="zh-CN" sz="2000" dirty="0" smtClean="0"/>
          </a:p>
          <a:p>
            <a:pPr marL="457200" indent="-457200"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en-US" altLang="zh-CN" sz="2000" dirty="0" smtClean="0"/>
              <a:t>URL</a:t>
            </a:r>
            <a:r>
              <a:rPr lang="zh-CN" altLang="en-US" sz="2000" dirty="0" smtClean="0"/>
              <a:t>类的</a:t>
            </a:r>
            <a:r>
              <a:rPr lang="en-US" altLang="zh-CN" sz="2000" dirty="0" err="1" smtClean="0"/>
              <a:t>getContent</a:t>
            </a:r>
            <a:r>
              <a:rPr lang="zh-CN" altLang="en-US" sz="2000" dirty="0" smtClean="0"/>
              <a:t>方法是调用</a:t>
            </a:r>
            <a:r>
              <a:rPr lang="en-US" altLang="zh-CN" sz="2000" dirty="0" err="1" smtClean="0"/>
              <a:t>URLConnection</a:t>
            </a:r>
            <a:r>
              <a:rPr lang="zh-CN" altLang="en-US" sz="2000" dirty="0" smtClean="0"/>
              <a:t>类的同名方法</a:t>
            </a:r>
            <a:endParaRPr lang="en-US" altLang="zh-CN" sz="2000" dirty="0" smtClean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 smtClean="0"/>
              <a:t>（该方法又调用了</a:t>
            </a:r>
            <a:r>
              <a:rPr lang="en-US" altLang="zh-CN" sz="2000" dirty="0" err="1" smtClean="0"/>
              <a:t>ContentHandler</a:t>
            </a:r>
            <a:r>
              <a:rPr lang="zh-CN" altLang="en-US" sz="2000" dirty="0" smtClean="0"/>
              <a:t>类的同名方法获得）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7543801" cy="875063"/>
          </a:xfrm>
        </p:spPr>
        <p:txBody>
          <a:bodyPr/>
          <a:lstStyle/>
          <a:p>
            <a:r>
              <a:rPr lang="en-US" altLang="zh-CN" dirty="0" smtClean="0"/>
              <a:t>Transport </a:t>
            </a:r>
            <a:r>
              <a:rPr lang="en-US" altLang="zh-CN" dirty="0"/>
              <a:t>layer </a:t>
            </a:r>
            <a:r>
              <a:rPr lang="en-US" altLang="zh-CN" dirty="0" smtClean="0"/>
              <a:t>protocol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TCP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UDP</a:t>
            </a:r>
            <a:endParaRPr lang="zh-CN" altLang="en-US" dirty="0"/>
          </a:p>
        </p:txBody>
      </p:sp>
      <p:pic>
        <p:nvPicPr>
          <p:cNvPr id="5" name="Picture 4" descr="http://javaarm.com/file/java/javase/Other.Base.Libraries/Networking/Java-Network-Programming_EllioteRustyHarold_4th-Edition_2014_study/1.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76872"/>
            <a:ext cx="6651625" cy="425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4661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TCP</a:t>
            </a:r>
          </a:p>
          <a:p>
            <a:pPr lvl="1"/>
            <a:r>
              <a:rPr lang="zh-CN" altLang="en-US" dirty="0"/>
              <a:t>保证</a:t>
            </a:r>
            <a:r>
              <a:rPr lang="zh-CN" altLang="en-US" dirty="0" smtClean="0"/>
              <a:t>数据到达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保证数据顺序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速度慢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用途：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…</a:t>
            </a:r>
          </a:p>
          <a:p>
            <a:r>
              <a:rPr lang="en-US" altLang="zh-CN" dirty="0" smtClean="0"/>
              <a:t>UDP</a:t>
            </a:r>
          </a:p>
          <a:p>
            <a:pPr lvl="1"/>
            <a:r>
              <a:rPr lang="zh-CN" altLang="en-US" dirty="0" smtClean="0"/>
              <a:t>不保证一定到达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不保证到达顺序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速度快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用途：</a:t>
            </a:r>
            <a:r>
              <a:rPr lang="en-US" altLang="zh-CN" dirty="0" smtClean="0"/>
              <a:t>DNS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NFS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TFTP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2260" y="3813146"/>
            <a:ext cx="1364203" cy="2282545"/>
          </a:xfrm>
          <a:prstGeom prst="rect">
            <a:avLst/>
          </a:prstGeom>
        </p:spPr>
      </p:pic>
      <p:pic>
        <p:nvPicPr>
          <p:cNvPr id="1026" name="Picture 2" descr="http://58pic.ooopic.com/58pic/15/61/54/34758PICsQZ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00808"/>
            <a:ext cx="2151233" cy="144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23487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TCP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ServerSocket&amp;Socket</a:t>
            </a:r>
            <a:endParaRPr lang="en-US" altLang="zh-CN" dirty="0" smtClean="0"/>
          </a:p>
          <a:p>
            <a:r>
              <a:rPr lang="en-US" altLang="zh-CN" dirty="0" smtClean="0"/>
              <a:t>UDP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没有连接（</a:t>
            </a:r>
            <a:r>
              <a:rPr lang="en-US" altLang="zh-CN" dirty="0" smtClean="0"/>
              <a:t>connection</a:t>
            </a:r>
            <a:r>
              <a:rPr lang="zh-CN" altLang="en-US" dirty="0" smtClean="0"/>
              <a:t>）概念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不支持流（</a:t>
            </a:r>
            <a:r>
              <a:rPr lang="en-US" altLang="zh-CN" dirty="0" smtClean="0"/>
              <a:t>stream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只是数据包的发送和接收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DatagramPacket</a:t>
            </a:r>
          </a:p>
          <a:p>
            <a:pPr lvl="1"/>
            <a:r>
              <a:rPr lang="zh-CN" altLang="en-US" dirty="0"/>
              <a:t>对数据进行包装</a:t>
            </a:r>
            <a:endParaRPr lang="en-US" altLang="zh-CN" dirty="0"/>
          </a:p>
          <a:p>
            <a:r>
              <a:rPr lang="en-US" altLang="zh-CN" dirty="0" err="1"/>
              <a:t>DatagramSocket</a:t>
            </a:r>
            <a:endParaRPr lang="en-US" altLang="zh-CN" dirty="0"/>
          </a:p>
          <a:p>
            <a:pPr lvl="1"/>
            <a:r>
              <a:rPr lang="zh-CN" altLang="en-US" dirty="0"/>
              <a:t>发送和接收数据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8045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UDP</a:t>
            </a:r>
            <a:r>
              <a:rPr lang="zh-CN" altLang="en-US" dirty="0" smtClean="0"/>
              <a:t>客户端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</a:t>
            </a:r>
            <a:r>
              <a:rPr lang="en-US" altLang="zh-CN" dirty="0" err="1"/>
              <a:t>DatagramSocket</a:t>
            </a:r>
            <a:r>
              <a:rPr lang="zh-CN" altLang="en-US" dirty="0" smtClean="0"/>
              <a:t>对象、并设置超时</a:t>
            </a:r>
            <a:endParaRPr lang="en-US" altLang="zh-CN" dirty="0" smtClean="0"/>
          </a:p>
          <a:p>
            <a:endParaRPr lang="en-US" altLang="zh-CN" dirty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设置发送</a:t>
            </a:r>
            <a:r>
              <a:rPr lang="en-US" altLang="zh-CN" dirty="0"/>
              <a:t>DatagramPacket</a:t>
            </a:r>
            <a:r>
              <a:rPr lang="zh-CN" altLang="en-US" dirty="0" smtClean="0"/>
              <a:t>数据包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1560" y="2204864"/>
            <a:ext cx="78918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39552" y="2636912"/>
            <a:ext cx="4339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</a:rPr>
              <a:t>setSoTimeout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10000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509153" y="3861048"/>
            <a:ext cx="863484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  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getByName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"time.nist.gov"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request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],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13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074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r>
              <a:rPr lang="zh-CN" altLang="en-US" dirty="0"/>
              <a:t>客户端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创建接收</a:t>
            </a:r>
            <a:r>
              <a:rPr lang="en-US" altLang="zh-CN" dirty="0"/>
              <a:t>DatagramPacket</a:t>
            </a:r>
            <a:r>
              <a:rPr lang="zh-CN" altLang="en-US" dirty="0" smtClean="0"/>
              <a:t>数据包</a:t>
            </a:r>
            <a:r>
              <a:rPr lang="en-US" altLang="zh-CN" dirty="0" smtClean="0"/>
              <a:t> 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发送和接收数据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解析出数据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2132856"/>
            <a:ext cx="83750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1024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];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response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 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length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378904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send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request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receive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response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66357" y="6483473"/>
            <a:ext cx="1918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DaytimeUDPClient</a:t>
            </a:r>
          </a:p>
        </p:txBody>
      </p:sp>
      <p:sp>
        <p:nvSpPr>
          <p:cNvPr id="7" name="矩形 6"/>
          <p:cNvSpPr/>
          <p:nvPr/>
        </p:nvSpPr>
        <p:spPr>
          <a:xfrm>
            <a:off x="611560" y="5373216"/>
            <a:ext cx="4458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byte [] b =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</a:rPr>
              <a:t>getData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();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6845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56792"/>
            <a:ext cx="7380312" cy="4258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187624" y="4005064"/>
            <a:ext cx="25202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75656" y="3140968"/>
            <a:ext cx="43204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87624" y="3645024"/>
            <a:ext cx="684076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UDP</a:t>
            </a:r>
            <a:r>
              <a:rPr lang="zh-CN" altLang="en-US" dirty="0" smtClean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实现方法跟</a:t>
            </a:r>
            <a:r>
              <a:rPr lang="en-US" altLang="zh-CN" dirty="0" smtClean="0"/>
              <a:t>UDP</a:t>
            </a:r>
            <a:r>
              <a:rPr lang="zh-CN" altLang="en-US" dirty="0" smtClean="0"/>
              <a:t>客户端类似</a:t>
            </a:r>
            <a:endParaRPr lang="en-US" altLang="zh-CN" dirty="0" smtClean="0"/>
          </a:p>
          <a:p>
            <a:r>
              <a:rPr lang="zh-CN" altLang="en-US" dirty="0" smtClean="0"/>
              <a:t>创建</a:t>
            </a:r>
            <a:r>
              <a:rPr lang="en-US" altLang="zh-CN" dirty="0" err="1"/>
              <a:t>DatagramSocket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创建接收数据的</a:t>
            </a:r>
            <a:r>
              <a:rPr lang="en-US" altLang="zh-CN" dirty="0" smtClean="0"/>
              <a:t>DatagramPacket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接收数据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1560" y="2708920"/>
            <a:ext cx="78576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13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611560" y="3861048"/>
            <a:ext cx="79802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1024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],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1024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11560" y="5517232"/>
            <a:ext cx="3877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</a:rPr>
              <a:t>receive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87723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r>
              <a:rPr lang="zh-CN" altLang="en-US" dirty="0"/>
              <a:t>服务器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设置发送</a:t>
            </a:r>
            <a:r>
              <a:rPr lang="en-US" altLang="zh-CN" dirty="0"/>
              <a:t>DatagramPacket</a:t>
            </a:r>
            <a:r>
              <a:rPr lang="zh-CN" altLang="en-US" dirty="0" smtClean="0"/>
              <a:t>数据包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发送数据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9552" y="2204864"/>
            <a:ext cx="81724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byte[] data </a:t>
            </a: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= ...;</a:t>
            </a:r>
            <a:endParaRPr lang="en-US" altLang="zh-CN" dirty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endParaRPr lang="en-US" altLang="zh-CN" dirty="0" smtClean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data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</a:t>
            </a:r>
            <a:r>
              <a:rPr lang="en-US" altLang="zh-CN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dirty="0" err="1">
                <a:solidFill>
                  <a:srgbClr val="330099"/>
                </a:solidFill>
                <a:latin typeface="Courier New" panose="02070309020205020404" pitchFamily="49" charset="0"/>
              </a:rPr>
              <a:t>length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host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port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3861048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dirty="0" err="1">
                <a:solidFill>
                  <a:srgbClr val="330099"/>
                </a:solidFill>
                <a:latin typeface="Courier New" panose="02070309020205020404" pitchFamily="49" charset="0"/>
              </a:rPr>
              <a:t>send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65638" y="6423952"/>
            <a:ext cx="1978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DaytimeUDPServer</a:t>
            </a:r>
          </a:p>
        </p:txBody>
      </p:sp>
    </p:spTree>
    <p:extLst>
      <p:ext uri="{BB962C8B-B14F-4D97-AF65-F5344CB8AC3E}">
        <p14:creationId xmlns:p14="http://schemas.microsoft.com/office/powerpoint/2010/main" xmlns="" val="112627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8761413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95536" y="3356992"/>
            <a:ext cx="7560840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4869160"/>
            <a:ext cx="756084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331640" y="5157192"/>
            <a:ext cx="756084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370887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259632" y="2132856"/>
            <a:ext cx="741682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9632" y="2636912"/>
            <a:ext cx="741682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DatagramPacket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786" y="1556792"/>
            <a:ext cx="8671214" cy="5135336"/>
          </a:xfrm>
        </p:spPr>
        <p:txBody>
          <a:bodyPr/>
          <a:lstStyle/>
          <a:p>
            <a:r>
              <a:rPr lang="zh-CN" altLang="en-US" dirty="0" smtClean="0"/>
              <a:t>接收数据包构造方法</a:t>
            </a:r>
            <a:endParaRPr lang="en-US" altLang="zh-CN" dirty="0" smtClean="0"/>
          </a:p>
          <a:p>
            <a:pPr lvl="1"/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buffer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length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buffer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offset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length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大部分系统支持的数据包大小为</a:t>
            </a:r>
            <a:r>
              <a:rPr lang="en-US" altLang="zh-CN" dirty="0" smtClean="0"/>
              <a:t>8K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一般不要超过</a:t>
            </a:r>
            <a:r>
              <a:rPr lang="en-US" altLang="zh-CN" dirty="0" smtClean="0"/>
              <a:t>8K</a:t>
            </a:r>
            <a:r>
              <a:rPr lang="zh-CN" altLang="en-US" dirty="0" smtClean="0"/>
              <a:t>，虽然</a:t>
            </a:r>
            <a:r>
              <a:rPr lang="en-US" altLang="zh-CN" dirty="0" smtClean="0"/>
              <a:t>IPv4</a:t>
            </a:r>
            <a:r>
              <a:rPr lang="zh-CN" altLang="en-US" dirty="0" smtClean="0"/>
              <a:t>的理论值为</a:t>
            </a:r>
            <a:r>
              <a:rPr lang="en-US" altLang="zh-CN" dirty="0" smtClean="0"/>
              <a:t>65,507</a:t>
            </a:r>
            <a:r>
              <a:rPr lang="zh-CN" altLang="en-US" dirty="0" smtClean="0"/>
              <a:t>（</a:t>
            </a:r>
            <a:r>
              <a:rPr lang="en-US" altLang="zh-CN" dirty="0"/>
              <a:t>IPv6 </a:t>
            </a:r>
            <a:r>
              <a:rPr lang="en-US" altLang="zh-CN" dirty="0" smtClean="0"/>
              <a:t>65,536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423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DatagramPacket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发送</a:t>
            </a:r>
            <a:r>
              <a:rPr lang="zh-CN" altLang="en-US" dirty="0" smtClean="0"/>
              <a:t>数据包对象创建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2276872"/>
            <a:ext cx="8034383" cy="202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2858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发送数据报实例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1916832"/>
            <a:ext cx="77768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String s = “This is a test”;</a:t>
            </a:r>
          </a:p>
          <a:p>
            <a:r>
              <a:rPr lang="en-US" altLang="zh-CN" dirty="0" smtClean="0"/>
              <a:t>byte[] data = </a:t>
            </a:r>
            <a:r>
              <a:rPr lang="en-US" altLang="zh-CN" dirty="0" err="1" smtClean="0"/>
              <a:t>s.getBytes</a:t>
            </a:r>
            <a:r>
              <a:rPr lang="en-US" altLang="zh-CN" dirty="0" smtClean="0"/>
              <a:t>(“UTF-8”);</a:t>
            </a:r>
          </a:p>
          <a:p>
            <a:r>
              <a:rPr lang="en-US" altLang="zh-CN" dirty="0" smtClean="0"/>
              <a:t>try {</a:t>
            </a:r>
          </a:p>
          <a:p>
            <a:r>
              <a:rPr lang="en-US" altLang="zh-CN" dirty="0" err="1" smtClean="0"/>
              <a:t>InetAddress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ia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InetAddress.getByname</a:t>
            </a:r>
            <a:r>
              <a:rPr lang="en-US" altLang="zh-CN" dirty="0" smtClean="0"/>
              <a:t>(“www.ibiblio.org”);</a:t>
            </a:r>
          </a:p>
          <a:p>
            <a:r>
              <a:rPr lang="en-US" altLang="zh-CN" dirty="0" smtClean="0"/>
              <a:t>int port = 7;</a:t>
            </a:r>
          </a:p>
          <a:p>
            <a:r>
              <a:rPr lang="en-US" altLang="zh-CN" dirty="0" err="1" smtClean="0"/>
              <a:t>DatagrammPacket</a:t>
            </a:r>
            <a:r>
              <a:rPr lang="en-US" altLang="zh-CN" dirty="0" smtClean="0"/>
              <a:t> dp = new DatagramPacket(data, </a:t>
            </a:r>
            <a:r>
              <a:rPr lang="en-US" altLang="zh-CN" dirty="0" err="1" smtClean="0"/>
              <a:t>data.length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ia</a:t>
            </a:r>
            <a:r>
              <a:rPr lang="en-US" altLang="zh-CN" dirty="0" smtClean="0"/>
              <a:t>, port);</a:t>
            </a:r>
          </a:p>
          <a:p>
            <a:r>
              <a:rPr lang="en-US" altLang="zh-CN" dirty="0" smtClean="0"/>
              <a:t>} catch (</a:t>
            </a:r>
            <a:r>
              <a:rPr lang="en-US" altLang="zh-CN" dirty="0" err="1" smtClean="0"/>
              <a:t>IOException</a:t>
            </a:r>
            <a:r>
              <a:rPr lang="en-US" altLang="zh-CN" dirty="0" smtClean="0"/>
              <a:t> ex)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UTF-8</a:t>
            </a:r>
            <a:r>
              <a:rPr lang="zh-CN" altLang="en-US" dirty="0" smtClean="0"/>
              <a:t>编码的数据，发送到</a:t>
            </a:r>
            <a:r>
              <a:rPr lang="en-US" altLang="zh-CN" dirty="0" smtClean="0"/>
              <a:t>www.iboblio.org</a:t>
            </a:r>
            <a:r>
              <a:rPr lang="zh-CN" altLang="en-US" dirty="0" smtClean="0"/>
              <a:t>的主机 </a:t>
            </a:r>
            <a:r>
              <a:rPr lang="en-US" altLang="zh-CN" dirty="0" smtClean="0"/>
              <a:t>7</a:t>
            </a:r>
            <a:r>
              <a:rPr lang="zh-CN" altLang="en-US" dirty="0" smtClean="0"/>
              <a:t>号端口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8591204" cy="69311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DatagramPacket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Getter &amp; Setter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1772816"/>
            <a:ext cx="3118750" cy="359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/>
          <a:srcRect r="21359"/>
          <a:stretch/>
        </p:blipFill>
        <p:spPr>
          <a:xfrm>
            <a:off x="4211960" y="1700808"/>
            <a:ext cx="4509823" cy="388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803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public void setData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700808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用法：</a:t>
            </a:r>
            <a:r>
              <a:rPr lang="en-US" altLang="zh-CN" sz="2400" dirty="0" smtClean="0"/>
              <a:t>public void setData(byte[] data, int offset, int length)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79512" y="2492896"/>
            <a:ext cx="88204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offset = 0;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DatagramPacket dp = new DatagramPacket(bigarray, offset, 512);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 bytesSent =0 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while (bytesSent &lt;bigarray.length){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socket.send(dp);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bytesSent + = dp.getLength();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bytesToSend = bigarray.length –bytesSent;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size = (bytesToSend &gt;512)? 512: bytesToSend;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dp. setData(bigarray, bytesSent,size);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}  </a:t>
            </a:r>
            <a:endParaRPr lang="zh-CN" altLang="en-US" sz="20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DatagramSocket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构造方法</a:t>
            </a:r>
            <a:endParaRPr lang="en-US" altLang="zh-CN" dirty="0" smtClean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DatagramSocket</a:t>
            </a:r>
            <a:r>
              <a:rPr lang="en-US" altLang="zh-CN" sz="2000" dirty="0"/>
              <a:t>() throws </a:t>
            </a:r>
            <a:r>
              <a:rPr lang="en-US" altLang="zh-CN" sz="2000" dirty="0" err="1" smtClean="0"/>
              <a:t>SocketException</a:t>
            </a:r>
            <a:endParaRPr lang="en-US" altLang="zh-CN" sz="2000" dirty="0" smtClean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DatagramSocket</a:t>
            </a:r>
            <a:r>
              <a:rPr lang="en-US" altLang="zh-CN" sz="2000" dirty="0"/>
              <a:t>(int port) throws </a:t>
            </a:r>
            <a:r>
              <a:rPr lang="en-US" altLang="zh-CN" sz="2000" dirty="0" err="1" smtClean="0"/>
              <a:t>SocketException</a:t>
            </a:r>
            <a:endParaRPr lang="en-US" altLang="zh-CN" sz="2000" dirty="0" smtClean="0"/>
          </a:p>
          <a:p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319511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44824"/>
            <a:ext cx="7999413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259632" y="3789040"/>
            <a:ext cx="59766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9632" y="4005064"/>
            <a:ext cx="59766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DatagramSocket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/>
              <a:t>属性设置</a:t>
            </a:r>
            <a:endParaRPr lang="en-US" altLang="zh-CN" dirty="0" smtClean="0"/>
          </a:p>
          <a:p>
            <a:r>
              <a:rPr lang="en-US" altLang="zh-CN" dirty="0" smtClean="0"/>
              <a:t>SO_TIMEOUT</a:t>
            </a:r>
            <a:r>
              <a:rPr lang="zh-CN" altLang="en-US" dirty="0" smtClean="0"/>
              <a:t>：超时</a:t>
            </a:r>
            <a:endParaRPr lang="en-US" altLang="zh-CN" dirty="0"/>
          </a:p>
          <a:p>
            <a:r>
              <a:rPr lang="en-US" altLang="zh-CN" dirty="0" smtClean="0"/>
              <a:t>SO_RCVBUF</a:t>
            </a:r>
            <a:r>
              <a:rPr lang="zh-CN" altLang="en-US" dirty="0" smtClean="0"/>
              <a:t>：接收缓存大小</a:t>
            </a:r>
            <a:endParaRPr lang="en-US" altLang="zh-CN" dirty="0"/>
          </a:p>
          <a:p>
            <a:r>
              <a:rPr lang="en-US" altLang="zh-CN" dirty="0" smtClean="0"/>
              <a:t>SO_SNDBUF</a:t>
            </a:r>
            <a:r>
              <a:rPr lang="zh-CN" altLang="en-US" dirty="0" smtClean="0"/>
              <a:t>：发送缓存大小</a:t>
            </a:r>
            <a:endParaRPr lang="en-US" altLang="zh-CN" dirty="0"/>
          </a:p>
          <a:p>
            <a:r>
              <a:rPr lang="en-US" altLang="zh-CN" dirty="0" smtClean="0"/>
              <a:t>SO_REUSEADDR</a:t>
            </a:r>
            <a:r>
              <a:rPr lang="zh-CN" altLang="en-US" dirty="0" smtClean="0"/>
              <a:t>：多个</a:t>
            </a:r>
            <a:r>
              <a:rPr lang="en-US" altLang="zh-CN" dirty="0" err="1" smtClean="0"/>
              <a:t>DatagramSocket</a:t>
            </a:r>
            <a:r>
              <a:rPr lang="zh-CN" altLang="en-US" dirty="0" smtClean="0"/>
              <a:t>绑定到同一个网络界面和端口</a:t>
            </a:r>
            <a:endParaRPr lang="en-US" altLang="zh-CN" dirty="0"/>
          </a:p>
          <a:p>
            <a:r>
              <a:rPr lang="en-US" altLang="zh-CN" dirty="0" smtClean="0"/>
              <a:t>SO_BROADCAST</a:t>
            </a:r>
            <a:r>
              <a:rPr lang="zh-CN" altLang="en-US" dirty="0" smtClean="0"/>
              <a:t>：发送到广播地址和从广播地址接收</a:t>
            </a:r>
            <a:endParaRPr lang="en-US" altLang="zh-CN" dirty="0"/>
          </a:p>
          <a:p>
            <a:r>
              <a:rPr lang="en-US" altLang="zh-CN" dirty="0" smtClean="0"/>
              <a:t>IP_TOS</a:t>
            </a:r>
            <a:r>
              <a:rPr lang="zh-CN" altLang="en-US" dirty="0" smtClean="0"/>
              <a:t>：数据包的优先级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0972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862</TotalTime>
  <Words>5312</Words>
  <Application>Microsoft Office PowerPoint</Application>
  <PresentationFormat>全屏显示(4:3)</PresentationFormat>
  <Paragraphs>911</Paragraphs>
  <Slides>107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107</vt:i4>
      </vt:variant>
    </vt:vector>
  </HeadingPairs>
  <TitlesOfParts>
    <vt:vector size="108" baseType="lpstr">
      <vt:lpstr>中性</vt:lpstr>
      <vt:lpstr>                       Revision</vt:lpstr>
      <vt:lpstr>内容</vt:lpstr>
      <vt:lpstr>进程与线程（1）</vt:lpstr>
      <vt:lpstr>进程与线程（2）</vt:lpstr>
      <vt:lpstr>进程与线程（3）</vt:lpstr>
      <vt:lpstr>从多进程到多线程</vt:lpstr>
      <vt:lpstr>java多线程编程</vt:lpstr>
      <vt:lpstr>运行线程：方法1</vt:lpstr>
      <vt:lpstr>运行线程：方法2</vt:lpstr>
      <vt:lpstr>从线程返回信息</vt:lpstr>
      <vt:lpstr>从线程返回信息</vt:lpstr>
      <vt:lpstr>从线程返回信息</vt:lpstr>
      <vt:lpstr>从线程返回信息</vt:lpstr>
      <vt:lpstr>从线程返回信息</vt:lpstr>
      <vt:lpstr>从线程返回信息</vt:lpstr>
      <vt:lpstr>同步</vt:lpstr>
      <vt:lpstr>同步块</vt:lpstr>
      <vt:lpstr>同步块</vt:lpstr>
      <vt:lpstr>同步块</vt:lpstr>
      <vt:lpstr>同步块</vt:lpstr>
      <vt:lpstr>同步方法</vt:lpstr>
      <vt:lpstr>同步带来的问题</vt:lpstr>
      <vt:lpstr>死锁(deadlock)</vt:lpstr>
      <vt:lpstr>死锁举例（1）</vt:lpstr>
      <vt:lpstr>死锁举例（2）</vt:lpstr>
      <vt:lpstr>死锁举例（3）</vt:lpstr>
      <vt:lpstr>同步的替代方式</vt:lpstr>
      <vt:lpstr>线程优先级</vt:lpstr>
      <vt:lpstr>举例</vt:lpstr>
      <vt:lpstr>连接线程(join)</vt:lpstr>
      <vt:lpstr>线程池</vt:lpstr>
      <vt:lpstr>类图：Executor框架</vt:lpstr>
      <vt:lpstr>Executor框架</vt:lpstr>
      <vt:lpstr>编程应用问题场景:压缩文件</vt:lpstr>
      <vt:lpstr>使用线程池实现压缩文件编程</vt:lpstr>
      <vt:lpstr>使用线程池实现压缩文件编程</vt:lpstr>
      <vt:lpstr>InetAddress类</vt:lpstr>
      <vt:lpstr>InetAddress类</vt:lpstr>
      <vt:lpstr>创建方法</vt:lpstr>
      <vt:lpstr>getLocalhost方法</vt:lpstr>
      <vt:lpstr>getLocalhost举例</vt:lpstr>
      <vt:lpstr>getByName</vt:lpstr>
      <vt:lpstr>getByName方法</vt:lpstr>
      <vt:lpstr>getByName实例(1)</vt:lpstr>
      <vt:lpstr>getByName实例（2）</vt:lpstr>
      <vt:lpstr>getByName实例（3）</vt:lpstr>
      <vt:lpstr>getByName实例（4）</vt:lpstr>
      <vt:lpstr>getAllByName方法</vt:lpstr>
      <vt:lpstr>getAllByName实例</vt:lpstr>
      <vt:lpstr>getByAddress</vt:lpstr>
      <vt:lpstr>getByAddress实例</vt:lpstr>
      <vt:lpstr>URL类</vt:lpstr>
      <vt:lpstr>URL类：协议支持</vt:lpstr>
      <vt:lpstr>字符串构造URL</vt:lpstr>
      <vt:lpstr>分块构造URL</vt:lpstr>
      <vt:lpstr>构造相对URL</vt:lpstr>
      <vt:lpstr>从URL获取数据</vt:lpstr>
      <vt:lpstr>从URL获取数据：openStream</vt:lpstr>
      <vt:lpstr>从URL获取数据：openConnection</vt:lpstr>
      <vt:lpstr>从URL获取数据：openConnection</vt:lpstr>
      <vt:lpstr>从URL获取数据：getContent</vt:lpstr>
      <vt:lpstr>URI</vt:lpstr>
      <vt:lpstr>URI语法</vt:lpstr>
      <vt:lpstr>URI构造方法</vt:lpstr>
      <vt:lpstr>URI格式</vt:lpstr>
      <vt:lpstr>相对URI的解析</vt:lpstr>
      <vt:lpstr>绝对URI转相对URI</vt:lpstr>
      <vt:lpstr>URLConnection</vt:lpstr>
      <vt:lpstr>URLConnection类的使用步骤</vt:lpstr>
      <vt:lpstr>创建URLConnection对象</vt:lpstr>
      <vt:lpstr>读取服务器的数据</vt:lpstr>
      <vt:lpstr>幻灯片 72</vt:lpstr>
      <vt:lpstr>URL与URLConnection区别</vt:lpstr>
      <vt:lpstr>一个HTTP服务器响应的头部信息</vt:lpstr>
      <vt:lpstr>头字段信息获取的方法</vt:lpstr>
      <vt:lpstr>头部字段</vt:lpstr>
      <vt:lpstr>getContentLength()</vt:lpstr>
      <vt:lpstr>具体实现（3）</vt:lpstr>
      <vt:lpstr>具体实现（4）</vt:lpstr>
      <vt:lpstr>Web页面下载(考虑字符编码)</vt:lpstr>
      <vt:lpstr>Java的Web缓存</vt:lpstr>
      <vt:lpstr>Java的Web缓存-- CacheRequest类</vt:lpstr>
      <vt:lpstr>自定义CacheRequest子类</vt:lpstr>
      <vt:lpstr>Java的Web缓存-- CacheResponse类</vt:lpstr>
      <vt:lpstr>自定义CacheResponse子类</vt:lpstr>
      <vt:lpstr>Java的Web缓存-- ResponseCache类</vt:lpstr>
      <vt:lpstr>协议处理框架</vt:lpstr>
      <vt:lpstr>协议处理框架</vt:lpstr>
      <vt:lpstr>URL和URLConnection的关联</vt:lpstr>
      <vt:lpstr>UDP</vt:lpstr>
      <vt:lpstr>UDP</vt:lpstr>
      <vt:lpstr>UDP</vt:lpstr>
      <vt:lpstr>UDP客户端</vt:lpstr>
      <vt:lpstr>UDP客户端</vt:lpstr>
      <vt:lpstr>幻灯片 95</vt:lpstr>
      <vt:lpstr>UDP服务器</vt:lpstr>
      <vt:lpstr>UDP服务器</vt:lpstr>
      <vt:lpstr>幻灯片 98</vt:lpstr>
      <vt:lpstr>幻灯片 99</vt:lpstr>
      <vt:lpstr>DatagramPacket</vt:lpstr>
      <vt:lpstr>DatagramPacket</vt:lpstr>
      <vt:lpstr>发送数据报实例</vt:lpstr>
      <vt:lpstr>DatagramPacket：Getter &amp; Setter</vt:lpstr>
      <vt:lpstr>public void setData</vt:lpstr>
      <vt:lpstr>DatagramSocket</vt:lpstr>
      <vt:lpstr>幻灯片 106</vt:lpstr>
      <vt:lpstr>DatagramSocket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dell</cp:lastModifiedBy>
  <cp:revision>127</cp:revision>
  <dcterms:modified xsi:type="dcterms:W3CDTF">2019-06-13T04:18:30Z</dcterms:modified>
</cp:coreProperties>
</file>