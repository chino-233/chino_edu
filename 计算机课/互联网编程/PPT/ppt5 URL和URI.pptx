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9"/>
  </p:notesMasterIdLst>
  <p:sldIdLst>
    <p:sldId id="256" r:id="rId2"/>
    <p:sldId id="347" r:id="rId3"/>
    <p:sldId id="369" r:id="rId4"/>
    <p:sldId id="402" r:id="rId5"/>
    <p:sldId id="370" r:id="rId6"/>
    <p:sldId id="371" r:id="rId7"/>
    <p:sldId id="372" r:id="rId8"/>
    <p:sldId id="373" r:id="rId9"/>
    <p:sldId id="403" r:id="rId10"/>
    <p:sldId id="374" r:id="rId11"/>
    <p:sldId id="375" r:id="rId12"/>
    <p:sldId id="376" r:id="rId13"/>
    <p:sldId id="377" r:id="rId14"/>
    <p:sldId id="378" r:id="rId15"/>
    <p:sldId id="404" r:id="rId16"/>
    <p:sldId id="406" r:id="rId17"/>
    <p:sldId id="407" r:id="rId18"/>
    <p:sldId id="408" r:id="rId19"/>
    <p:sldId id="409" r:id="rId20"/>
    <p:sldId id="410" r:id="rId21"/>
    <p:sldId id="411" r:id="rId22"/>
    <p:sldId id="381" r:id="rId23"/>
    <p:sldId id="412" r:id="rId24"/>
    <p:sldId id="413" r:id="rId25"/>
    <p:sldId id="382" r:id="rId26"/>
    <p:sldId id="414" r:id="rId27"/>
    <p:sldId id="415" r:id="rId28"/>
    <p:sldId id="416" r:id="rId29"/>
    <p:sldId id="417" r:id="rId30"/>
    <p:sldId id="418" r:id="rId31"/>
    <p:sldId id="419" r:id="rId32"/>
    <p:sldId id="420" r:id="rId33"/>
    <p:sldId id="421" r:id="rId34"/>
    <p:sldId id="423" r:id="rId35"/>
    <p:sldId id="426" r:id="rId36"/>
    <p:sldId id="399" r:id="rId37"/>
    <p:sldId id="388" r:id="rId38"/>
    <p:sldId id="425" r:id="rId39"/>
    <p:sldId id="427" r:id="rId40"/>
    <p:sldId id="428" r:id="rId41"/>
    <p:sldId id="429" r:id="rId42"/>
    <p:sldId id="430" r:id="rId43"/>
    <p:sldId id="431" r:id="rId44"/>
    <p:sldId id="432" r:id="rId45"/>
    <p:sldId id="433" r:id="rId46"/>
    <p:sldId id="434" r:id="rId47"/>
    <p:sldId id="435" r:id="rId48"/>
    <p:sldId id="446" r:id="rId49"/>
    <p:sldId id="437" r:id="rId50"/>
    <p:sldId id="438" r:id="rId51"/>
    <p:sldId id="439" r:id="rId52"/>
    <p:sldId id="440" r:id="rId53"/>
    <p:sldId id="441" r:id="rId54"/>
    <p:sldId id="442" r:id="rId55"/>
    <p:sldId id="443" r:id="rId56"/>
    <p:sldId id="444" r:id="rId57"/>
    <p:sldId id="445" r:id="rId5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5" d="100"/>
          <a:sy n="155" d="100"/>
        </p:scale>
        <p:origin x="-22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BF99B-FB83-4451-8B3A-3AA4058B0A25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DD088-3A57-4AAD-8514-636C7E100E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D657A58-848B-48C3-ADA6-D7FEE47A5B46}" type="slidenum">
              <a:rPr lang="en-US" altLang="zh-CN"/>
              <a:pPr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26484AE-19AC-4E75-8656-3D86E892CC4F}" type="slidenum">
              <a:rPr lang="en-US" altLang="zh-CN"/>
              <a:pPr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E83D9B4-FDDC-4336-8D78-1C04F2B24081}" type="slidenum">
              <a:rPr lang="en-US" altLang="zh-CN"/>
              <a:pPr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135FE4C-A41A-49DB-9013-468163A93016}" type="slidenum">
              <a:rPr lang="en-US" altLang="zh-CN"/>
              <a:pPr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E0663B2-B766-4C54-A600-138DA83F2EBB}" type="slidenum">
              <a:rPr lang="en-US" altLang="zh-CN"/>
              <a:pPr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2024/5/9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ff.org/blueribbon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zu.edu.cn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oreilly.com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admin@www.blackstar.com:8080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reilly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oreilly.com/index.html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83768" y="3861048"/>
            <a:ext cx="6660232" cy="18288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                       </a:t>
            </a:r>
            <a:r>
              <a:rPr lang="en-US" altLang="zh-CN" dirty="0" smtClean="0"/>
              <a:t>URL</a:t>
            </a:r>
            <a:r>
              <a:rPr lang="zh-CN" altLang="en-US" dirty="0" smtClean="0"/>
              <a:t>和</a:t>
            </a:r>
            <a:r>
              <a:rPr lang="en-US" altLang="zh-CN" dirty="0" smtClean="0"/>
              <a:t>URI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周宇          </a:t>
            </a:r>
            <a:r>
              <a:rPr lang="zh-CN" altLang="en-US" dirty="0" smtClean="0"/>
              <a:t>副教授            </a:t>
            </a:r>
            <a:r>
              <a:rPr lang="zh-CN" altLang="en-US" dirty="0" smtClean="0"/>
              <a:t>深圳大学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URL</a:t>
            </a:r>
          </a:p>
          <a:p>
            <a:r>
              <a:rPr lang="en-US" altLang="zh-CN" dirty="0" smtClean="0"/>
              <a:t>URI</a:t>
            </a:r>
          </a:p>
        </p:txBody>
      </p:sp>
    </p:spTree>
    <p:extLst>
      <p:ext uri="{BB962C8B-B14F-4D97-AF65-F5344CB8AC3E}">
        <p14:creationId xmlns="" xmlns:p14="http://schemas.microsoft.com/office/powerpoint/2010/main" val="265947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URI&amp;URL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URI</a:t>
            </a:r>
            <a:r>
              <a:rPr lang="zh-CN" altLang="en-US" dirty="0" smtClean="0"/>
              <a:t>：</a:t>
            </a:r>
            <a:r>
              <a:rPr lang="en-US" altLang="zh-CN" dirty="0" smtClean="0"/>
              <a:t>Uniform Resource Identifier</a:t>
            </a:r>
          </a:p>
          <a:p>
            <a:r>
              <a:rPr lang="en-US" altLang="zh-CN" dirty="0" smtClean="0"/>
              <a:t>URL</a:t>
            </a:r>
            <a:r>
              <a:rPr lang="zh-CN" altLang="en-US" dirty="0" smtClean="0"/>
              <a:t>：</a:t>
            </a:r>
            <a:r>
              <a:rPr lang="en-US" altLang="zh-CN" dirty="0"/>
              <a:t>Uniform Resource </a:t>
            </a:r>
            <a:r>
              <a:rPr lang="en-US" altLang="zh-CN" dirty="0" smtClean="0"/>
              <a:t>Locator</a:t>
            </a:r>
          </a:p>
          <a:p>
            <a:r>
              <a:rPr lang="en-US" altLang="zh-CN" dirty="0" smtClean="0"/>
              <a:t>URL</a:t>
            </a:r>
            <a:r>
              <a:rPr lang="zh-CN" altLang="en-US" dirty="0" smtClean="0"/>
              <a:t>除了标识资源，还为资源提供位置</a:t>
            </a:r>
            <a:endParaRPr lang="en-US" altLang="zh-CN" dirty="0" smtClean="0"/>
          </a:p>
          <a:p>
            <a:endParaRPr lang="zh-CN" altLang="en-US" dirty="0"/>
          </a:p>
        </p:txBody>
      </p:sp>
      <p:grpSp>
        <p:nvGrpSpPr>
          <p:cNvPr id="4" name="Group 82"/>
          <p:cNvGrpSpPr>
            <a:grpSpLocks/>
          </p:cNvGrpSpPr>
          <p:nvPr/>
        </p:nvGrpSpPr>
        <p:grpSpPr bwMode="auto">
          <a:xfrm>
            <a:off x="291776" y="3500438"/>
            <a:ext cx="1524000" cy="1524000"/>
            <a:chOff x="240" y="2112"/>
            <a:chExt cx="1004" cy="960"/>
          </a:xfrm>
        </p:grpSpPr>
        <p:sp>
          <p:nvSpPr>
            <p:cNvPr id="36" name="Rectangle 83"/>
            <p:cNvSpPr>
              <a:spLocks noChangeArrowheads="1"/>
            </p:cNvSpPr>
            <p:nvPr/>
          </p:nvSpPr>
          <p:spPr bwMode="auto">
            <a:xfrm>
              <a:off x="240" y="2112"/>
              <a:ext cx="528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/>
            </a:p>
          </p:txBody>
        </p:sp>
        <p:sp>
          <p:nvSpPr>
            <p:cNvPr id="37" name="AutoShape 84"/>
            <p:cNvSpPr>
              <a:spLocks/>
            </p:cNvSpPr>
            <p:nvPr/>
          </p:nvSpPr>
          <p:spPr bwMode="auto">
            <a:xfrm>
              <a:off x="336" y="2688"/>
              <a:ext cx="908" cy="384"/>
            </a:xfrm>
            <a:prstGeom prst="borderCallout1">
              <a:avLst>
                <a:gd name="adj1" fmla="val 18750"/>
                <a:gd name="adj2" fmla="val -5287"/>
                <a:gd name="adj3" fmla="val -48958"/>
                <a:gd name="adj4" fmla="val -5727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Protocol</a:t>
              </a:r>
            </a:p>
          </p:txBody>
        </p:sp>
      </p:grpSp>
      <p:grpSp>
        <p:nvGrpSpPr>
          <p:cNvPr id="5" name="Group 85"/>
          <p:cNvGrpSpPr>
            <a:grpSpLocks/>
          </p:cNvGrpSpPr>
          <p:nvPr/>
        </p:nvGrpSpPr>
        <p:grpSpPr bwMode="auto">
          <a:xfrm>
            <a:off x="457837" y="3500438"/>
            <a:ext cx="2656303" cy="2590800"/>
            <a:chOff x="530" y="2352"/>
            <a:chExt cx="2254" cy="1632"/>
          </a:xfrm>
        </p:grpSpPr>
        <p:sp>
          <p:nvSpPr>
            <p:cNvPr id="39" name="Rectangle 86"/>
            <p:cNvSpPr>
              <a:spLocks noChangeArrowheads="1"/>
            </p:cNvSpPr>
            <p:nvPr/>
          </p:nvSpPr>
          <p:spPr bwMode="auto">
            <a:xfrm>
              <a:off x="1104" y="2352"/>
              <a:ext cx="1680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/>
            </a:p>
          </p:txBody>
        </p:sp>
        <p:sp>
          <p:nvSpPr>
            <p:cNvPr id="40" name="AutoShape 87"/>
            <p:cNvSpPr>
              <a:spLocks/>
            </p:cNvSpPr>
            <p:nvPr/>
          </p:nvSpPr>
          <p:spPr bwMode="auto">
            <a:xfrm>
              <a:off x="530" y="3408"/>
              <a:ext cx="895" cy="576"/>
            </a:xfrm>
            <a:prstGeom prst="borderCallout1">
              <a:avLst>
                <a:gd name="adj1" fmla="val 12500"/>
                <a:gd name="adj2" fmla="val 106630"/>
                <a:gd name="adj3" fmla="val -116667"/>
                <a:gd name="adj4" fmla="val 117819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Host Name</a:t>
              </a:r>
            </a:p>
          </p:txBody>
        </p:sp>
      </p:grpSp>
      <p:grpSp>
        <p:nvGrpSpPr>
          <p:cNvPr id="6" name="Group 98"/>
          <p:cNvGrpSpPr>
            <a:grpSpLocks/>
          </p:cNvGrpSpPr>
          <p:nvPr/>
        </p:nvGrpSpPr>
        <p:grpSpPr bwMode="auto">
          <a:xfrm>
            <a:off x="1721313" y="3506788"/>
            <a:ext cx="1873250" cy="2538412"/>
            <a:chOff x="1519" y="2209"/>
            <a:chExt cx="1180" cy="1599"/>
          </a:xfrm>
        </p:grpSpPr>
        <p:sp>
          <p:nvSpPr>
            <p:cNvPr id="42" name="Rectangle 89"/>
            <p:cNvSpPr>
              <a:spLocks noChangeArrowheads="1"/>
            </p:cNvSpPr>
            <p:nvPr/>
          </p:nvSpPr>
          <p:spPr bwMode="auto">
            <a:xfrm>
              <a:off x="2438" y="2209"/>
              <a:ext cx="261" cy="373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/>
            </a:p>
          </p:txBody>
        </p:sp>
        <p:sp>
          <p:nvSpPr>
            <p:cNvPr id="43" name="AutoShape 90"/>
            <p:cNvSpPr>
              <a:spLocks/>
            </p:cNvSpPr>
            <p:nvPr/>
          </p:nvSpPr>
          <p:spPr bwMode="auto">
            <a:xfrm>
              <a:off x="1519" y="3249"/>
              <a:ext cx="862" cy="559"/>
            </a:xfrm>
            <a:prstGeom prst="borderCallout1">
              <a:avLst>
                <a:gd name="adj1" fmla="val 12880"/>
                <a:gd name="adj2" fmla="val 105569"/>
                <a:gd name="adj3" fmla="val -117708"/>
                <a:gd name="adj4" fmla="val 121116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200">
                  <a:solidFill>
                    <a:srgbClr val="CC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Port Number</a:t>
              </a:r>
            </a:p>
          </p:txBody>
        </p:sp>
      </p:grpSp>
      <p:grpSp>
        <p:nvGrpSpPr>
          <p:cNvPr id="7" name="Group 91"/>
          <p:cNvGrpSpPr>
            <a:grpSpLocks/>
          </p:cNvGrpSpPr>
          <p:nvPr/>
        </p:nvGrpSpPr>
        <p:grpSpPr bwMode="auto">
          <a:xfrm>
            <a:off x="3314256" y="3502025"/>
            <a:ext cx="2998290" cy="2590800"/>
            <a:chOff x="2880" y="2352"/>
            <a:chExt cx="1632" cy="1632"/>
          </a:xfrm>
        </p:grpSpPr>
        <p:sp>
          <p:nvSpPr>
            <p:cNvPr id="45" name="Rectangle 92"/>
            <p:cNvSpPr>
              <a:spLocks noChangeArrowheads="1"/>
            </p:cNvSpPr>
            <p:nvPr/>
          </p:nvSpPr>
          <p:spPr bwMode="auto">
            <a:xfrm>
              <a:off x="3072" y="2352"/>
              <a:ext cx="1440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/>
            </a:p>
          </p:txBody>
        </p:sp>
        <p:sp>
          <p:nvSpPr>
            <p:cNvPr id="46" name="AutoShape 93"/>
            <p:cNvSpPr>
              <a:spLocks/>
            </p:cNvSpPr>
            <p:nvPr/>
          </p:nvSpPr>
          <p:spPr bwMode="auto">
            <a:xfrm>
              <a:off x="2880" y="3408"/>
              <a:ext cx="940" cy="576"/>
            </a:xfrm>
            <a:prstGeom prst="borderCallout1">
              <a:avLst>
                <a:gd name="adj1" fmla="val 12500"/>
                <a:gd name="adj2" fmla="val 107694"/>
                <a:gd name="adj3" fmla="val -115106"/>
                <a:gd name="adj4" fmla="val 158014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CC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Path &amp; File Name</a:t>
              </a:r>
            </a:p>
          </p:txBody>
        </p:sp>
      </p:grpSp>
      <p:grpSp>
        <p:nvGrpSpPr>
          <p:cNvPr id="8" name="Group 97"/>
          <p:cNvGrpSpPr>
            <a:grpSpLocks/>
          </p:cNvGrpSpPr>
          <p:nvPr/>
        </p:nvGrpSpPr>
        <p:grpSpPr bwMode="auto">
          <a:xfrm>
            <a:off x="5958177" y="3500438"/>
            <a:ext cx="3006493" cy="2438400"/>
            <a:chOff x="3243" y="2205"/>
            <a:chExt cx="2366" cy="1536"/>
          </a:xfrm>
        </p:grpSpPr>
        <p:sp>
          <p:nvSpPr>
            <p:cNvPr id="48" name="Rectangle 95"/>
            <p:cNvSpPr>
              <a:spLocks noChangeArrowheads="1"/>
            </p:cNvSpPr>
            <p:nvPr/>
          </p:nvSpPr>
          <p:spPr bwMode="auto">
            <a:xfrm>
              <a:off x="4241" y="2205"/>
              <a:ext cx="1368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/>
            </a:p>
          </p:txBody>
        </p:sp>
        <p:sp>
          <p:nvSpPr>
            <p:cNvPr id="49" name="AutoShape 96"/>
            <p:cNvSpPr>
              <a:spLocks/>
            </p:cNvSpPr>
            <p:nvPr/>
          </p:nvSpPr>
          <p:spPr bwMode="auto">
            <a:xfrm>
              <a:off x="3243" y="3357"/>
              <a:ext cx="1663" cy="384"/>
            </a:xfrm>
            <a:prstGeom prst="borderCallout1">
              <a:avLst>
                <a:gd name="adj1" fmla="val 18750"/>
                <a:gd name="adj2" fmla="val 104745"/>
                <a:gd name="adj3" fmla="val -200000"/>
                <a:gd name="adj4" fmla="val 120750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Reference</a:t>
              </a:r>
            </a:p>
          </p:txBody>
        </p:sp>
      </p:grpSp>
      <p:grpSp>
        <p:nvGrpSpPr>
          <p:cNvPr id="9" name="Group 97"/>
          <p:cNvGrpSpPr>
            <a:grpSpLocks/>
          </p:cNvGrpSpPr>
          <p:nvPr/>
        </p:nvGrpSpPr>
        <p:grpSpPr bwMode="auto">
          <a:xfrm>
            <a:off x="5841771" y="3501455"/>
            <a:ext cx="1362050" cy="1669183"/>
            <a:chOff x="3450" y="2194"/>
            <a:chExt cx="2159" cy="1559"/>
          </a:xfrm>
        </p:grpSpPr>
        <p:sp>
          <p:nvSpPr>
            <p:cNvPr id="52" name="Rectangle 95"/>
            <p:cNvSpPr>
              <a:spLocks noChangeArrowheads="1"/>
            </p:cNvSpPr>
            <p:nvPr/>
          </p:nvSpPr>
          <p:spPr bwMode="auto">
            <a:xfrm>
              <a:off x="4241" y="2194"/>
              <a:ext cx="1368" cy="57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/>
            </a:p>
          </p:txBody>
        </p:sp>
        <p:sp>
          <p:nvSpPr>
            <p:cNvPr id="53" name="AutoShape 96"/>
            <p:cNvSpPr>
              <a:spLocks/>
            </p:cNvSpPr>
            <p:nvPr/>
          </p:nvSpPr>
          <p:spPr bwMode="auto">
            <a:xfrm>
              <a:off x="3450" y="3234"/>
              <a:ext cx="1859" cy="519"/>
            </a:xfrm>
            <a:prstGeom prst="borderCallout1">
              <a:avLst>
                <a:gd name="adj1" fmla="val 4779"/>
                <a:gd name="adj2" fmla="val 70910"/>
                <a:gd name="adj3" fmla="val -88227"/>
                <a:gd name="adj4" fmla="val 89857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 smtClean="0">
                  <a:solidFill>
                    <a:srgbClr val="CC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query</a:t>
              </a:r>
              <a:endParaRPr lang="en-US" altLang="zh-CN" sz="2400" dirty="0">
                <a:solidFill>
                  <a:srgbClr val="CC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  <p:sp>
        <p:nvSpPr>
          <p:cNvPr id="50" name="矩形 49"/>
          <p:cNvSpPr/>
          <p:nvPr/>
        </p:nvSpPr>
        <p:spPr>
          <a:xfrm>
            <a:off x="-124477" y="3625478"/>
            <a:ext cx="9144000" cy="38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80000"/>
              </a:lnSpc>
            </a:pPr>
            <a:r>
              <a:rPr lang="en-US" altLang="zh-CN" sz="2300" dirty="0" smtClean="0"/>
              <a:t>http://www.szu.edu.cn:80/path1/path2/index.jsp?q=szu#Networking</a:t>
            </a:r>
            <a:endParaRPr lang="en-US" altLang="zh-CN" sz="2300" dirty="0"/>
          </a:p>
        </p:txBody>
      </p:sp>
    </p:spTree>
    <p:extLst>
      <p:ext uri="{BB962C8B-B14F-4D97-AF65-F5344CB8AC3E}">
        <p14:creationId xmlns:p14="http://schemas.microsoft.com/office/powerpoint/2010/main" xmlns="" val="191088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URL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zh-CN" sz="2400" dirty="0" smtClean="0"/>
              <a:t>URL</a:t>
            </a:r>
            <a:r>
              <a:rPr lang="zh-CN" altLang="en-US" sz="2400" dirty="0" smtClean="0"/>
              <a:t>语法：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2400" dirty="0" smtClean="0"/>
              <a:t>protocal://userInfo@host:port/path?query#fragment</a:t>
            </a:r>
          </a:p>
          <a:p>
            <a:pPr>
              <a:buNone/>
            </a:pPr>
            <a:r>
              <a:rPr lang="zh-CN" altLang="en-US" sz="2400" dirty="0" smtClean="0"/>
              <a:t>协议包括：</a:t>
            </a:r>
            <a:r>
              <a:rPr lang="en-US" altLang="zh-CN" sz="2400" dirty="0" smtClean="0"/>
              <a:t>file, ftp, http, https, magnet, telnet</a:t>
            </a:r>
          </a:p>
          <a:p>
            <a:pPr>
              <a:buNone/>
            </a:pPr>
            <a:r>
              <a:rPr lang="en-US" altLang="zh-CN" sz="2400" dirty="0" smtClean="0"/>
              <a:t>host</a:t>
            </a:r>
            <a:r>
              <a:rPr lang="zh-CN" altLang="en-US" sz="2400" dirty="0" smtClean="0"/>
              <a:t>：可以是主机名，也可以是</a:t>
            </a:r>
            <a:r>
              <a:rPr lang="en-US" altLang="zh-CN" sz="2400" dirty="0" smtClean="0"/>
              <a:t>IP</a:t>
            </a:r>
            <a:r>
              <a:rPr lang="zh-CN" altLang="en-US" sz="2400" dirty="0" smtClean="0"/>
              <a:t>地址。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b="1" dirty="0" smtClean="0"/>
              <a:t>用户信息</a:t>
            </a:r>
            <a:r>
              <a:rPr lang="en-US" altLang="zh-CN" sz="2400" b="1" dirty="0" err="1" smtClean="0"/>
              <a:t>userInfo</a:t>
            </a:r>
            <a:r>
              <a:rPr lang="zh-CN" altLang="en-US" sz="2400" dirty="0" smtClean="0"/>
              <a:t>：是指服务器的登录信息。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b="1" dirty="0" smtClean="0"/>
              <a:t>端口号</a:t>
            </a:r>
            <a:r>
              <a:rPr lang="zh-CN" altLang="en-US" sz="2400" dirty="0" smtClean="0"/>
              <a:t>：如默认，不需要。如：</a:t>
            </a:r>
            <a:r>
              <a:rPr lang="en-US" altLang="zh-CN" sz="2400" dirty="0" smtClean="0"/>
              <a:t>http 80</a:t>
            </a:r>
          </a:p>
          <a:p>
            <a:pPr>
              <a:buNone/>
            </a:pPr>
            <a:r>
              <a:rPr lang="zh-CN" altLang="en-US" sz="2400" b="1" dirty="0" smtClean="0"/>
              <a:t>路径：</a:t>
            </a:r>
            <a:r>
              <a:rPr lang="zh-CN" altLang="en-US" sz="2400" dirty="0" smtClean="0"/>
              <a:t>指服务器上特定的目录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b="1" dirty="0" smtClean="0"/>
              <a:t>查询</a:t>
            </a:r>
            <a:r>
              <a:rPr lang="en-US" altLang="zh-CN" sz="2400" b="1" dirty="0" smtClean="0"/>
              <a:t>query:</a:t>
            </a:r>
            <a:r>
              <a:rPr lang="zh-CN" altLang="en-US" sz="2400" dirty="0" smtClean="0"/>
              <a:t>字符串向服务器提供附加参数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dirty="0" smtClean="0"/>
              <a:t>片段：指向远程资源的某个特定部分，</a:t>
            </a:r>
            <a:r>
              <a:rPr lang="en-US" altLang="zh-CN" sz="2400" dirty="0" smtClean="0"/>
              <a:t>html anchor </a:t>
            </a:r>
            <a:r>
              <a:rPr lang="zh-CN" altLang="en-US" sz="2400" dirty="0" smtClean="0"/>
              <a:t>标记文档中的某个点。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绝对</a:t>
            </a:r>
            <a:r>
              <a:rPr lang="en-US" altLang="zh-CN" dirty="0" smtClean="0"/>
              <a:t>URL</a:t>
            </a:r>
            <a:r>
              <a:rPr lang="zh-CN" altLang="en-US" dirty="0" smtClean="0"/>
              <a:t>，相对</a:t>
            </a:r>
            <a:r>
              <a:rPr lang="en-US" altLang="zh-CN" dirty="0" smtClean="0"/>
              <a:t>URL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628800"/>
            <a:ext cx="8153400" cy="4495800"/>
          </a:xfrm>
        </p:spPr>
        <p:txBody>
          <a:bodyPr/>
          <a:lstStyle/>
          <a:p>
            <a:r>
              <a:rPr lang="en-US" altLang="zh-CN" dirty="0"/>
              <a:t>http://</a:t>
            </a:r>
            <a:r>
              <a:rPr lang="en-US" altLang="zh-CN" dirty="0" smtClean="0"/>
              <a:t>www.szu.edu.cn/2014/overview.html</a:t>
            </a: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zh-CN" altLang="en-US" sz="2400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代码：</a:t>
            </a:r>
            <a:endParaRPr lang="en-US" altLang="zh-CN" sz="2400" b="1" dirty="0" smtClean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&lt;a </a:t>
            </a:r>
            <a:r>
              <a:rPr lang="en-US" altLang="zh-CN" sz="2400" b="1" dirty="0" err="1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altLang="zh-CN" sz="2400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="planning.html"&gt;</a:t>
            </a:r>
            <a:r>
              <a:rPr lang="zh-CN" altLang="en-US" sz="2400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校园规划</a:t>
            </a:r>
            <a:r>
              <a:rPr lang="en-US" altLang="zh-CN" sz="2400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&lt;/a&gt;</a:t>
            </a:r>
            <a:endParaRPr lang="en-US" altLang="zh-CN" b="1" dirty="0" smtClean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 smtClean="0"/>
              <a:t>planning.html</a:t>
            </a:r>
          </a:p>
          <a:p>
            <a:r>
              <a:rPr lang="zh-CN" altLang="en-US" dirty="0" smtClean="0"/>
              <a:t>相对</a:t>
            </a:r>
            <a:r>
              <a:rPr lang="en-US" altLang="zh-CN" dirty="0" smtClean="0"/>
              <a:t>URL</a:t>
            </a:r>
            <a:r>
              <a:rPr lang="zh-CN" altLang="en-US" dirty="0" smtClean="0"/>
              <a:t>优点：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减少文字录入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便于网站迁移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45824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相对</a:t>
            </a:r>
            <a:r>
              <a:rPr lang="en-US" altLang="zh-CN" dirty="0" smtClean="0"/>
              <a:t>URL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01625" y="1600200"/>
            <a:ext cx="8540750" cy="4498975"/>
          </a:xfrm>
        </p:spPr>
        <p:txBody>
          <a:bodyPr/>
          <a:lstStyle/>
          <a:p>
            <a:r>
              <a:rPr lang="en-US" altLang="zh-CN" dirty="0" smtClean="0"/>
              <a:t>http://www.szu.edu.cn/2014/overview.html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 smtClean="0"/>
              <a:t>相对链接以</a:t>
            </a:r>
            <a:r>
              <a:rPr lang="en-US" altLang="zh-CN" dirty="0" smtClean="0"/>
              <a:t>/</a:t>
            </a:r>
            <a:r>
              <a:rPr lang="zh-CN" altLang="en-US" dirty="0" smtClean="0"/>
              <a:t>开头，表示相对于根目录而不是当前文件</a:t>
            </a:r>
            <a:endParaRPr lang="en-US" altLang="zh-CN" dirty="0" smtClean="0"/>
          </a:p>
          <a:p>
            <a:pPr lvl="1">
              <a:buFont typeface="Wingdings" pitchFamily="2" charset="2"/>
              <a:buChar char="Ø"/>
            </a:pPr>
            <a:r>
              <a:rPr lang="zh-CN" altLang="en-US" dirty="0" smtClean="0"/>
              <a:t>问：浏览器加载 相对链接  </a:t>
            </a:r>
            <a:r>
              <a:rPr lang="en-US" altLang="zh-CN" dirty="0" smtClean="0"/>
              <a:t>/2016/planning.html  </a:t>
            </a:r>
            <a:r>
              <a:rPr lang="zh-CN" altLang="en-US" dirty="0" smtClean="0"/>
              <a:t>时，实际加载的是？</a:t>
            </a:r>
            <a:endParaRPr lang="en-US" altLang="zh-CN" dirty="0" smtClean="0"/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1143000" y="4495800"/>
            <a:ext cx="6324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http://www.szu.edu.cn/2016/planning.html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4190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URL</a:t>
            </a:r>
            <a:r>
              <a:rPr lang="zh-CN" altLang="en-US" dirty="0" smtClean="0"/>
              <a:t>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java.net.URL</a:t>
            </a:r>
          </a:p>
          <a:p>
            <a:pPr lvl="1"/>
            <a:r>
              <a:rPr lang="en-US" altLang="zh-CN" dirty="0" smtClean="0"/>
              <a:t>final</a:t>
            </a:r>
          </a:p>
          <a:p>
            <a:pPr lvl="1"/>
            <a:r>
              <a:rPr lang="zh-CN" altLang="en-US" dirty="0"/>
              <a:t>创建</a:t>
            </a:r>
            <a:r>
              <a:rPr lang="zh-CN" altLang="en-US" dirty="0" smtClean="0"/>
              <a:t>后不可修改</a:t>
            </a:r>
            <a:endParaRPr lang="en-US" altLang="zh-CN" dirty="0" smtClean="0"/>
          </a:p>
          <a:p>
            <a:r>
              <a:rPr lang="zh-CN" altLang="en-US" dirty="0" smtClean="0"/>
              <a:t>创建</a:t>
            </a:r>
            <a:r>
              <a:rPr lang="en-US" altLang="zh-CN" dirty="0" smtClean="0"/>
              <a:t>URL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检查模式是否支持</a:t>
            </a:r>
            <a:endParaRPr lang="en-US" altLang="zh-CN" dirty="0" smtClean="0"/>
          </a:p>
          <a:p>
            <a:pPr lvl="1"/>
            <a:r>
              <a:rPr lang="zh-CN" altLang="en-US" dirty="0"/>
              <a:t>不</a:t>
            </a:r>
            <a:r>
              <a:rPr lang="zh-CN" altLang="en-US" dirty="0" smtClean="0"/>
              <a:t>检查</a:t>
            </a:r>
            <a:r>
              <a:rPr lang="en-US" altLang="zh-CN" dirty="0" smtClean="0"/>
              <a:t>URL</a:t>
            </a:r>
            <a:r>
              <a:rPr lang="zh-CN" altLang="en-US" dirty="0" smtClean="0"/>
              <a:t>是否格式正确</a:t>
            </a:r>
            <a:endParaRPr lang="en-US" altLang="zh-CN" dirty="0" smtClean="0"/>
          </a:p>
          <a:p>
            <a:pPr lvl="1"/>
            <a:r>
              <a:rPr lang="zh-CN" altLang="en-US" dirty="0"/>
              <a:t>不</a:t>
            </a:r>
            <a:r>
              <a:rPr lang="zh-CN" altLang="en-US" dirty="0" smtClean="0"/>
              <a:t>检查资源是否存在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55732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URL</a:t>
            </a:r>
            <a:r>
              <a:rPr lang="zh-CN" altLang="en-US" dirty="0" smtClean="0"/>
              <a:t>类：协议支持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4" y="1772816"/>
            <a:ext cx="8532440" cy="272564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51520" y="5013176"/>
            <a:ext cx="38010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查看虚拟机支持哪些协议</a:t>
            </a:r>
            <a:r>
              <a:rPr lang="zh-CN" altLang="en-US" b="1" dirty="0" smtClean="0"/>
              <a:t>？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xmlns="" val="350308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运行结果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628800"/>
            <a:ext cx="5210944" cy="471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字符串构造</a:t>
            </a:r>
            <a:r>
              <a:rPr lang="en-US" altLang="zh-CN" dirty="0"/>
              <a:t>URL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556792"/>
            <a:ext cx="7898347" cy="51353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 smtClean="0">
                <a:solidFill>
                  <a:schemeClr val="tx1"/>
                </a:solidFill>
              </a:rPr>
              <a:t>定义：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CC00FF"/>
                </a:solidFill>
                <a:latin typeface="Courier New" panose="02070309020205020404" pitchFamily="49" charset="0"/>
              </a:rPr>
              <a:t>URL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 err="1" smtClean="0">
                <a:solidFill>
                  <a:srgbClr val="000088"/>
                </a:solidFill>
                <a:latin typeface="Courier New" panose="02070309020205020404" pitchFamily="49" charset="0"/>
              </a:rPr>
              <a:t>MalformedURLException</a:t>
            </a:r>
            <a:endParaRPr lang="en-US" altLang="zh-CN" sz="2000" dirty="0" smtClean="0">
              <a:solidFill>
                <a:srgbClr val="000088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1" dirty="0" smtClean="0">
                <a:solidFill>
                  <a:schemeClr val="tx1"/>
                </a:solidFill>
              </a:rPr>
              <a:t>例子</a:t>
            </a:r>
            <a:r>
              <a:rPr lang="zh-CN" altLang="en-US" b="1" dirty="0">
                <a:solidFill>
                  <a:schemeClr val="tx1"/>
                </a:solidFill>
              </a:rPr>
              <a:t>：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try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</a:t>
            </a:r>
            <a:r>
              <a:rPr lang="en-US" altLang="zh-CN" sz="20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://www.szu.edu.cn/"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sz="2000" dirty="0" smtClean="0">
              <a:solidFill>
                <a:srgbClr val="1B1C20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MalformedURLException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sz="20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sz="20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err</a:t>
            </a:r>
            <a:r>
              <a:rPr lang="en-US" altLang="zh-CN" sz="20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println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56374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分块构造</a:t>
            </a:r>
            <a:r>
              <a:rPr lang="en-US" altLang="zh-CN" dirty="0" smtClean="0"/>
              <a:t>URL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1484784"/>
            <a:ext cx="7543801" cy="5250561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定义：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protocol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hostname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file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MalformedURLException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dirty="0" smtClean="0"/>
              <a:t>例子：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try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URL</a:t>
            </a:r>
            <a:r>
              <a:rPr lang="en-US" altLang="zh-CN" sz="18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"http"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"www.eff.org"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"/</a:t>
            </a:r>
            <a:r>
              <a:rPr lang="en-US" altLang="zh-CN" sz="1800" dirty="0" err="1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blueribbon.html#intro</a:t>
            </a:r>
            <a:r>
              <a:rPr lang="en-US" altLang="zh-CN" sz="18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18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sz="18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MalformedURLException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b="1" dirty="0" smtClean="0">
                <a:solidFill>
                  <a:srgbClr val="006699"/>
                </a:solidFill>
                <a:latin typeface="Courier New" panose="02070309020205020404" pitchFamily="49" charset="0"/>
              </a:rPr>
              <a:t>    throw</a:t>
            </a:r>
            <a:r>
              <a:rPr lang="en-US" altLang="zh-CN" sz="1800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dirty="0" err="1">
                <a:solidFill>
                  <a:srgbClr val="CC00FF"/>
                </a:solidFill>
                <a:latin typeface="Courier New" panose="02070309020205020404" pitchFamily="49" charset="0"/>
              </a:rPr>
              <a:t>RuntimeException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dirty="0">
                <a:solidFill>
                  <a:srgbClr val="CC3300"/>
                </a:solidFill>
                <a:latin typeface="Courier New" panose="02070309020205020404" pitchFamily="49" charset="0"/>
              </a:rPr>
              <a:t>"shouldn't happen; all VMs recognize http</a:t>
            </a:r>
            <a:r>
              <a:rPr lang="en-US" altLang="zh-CN" sz="1800" dirty="0" smtClean="0">
                <a:solidFill>
                  <a:srgbClr val="CC3300"/>
                </a:solidFill>
                <a:latin typeface="Courier New" panose="02070309020205020404" pitchFamily="49" charset="0"/>
              </a:rPr>
              <a:t>"</a:t>
            </a:r>
            <a:r>
              <a:rPr lang="en-US" altLang="zh-CN" sz="1800" dirty="0" smtClean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555555"/>
                </a:solidFill>
                <a:latin typeface="Courier New" panose="02070309020205020404" pitchFamily="49" charset="0"/>
              </a:rPr>
              <a:t>}</a:t>
            </a:r>
            <a:endParaRPr lang="en-US" altLang="zh-CN" sz="1800" dirty="0"/>
          </a:p>
        </p:txBody>
      </p:sp>
      <p:sp>
        <p:nvSpPr>
          <p:cNvPr id="5" name="矩形 4"/>
          <p:cNvSpPr/>
          <p:nvPr/>
        </p:nvSpPr>
        <p:spPr>
          <a:xfrm>
            <a:off x="2267744" y="2708920"/>
            <a:ext cx="6159058" cy="707886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0000"/>
                </a:solidFill>
              </a:rPr>
              <a:t>注意：勿遗漏</a:t>
            </a:r>
            <a:r>
              <a:rPr lang="en-US" altLang="zh-CN" sz="4000" dirty="0" smtClean="0">
                <a:solidFill>
                  <a:srgbClr val="FF0000"/>
                </a:solidFill>
              </a:rPr>
              <a:t>file</a:t>
            </a:r>
            <a:r>
              <a:rPr lang="zh-CN" altLang="en-US" sz="4000" dirty="0" smtClean="0">
                <a:solidFill>
                  <a:srgbClr val="FF0000"/>
                </a:solidFill>
              </a:rPr>
              <a:t>参数前的</a:t>
            </a:r>
            <a:r>
              <a:rPr lang="en-US" altLang="zh-CN" sz="4000" dirty="0" smtClean="0">
                <a:solidFill>
                  <a:srgbClr val="FF0000"/>
                </a:solidFill>
              </a:rPr>
              <a:t>/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6" name="圆角矩形标注 5"/>
          <p:cNvSpPr>
            <a:spLocks noChangeArrowheads="1"/>
          </p:cNvSpPr>
          <p:nvPr/>
        </p:nvSpPr>
        <p:spPr bwMode="auto">
          <a:xfrm>
            <a:off x="6665913" y="3933825"/>
            <a:ext cx="1817687" cy="838200"/>
          </a:xfrm>
          <a:prstGeom prst="wedgeRoundRectCallout">
            <a:avLst>
              <a:gd name="adj1" fmla="val -232856"/>
              <a:gd name="adj2" fmla="val -22347"/>
              <a:gd name="adj3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zh-CN" altLang="en-US" dirty="0">
                <a:solidFill>
                  <a:srgbClr val="FF0000"/>
                </a:solidFill>
              </a:rPr>
              <a:t>隔开的</a:t>
            </a:r>
            <a:r>
              <a:rPr lang="en-US" altLang="zh-CN" dirty="0">
                <a:solidFill>
                  <a:srgbClr val="FF0000"/>
                </a:solidFill>
              </a:rPr>
              <a:t>intro </a:t>
            </a:r>
            <a:r>
              <a:rPr lang="zh-CN" altLang="en-US" dirty="0">
                <a:solidFill>
                  <a:srgbClr val="FF0000"/>
                </a:solidFill>
              </a:rPr>
              <a:t>是 片段标识符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55576" y="5949280"/>
            <a:ext cx="70358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代码片段效果</a:t>
            </a:r>
            <a:r>
              <a:rPr lang="zh-CN" altLang="en-US" dirty="0">
                <a:solidFill>
                  <a:srgbClr val="FF0000"/>
                </a:solidFill>
              </a:rPr>
              <a:t>：创建一个</a:t>
            </a:r>
            <a:r>
              <a:rPr lang="en-US" altLang="zh-CN" dirty="0">
                <a:solidFill>
                  <a:srgbClr val="FF0000"/>
                </a:solidFill>
              </a:rPr>
              <a:t>URL</a:t>
            </a:r>
            <a:r>
              <a:rPr lang="zh-CN" altLang="en-US" dirty="0">
                <a:solidFill>
                  <a:srgbClr val="FF0000"/>
                </a:solidFill>
              </a:rPr>
              <a:t>对象，指向</a:t>
            </a:r>
            <a:r>
              <a:rPr lang="en-US" altLang="zh-CN" dirty="0">
                <a:solidFill>
                  <a:srgbClr val="FF0000"/>
                </a:solidFill>
                <a:hlinkClick r:id="rId2"/>
              </a:rPr>
              <a:t>http://www.eff.org/blueribbon.html#intro</a:t>
            </a:r>
            <a:r>
              <a:rPr lang="zh-CN" altLang="en-US" dirty="0">
                <a:solidFill>
                  <a:srgbClr val="FF0000"/>
                </a:solidFill>
              </a:rPr>
              <a:t>，使用</a:t>
            </a:r>
            <a:r>
              <a:rPr lang="en-US" altLang="zh-CN" dirty="0">
                <a:solidFill>
                  <a:srgbClr val="FF0000"/>
                </a:solidFill>
              </a:rPr>
              <a:t>HTTP</a:t>
            </a:r>
            <a:r>
              <a:rPr lang="zh-CN" altLang="en-US" dirty="0">
                <a:solidFill>
                  <a:srgbClr val="FF0000"/>
                </a:solidFill>
              </a:rPr>
              <a:t>的默认端口</a:t>
            </a:r>
            <a:r>
              <a:rPr lang="en-US" altLang="zh-CN" dirty="0">
                <a:solidFill>
                  <a:srgbClr val="FF0000"/>
                </a:solidFill>
              </a:rPr>
              <a:t>80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0678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1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构造相对</a:t>
            </a:r>
            <a:r>
              <a:rPr lang="en-US" altLang="zh-CN" dirty="0" smtClean="0"/>
              <a:t>URL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556792"/>
            <a:ext cx="8260656" cy="5135336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定义：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dirty="0">
                <a:solidFill>
                  <a:srgbClr val="CC00FF"/>
                </a:solidFill>
                <a:latin typeface="Courier New" panose="02070309020205020404" pitchFamily="49" charset="0"/>
              </a:rPr>
              <a:t>URL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</a:rPr>
              <a:t>base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</a:rPr>
              <a:t>relative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dirty="0" err="1">
                <a:solidFill>
                  <a:srgbClr val="000088"/>
                </a:solidFill>
                <a:latin typeface="Courier New" panose="02070309020205020404" pitchFamily="49" charset="0"/>
              </a:rPr>
              <a:t>MalformedURLException</a:t>
            </a:r>
            <a:endParaRPr lang="en-US" altLang="zh-CN" sz="1800" dirty="0"/>
          </a:p>
          <a:p>
            <a:r>
              <a:rPr lang="zh-CN" altLang="en-US" dirty="0" smtClean="0"/>
              <a:t>例子：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try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8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u1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 </a:t>
            </a:r>
            <a:r>
              <a:rPr lang="en-US" altLang="zh-CN" sz="18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8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"http://</a:t>
            </a:r>
            <a:r>
              <a:rPr lang="en-US" altLang="zh-CN" sz="18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www.szu.edu.cn/a/b.html"</a:t>
            </a:r>
            <a:r>
              <a:rPr lang="en-US" altLang="zh-CN" sz="18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u2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8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u1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"mailinglists.html"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sz="1800" dirty="0" smtClean="0">
              <a:solidFill>
                <a:srgbClr val="1B1C20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sz="18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MalformedURLException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sz="18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sz="18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8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err</a:t>
            </a:r>
            <a:r>
              <a:rPr lang="en-US" altLang="zh-CN" sz="18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8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println</a:t>
            </a:r>
            <a:r>
              <a:rPr lang="en-US" altLang="zh-CN" sz="18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971600" y="5517232"/>
            <a:ext cx="7831138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/>
              <a:t>代码片段效果：创建一个</a:t>
            </a:r>
            <a:r>
              <a:rPr lang="en-US" altLang="zh-CN" dirty="0"/>
              <a:t>U1</a:t>
            </a:r>
            <a:r>
              <a:rPr lang="zh-CN" altLang="en-US" dirty="0"/>
              <a:t>对象，指向</a:t>
            </a:r>
            <a:r>
              <a:rPr lang="en-US" altLang="zh-CN" dirty="0">
                <a:solidFill>
                  <a:srgbClr val="CC3300"/>
                </a:solidFill>
                <a:latin typeface="Courier New" pitchFamily="49" charset="0"/>
                <a:ea typeface="Simsun" pitchFamily="2" charset="-122"/>
              </a:rPr>
              <a:t>http://www.szu.edu.cn/a/b.html </a:t>
            </a:r>
            <a:r>
              <a:rPr lang="zh-CN" altLang="en-US" dirty="0"/>
              <a:t>，将文件名从</a:t>
            </a:r>
            <a:r>
              <a:rPr lang="en-US" altLang="zh-CN" dirty="0"/>
              <a:t>u1</a:t>
            </a:r>
            <a:r>
              <a:rPr lang="zh-CN" altLang="en-US" dirty="0"/>
              <a:t>的路径中删除，追加上新文件名</a:t>
            </a:r>
            <a:r>
              <a:rPr lang="en-US" altLang="zh-CN" dirty="0">
                <a:solidFill>
                  <a:srgbClr val="CC3300"/>
                </a:solidFill>
                <a:latin typeface="Courier New" pitchFamily="49" charset="0"/>
                <a:ea typeface="Simsun" pitchFamily="2" charset="-122"/>
              </a:rPr>
              <a:t>mailinglists.html</a:t>
            </a:r>
            <a:r>
              <a:rPr lang="zh-CN" altLang="en-US" dirty="0">
                <a:solidFill>
                  <a:srgbClr val="CC3300"/>
                </a:solidFill>
                <a:latin typeface="Courier New" pitchFamily="49" charset="0"/>
                <a:ea typeface="Simsun" pitchFamily="2" charset="-122"/>
              </a:rPr>
              <a:t>，得到</a:t>
            </a:r>
            <a:r>
              <a:rPr lang="en-US" altLang="zh-CN" dirty="0">
                <a:solidFill>
                  <a:srgbClr val="CC3300"/>
                </a:solidFill>
                <a:latin typeface="Courier New" pitchFamily="49" charset="0"/>
                <a:ea typeface="Simsun" pitchFamily="2" charset="-122"/>
              </a:rPr>
              <a:t>u2</a:t>
            </a:r>
            <a:r>
              <a:rPr lang="zh-CN" altLang="en-US" dirty="0">
                <a:solidFill>
                  <a:srgbClr val="CC3300"/>
                </a:solidFill>
                <a:latin typeface="Courier New" pitchFamily="49" charset="0"/>
                <a:ea typeface="Simsun" pitchFamily="2" charset="-122"/>
              </a:rPr>
              <a:t>对象，指向</a:t>
            </a:r>
            <a:r>
              <a:rPr lang="en-US" altLang="zh-CN" dirty="0">
                <a:solidFill>
                  <a:srgbClr val="CC3300"/>
                </a:solidFill>
                <a:latin typeface="Courier New" pitchFamily="49" charset="0"/>
                <a:ea typeface="Simsun" pitchFamily="2" charset="-122"/>
              </a:rPr>
              <a:t>http://www.szu.edu.cn/a/mailinglists.html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49478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从</a:t>
            </a:r>
            <a:r>
              <a:rPr lang="en-US" altLang="zh-CN" dirty="0" smtClean="0"/>
              <a:t>URL</a:t>
            </a:r>
            <a:r>
              <a:rPr lang="zh-CN" altLang="en-US" dirty="0" smtClean="0"/>
              <a:t>获取数据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4322" y="1606032"/>
            <a:ext cx="8226150" cy="513533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URL</a:t>
            </a:r>
            <a:r>
              <a:rPr lang="zh-CN" altLang="en-US" dirty="0" smtClean="0"/>
              <a:t>类的获取数据方法</a:t>
            </a:r>
            <a:endParaRPr lang="en-US" altLang="zh-CN" dirty="0" smtClean="0"/>
          </a:p>
          <a:p>
            <a:r>
              <a:rPr lang="zh-CN" altLang="en-US" dirty="0" smtClean="0"/>
              <a:t>获得</a:t>
            </a:r>
            <a:r>
              <a:rPr lang="en-US" altLang="zh-CN" dirty="0" err="1" smtClean="0"/>
              <a:t>InputStream</a:t>
            </a:r>
            <a:endParaRPr lang="en-US" altLang="zh-CN" dirty="0" smtClean="0"/>
          </a:p>
          <a:p>
            <a:pPr lvl="1"/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InputStream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openStream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dirty="0"/>
              <a:t>获得</a:t>
            </a:r>
            <a:r>
              <a:rPr lang="en-US" altLang="zh-CN" dirty="0" err="1"/>
              <a:t>URLConnection</a:t>
            </a:r>
            <a:r>
              <a:rPr lang="zh-CN" altLang="en-US" dirty="0"/>
              <a:t>对象</a:t>
            </a:r>
            <a:endParaRPr lang="en-US" altLang="zh-CN" dirty="0"/>
          </a:p>
          <a:p>
            <a:pPr lvl="1"/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URLConnection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openConnection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URLConnection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openConnection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Proxy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proxy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dirty="0" smtClean="0"/>
              <a:t>获得内容对象</a:t>
            </a:r>
            <a:r>
              <a:rPr lang="zh-CN" altLang="en-US" dirty="0"/>
              <a:t>如</a:t>
            </a:r>
            <a:r>
              <a:rPr lang="en-US" altLang="zh-CN" dirty="0"/>
              <a:t>String</a:t>
            </a:r>
            <a:r>
              <a:rPr lang="zh-CN" altLang="en-US" dirty="0"/>
              <a:t>或</a:t>
            </a:r>
            <a:r>
              <a:rPr lang="en-US" altLang="zh-CN" dirty="0"/>
              <a:t>Image</a:t>
            </a:r>
          </a:p>
          <a:p>
            <a:pPr lvl="1"/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Object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getContent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Object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getContent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Class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[]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classes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2721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URL</a:t>
            </a:r>
            <a:r>
              <a:rPr lang="zh-CN" altLang="en-US" dirty="0"/>
              <a:t>获取</a:t>
            </a:r>
            <a:r>
              <a:rPr lang="zh-CN" altLang="en-US" dirty="0" smtClean="0"/>
              <a:t>数据：</a:t>
            </a:r>
            <a:r>
              <a:rPr lang="en-US" altLang="zh-CN" dirty="0" err="1" smtClean="0"/>
              <a:t>openStream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2492896"/>
            <a:ext cx="8761805" cy="43651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try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URL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"http://</a:t>
            </a:r>
            <a:r>
              <a:rPr lang="en-US" altLang="zh-CN" sz="24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www.szu.edu.cn"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InputStream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24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openStream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sz="2400" b="1" dirty="0" err="1" smtClean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while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((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</a:t>
            </a:r>
            <a:r>
              <a:rPr lang="en-US" altLang="zh-CN" sz="24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read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!=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-</a:t>
            </a:r>
            <a:r>
              <a:rPr lang="en-US" altLang="zh-CN" sz="2400" dirty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1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</a:t>
            </a:r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sz="24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out</a:t>
            </a:r>
            <a:r>
              <a:rPr lang="en-US" altLang="zh-CN" sz="24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write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</a:t>
            </a:r>
            <a:r>
              <a:rPr lang="en-US" altLang="zh-CN" sz="24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close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r>
              <a:rPr lang="en-US" altLang="zh-CN" sz="24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IOException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sz="24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err</a:t>
            </a:r>
            <a:r>
              <a:rPr lang="en-US" altLang="zh-CN" sz="24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println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11560" y="1556792"/>
            <a:ext cx="82809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err="1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openStream</a:t>
            </a:r>
            <a:r>
              <a:rPr lang="zh-CN" altLang="en-US" sz="2000" b="1" dirty="0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方法连接到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URL</a:t>
            </a:r>
            <a:r>
              <a:rPr lang="zh-CN" altLang="en-US" sz="2000" b="1" dirty="0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所引用的资源，在客户端和服务器之间建立可靠连接，返回一个</a:t>
            </a:r>
            <a:r>
              <a:rPr lang="en-US" altLang="zh-CN" sz="2000" b="1" dirty="0" err="1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InputStream</a:t>
            </a:r>
            <a:r>
              <a:rPr lang="zh-CN" altLang="en-US" sz="2000" b="1" dirty="0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，以读取数据。</a:t>
            </a:r>
            <a:endParaRPr lang="en-US" altLang="zh-CN" sz="2000" b="1" dirty="0" smtClean="0">
              <a:solidFill>
                <a:srgbClr val="006699"/>
              </a:solidFill>
              <a:latin typeface="Courier New" pitchFamily="49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8063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1916832"/>
            <a:ext cx="84249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试从程序输入输出处理数据的角度思考并解释一下，从</a:t>
            </a:r>
            <a:r>
              <a:rPr lang="en-US" altLang="zh-CN" sz="2800" dirty="0" smtClean="0"/>
              <a:t>PC</a:t>
            </a:r>
            <a:r>
              <a:rPr lang="zh-CN" altLang="en-US" sz="2800" dirty="0" smtClean="0"/>
              <a:t>浏览器地址栏输入一个</a:t>
            </a:r>
            <a:r>
              <a:rPr lang="en-US" altLang="zh-CN" sz="2800" dirty="0" err="1" smtClean="0"/>
              <a:t>url</a:t>
            </a:r>
            <a:r>
              <a:rPr lang="zh-CN" altLang="en-US" sz="2800" dirty="0" smtClean="0"/>
              <a:t>，到可以在浏览器中看到这个网页内容，什么程序从哪里获得了什么数据？处理了什么数据？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例子：下载一个</a:t>
            </a:r>
            <a:r>
              <a:rPr lang="en-US" altLang="zh-CN" sz="3200" dirty="0" smtClean="0"/>
              <a:t>Web</a:t>
            </a:r>
            <a:r>
              <a:rPr lang="zh-CN" altLang="en-US" sz="3200" dirty="0" smtClean="0"/>
              <a:t>页面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67544" y="1844824"/>
            <a:ext cx="8540750" cy="4498975"/>
          </a:xfrm>
        </p:spPr>
        <p:txBody>
          <a:bodyPr/>
          <a:lstStyle/>
          <a:p>
            <a:pPr marL="0" indent="0">
              <a:buFont typeface="Wingdings 2" pitchFamily="18" charset="2"/>
              <a:buNone/>
            </a:pPr>
            <a:r>
              <a:rPr lang="zh-CN" altLang="en-US" sz="2800" dirty="0" smtClean="0"/>
              <a:t>下载一个</a:t>
            </a:r>
            <a:r>
              <a:rPr lang="en-US" altLang="zh-CN" sz="2800" dirty="0" smtClean="0"/>
              <a:t>Web</a:t>
            </a:r>
            <a:r>
              <a:rPr lang="zh-CN" altLang="en-US" sz="2800" dirty="0" smtClean="0"/>
              <a:t>页面，在控制台输出该页面的原始</a:t>
            </a:r>
            <a:r>
              <a:rPr lang="en-US" altLang="zh-CN" sz="2800" dirty="0" smtClean="0"/>
              <a:t>HTML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0" indent="0">
              <a:buFont typeface="Wingdings 2" pitchFamily="18" charset="2"/>
              <a:buNone/>
            </a:pPr>
            <a:endParaRPr lang="en-US" altLang="zh-CN" sz="2800" dirty="0" smtClean="0"/>
          </a:p>
          <a:p>
            <a:pPr marL="0" indent="0">
              <a:buFont typeface="Wingdings 2" pitchFamily="18" charset="2"/>
              <a:buNone/>
            </a:pPr>
            <a:r>
              <a:rPr lang="zh-CN" altLang="en-US" sz="2800" dirty="0" smtClean="0">
                <a:solidFill>
                  <a:srgbClr val="FF0000"/>
                </a:solidFill>
              </a:rPr>
              <a:t>思路：从命令行读取一个</a:t>
            </a:r>
            <a:r>
              <a:rPr lang="en-US" altLang="zh-CN" sz="2800" dirty="0" smtClean="0">
                <a:solidFill>
                  <a:srgbClr val="FF0000"/>
                </a:solidFill>
              </a:rPr>
              <a:t>URL</a:t>
            </a:r>
            <a:r>
              <a:rPr lang="zh-CN" altLang="en-US" sz="2800" dirty="0" smtClean="0">
                <a:solidFill>
                  <a:srgbClr val="FF0000"/>
                </a:solidFill>
              </a:rPr>
              <a:t>（</a:t>
            </a:r>
            <a:r>
              <a:rPr lang="en-US" altLang="zh-CN" sz="2800" dirty="0" smtClean="0">
                <a:solidFill>
                  <a:srgbClr val="FF0000"/>
                </a:solidFill>
              </a:rPr>
              <a:t>http://www.oreilly.com</a:t>
            </a:r>
            <a:r>
              <a:rPr lang="zh-CN" altLang="en-US" sz="2800" dirty="0" smtClean="0">
                <a:solidFill>
                  <a:srgbClr val="FF0000"/>
                </a:solidFill>
              </a:rPr>
              <a:t>），从这个</a:t>
            </a:r>
            <a:r>
              <a:rPr lang="en-US" altLang="zh-CN" sz="2800" dirty="0" smtClean="0">
                <a:solidFill>
                  <a:srgbClr val="FF0000"/>
                </a:solidFill>
              </a:rPr>
              <a:t>URL</a:t>
            </a:r>
            <a:r>
              <a:rPr lang="zh-CN" altLang="en-US" sz="2800" dirty="0" smtClean="0">
                <a:solidFill>
                  <a:srgbClr val="FF0000"/>
                </a:solidFill>
              </a:rPr>
              <a:t>打开一个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InputStream</a:t>
            </a:r>
            <a:r>
              <a:rPr lang="zh-CN" altLang="en-US" sz="2800" dirty="0" smtClean="0">
                <a:solidFill>
                  <a:srgbClr val="FF0000"/>
                </a:solidFill>
              </a:rPr>
              <a:t>，将此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InputStream</a:t>
            </a:r>
            <a:r>
              <a:rPr lang="zh-CN" altLang="en-US" sz="2800" dirty="0" smtClean="0">
                <a:solidFill>
                  <a:srgbClr val="FF0000"/>
                </a:solidFill>
              </a:rPr>
              <a:t>串链到默认编码方式的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InputStreamReader</a:t>
            </a:r>
            <a:r>
              <a:rPr lang="zh-CN" altLang="en-US" sz="2800" dirty="0" smtClean="0">
                <a:solidFill>
                  <a:srgbClr val="FF0000"/>
                </a:solidFill>
              </a:rPr>
              <a:t>，使用其</a:t>
            </a:r>
            <a:r>
              <a:rPr lang="en-US" altLang="zh-CN" sz="2800" dirty="0" smtClean="0">
                <a:solidFill>
                  <a:srgbClr val="FF0000"/>
                </a:solidFill>
              </a:rPr>
              <a:t>read()</a:t>
            </a:r>
            <a:r>
              <a:rPr lang="zh-CN" altLang="en-US" sz="2800" dirty="0" smtClean="0">
                <a:solidFill>
                  <a:srgbClr val="FF0000"/>
                </a:solidFill>
              </a:rPr>
              <a:t>方法从文件读取连续的字符，将字符在控制台显示输出。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0" indent="0">
              <a:buFont typeface="Wingdings 2" pitchFamily="18" charset="2"/>
              <a:buNone/>
            </a:pPr>
            <a:endParaRPr lang="en-US" altLang="zh-CN" sz="2800" dirty="0" smtClean="0"/>
          </a:p>
        </p:txBody>
      </p:sp>
      <p:sp>
        <p:nvSpPr>
          <p:cNvPr id="2048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7152517" y="6488668"/>
            <a:ext cx="1888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SourceViewer</a:t>
            </a:r>
            <a:r>
              <a:rPr lang="en-US" altLang="zh-CN" dirty="0" smtClean="0"/>
              <a:t>.java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运行结果</a:t>
            </a:r>
          </a:p>
        </p:txBody>
      </p:sp>
      <p:sp>
        <p:nvSpPr>
          <p:cNvPr id="21507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420888"/>
            <a:ext cx="8002588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95288" y="4343400"/>
            <a:ext cx="7315200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/>
              <a:t>测试练习并观察：若将参数改为</a:t>
            </a:r>
            <a:r>
              <a:rPr lang="en-US" altLang="zh-CN" sz="2400" dirty="0">
                <a:hlinkClick r:id="rId3"/>
              </a:rPr>
              <a:t>http://www.szu.edu.cn</a:t>
            </a:r>
            <a:r>
              <a:rPr lang="zh-CN" altLang="en-US" sz="2400" dirty="0"/>
              <a:t>，请观察控制台运行结果，并对比从浏览器输入该</a:t>
            </a:r>
            <a:r>
              <a:rPr lang="en-US" altLang="zh-CN" sz="2400" dirty="0"/>
              <a:t>URL</a:t>
            </a:r>
            <a:r>
              <a:rPr lang="zh-CN" altLang="en-US" sz="2400" dirty="0"/>
              <a:t>的返回结果。</a:t>
            </a:r>
            <a:endParaRPr lang="en-US" altLang="zh-CN" sz="2400" dirty="0"/>
          </a:p>
          <a:p>
            <a:endParaRPr lang="en-US" altLang="zh-CN" sz="2000" dirty="0"/>
          </a:p>
        </p:txBody>
      </p:sp>
      <p:sp>
        <p:nvSpPr>
          <p:cNvPr id="21510" name="TextBox 6"/>
          <p:cNvSpPr txBox="1">
            <a:spLocks noChangeArrowheads="1"/>
          </p:cNvSpPr>
          <p:nvPr/>
        </p:nvSpPr>
        <p:spPr bwMode="auto">
          <a:xfrm>
            <a:off x="381000" y="1536700"/>
            <a:ext cx="80613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/>
              <a:t>运行：运行</a:t>
            </a:r>
            <a:r>
              <a:rPr lang="en-US" altLang="zh-CN" sz="2400" dirty="0" err="1"/>
              <a:t>SourceViewer</a:t>
            </a:r>
            <a:r>
              <a:rPr lang="zh-CN" altLang="en-US" sz="2400" dirty="0"/>
              <a:t>，并输入参数</a:t>
            </a:r>
            <a:r>
              <a:rPr lang="en-US" altLang="zh-CN" sz="2400" dirty="0">
                <a:hlinkClick r:id="rId4"/>
              </a:rPr>
              <a:t>http://www.oreilly.com</a:t>
            </a:r>
            <a:r>
              <a:rPr lang="zh-CN" altLang="en-US" sz="2400" dirty="0"/>
              <a:t>，运行结果如下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smtClean="0"/>
              <a:t>思考</a:t>
            </a:r>
          </a:p>
        </p:txBody>
      </p:sp>
      <p:sp>
        <p:nvSpPr>
          <p:cNvPr id="22531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22532" name="TextBox 2"/>
          <p:cNvSpPr txBox="1">
            <a:spLocks noChangeArrowheads="1"/>
          </p:cNvSpPr>
          <p:nvPr/>
        </p:nvSpPr>
        <p:spPr bwMode="auto">
          <a:xfrm>
            <a:off x="373063" y="1600200"/>
            <a:ext cx="82470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dirty="0" smtClean="0"/>
              <a:t>这些</a:t>
            </a:r>
            <a:r>
              <a:rPr lang="zh-CN" altLang="en-US" sz="2800" dirty="0"/>
              <a:t>程序的有没有问题？问题在哪里？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52425" y="2438400"/>
            <a:ext cx="8247063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程序不可靠：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en-US" altLang="zh-CN" sz="2800" dirty="0"/>
              <a:t>1.</a:t>
            </a:r>
            <a:r>
              <a:rPr lang="zh-CN" altLang="en-US" sz="2800" dirty="0"/>
              <a:t>轻率地假定目标</a:t>
            </a:r>
            <a:r>
              <a:rPr lang="en-US" altLang="zh-CN" sz="2800" dirty="0"/>
              <a:t>URL</a:t>
            </a:r>
            <a:r>
              <a:rPr lang="zh-CN" altLang="en-US" sz="2800" dirty="0"/>
              <a:t>指向的是文本，但可能指向的是</a:t>
            </a:r>
            <a:r>
              <a:rPr lang="en-US" altLang="zh-CN" sz="2800" dirty="0"/>
              <a:t>GIF</a:t>
            </a:r>
            <a:r>
              <a:rPr lang="zh-CN" altLang="en-US" sz="2800" dirty="0"/>
              <a:t>或</a:t>
            </a:r>
            <a:r>
              <a:rPr lang="en-US" altLang="zh-CN" sz="2800" dirty="0"/>
              <a:t>JPEG</a:t>
            </a:r>
            <a:r>
              <a:rPr lang="zh-CN" altLang="en-US" sz="2800" dirty="0"/>
              <a:t>图像、</a:t>
            </a:r>
            <a:r>
              <a:rPr lang="en-US" altLang="zh-CN" sz="2800" dirty="0"/>
              <a:t>MP3</a:t>
            </a:r>
            <a:r>
              <a:rPr lang="zh-CN" altLang="en-US" sz="2800" dirty="0"/>
              <a:t>声音文件等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en-US" altLang="zh-CN" sz="2800" dirty="0"/>
              <a:t>2.</a:t>
            </a:r>
            <a:r>
              <a:rPr lang="zh-CN" altLang="en-US" sz="2800" dirty="0"/>
              <a:t>即使是文本，远程主机的文档编码方式也可能与客户端系统的默认编码方式不同，使用的是不同的默认字符集</a:t>
            </a:r>
            <a:r>
              <a:rPr lang="zh-CN" altLang="en-US" sz="2800" dirty="0" smtClean="0"/>
              <a:t>。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smtClean="0"/>
              <a:t>编码方式的指定</a:t>
            </a:r>
          </a:p>
        </p:txBody>
      </p:sp>
      <p:sp>
        <p:nvSpPr>
          <p:cNvPr id="23555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23556" name="TextBox 3"/>
          <p:cNvSpPr txBox="1">
            <a:spLocks noChangeArrowheads="1"/>
          </p:cNvSpPr>
          <p:nvPr/>
        </p:nvSpPr>
        <p:spPr bwMode="auto">
          <a:xfrm>
            <a:off x="533400" y="1524000"/>
            <a:ext cx="83058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dirty="0"/>
              <a:t>通常一个页面或网络传输文件，如果使用</a:t>
            </a:r>
            <a:r>
              <a:rPr lang="zh-CN" altLang="en-US" sz="2800" dirty="0" smtClean="0"/>
              <a:t>了不同</a:t>
            </a:r>
            <a:r>
              <a:rPr lang="zh-CN" altLang="en-US" sz="2800" dirty="0"/>
              <a:t>的字符集</a:t>
            </a:r>
            <a:r>
              <a:rPr lang="en-US" altLang="zh-CN" sz="2800" dirty="0"/>
              <a:t>,</a:t>
            </a:r>
            <a:r>
              <a:rPr lang="zh-CN" altLang="en-US" sz="2800" dirty="0"/>
              <a:t>会在头部指明。</a:t>
            </a:r>
            <a:endParaRPr lang="en-US" altLang="zh-CN" sz="2800" dirty="0"/>
          </a:p>
        </p:txBody>
      </p:sp>
      <p:sp>
        <p:nvSpPr>
          <p:cNvPr id="23557" name="TextBox 1"/>
          <p:cNvSpPr txBox="1">
            <a:spLocks noChangeArrowheads="1"/>
          </p:cNvSpPr>
          <p:nvPr/>
        </p:nvSpPr>
        <p:spPr bwMode="auto">
          <a:xfrm>
            <a:off x="533400" y="2667000"/>
            <a:ext cx="8153400" cy="187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/>
              <a:t>例</a:t>
            </a:r>
            <a:r>
              <a:rPr lang="en-US" altLang="zh-CN" sz="2400" dirty="0"/>
              <a:t>1</a:t>
            </a:r>
            <a:r>
              <a:rPr lang="zh-CN" altLang="en-US" sz="2400" dirty="0"/>
              <a:t>，一个</a:t>
            </a:r>
            <a:r>
              <a:rPr lang="en-US" altLang="zh-CN" sz="2400" dirty="0"/>
              <a:t>HTML</a:t>
            </a:r>
            <a:r>
              <a:rPr lang="zh-CN" altLang="en-US" sz="2400" dirty="0"/>
              <a:t>文件在</a:t>
            </a:r>
            <a:r>
              <a:rPr lang="en-US" altLang="zh-CN" sz="2400" dirty="0"/>
              <a:t>META</a:t>
            </a:r>
            <a:r>
              <a:rPr lang="zh-CN" altLang="en-US" sz="2400" dirty="0"/>
              <a:t>标记中指明采用的是</a:t>
            </a:r>
            <a:r>
              <a:rPr lang="en-US" altLang="zh-CN" sz="2400" dirty="0"/>
              <a:t>Big-5</a:t>
            </a:r>
            <a:r>
              <a:rPr lang="zh-CN" altLang="en-US" sz="2400" dirty="0"/>
              <a:t>编码方式：</a:t>
            </a:r>
            <a:endParaRPr lang="en-US" altLang="zh-CN" sz="2400" dirty="0"/>
          </a:p>
          <a:p>
            <a:r>
              <a:rPr lang="en-US" altLang="zh-CN" sz="2000" dirty="0">
                <a:solidFill>
                  <a:schemeClr val="tx2"/>
                </a:solidFill>
              </a:rPr>
              <a:t>&lt;meta http-equiv=“content-type” content=“text/html; </a:t>
            </a:r>
            <a:r>
              <a:rPr lang="en-US" altLang="zh-CN" sz="2000" dirty="0" err="1">
                <a:solidFill>
                  <a:schemeClr val="tx2"/>
                </a:solidFill>
              </a:rPr>
              <a:t>charset</a:t>
            </a:r>
            <a:r>
              <a:rPr lang="en-US" altLang="zh-CN" sz="2000" dirty="0">
                <a:solidFill>
                  <a:schemeClr val="tx2"/>
                </a:solidFill>
              </a:rPr>
              <a:t>=big5”&gt;</a:t>
            </a:r>
          </a:p>
          <a:p>
            <a:r>
              <a:rPr lang="zh-CN" altLang="en-US" sz="2400" dirty="0"/>
              <a:t>例</a:t>
            </a:r>
            <a:r>
              <a:rPr lang="en-US" altLang="zh-CN" sz="2400" dirty="0"/>
              <a:t>2,</a:t>
            </a:r>
            <a:r>
              <a:rPr lang="zh-CN" altLang="en-US" sz="2400" dirty="0"/>
              <a:t>一个</a:t>
            </a:r>
            <a:r>
              <a:rPr lang="en-US" altLang="zh-CN" sz="2400" dirty="0"/>
              <a:t>XML</a:t>
            </a:r>
            <a:r>
              <a:rPr lang="zh-CN" altLang="en-US" sz="2400" dirty="0"/>
              <a:t>文件，在头部声明其编码方式：</a:t>
            </a:r>
            <a:endParaRPr lang="en-US" altLang="zh-CN" sz="2400" dirty="0"/>
          </a:p>
          <a:p>
            <a:r>
              <a:rPr lang="en-US" altLang="zh-CN" sz="2400" dirty="0">
                <a:solidFill>
                  <a:schemeClr val="tx2"/>
                </a:solidFill>
              </a:rPr>
              <a:t>&lt;?xml version=“1.0” encoding=“Big5”?&gt;</a:t>
            </a: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23558" name="TextBox 4"/>
          <p:cNvSpPr txBox="1">
            <a:spLocks noChangeArrowheads="1"/>
          </p:cNvSpPr>
          <p:nvPr/>
        </p:nvSpPr>
        <p:spPr bwMode="auto">
          <a:xfrm>
            <a:off x="762000" y="5029200"/>
            <a:ext cx="739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课后补充自学内容： </a:t>
            </a:r>
            <a:r>
              <a:rPr lang="en-US" altLang="zh-CN" sz="2400" dirty="0">
                <a:solidFill>
                  <a:srgbClr val="FF0000"/>
                </a:solidFill>
              </a:rPr>
              <a:t>html</a:t>
            </a:r>
            <a:r>
              <a:rPr lang="zh-CN" altLang="en-US" sz="2400" dirty="0">
                <a:solidFill>
                  <a:srgbClr val="FF0000"/>
                </a:solidFill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</a:rPr>
              <a:t>xml</a:t>
            </a:r>
            <a:r>
              <a:rPr lang="zh-CN" altLang="en-US" sz="2400" dirty="0">
                <a:solidFill>
                  <a:srgbClr val="FF0000"/>
                </a:solidFill>
              </a:rPr>
              <a:t>文档格式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822325" y="287338"/>
            <a:ext cx="8208963" cy="692150"/>
          </a:xfrm>
        </p:spPr>
        <p:txBody>
          <a:bodyPr/>
          <a:lstStyle/>
          <a:p>
            <a:r>
              <a:rPr lang="zh-CN" altLang="en-US" sz="3200" smtClean="0"/>
              <a:t>从</a:t>
            </a:r>
            <a:r>
              <a:rPr lang="en-US" altLang="zh-CN" sz="3200" smtClean="0"/>
              <a:t>URL</a:t>
            </a:r>
            <a:r>
              <a:rPr lang="zh-CN" altLang="en-US" sz="3200" smtClean="0"/>
              <a:t>获取数据：</a:t>
            </a:r>
            <a:r>
              <a:rPr lang="en-US" altLang="zh-CN" sz="3200" smtClean="0"/>
              <a:t>openConnection</a:t>
            </a:r>
            <a:r>
              <a:rPr lang="zh-CN" altLang="en-US" sz="3200" smtClean="0"/>
              <a:t>（）方法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556792"/>
            <a:ext cx="8764588" cy="4724400"/>
          </a:xfrm>
        </p:spPr>
        <p:txBody>
          <a:bodyPr>
            <a:normAutofit fontScale="62500" lnSpcReduction="20000"/>
          </a:bodyPr>
          <a:lstStyle/>
          <a:p>
            <a:pPr marL="0" indent="0">
              <a:buFont typeface="Wingdings 2" pitchFamily="18" charset="2"/>
              <a:buNone/>
              <a:defRPr/>
            </a:pPr>
            <a:r>
              <a:rPr lang="zh-CN" altLang="en-US" sz="3100" b="1" dirty="0" smtClean="0">
                <a:latin typeface="Courier New" panose="02070309020205020404" pitchFamily="49" charset="0"/>
                <a:ea typeface="Simsun" panose="02010600030101010101" pitchFamily="2" charset="-122"/>
              </a:rPr>
              <a:t>该方法为指定的</a:t>
            </a:r>
            <a:r>
              <a:rPr lang="en-US" altLang="zh-CN" sz="3100" b="1" dirty="0" smtClean="0"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zh-CN" altLang="en-US" sz="3100" b="1" dirty="0" smtClean="0">
                <a:latin typeface="Courier New" panose="02070309020205020404" pitchFamily="49" charset="0"/>
                <a:ea typeface="Simsun" panose="02010600030101010101" pitchFamily="2" charset="-122"/>
              </a:rPr>
              <a:t>打开一个</a:t>
            </a:r>
            <a:r>
              <a:rPr lang="en-US" altLang="zh-CN" sz="3100" b="1" dirty="0" smtClean="0">
                <a:latin typeface="Courier New" panose="02070309020205020404" pitchFamily="49" charset="0"/>
                <a:ea typeface="Simsun" panose="02010600030101010101" pitchFamily="2" charset="-122"/>
              </a:rPr>
              <a:t>socket</a:t>
            </a:r>
            <a:r>
              <a:rPr lang="zh-CN" altLang="en-US" sz="3100" b="1" dirty="0" smtClean="0">
                <a:latin typeface="Courier New" panose="02070309020205020404" pitchFamily="49" charset="0"/>
                <a:ea typeface="Simsun" panose="02010600030101010101" pitchFamily="2" charset="-122"/>
              </a:rPr>
              <a:t>，并返回一个</a:t>
            </a:r>
            <a:r>
              <a:rPr lang="en-US" altLang="zh-CN" sz="3100" b="1" dirty="0" err="1" smtClean="0">
                <a:latin typeface="Courier New" panose="02070309020205020404" pitchFamily="49" charset="0"/>
                <a:ea typeface="Simsun" panose="02010600030101010101" pitchFamily="2" charset="-122"/>
              </a:rPr>
              <a:t>URLConnection</a:t>
            </a:r>
            <a:r>
              <a:rPr lang="zh-CN" altLang="en-US" sz="3100" b="1" dirty="0" smtClean="0">
                <a:latin typeface="Courier New" panose="02070309020205020404" pitchFamily="49" charset="0"/>
                <a:ea typeface="Simsun" panose="02010600030101010101" pitchFamily="2" charset="-122"/>
              </a:rPr>
              <a:t>对象，通过此对象可以访问协议指定的所有元数据和数据。</a:t>
            </a:r>
            <a:endParaRPr lang="en-US" altLang="zh-CN" sz="3100" b="1" dirty="0" smtClean="0"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31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try</a:t>
            </a:r>
            <a:r>
              <a:rPr lang="en-US" altLang="zh-CN" sz="31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31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31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31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31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http://www.szu.edu.cn/"</a:t>
            </a:r>
            <a:r>
              <a:rPr lang="en-US" altLang="zh-CN" sz="31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31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31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try</a:t>
            </a:r>
            <a:r>
              <a:rPr lang="en-US" altLang="zh-CN" sz="31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31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31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</a:t>
            </a:r>
            <a:r>
              <a:rPr lang="en-US" altLang="zh-CN" sz="31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URLConnection</a:t>
            </a:r>
            <a:r>
              <a:rPr lang="en-US" altLang="zh-CN" sz="31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uc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31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31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openConnection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sz="31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31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</a:t>
            </a:r>
            <a:r>
              <a:rPr lang="en-US" altLang="zh-CN" sz="31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InputStream</a:t>
            </a:r>
            <a:r>
              <a:rPr lang="en-US" altLang="zh-CN" sz="31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uc</a:t>
            </a:r>
            <a:r>
              <a:rPr lang="en-US" altLang="zh-CN" sz="31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31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getInputStream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sz="31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3100" i="1" dirty="0" smtClean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// </a:t>
            </a:r>
            <a:r>
              <a:rPr lang="en-US" altLang="zh-CN" sz="3100" i="1" dirty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read from the connection...</a:t>
            </a:r>
            <a:endParaRPr lang="en-US" altLang="zh-CN" sz="31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31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}</a:t>
            </a:r>
            <a:r>
              <a:rPr lang="en-US" altLang="zh-CN" sz="31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31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IOException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31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31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</a:t>
            </a:r>
            <a:r>
              <a:rPr lang="en-US" altLang="zh-CN" sz="31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sz="31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31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err</a:t>
            </a:r>
            <a:r>
              <a:rPr lang="en-US" altLang="zh-CN" sz="31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31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println</a:t>
            </a:r>
            <a:r>
              <a:rPr lang="en-US" altLang="zh-CN" sz="31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31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31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31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}</a:t>
            </a:r>
            <a:endParaRPr lang="en-US" altLang="zh-CN" sz="31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31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MalformedURLException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31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31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31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</a:t>
            </a:r>
            <a:r>
              <a:rPr lang="en-US" altLang="zh-CN" sz="31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sz="31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31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err</a:t>
            </a:r>
            <a:r>
              <a:rPr lang="en-US" altLang="zh-CN" sz="31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31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println</a:t>
            </a:r>
            <a:r>
              <a:rPr lang="en-US" altLang="zh-CN" sz="31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31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31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31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sz="31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24581" name="TextBox 1"/>
          <p:cNvSpPr txBox="1">
            <a:spLocks noChangeArrowheads="1"/>
          </p:cNvSpPr>
          <p:nvPr/>
        </p:nvSpPr>
        <p:spPr bwMode="auto">
          <a:xfrm>
            <a:off x="533400" y="5777433"/>
            <a:ext cx="82296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dirty="0"/>
              <a:t>如果希望在程序中能与服务器直接通信，访问服务器发送的所有数据，应当使用些方法。可以访问服务器发送的原始文档（</a:t>
            </a:r>
            <a:r>
              <a:rPr lang="en-US" altLang="zh-CN" sz="2000" dirty="0"/>
              <a:t>HTML/</a:t>
            </a:r>
            <a:r>
              <a:rPr lang="zh-CN" altLang="en-US" sz="2000" dirty="0"/>
              <a:t>纯文本</a:t>
            </a:r>
            <a:r>
              <a:rPr lang="en-US" altLang="zh-CN" sz="2000" dirty="0"/>
              <a:t>/</a:t>
            </a:r>
            <a:r>
              <a:rPr lang="zh-CN" altLang="en-US" sz="2000" dirty="0"/>
              <a:t>二进制图像数据）和协议指定的所有元数据（</a:t>
            </a:r>
            <a:r>
              <a:rPr lang="en-US" altLang="zh-CN" sz="2000" dirty="0"/>
              <a:t>HTTP</a:t>
            </a:r>
            <a:r>
              <a:rPr lang="zh-CN" altLang="en-US" sz="2000" dirty="0"/>
              <a:t>头部</a:t>
            </a:r>
            <a:r>
              <a:rPr lang="en-US" altLang="zh-CN" sz="2000" dirty="0"/>
              <a:t>,</a:t>
            </a:r>
            <a:r>
              <a:rPr lang="zh-CN" altLang="en-US" sz="2000" dirty="0"/>
              <a:t>原始</a:t>
            </a:r>
            <a:r>
              <a:rPr lang="en-US" altLang="zh-CN" sz="2000" dirty="0"/>
              <a:t>html</a:t>
            </a:r>
            <a:r>
              <a:rPr lang="zh-CN" altLang="en-US" sz="2000" dirty="0"/>
              <a:t>）。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可访问服务器发送的所有数据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头信息</a:t>
            </a:r>
            <a:endParaRPr lang="en-US" altLang="zh-CN" dirty="0" smtClean="0"/>
          </a:p>
          <a:p>
            <a:r>
              <a:rPr lang="zh-CN" altLang="en-US" dirty="0" smtClean="0"/>
              <a:t>可以向服务器发送数据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Email</a:t>
            </a:r>
          </a:p>
          <a:p>
            <a:pPr lvl="1"/>
            <a:r>
              <a:rPr lang="zh-CN" altLang="en-US" dirty="0" smtClean="0"/>
              <a:t>提交表单</a:t>
            </a:r>
            <a:endParaRPr lang="en-US" altLang="zh-CN" dirty="0" smtClean="0"/>
          </a:p>
          <a:p>
            <a:r>
              <a:rPr lang="en-US" altLang="zh-CN" sz="2800" dirty="0" err="1" smtClean="0"/>
              <a:t>openConnection</a:t>
            </a:r>
            <a:r>
              <a:rPr lang="en-US" altLang="zh-CN" sz="2800" dirty="0" smtClean="0"/>
              <a:t>(Proxy </a:t>
            </a:r>
            <a:r>
              <a:rPr lang="en-US" altLang="zh-CN" sz="2800" dirty="0" err="1" smtClean="0"/>
              <a:t>proxy</a:t>
            </a:r>
            <a:r>
              <a:rPr lang="en-US" altLang="zh-CN" sz="2400" dirty="0" smtClean="0"/>
              <a:t>)  </a:t>
            </a:r>
            <a:r>
              <a:rPr lang="zh-CN" altLang="en-US" sz="2800" dirty="0" smtClean="0"/>
              <a:t>方法的重载版本</a:t>
            </a:r>
            <a:endParaRPr lang="en-US" altLang="zh-CN" sz="2800" dirty="0" smtClean="0"/>
          </a:p>
          <a:p>
            <a:pPr lvl="1"/>
            <a:r>
              <a:rPr lang="zh-CN" altLang="en-US" dirty="0" smtClean="0"/>
              <a:t>可设置代理服务器，指定通过哪个代理服务器传递连接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08963" cy="6921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/>
              <a:t>从</a:t>
            </a:r>
            <a:r>
              <a:rPr lang="en-US" altLang="zh-CN" dirty="0"/>
              <a:t>URL</a:t>
            </a:r>
            <a:r>
              <a:rPr lang="zh-CN" altLang="en-US" dirty="0"/>
              <a:t>获取数据：</a:t>
            </a:r>
            <a:r>
              <a:rPr lang="en-US" altLang="zh-CN" dirty="0" err="1" smtClean="0"/>
              <a:t>openConnection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URL</a:t>
            </a:r>
            <a:r>
              <a:rPr lang="zh-CN" altLang="en-US" dirty="0"/>
              <a:t>获取数据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getContent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556792"/>
            <a:ext cx="8626415" cy="5135336"/>
          </a:xfrm>
        </p:spPr>
        <p:txBody>
          <a:bodyPr/>
          <a:lstStyle/>
          <a:p>
            <a:r>
              <a:rPr lang="zh-CN" altLang="en-US" dirty="0" smtClean="0"/>
              <a:t>用法：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"http://mesola.obspm.fr/"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Object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24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getContent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i="1" dirty="0" smtClean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//</a:t>
            </a:r>
            <a:r>
              <a:rPr lang="zh-CN" altLang="en-US" sz="2400" i="1" dirty="0" smtClean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强制将对象</a:t>
            </a:r>
            <a:r>
              <a:rPr lang="en-US" altLang="zh-CN" sz="2400" i="1" dirty="0" smtClean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</a:t>
            </a:r>
            <a:r>
              <a:rPr lang="zh-CN" altLang="en-US" sz="2400" i="1" dirty="0" smtClean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转换为特定类型</a:t>
            </a:r>
            <a:endParaRPr lang="en-US" altLang="zh-CN" sz="2400" i="1" dirty="0" smtClean="0">
              <a:solidFill>
                <a:srgbClr val="35586C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if(o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instanceof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URLImageSource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){</a:t>
            </a:r>
            <a:endParaRPr lang="en-US" altLang="zh-CN" sz="2400" dirty="0">
              <a:solidFill>
                <a:srgbClr val="000088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r>
              <a:rPr lang="zh-CN" altLang="en-US" dirty="0" smtClean="0"/>
              <a:t>缺点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难以事先预知对象类型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不同的类型在不同的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版本中不同</a:t>
            </a:r>
            <a:endParaRPr lang="zh-CN" altLang="en-US" dirty="0"/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251520" y="5315724"/>
            <a:ext cx="84582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       该</a:t>
            </a:r>
            <a:r>
              <a:rPr lang="zh-CN" altLang="en-US" sz="2400" dirty="0">
                <a:solidFill>
                  <a:srgbClr val="FF0000"/>
                </a:solidFill>
              </a:rPr>
              <a:t>方法在从服务器获取的数据头部中查找</a:t>
            </a:r>
            <a:r>
              <a:rPr lang="en-US" altLang="zh-CN" sz="2400" dirty="0">
                <a:solidFill>
                  <a:srgbClr val="FF0000"/>
                </a:solidFill>
              </a:rPr>
              <a:t>content-type</a:t>
            </a:r>
            <a:r>
              <a:rPr lang="zh-CN" altLang="en-US" sz="2400" dirty="0">
                <a:solidFill>
                  <a:srgbClr val="FF0000"/>
                </a:solidFill>
              </a:rPr>
              <a:t>字段，如果服务器没有使用</a:t>
            </a:r>
            <a:r>
              <a:rPr lang="en-US" altLang="zh-CN" sz="2400" dirty="0">
                <a:solidFill>
                  <a:srgbClr val="FF0000"/>
                </a:solidFill>
              </a:rPr>
              <a:t>MIME</a:t>
            </a:r>
            <a:r>
              <a:rPr lang="zh-CN" altLang="en-US" sz="2400" dirty="0">
                <a:solidFill>
                  <a:srgbClr val="FF0000"/>
                </a:solidFill>
              </a:rPr>
              <a:t>头部或使用了一个陌生的</a:t>
            </a:r>
            <a:r>
              <a:rPr lang="en-US" altLang="zh-CN" sz="2400" dirty="0">
                <a:solidFill>
                  <a:srgbClr val="FF0000"/>
                </a:solidFill>
              </a:rPr>
              <a:t>content-type</a:t>
            </a:r>
            <a:r>
              <a:rPr lang="zh-CN" altLang="en-US" sz="2400" dirty="0">
                <a:solidFill>
                  <a:srgbClr val="FF0000"/>
                </a:solidFill>
              </a:rPr>
              <a:t>，该方法会返回某种</a:t>
            </a:r>
            <a:r>
              <a:rPr lang="en-US" altLang="zh-CN" sz="2400" dirty="0" err="1">
                <a:solidFill>
                  <a:srgbClr val="FF0000"/>
                </a:solidFill>
              </a:rPr>
              <a:t>InputStream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>
                <a:solidFill>
                  <a:srgbClr val="FF0000"/>
                </a:solidFill>
              </a:rPr>
              <a:t>供程序读取数据。</a:t>
            </a:r>
          </a:p>
        </p:txBody>
      </p:sp>
    </p:spTree>
    <p:extLst>
      <p:ext uri="{BB962C8B-B14F-4D97-AF65-F5344CB8AC3E}">
        <p14:creationId xmlns:p14="http://schemas.microsoft.com/office/powerpoint/2010/main" xmlns="" val="394608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例：下载一个对象</a:t>
            </a:r>
          </a:p>
        </p:txBody>
      </p:sp>
      <p:sp>
        <p:nvSpPr>
          <p:cNvPr id="2765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27653" name="矩形 3"/>
          <p:cNvSpPr>
            <a:spLocks noChangeArrowheads="1"/>
          </p:cNvSpPr>
          <p:nvPr/>
        </p:nvSpPr>
        <p:spPr bwMode="auto">
          <a:xfrm>
            <a:off x="395536" y="1916832"/>
            <a:ext cx="8534400" cy="452437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 dirty="0">
                <a:latin typeface="Consolas" pitchFamily="49" charset="0"/>
              </a:rPr>
              <a:t>public class </a:t>
            </a:r>
            <a:r>
              <a:rPr lang="en-US" altLang="zh-CN" sz="1600" b="1" dirty="0" err="1">
                <a:latin typeface="Consolas" pitchFamily="49" charset="0"/>
              </a:rPr>
              <a:t>ContentGetter</a:t>
            </a:r>
            <a:r>
              <a:rPr lang="en-US" altLang="zh-CN" sz="1600" b="1" dirty="0">
                <a:latin typeface="Consolas" pitchFamily="49" charset="0"/>
              </a:rPr>
              <a:t> {</a:t>
            </a:r>
          </a:p>
          <a:p>
            <a:endParaRPr lang="en-US" altLang="zh-CN" sz="1600" b="1" dirty="0">
              <a:latin typeface="Consolas" pitchFamily="49" charset="0"/>
            </a:endParaRPr>
          </a:p>
          <a:p>
            <a:r>
              <a:rPr lang="en-US" altLang="zh-CN" sz="1600" b="1" dirty="0">
                <a:latin typeface="Consolas" pitchFamily="49" charset="0"/>
              </a:rPr>
              <a:t>  public static void main (String[] </a:t>
            </a:r>
            <a:r>
              <a:rPr lang="en-US" altLang="zh-CN" sz="1600" b="1" dirty="0" err="1">
                <a:latin typeface="Consolas" pitchFamily="49" charset="0"/>
              </a:rPr>
              <a:t>args</a:t>
            </a:r>
            <a:r>
              <a:rPr lang="en-US" altLang="zh-CN" sz="1600" b="1" dirty="0">
                <a:latin typeface="Consolas" pitchFamily="49" charset="0"/>
              </a:rPr>
              <a:t>) {</a:t>
            </a:r>
          </a:p>
          <a:p>
            <a:endParaRPr lang="en-US" altLang="zh-CN" sz="1600" b="1" dirty="0">
              <a:latin typeface="Consolas" pitchFamily="49" charset="0"/>
            </a:endParaRPr>
          </a:p>
          <a:p>
            <a:r>
              <a:rPr lang="en-US" altLang="zh-CN" sz="1600" b="1" dirty="0">
                <a:latin typeface="Consolas" pitchFamily="49" charset="0"/>
              </a:rPr>
              <a:t>    if  (</a:t>
            </a:r>
            <a:r>
              <a:rPr lang="en-US" altLang="zh-CN" sz="1600" b="1" dirty="0" err="1">
                <a:latin typeface="Consolas" pitchFamily="49" charset="0"/>
              </a:rPr>
              <a:t>args.length</a:t>
            </a:r>
            <a:r>
              <a:rPr lang="en-US" altLang="zh-CN" sz="1600" b="1" dirty="0">
                <a:latin typeface="Consolas" pitchFamily="49" charset="0"/>
              </a:rPr>
              <a:t> &gt; 0) {</a:t>
            </a:r>
          </a:p>
          <a:p>
            <a:r>
              <a:rPr lang="en-US" altLang="zh-CN" sz="1600" b="1" dirty="0">
                <a:latin typeface="Consolas" pitchFamily="49" charset="0"/>
              </a:rPr>
              <a:t>      // Open the URL for reading</a:t>
            </a:r>
          </a:p>
          <a:p>
            <a:r>
              <a:rPr lang="en-US" altLang="zh-CN" sz="1600" b="1" dirty="0">
                <a:latin typeface="Consolas" pitchFamily="49" charset="0"/>
              </a:rPr>
              <a:t>      try {</a:t>
            </a:r>
          </a:p>
          <a:p>
            <a:r>
              <a:rPr lang="en-US" altLang="zh-CN" sz="1600" b="1" dirty="0">
                <a:latin typeface="Consolas" pitchFamily="49" charset="0"/>
              </a:rPr>
              <a:t>        URL u = new URL(</a:t>
            </a:r>
            <a:r>
              <a:rPr lang="en-US" altLang="zh-CN" sz="1600" b="1" dirty="0" err="1">
                <a:latin typeface="Consolas" pitchFamily="49" charset="0"/>
              </a:rPr>
              <a:t>args</a:t>
            </a:r>
            <a:r>
              <a:rPr lang="en-US" altLang="zh-CN" sz="1600" b="1" dirty="0">
                <a:latin typeface="Consolas" pitchFamily="49" charset="0"/>
              </a:rPr>
              <a:t>[0]);</a:t>
            </a:r>
          </a:p>
          <a:p>
            <a:r>
              <a:rPr lang="en-US" altLang="zh-CN" sz="1600" b="1" dirty="0">
                <a:latin typeface="Consolas" pitchFamily="49" charset="0"/>
              </a:rPr>
              <a:t>        Object o = </a:t>
            </a:r>
            <a:r>
              <a:rPr lang="en-US" altLang="zh-CN" sz="1600" b="1" dirty="0" err="1">
                <a:latin typeface="Consolas" pitchFamily="49" charset="0"/>
              </a:rPr>
              <a:t>u.getContent</a:t>
            </a:r>
            <a:r>
              <a:rPr lang="en-US" altLang="zh-CN" sz="1600" b="1" dirty="0">
                <a:latin typeface="Consolas" pitchFamily="49" charset="0"/>
              </a:rPr>
              <a:t>();</a:t>
            </a:r>
          </a:p>
          <a:p>
            <a:r>
              <a:rPr lang="en-US" altLang="zh-CN" sz="1600" b="1" dirty="0">
                <a:latin typeface="Consolas" pitchFamily="49" charset="0"/>
              </a:rPr>
              <a:t>        </a:t>
            </a:r>
            <a:r>
              <a:rPr lang="en-US" altLang="zh-CN" sz="1600" b="1" dirty="0" err="1">
                <a:latin typeface="Consolas" pitchFamily="49" charset="0"/>
              </a:rPr>
              <a:t>System.out.println</a:t>
            </a:r>
            <a:r>
              <a:rPr lang="en-US" altLang="zh-CN" sz="1600" b="1" dirty="0">
                <a:latin typeface="Consolas" pitchFamily="49" charset="0"/>
              </a:rPr>
              <a:t>("I got a " + </a:t>
            </a:r>
            <a:r>
              <a:rPr lang="en-US" altLang="zh-CN" sz="1600" b="1" dirty="0" err="1">
                <a:latin typeface="Consolas" pitchFamily="49" charset="0"/>
              </a:rPr>
              <a:t>o.getClass</a:t>
            </a:r>
            <a:r>
              <a:rPr lang="en-US" altLang="zh-CN" sz="1600" b="1" dirty="0">
                <a:latin typeface="Consolas" pitchFamily="49" charset="0"/>
              </a:rPr>
              <a:t>().</a:t>
            </a:r>
            <a:r>
              <a:rPr lang="en-US" altLang="zh-CN" sz="1600" b="1" dirty="0" err="1">
                <a:latin typeface="Consolas" pitchFamily="49" charset="0"/>
              </a:rPr>
              <a:t>getName</a:t>
            </a:r>
            <a:r>
              <a:rPr lang="en-US" altLang="zh-CN" sz="1600" b="1" dirty="0">
                <a:latin typeface="Consolas" pitchFamily="49" charset="0"/>
              </a:rPr>
              <a:t>());</a:t>
            </a:r>
          </a:p>
          <a:p>
            <a:r>
              <a:rPr lang="en-US" altLang="zh-CN" sz="1600" b="1" dirty="0">
                <a:latin typeface="Consolas" pitchFamily="49" charset="0"/>
              </a:rPr>
              <a:t>      } catch (</a:t>
            </a:r>
            <a:r>
              <a:rPr lang="en-US" altLang="zh-CN" sz="1600" b="1" dirty="0" err="1">
                <a:latin typeface="Consolas" pitchFamily="49" charset="0"/>
              </a:rPr>
              <a:t>MalformedURLException</a:t>
            </a:r>
            <a:r>
              <a:rPr lang="en-US" altLang="zh-CN" sz="1600" b="1" dirty="0">
                <a:latin typeface="Consolas" pitchFamily="49" charset="0"/>
              </a:rPr>
              <a:t> ex) {</a:t>
            </a:r>
          </a:p>
          <a:p>
            <a:r>
              <a:rPr lang="en-US" altLang="zh-CN" sz="1600" b="1" dirty="0">
                <a:latin typeface="Consolas" pitchFamily="49" charset="0"/>
              </a:rPr>
              <a:t>        </a:t>
            </a:r>
            <a:r>
              <a:rPr lang="en-US" altLang="zh-CN" sz="1600" b="1" dirty="0" err="1">
                <a:latin typeface="Consolas" pitchFamily="49" charset="0"/>
              </a:rPr>
              <a:t>System.err.println</a:t>
            </a:r>
            <a:r>
              <a:rPr lang="en-US" altLang="zh-CN" sz="1600" b="1" dirty="0">
                <a:latin typeface="Consolas" pitchFamily="49" charset="0"/>
              </a:rPr>
              <a:t>(</a:t>
            </a:r>
            <a:r>
              <a:rPr lang="en-US" altLang="zh-CN" sz="1600" b="1" dirty="0" err="1">
                <a:latin typeface="Consolas" pitchFamily="49" charset="0"/>
              </a:rPr>
              <a:t>args</a:t>
            </a:r>
            <a:r>
              <a:rPr lang="en-US" altLang="zh-CN" sz="1600" b="1" dirty="0">
                <a:latin typeface="Consolas" pitchFamily="49" charset="0"/>
              </a:rPr>
              <a:t>[0] + " is not a </a:t>
            </a:r>
            <a:r>
              <a:rPr lang="en-US" altLang="zh-CN" sz="1600" b="1" dirty="0" err="1">
                <a:latin typeface="Consolas" pitchFamily="49" charset="0"/>
              </a:rPr>
              <a:t>parseable</a:t>
            </a:r>
            <a:r>
              <a:rPr lang="en-US" altLang="zh-CN" sz="1600" b="1" dirty="0">
                <a:latin typeface="Consolas" pitchFamily="49" charset="0"/>
              </a:rPr>
              <a:t> URL");</a:t>
            </a:r>
          </a:p>
          <a:p>
            <a:r>
              <a:rPr lang="en-US" altLang="zh-CN" sz="1600" b="1" dirty="0">
                <a:latin typeface="Consolas" pitchFamily="49" charset="0"/>
              </a:rPr>
              <a:t>      } catch (</a:t>
            </a:r>
            <a:r>
              <a:rPr lang="en-US" altLang="zh-CN" sz="1600" b="1" dirty="0" err="1">
                <a:latin typeface="Consolas" pitchFamily="49" charset="0"/>
              </a:rPr>
              <a:t>IOException</a:t>
            </a:r>
            <a:r>
              <a:rPr lang="en-US" altLang="zh-CN" sz="1600" b="1" dirty="0">
                <a:latin typeface="Consolas" pitchFamily="49" charset="0"/>
              </a:rPr>
              <a:t> ex) {</a:t>
            </a:r>
          </a:p>
          <a:p>
            <a:r>
              <a:rPr lang="en-US" altLang="zh-CN" sz="1600" b="1" dirty="0">
                <a:latin typeface="Consolas" pitchFamily="49" charset="0"/>
              </a:rPr>
              <a:t>        </a:t>
            </a:r>
            <a:r>
              <a:rPr lang="en-US" altLang="zh-CN" sz="1600" b="1" dirty="0" err="1">
                <a:latin typeface="Consolas" pitchFamily="49" charset="0"/>
              </a:rPr>
              <a:t>System.err.println</a:t>
            </a:r>
            <a:r>
              <a:rPr lang="en-US" altLang="zh-CN" sz="1600" b="1" dirty="0">
                <a:latin typeface="Consolas" pitchFamily="49" charset="0"/>
              </a:rPr>
              <a:t>(ex);</a:t>
            </a:r>
          </a:p>
          <a:p>
            <a:r>
              <a:rPr lang="en-US" altLang="zh-CN" sz="1600" b="1" dirty="0">
                <a:latin typeface="Consolas" pitchFamily="49" charset="0"/>
              </a:rPr>
              <a:t>      }</a:t>
            </a:r>
          </a:p>
          <a:p>
            <a:r>
              <a:rPr lang="en-US" altLang="zh-CN" sz="1600" b="1" dirty="0">
                <a:latin typeface="Consolas" pitchFamily="49" charset="0"/>
              </a:rPr>
              <a:t>    }</a:t>
            </a:r>
          </a:p>
          <a:p>
            <a:r>
              <a:rPr lang="en-US" altLang="zh-CN" sz="1600" b="1" dirty="0">
                <a:latin typeface="Consolas" pitchFamily="49" charset="0"/>
              </a:rPr>
              <a:t>  } </a:t>
            </a:r>
          </a:p>
          <a:p>
            <a:r>
              <a:rPr lang="en-US" altLang="zh-CN" sz="1600" b="1" dirty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运行结果</a:t>
            </a:r>
          </a:p>
        </p:txBody>
      </p:sp>
      <p:sp>
        <p:nvSpPr>
          <p:cNvPr id="28675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69888" y="4016375"/>
            <a:ext cx="7859712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dirty="0" smtClean="0"/>
              <a:t>请</a:t>
            </a:r>
            <a:r>
              <a:rPr lang="zh-CN" altLang="en-US" sz="2000" dirty="0"/>
              <a:t>尝试运行时输入参数</a:t>
            </a:r>
            <a:r>
              <a:rPr lang="en-US" altLang="zh-CN" sz="2000" dirty="0"/>
              <a:t>URL</a:t>
            </a:r>
            <a:r>
              <a:rPr lang="zh-CN" altLang="en-US" sz="2000" dirty="0"/>
              <a:t>指向一个图像文件，观察其结果。</a:t>
            </a:r>
            <a:endParaRPr lang="en-US" altLang="zh-CN" sz="2000" dirty="0"/>
          </a:p>
          <a:p>
            <a:r>
              <a:rPr lang="zh-CN" altLang="en-US" sz="2000" dirty="0"/>
              <a:t>请尝试运行时输入参数</a:t>
            </a:r>
            <a:r>
              <a:rPr lang="en-US" altLang="zh-CN" sz="2000" dirty="0"/>
              <a:t>URL</a:t>
            </a:r>
            <a:r>
              <a:rPr lang="zh-CN" altLang="en-US" sz="2000" dirty="0"/>
              <a:t>指向一个</a:t>
            </a:r>
            <a:r>
              <a:rPr lang="en-US" altLang="zh-CN" sz="2000" dirty="0"/>
              <a:t>class</a:t>
            </a:r>
            <a:r>
              <a:rPr lang="zh-CN" altLang="en-US" sz="2000" dirty="0"/>
              <a:t>文件，观察其结果。</a:t>
            </a:r>
            <a:endParaRPr lang="en-US" altLang="zh-CN" sz="2000" dirty="0"/>
          </a:p>
          <a:p>
            <a:r>
              <a:rPr lang="zh-CN" altLang="en-US" sz="2000" dirty="0"/>
              <a:t>请尝试运行时输入参数</a:t>
            </a:r>
            <a:r>
              <a:rPr lang="en-US" altLang="zh-CN" sz="2000" dirty="0"/>
              <a:t>URL</a:t>
            </a:r>
            <a:r>
              <a:rPr lang="zh-CN" altLang="en-US" sz="2000" dirty="0"/>
              <a:t>指向一个音频文件，观察其结果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zh-CN" altLang="en-US" sz="2000" dirty="0"/>
              <a:t>思考：使用</a:t>
            </a:r>
            <a:r>
              <a:rPr lang="en-US" altLang="zh-CN" sz="2000" dirty="0" err="1"/>
              <a:t>getContent</a:t>
            </a:r>
            <a:r>
              <a:rPr lang="en-US" altLang="zh-CN" sz="2000" dirty="0"/>
              <a:t>()</a:t>
            </a:r>
            <a:r>
              <a:rPr lang="zh-CN" altLang="en-US" sz="2000" dirty="0"/>
              <a:t>方法：很难预测获得哪种对象（</a:t>
            </a:r>
            <a:r>
              <a:rPr lang="en-US" altLang="zh-CN" sz="2000" dirty="0" err="1"/>
              <a:t>InputStream</a:t>
            </a:r>
            <a:r>
              <a:rPr lang="en-US" altLang="zh-CN" sz="2000" dirty="0"/>
              <a:t>/</a:t>
            </a:r>
            <a:r>
              <a:rPr lang="en-US" altLang="zh-CN" sz="2000" dirty="0" err="1"/>
              <a:t>ImageProducer</a:t>
            </a:r>
            <a:r>
              <a:rPr lang="en-US" altLang="zh-CN" sz="2000" dirty="0"/>
              <a:t>/</a:t>
            </a:r>
            <a:r>
              <a:rPr lang="en-US" altLang="zh-CN" sz="2000" dirty="0" err="1"/>
              <a:t>AudioClip</a:t>
            </a:r>
            <a:r>
              <a:rPr lang="zh-CN" altLang="en-US" sz="2000" dirty="0"/>
              <a:t>），需使用</a:t>
            </a:r>
            <a:r>
              <a:rPr lang="en-US" altLang="zh-CN" sz="2000" dirty="0" err="1"/>
              <a:t>instanceof</a:t>
            </a:r>
            <a:r>
              <a:rPr lang="zh-CN" altLang="en-US" sz="2000" dirty="0"/>
              <a:t>操作符进行检查。</a:t>
            </a:r>
          </a:p>
        </p:txBody>
      </p:sp>
      <p:sp>
        <p:nvSpPr>
          <p:cNvPr id="28677" name="TextBox 6"/>
          <p:cNvSpPr txBox="1">
            <a:spLocks noChangeArrowheads="1"/>
          </p:cNvSpPr>
          <p:nvPr/>
        </p:nvSpPr>
        <p:spPr bwMode="auto">
          <a:xfrm>
            <a:off x="381000" y="1536700"/>
            <a:ext cx="80613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dirty="0"/>
              <a:t>运行：运行</a:t>
            </a:r>
            <a:r>
              <a:rPr lang="en-US" altLang="zh-CN" sz="2000" dirty="0" err="1"/>
              <a:t>ContentGetter</a:t>
            </a:r>
            <a:r>
              <a:rPr lang="zh-CN" altLang="en-US" sz="2000" dirty="0"/>
              <a:t>，并输入参数</a:t>
            </a:r>
            <a:r>
              <a:rPr lang="en-US" altLang="zh-CN" sz="2000" dirty="0"/>
              <a:t>http://www1.szu.edu.cn</a:t>
            </a:r>
            <a:r>
              <a:rPr lang="zh-CN" altLang="en-US" sz="2000" dirty="0"/>
              <a:t>，运行结果如下</a:t>
            </a:r>
          </a:p>
        </p:txBody>
      </p:sp>
      <p:pic>
        <p:nvPicPr>
          <p:cNvPr id="286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127" y="2636912"/>
            <a:ext cx="8215313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2867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0"/>
            <a:ext cx="8153400" cy="9906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分解</a:t>
            </a:r>
            <a:r>
              <a:rPr lang="en-US" altLang="zh-CN" dirty="0" smtClean="0"/>
              <a:t>URL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84784"/>
            <a:ext cx="8260656" cy="4919312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URL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5</a:t>
            </a:r>
            <a:r>
              <a:rPr lang="zh-CN" altLang="en-US" sz="2400" dirty="0" smtClean="0"/>
              <a:t>部分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模式（</a:t>
            </a:r>
            <a:r>
              <a:rPr lang="en-US" altLang="zh-CN" sz="2000" dirty="0" smtClean="0"/>
              <a:t>scheme)</a:t>
            </a:r>
            <a:r>
              <a:rPr lang="zh-CN" altLang="en-US" sz="2000" dirty="0" smtClean="0"/>
              <a:t>，即协议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授权机构（</a:t>
            </a:r>
            <a:r>
              <a:rPr lang="en-US" altLang="zh-CN" sz="2000" dirty="0" smtClean="0"/>
              <a:t>authority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路径（</a:t>
            </a:r>
            <a:r>
              <a:rPr lang="en-US" altLang="zh-CN" sz="2000" dirty="0"/>
              <a:t>path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片段标识符（</a:t>
            </a:r>
            <a:r>
              <a:rPr lang="en-US" altLang="zh-CN" sz="2000" dirty="0" smtClean="0"/>
              <a:t>fragment identifier/section </a:t>
            </a:r>
            <a:r>
              <a:rPr lang="en-US" altLang="zh-CN" sz="2000" dirty="0"/>
              <a:t>/</a:t>
            </a:r>
            <a:r>
              <a:rPr lang="en-US" altLang="zh-CN" sz="2000" dirty="0" smtClean="0"/>
              <a:t>ref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查询字符串（</a:t>
            </a:r>
            <a:r>
              <a:rPr lang="en-US" altLang="zh-CN" sz="2000" dirty="0"/>
              <a:t>query string</a:t>
            </a:r>
            <a:r>
              <a:rPr lang="zh-CN" altLang="en-US" sz="2000" dirty="0" smtClean="0"/>
              <a:t>）</a:t>
            </a:r>
            <a:endParaRPr lang="zh-CN" altLang="en-US" sz="2000" dirty="0"/>
          </a:p>
        </p:txBody>
      </p:sp>
      <p:grpSp>
        <p:nvGrpSpPr>
          <p:cNvPr id="4" name="Group 82"/>
          <p:cNvGrpSpPr>
            <a:grpSpLocks/>
          </p:cNvGrpSpPr>
          <p:nvPr/>
        </p:nvGrpSpPr>
        <p:grpSpPr bwMode="auto">
          <a:xfrm>
            <a:off x="291776" y="4005064"/>
            <a:ext cx="1524000" cy="1524000"/>
            <a:chOff x="240" y="2112"/>
            <a:chExt cx="1004" cy="960"/>
          </a:xfrm>
        </p:grpSpPr>
        <p:sp>
          <p:nvSpPr>
            <p:cNvPr id="5" name="Rectangle 83"/>
            <p:cNvSpPr>
              <a:spLocks noChangeArrowheads="1"/>
            </p:cNvSpPr>
            <p:nvPr/>
          </p:nvSpPr>
          <p:spPr bwMode="auto">
            <a:xfrm>
              <a:off x="240" y="2112"/>
              <a:ext cx="528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/>
            </a:p>
          </p:txBody>
        </p:sp>
        <p:sp>
          <p:nvSpPr>
            <p:cNvPr id="6" name="AutoShape 84"/>
            <p:cNvSpPr>
              <a:spLocks/>
            </p:cNvSpPr>
            <p:nvPr/>
          </p:nvSpPr>
          <p:spPr bwMode="auto">
            <a:xfrm>
              <a:off x="336" y="2688"/>
              <a:ext cx="908" cy="384"/>
            </a:xfrm>
            <a:prstGeom prst="borderCallout1">
              <a:avLst>
                <a:gd name="adj1" fmla="val 18750"/>
                <a:gd name="adj2" fmla="val -5287"/>
                <a:gd name="adj3" fmla="val -48958"/>
                <a:gd name="adj4" fmla="val -5727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Protocol</a:t>
              </a:r>
            </a:p>
          </p:txBody>
        </p:sp>
      </p:grpSp>
      <p:grpSp>
        <p:nvGrpSpPr>
          <p:cNvPr id="7" name="Group 85"/>
          <p:cNvGrpSpPr>
            <a:grpSpLocks/>
          </p:cNvGrpSpPr>
          <p:nvPr/>
        </p:nvGrpSpPr>
        <p:grpSpPr bwMode="auto">
          <a:xfrm>
            <a:off x="457837" y="4005064"/>
            <a:ext cx="2656303" cy="2590800"/>
            <a:chOff x="530" y="2352"/>
            <a:chExt cx="2254" cy="1632"/>
          </a:xfrm>
        </p:grpSpPr>
        <p:sp>
          <p:nvSpPr>
            <p:cNvPr id="8" name="Rectangle 86"/>
            <p:cNvSpPr>
              <a:spLocks noChangeArrowheads="1"/>
            </p:cNvSpPr>
            <p:nvPr/>
          </p:nvSpPr>
          <p:spPr bwMode="auto">
            <a:xfrm>
              <a:off x="1104" y="2352"/>
              <a:ext cx="1680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/>
            </a:p>
          </p:txBody>
        </p:sp>
        <p:sp>
          <p:nvSpPr>
            <p:cNvPr id="9" name="AutoShape 87"/>
            <p:cNvSpPr>
              <a:spLocks/>
            </p:cNvSpPr>
            <p:nvPr/>
          </p:nvSpPr>
          <p:spPr bwMode="auto">
            <a:xfrm>
              <a:off x="530" y="3408"/>
              <a:ext cx="895" cy="576"/>
            </a:xfrm>
            <a:prstGeom prst="borderCallout1">
              <a:avLst>
                <a:gd name="adj1" fmla="val 12500"/>
                <a:gd name="adj2" fmla="val 106630"/>
                <a:gd name="adj3" fmla="val -116667"/>
                <a:gd name="adj4" fmla="val 117819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CC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Host Name</a:t>
              </a:r>
            </a:p>
          </p:txBody>
        </p:sp>
      </p:grpSp>
      <p:grpSp>
        <p:nvGrpSpPr>
          <p:cNvPr id="10" name="Group 98"/>
          <p:cNvGrpSpPr>
            <a:grpSpLocks/>
          </p:cNvGrpSpPr>
          <p:nvPr/>
        </p:nvGrpSpPr>
        <p:grpSpPr bwMode="auto">
          <a:xfrm>
            <a:off x="1721313" y="4011414"/>
            <a:ext cx="1873250" cy="2538412"/>
            <a:chOff x="1519" y="2209"/>
            <a:chExt cx="1180" cy="1599"/>
          </a:xfrm>
        </p:grpSpPr>
        <p:sp>
          <p:nvSpPr>
            <p:cNvPr id="11" name="Rectangle 89"/>
            <p:cNvSpPr>
              <a:spLocks noChangeArrowheads="1"/>
            </p:cNvSpPr>
            <p:nvPr/>
          </p:nvSpPr>
          <p:spPr bwMode="auto">
            <a:xfrm>
              <a:off x="2438" y="2209"/>
              <a:ext cx="261" cy="373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/>
            </a:p>
          </p:txBody>
        </p:sp>
        <p:sp>
          <p:nvSpPr>
            <p:cNvPr id="12" name="AutoShape 90"/>
            <p:cNvSpPr>
              <a:spLocks/>
            </p:cNvSpPr>
            <p:nvPr/>
          </p:nvSpPr>
          <p:spPr bwMode="auto">
            <a:xfrm>
              <a:off x="1519" y="3249"/>
              <a:ext cx="862" cy="559"/>
            </a:xfrm>
            <a:prstGeom prst="borderCallout1">
              <a:avLst>
                <a:gd name="adj1" fmla="val 12880"/>
                <a:gd name="adj2" fmla="val 105569"/>
                <a:gd name="adj3" fmla="val -117708"/>
                <a:gd name="adj4" fmla="val 121116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200">
                  <a:solidFill>
                    <a:srgbClr val="CC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Port Number</a:t>
              </a:r>
            </a:p>
          </p:txBody>
        </p:sp>
      </p:grpSp>
      <p:grpSp>
        <p:nvGrpSpPr>
          <p:cNvPr id="13" name="Group 91"/>
          <p:cNvGrpSpPr>
            <a:grpSpLocks/>
          </p:cNvGrpSpPr>
          <p:nvPr/>
        </p:nvGrpSpPr>
        <p:grpSpPr bwMode="auto">
          <a:xfrm>
            <a:off x="3314256" y="4006651"/>
            <a:ext cx="2998290" cy="2590800"/>
            <a:chOff x="2880" y="2352"/>
            <a:chExt cx="1632" cy="1632"/>
          </a:xfrm>
        </p:grpSpPr>
        <p:sp>
          <p:nvSpPr>
            <p:cNvPr id="14" name="Rectangle 92"/>
            <p:cNvSpPr>
              <a:spLocks noChangeArrowheads="1"/>
            </p:cNvSpPr>
            <p:nvPr/>
          </p:nvSpPr>
          <p:spPr bwMode="auto">
            <a:xfrm>
              <a:off x="3072" y="2352"/>
              <a:ext cx="1440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/>
            </a:p>
          </p:txBody>
        </p:sp>
        <p:sp>
          <p:nvSpPr>
            <p:cNvPr id="15" name="AutoShape 93"/>
            <p:cNvSpPr>
              <a:spLocks/>
            </p:cNvSpPr>
            <p:nvPr/>
          </p:nvSpPr>
          <p:spPr bwMode="auto">
            <a:xfrm>
              <a:off x="2880" y="3408"/>
              <a:ext cx="940" cy="576"/>
            </a:xfrm>
            <a:prstGeom prst="borderCallout1">
              <a:avLst>
                <a:gd name="adj1" fmla="val 12500"/>
                <a:gd name="adj2" fmla="val 107694"/>
                <a:gd name="adj3" fmla="val -115106"/>
                <a:gd name="adj4" fmla="val 158014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CC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Path &amp; File Name</a:t>
              </a:r>
            </a:p>
          </p:txBody>
        </p:sp>
      </p:grpSp>
      <p:grpSp>
        <p:nvGrpSpPr>
          <p:cNvPr id="16" name="Group 97"/>
          <p:cNvGrpSpPr>
            <a:grpSpLocks/>
          </p:cNvGrpSpPr>
          <p:nvPr/>
        </p:nvGrpSpPr>
        <p:grpSpPr bwMode="auto">
          <a:xfrm>
            <a:off x="5958177" y="4005064"/>
            <a:ext cx="3006493" cy="2438400"/>
            <a:chOff x="3243" y="2205"/>
            <a:chExt cx="2366" cy="1536"/>
          </a:xfrm>
        </p:grpSpPr>
        <p:sp>
          <p:nvSpPr>
            <p:cNvPr id="17" name="Rectangle 95"/>
            <p:cNvSpPr>
              <a:spLocks noChangeArrowheads="1"/>
            </p:cNvSpPr>
            <p:nvPr/>
          </p:nvSpPr>
          <p:spPr bwMode="auto">
            <a:xfrm>
              <a:off x="4241" y="2205"/>
              <a:ext cx="1368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/>
            </a:p>
          </p:txBody>
        </p:sp>
        <p:sp>
          <p:nvSpPr>
            <p:cNvPr id="18" name="AutoShape 96"/>
            <p:cNvSpPr>
              <a:spLocks/>
            </p:cNvSpPr>
            <p:nvPr/>
          </p:nvSpPr>
          <p:spPr bwMode="auto">
            <a:xfrm>
              <a:off x="3243" y="3357"/>
              <a:ext cx="1663" cy="384"/>
            </a:xfrm>
            <a:prstGeom prst="borderCallout1">
              <a:avLst>
                <a:gd name="adj1" fmla="val 18750"/>
                <a:gd name="adj2" fmla="val 104745"/>
                <a:gd name="adj3" fmla="val -200000"/>
                <a:gd name="adj4" fmla="val 120750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CC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Reference</a:t>
              </a:r>
            </a:p>
          </p:txBody>
        </p:sp>
      </p:grpSp>
      <p:grpSp>
        <p:nvGrpSpPr>
          <p:cNvPr id="19" name="Group 97"/>
          <p:cNvGrpSpPr>
            <a:grpSpLocks/>
          </p:cNvGrpSpPr>
          <p:nvPr/>
        </p:nvGrpSpPr>
        <p:grpSpPr bwMode="auto">
          <a:xfrm>
            <a:off x="5841771" y="4006081"/>
            <a:ext cx="1362050" cy="1669183"/>
            <a:chOff x="3450" y="2194"/>
            <a:chExt cx="2159" cy="1559"/>
          </a:xfrm>
        </p:grpSpPr>
        <p:sp>
          <p:nvSpPr>
            <p:cNvPr id="20" name="Rectangle 95"/>
            <p:cNvSpPr>
              <a:spLocks noChangeArrowheads="1"/>
            </p:cNvSpPr>
            <p:nvPr/>
          </p:nvSpPr>
          <p:spPr bwMode="auto">
            <a:xfrm>
              <a:off x="4241" y="2194"/>
              <a:ext cx="1368" cy="57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he-IL"/>
            </a:p>
          </p:txBody>
        </p:sp>
        <p:sp>
          <p:nvSpPr>
            <p:cNvPr id="21" name="AutoShape 96"/>
            <p:cNvSpPr>
              <a:spLocks/>
            </p:cNvSpPr>
            <p:nvPr/>
          </p:nvSpPr>
          <p:spPr bwMode="auto">
            <a:xfrm>
              <a:off x="3450" y="3234"/>
              <a:ext cx="1859" cy="519"/>
            </a:xfrm>
            <a:prstGeom prst="borderCallout1">
              <a:avLst>
                <a:gd name="adj1" fmla="val 4779"/>
                <a:gd name="adj2" fmla="val 70910"/>
                <a:gd name="adj3" fmla="val -88227"/>
                <a:gd name="adj4" fmla="val 89857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 smtClean="0">
                  <a:solidFill>
                    <a:srgbClr val="CC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query</a:t>
              </a:r>
              <a:endParaRPr lang="en-US" altLang="zh-CN" sz="2400" dirty="0">
                <a:solidFill>
                  <a:srgbClr val="CC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108520" y="4130104"/>
            <a:ext cx="9144000" cy="38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80000"/>
              </a:lnSpc>
            </a:pPr>
            <a:r>
              <a:rPr lang="en-US" altLang="zh-CN" sz="2300" dirty="0" smtClean="0"/>
              <a:t>http://www.szu.edu.cn:80/path1/path2/index.jsp?q=szu#Networking</a:t>
            </a:r>
            <a:endParaRPr lang="en-US" altLang="zh-CN" sz="2300" dirty="0"/>
          </a:p>
        </p:txBody>
      </p:sp>
    </p:spTree>
    <p:extLst>
      <p:ext uri="{BB962C8B-B14F-4D97-AF65-F5344CB8AC3E}">
        <p14:creationId xmlns:p14="http://schemas.microsoft.com/office/powerpoint/2010/main" xmlns="" val="305493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分解</a:t>
            </a:r>
            <a:r>
              <a:rPr lang="en-US" altLang="zh-CN" sz="3600" smtClean="0"/>
              <a:t>URL</a:t>
            </a:r>
            <a:endParaRPr lang="zh-CN" altLang="en-US" sz="3600" smtClean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URL</a:t>
            </a:r>
            <a:r>
              <a:rPr lang="zh-CN" altLang="en-US" dirty="0" smtClean="0"/>
              <a:t>类提供了</a:t>
            </a:r>
            <a:r>
              <a:rPr lang="en-US" altLang="zh-CN" dirty="0" smtClean="0"/>
              <a:t>9</a:t>
            </a:r>
            <a:r>
              <a:rPr lang="zh-CN" altLang="en-US" dirty="0" smtClean="0"/>
              <a:t>个</a:t>
            </a:r>
            <a:r>
              <a:rPr lang="en-US" altLang="zh-CN" dirty="0" smtClean="0"/>
              <a:t>public</a:t>
            </a:r>
            <a:r>
              <a:rPr lang="zh-CN" altLang="en-US" dirty="0" smtClean="0"/>
              <a:t>方法读取</a:t>
            </a:r>
            <a:r>
              <a:rPr lang="en-US" altLang="zh-CN" dirty="0" smtClean="0"/>
              <a:t>URL</a:t>
            </a:r>
            <a:r>
              <a:rPr lang="zh-CN" altLang="en-US" dirty="0" smtClean="0"/>
              <a:t>信息</a:t>
            </a:r>
            <a:endParaRPr lang="en-US" altLang="zh-CN" dirty="0" smtClean="0"/>
          </a:p>
          <a:p>
            <a:pPr lvl="1">
              <a:defRPr/>
            </a:pPr>
            <a:r>
              <a:rPr lang="en-US" altLang="zh-CN" dirty="0" err="1" smtClean="0">
                <a:solidFill>
                  <a:srgbClr val="1B1C20"/>
                </a:solidFill>
                <a:latin typeface="Courier New" pitchFamily="49" charset="0"/>
              </a:rPr>
              <a:t>getFile</a:t>
            </a:r>
            <a:r>
              <a:rPr lang="en-US" altLang="zh-CN" dirty="0" smtClean="0">
                <a:solidFill>
                  <a:srgbClr val="1B1C20"/>
                </a:solidFill>
                <a:latin typeface="Courier New" pitchFamily="49" charset="0"/>
              </a:rPr>
              <a:t>()</a:t>
            </a:r>
            <a:r>
              <a:rPr lang="en-US" altLang="zh-CN" dirty="0" smtClean="0">
                <a:solidFill>
                  <a:srgbClr val="1B1C20"/>
                </a:solidFill>
                <a:latin typeface="Times New Roman" pitchFamily="18" charset="0"/>
              </a:rPr>
              <a:t>, </a:t>
            </a:r>
            <a:r>
              <a:rPr lang="en-US" altLang="zh-CN" dirty="0" err="1" smtClean="0">
                <a:solidFill>
                  <a:srgbClr val="1B1C20"/>
                </a:solidFill>
                <a:latin typeface="Courier New" pitchFamily="49" charset="0"/>
              </a:rPr>
              <a:t>getHost</a:t>
            </a:r>
            <a:r>
              <a:rPr lang="en-US" altLang="zh-CN" dirty="0" smtClean="0">
                <a:solidFill>
                  <a:srgbClr val="1B1C20"/>
                </a:solidFill>
                <a:latin typeface="Courier New" pitchFamily="49" charset="0"/>
              </a:rPr>
              <a:t>()</a:t>
            </a:r>
            <a:r>
              <a:rPr lang="en-US" altLang="zh-CN" dirty="0" smtClean="0">
                <a:solidFill>
                  <a:srgbClr val="1B1C20"/>
                </a:solidFill>
                <a:latin typeface="Times New Roman" pitchFamily="18" charset="0"/>
              </a:rPr>
              <a:t>, </a:t>
            </a:r>
            <a:r>
              <a:rPr lang="en-US" altLang="zh-CN" dirty="0" err="1" smtClean="0">
                <a:solidFill>
                  <a:srgbClr val="1B1C20"/>
                </a:solidFill>
                <a:latin typeface="Courier New" pitchFamily="49" charset="0"/>
              </a:rPr>
              <a:t>getPort</a:t>
            </a:r>
            <a:r>
              <a:rPr lang="en-US" altLang="zh-CN" dirty="0" smtClean="0">
                <a:solidFill>
                  <a:srgbClr val="1B1C20"/>
                </a:solidFill>
                <a:latin typeface="Courier New" pitchFamily="49" charset="0"/>
              </a:rPr>
              <a:t>()</a:t>
            </a:r>
            <a:r>
              <a:rPr lang="en-US" altLang="zh-CN" dirty="0" smtClean="0">
                <a:solidFill>
                  <a:srgbClr val="1B1C20"/>
                </a:solidFill>
                <a:latin typeface="Times New Roman" pitchFamily="18" charset="0"/>
              </a:rPr>
              <a:t>, </a:t>
            </a:r>
          </a:p>
          <a:p>
            <a:pPr lvl="1">
              <a:defRPr/>
            </a:pPr>
            <a:r>
              <a:rPr lang="en-US" altLang="zh-CN" dirty="0" smtClean="0">
                <a:solidFill>
                  <a:srgbClr val="1B1C20"/>
                </a:solidFill>
                <a:latin typeface="Times New Roman" pitchFamily="18" charset="0"/>
              </a:rPr>
              <a:t> </a:t>
            </a:r>
            <a:r>
              <a:rPr lang="en-US" altLang="zh-CN" dirty="0" err="1" smtClean="0">
                <a:solidFill>
                  <a:srgbClr val="1B1C20"/>
                </a:solidFill>
                <a:latin typeface="Courier New" pitchFamily="49" charset="0"/>
              </a:rPr>
              <a:t>getProtocol</a:t>
            </a:r>
            <a:r>
              <a:rPr lang="en-US" altLang="zh-CN" dirty="0" smtClean="0">
                <a:solidFill>
                  <a:srgbClr val="1B1C20"/>
                </a:solidFill>
                <a:latin typeface="Courier New" pitchFamily="49" charset="0"/>
              </a:rPr>
              <a:t>()</a:t>
            </a:r>
            <a:r>
              <a:rPr lang="en-US" altLang="zh-CN" dirty="0" smtClean="0">
                <a:solidFill>
                  <a:srgbClr val="1B1C20"/>
                </a:solidFill>
                <a:latin typeface="Times New Roman" pitchFamily="18" charset="0"/>
              </a:rPr>
              <a:t>, </a:t>
            </a:r>
            <a:r>
              <a:rPr lang="en-US" altLang="zh-CN" dirty="0" err="1" smtClean="0">
                <a:solidFill>
                  <a:srgbClr val="1B1C20"/>
                </a:solidFill>
                <a:latin typeface="Courier New" pitchFamily="49" charset="0"/>
              </a:rPr>
              <a:t>getRef</a:t>
            </a:r>
            <a:r>
              <a:rPr lang="en-US" altLang="zh-CN" dirty="0" smtClean="0">
                <a:solidFill>
                  <a:srgbClr val="1B1C20"/>
                </a:solidFill>
                <a:latin typeface="Courier New" pitchFamily="49" charset="0"/>
              </a:rPr>
              <a:t>()</a:t>
            </a:r>
            <a:r>
              <a:rPr lang="en-US" altLang="zh-CN" dirty="0" smtClean="0">
                <a:solidFill>
                  <a:srgbClr val="1B1C20"/>
                </a:solidFill>
                <a:latin typeface="Times New Roman" pitchFamily="18" charset="0"/>
              </a:rPr>
              <a:t>, </a:t>
            </a:r>
          </a:p>
          <a:p>
            <a:pPr lvl="1">
              <a:defRPr/>
            </a:pPr>
            <a:r>
              <a:rPr lang="en-US" altLang="zh-CN" dirty="0" err="1" smtClean="0">
                <a:solidFill>
                  <a:srgbClr val="1B1C20"/>
                </a:solidFill>
                <a:latin typeface="Courier New" pitchFamily="49" charset="0"/>
              </a:rPr>
              <a:t>getQuery</a:t>
            </a:r>
            <a:r>
              <a:rPr lang="en-US" altLang="zh-CN" dirty="0" smtClean="0">
                <a:solidFill>
                  <a:srgbClr val="1B1C20"/>
                </a:solidFill>
                <a:latin typeface="Courier New" pitchFamily="49" charset="0"/>
              </a:rPr>
              <a:t>()</a:t>
            </a:r>
            <a:r>
              <a:rPr lang="en-US" altLang="zh-CN" dirty="0" smtClean="0">
                <a:solidFill>
                  <a:srgbClr val="1B1C20"/>
                </a:solidFill>
                <a:latin typeface="Times New Roman" pitchFamily="18" charset="0"/>
              </a:rPr>
              <a:t>, </a:t>
            </a:r>
            <a:r>
              <a:rPr lang="en-US" altLang="zh-CN" dirty="0" err="1" smtClean="0">
                <a:solidFill>
                  <a:srgbClr val="1B1C20"/>
                </a:solidFill>
                <a:latin typeface="Courier New" pitchFamily="49" charset="0"/>
              </a:rPr>
              <a:t>getPath</a:t>
            </a:r>
            <a:r>
              <a:rPr lang="en-US" altLang="zh-CN" dirty="0" smtClean="0">
                <a:solidFill>
                  <a:srgbClr val="1B1C20"/>
                </a:solidFill>
                <a:latin typeface="Courier New" pitchFamily="49" charset="0"/>
              </a:rPr>
              <a:t>()</a:t>
            </a:r>
            <a:r>
              <a:rPr lang="en-US" altLang="zh-CN" dirty="0" smtClean="0">
                <a:solidFill>
                  <a:srgbClr val="1B1C20"/>
                </a:solidFill>
                <a:latin typeface="Times New Roman" pitchFamily="18" charset="0"/>
              </a:rPr>
              <a:t>, </a:t>
            </a:r>
          </a:p>
          <a:p>
            <a:pPr lvl="1">
              <a:defRPr/>
            </a:pPr>
            <a:r>
              <a:rPr lang="en-US" altLang="zh-CN" dirty="0" err="1" smtClean="0">
                <a:solidFill>
                  <a:srgbClr val="1B1C20"/>
                </a:solidFill>
                <a:latin typeface="Courier New" pitchFamily="49" charset="0"/>
              </a:rPr>
              <a:t>getUserInfo</a:t>
            </a:r>
            <a:r>
              <a:rPr lang="en-US" altLang="zh-CN" dirty="0" smtClean="0">
                <a:solidFill>
                  <a:srgbClr val="1B1C20"/>
                </a:solidFill>
                <a:latin typeface="Courier New" pitchFamily="49" charset="0"/>
              </a:rPr>
              <a:t>()</a:t>
            </a:r>
            <a:r>
              <a:rPr lang="en-US" altLang="zh-CN" dirty="0" smtClean="0">
                <a:solidFill>
                  <a:srgbClr val="1B1C20"/>
                </a:solidFill>
                <a:latin typeface="Times New Roman" pitchFamily="18" charset="0"/>
              </a:rPr>
              <a:t>, </a:t>
            </a:r>
          </a:p>
          <a:p>
            <a:pPr lvl="1">
              <a:defRPr/>
            </a:pPr>
            <a:r>
              <a:rPr lang="en-US" altLang="zh-CN" dirty="0" err="1" smtClean="0">
                <a:solidFill>
                  <a:srgbClr val="1B1C20"/>
                </a:solidFill>
                <a:latin typeface="Courier New" pitchFamily="49" charset="0"/>
              </a:rPr>
              <a:t>getAuthority</a:t>
            </a:r>
            <a:r>
              <a:rPr lang="en-US" altLang="zh-CN" dirty="0" smtClean="0">
                <a:solidFill>
                  <a:srgbClr val="1B1C20"/>
                </a:solidFill>
                <a:latin typeface="Courier New" pitchFamily="49" charset="0"/>
              </a:rPr>
              <a:t>()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dirty="0" smtClean="0">
                <a:solidFill>
                  <a:srgbClr val="1B1C20"/>
                </a:solidFill>
                <a:latin typeface="Courier New" pitchFamily="49" charset="0"/>
                <a:hlinkClick r:id="rId2"/>
              </a:rPr>
              <a:t>http://</a:t>
            </a:r>
            <a:r>
              <a:rPr lang="en-US" altLang="zh-CN" dirty="0" smtClean="0">
                <a:solidFill>
                  <a:srgbClr val="FF0000"/>
                </a:solidFill>
                <a:latin typeface="Courier New" pitchFamily="49" charset="0"/>
                <a:hlinkClick r:id="rId2"/>
              </a:rPr>
              <a:t>admin</a:t>
            </a:r>
            <a:r>
              <a:rPr lang="en-US" altLang="zh-CN" dirty="0" smtClean="0">
                <a:solidFill>
                  <a:srgbClr val="1B1C20"/>
                </a:solidFill>
                <a:latin typeface="Courier New" pitchFamily="49" charset="0"/>
                <a:hlinkClick r:id="rId2"/>
              </a:rPr>
              <a:t>@www.blackstar.com:8080/</a:t>
            </a:r>
            <a:endParaRPr lang="en-US" altLang="zh-CN" dirty="0" smtClean="0">
              <a:solidFill>
                <a:srgbClr val="1B1C20"/>
              </a:solidFill>
              <a:latin typeface="Courier New" pitchFamily="49" charset="0"/>
            </a:endParaRP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zh-CN" altLang="en-US" sz="2400" dirty="0" smtClean="0">
                <a:solidFill>
                  <a:srgbClr val="1B1C20"/>
                </a:solidFill>
                <a:latin typeface="Courier New" pitchFamily="49" charset="0"/>
              </a:rPr>
              <a:t>授权机构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</a:rPr>
              <a:t>admin@www.blackstar.com:8080</a:t>
            </a:r>
            <a:endParaRPr lang="en-US" altLang="zh-CN" sz="2400" dirty="0" smtClean="0"/>
          </a:p>
        </p:txBody>
      </p:sp>
      <p:sp>
        <p:nvSpPr>
          <p:cNvPr id="3072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分解</a:t>
            </a:r>
            <a:r>
              <a:rPr lang="en-US" altLang="zh-CN" sz="3600" smtClean="0"/>
              <a:t>URL</a:t>
            </a:r>
            <a:endParaRPr lang="zh-CN" altLang="en-US" sz="360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556792"/>
            <a:ext cx="8218488" cy="5135563"/>
          </a:xfrm>
        </p:spPr>
        <p:txBody>
          <a:bodyPr/>
          <a:lstStyle/>
          <a:p>
            <a:pPr>
              <a:defRPr/>
            </a:pPr>
            <a:r>
              <a:rPr lang="en-US" altLang="zh-CN" sz="2800" dirty="0"/>
              <a:t>public String </a:t>
            </a:r>
            <a:r>
              <a:rPr lang="en-US" altLang="zh-CN" sz="2800" dirty="0" err="1"/>
              <a:t>getProtocol</a:t>
            </a:r>
            <a:r>
              <a:rPr lang="en-US" altLang="zh-CN" sz="2800" dirty="0" smtClean="0"/>
              <a:t>()</a:t>
            </a:r>
          </a:p>
          <a:p>
            <a:pPr>
              <a:defRPr/>
            </a:pPr>
            <a:r>
              <a:rPr lang="zh-CN" altLang="en-US" sz="2800" dirty="0" smtClean="0"/>
              <a:t>将</a:t>
            </a:r>
            <a:r>
              <a:rPr lang="en-US" altLang="zh-CN" sz="2800" dirty="0" err="1" smtClean="0"/>
              <a:t>url</a:t>
            </a:r>
            <a:r>
              <a:rPr lang="zh-CN" altLang="en-US" sz="2800" dirty="0" smtClean="0"/>
              <a:t>中的协议以字符串形式返回。</a:t>
            </a:r>
            <a:endParaRPr lang="en-US" altLang="zh-CN" sz="2800" dirty="0" smtClean="0"/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en-US" altLang="zh-CN" dirty="0"/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dirty="0" smtClean="0"/>
          </a:p>
          <a:p>
            <a:pPr>
              <a:defRPr/>
            </a:pPr>
            <a:r>
              <a:rPr lang="en-US" altLang="zh-CN" sz="2800" dirty="0" smtClean="0"/>
              <a:t>public </a:t>
            </a:r>
            <a:r>
              <a:rPr lang="en-US" altLang="zh-CN" sz="2800" dirty="0"/>
              <a:t>String </a:t>
            </a:r>
            <a:r>
              <a:rPr lang="en-US" altLang="zh-CN" sz="2800" dirty="0" err="1"/>
              <a:t>getHost</a:t>
            </a:r>
            <a:r>
              <a:rPr lang="en-US" altLang="zh-CN" sz="2800" dirty="0" smtClean="0"/>
              <a:t>()</a:t>
            </a:r>
          </a:p>
          <a:p>
            <a:pPr>
              <a:defRPr/>
            </a:pPr>
            <a:r>
              <a:rPr lang="zh-CN" altLang="en-US" sz="2800" dirty="0" smtClean="0"/>
              <a:t>将</a:t>
            </a:r>
            <a:r>
              <a:rPr lang="en-US" altLang="zh-CN" sz="2800" dirty="0" err="1" smtClean="0"/>
              <a:t>url</a:t>
            </a:r>
            <a:r>
              <a:rPr lang="zh-CN" altLang="en-US" sz="2800" dirty="0" smtClean="0"/>
              <a:t>中的主机以字符串形式返回。</a:t>
            </a:r>
            <a:endParaRPr lang="en-US" altLang="zh-CN" sz="2800" dirty="0" smtClean="0"/>
          </a:p>
        </p:txBody>
      </p:sp>
      <p:sp>
        <p:nvSpPr>
          <p:cNvPr id="3174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539552" y="2729284"/>
            <a:ext cx="8305800" cy="1347788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 dirty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URL</a:t>
            </a:r>
            <a:r>
              <a:rPr lang="pl-PL" altLang="zh-CN" sz="2400" dirty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pl-PL" altLang="zh-CN" sz="2400" dirty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u</a:t>
            </a:r>
            <a:r>
              <a:rPr lang="pl-PL" altLang="zh-CN" sz="2400" dirty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pl-PL" altLang="zh-CN" sz="2400" dirty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=</a:t>
            </a:r>
            <a:r>
              <a:rPr lang="pl-PL" altLang="zh-CN" sz="2400" dirty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pl-PL" altLang="zh-CN" sz="2400" b="1" dirty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new</a:t>
            </a:r>
            <a:r>
              <a:rPr lang="pl-PL" altLang="zh-CN" sz="2400" dirty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pl-PL" altLang="zh-CN" sz="2400" dirty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URL</a:t>
            </a:r>
            <a:r>
              <a:rPr lang="pl-PL" altLang="zh-CN" sz="2400" dirty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(</a:t>
            </a:r>
            <a:r>
              <a:rPr lang="pl-PL" altLang="zh-CN" sz="2400" dirty="0">
                <a:solidFill>
                  <a:srgbClr val="CC3300"/>
                </a:solidFill>
                <a:latin typeface="Courier New" pitchFamily="49" charset="0"/>
                <a:ea typeface="Simsun" pitchFamily="2" charset="-122"/>
              </a:rPr>
              <a:t>"https://xkcd.com/</a:t>
            </a:r>
            <a:r>
              <a:rPr lang="en-US" altLang="zh-CN" sz="2400" dirty="0">
                <a:solidFill>
                  <a:srgbClr val="CC3300"/>
                </a:solidFill>
                <a:latin typeface="Courier New" pitchFamily="49" charset="0"/>
                <a:ea typeface="Simsun" pitchFamily="2" charset="-122"/>
              </a:rPr>
              <a:t>a</a:t>
            </a:r>
            <a:r>
              <a:rPr lang="pl-PL" altLang="zh-CN" sz="2400" dirty="0">
                <a:solidFill>
                  <a:srgbClr val="CC3300"/>
                </a:solidFill>
                <a:latin typeface="Courier New" pitchFamily="49" charset="0"/>
                <a:ea typeface="Simsun" pitchFamily="2" charset="-122"/>
              </a:rPr>
              <a:t>/"</a:t>
            </a:r>
            <a:r>
              <a:rPr lang="pl-PL" altLang="zh-CN" sz="2400" dirty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Simsun" pitchFamily="2" charset="-122"/>
              <a:ea typeface="Simsun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 dirty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System</a:t>
            </a:r>
            <a:r>
              <a:rPr lang="pl-PL" altLang="zh-CN" sz="2400" dirty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.</a:t>
            </a:r>
            <a:r>
              <a:rPr lang="pl-PL" altLang="zh-CN" sz="2400" dirty="0">
                <a:solidFill>
                  <a:srgbClr val="330099"/>
                </a:solidFill>
                <a:latin typeface="Courier New" pitchFamily="49" charset="0"/>
                <a:ea typeface="Simsun" pitchFamily="2" charset="-122"/>
              </a:rPr>
              <a:t>out</a:t>
            </a:r>
            <a:r>
              <a:rPr lang="pl-PL" altLang="zh-CN" sz="2400" dirty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.</a:t>
            </a:r>
            <a:r>
              <a:rPr lang="pl-PL" altLang="zh-CN" sz="2400" dirty="0">
                <a:solidFill>
                  <a:srgbClr val="330099"/>
                </a:solidFill>
                <a:latin typeface="Courier New" pitchFamily="49" charset="0"/>
                <a:ea typeface="Simsun" pitchFamily="2" charset="-122"/>
              </a:rPr>
              <a:t>println</a:t>
            </a:r>
            <a:r>
              <a:rPr lang="pl-PL" altLang="zh-CN" sz="2400" dirty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(</a:t>
            </a:r>
            <a:r>
              <a:rPr lang="pl-PL" altLang="zh-CN" sz="2400" dirty="0">
                <a:solidFill>
                  <a:srgbClr val="FF0000"/>
                </a:solidFill>
                <a:latin typeface="Courier New" pitchFamily="49" charset="0"/>
                <a:ea typeface="Simsun" pitchFamily="2" charset="-122"/>
              </a:rPr>
              <a:t>u.getProtocol()</a:t>
            </a:r>
            <a:r>
              <a:rPr lang="pl-PL" altLang="zh-CN" sz="2400" dirty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Simsun" pitchFamily="2" charset="-122"/>
              <a:ea typeface="Simsun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显示输出字符串</a:t>
            </a:r>
            <a:r>
              <a:rPr lang="en-US" altLang="zh-CN" sz="2400" dirty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"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  <a:ea typeface="Simsun" pitchFamily="2" charset="-122"/>
              </a:rPr>
              <a:t>https</a:t>
            </a:r>
            <a:r>
              <a:rPr lang="en-US" altLang="zh-CN" sz="2400" dirty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“  </a:t>
            </a:r>
          </a:p>
        </p:txBody>
      </p:sp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598488" y="5321573"/>
            <a:ext cx="8305800" cy="1347787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URL</a:t>
            </a:r>
            <a:r>
              <a:rPr lang="pl-PL" altLang="zh-CN" sz="240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pl-PL" altLang="zh-CN" sz="240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u</a:t>
            </a:r>
            <a:r>
              <a:rPr lang="pl-PL" altLang="zh-CN" sz="240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pl-PL" altLang="zh-CN" sz="240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=</a:t>
            </a:r>
            <a:r>
              <a:rPr lang="pl-PL" altLang="zh-CN" sz="240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pl-PL" altLang="zh-CN" sz="2400" b="1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new</a:t>
            </a:r>
            <a:r>
              <a:rPr lang="pl-PL" altLang="zh-CN" sz="240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pl-PL" altLang="zh-CN" sz="240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URL</a:t>
            </a:r>
            <a:r>
              <a:rPr lang="pl-PL" altLang="zh-CN" sz="240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(</a:t>
            </a:r>
            <a:r>
              <a:rPr lang="pl-PL" altLang="zh-CN" sz="2400">
                <a:solidFill>
                  <a:srgbClr val="CC3300"/>
                </a:solidFill>
                <a:latin typeface="Courier New" pitchFamily="49" charset="0"/>
                <a:ea typeface="Simsun" pitchFamily="2" charset="-122"/>
              </a:rPr>
              <a:t>"https://xkcd.com/</a:t>
            </a:r>
            <a:r>
              <a:rPr lang="en-US" altLang="zh-CN" sz="2400">
                <a:solidFill>
                  <a:srgbClr val="CC3300"/>
                </a:solidFill>
                <a:latin typeface="Courier New" pitchFamily="49" charset="0"/>
                <a:ea typeface="Simsun" pitchFamily="2" charset="-122"/>
              </a:rPr>
              <a:t>a</a:t>
            </a:r>
            <a:r>
              <a:rPr lang="pl-PL" altLang="zh-CN" sz="2400">
                <a:solidFill>
                  <a:srgbClr val="CC3300"/>
                </a:solidFill>
                <a:latin typeface="Courier New" pitchFamily="49" charset="0"/>
                <a:ea typeface="Simsun" pitchFamily="2" charset="-122"/>
              </a:rPr>
              <a:t>/"</a:t>
            </a:r>
            <a:r>
              <a:rPr lang="pl-PL" altLang="zh-CN" sz="240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);</a:t>
            </a:r>
            <a:endParaRPr lang="pl-PL" altLang="zh-CN" sz="2400">
              <a:solidFill>
                <a:srgbClr val="000000"/>
              </a:solidFill>
              <a:latin typeface="Simsun" pitchFamily="2" charset="-122"/>
              <a:ea typeface="Simsun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System</a:t>
            </a:r>
            <a:r>
              <a:rPr lang="pl-PL" altLang="zh-CN" sz="240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.</a:t>
            </a:r>
            <a:r>
              <a:rPr lang="pl-PL" altLang="zh-CN" sz="2400">
                <a:solidFill>
                  <a:srgbClr val="330099"/>
                </a:solidFill>
                <a:latin typeface="Courier New" pitchFamily="49" charset="0"/>
                <a:ea typeface="Simsun" pitchFamily="2" charset="-122"/>
              </a:rPr>
              <a:t>out</a:t>
            </a:r>
            <a:r>
              <a:rPr lang="pl-PL" altLang="zh-CN" sz="240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.</a:t>
            </a:r>
            <a:r>
              <a:rPr lang="pl-PL" altLang="zh-CN" sz="2400">
                <a:solidFill>
                  <a:srgbClr val="330099"/>
                </a:solidFill>
                <a:latin typeface="Courier New" pitchFamily="49" charset="0"/>
                <a:ea typeface="Simsun" pitchFamily="2" charset="-122"/>
              </a:rPr>
              <a:t>println</a:t>
            </a:r>
            <a:r>
              <a:rPr lang="pl-PL" altLang="zh-CN" sz="240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(</a:t>
            </a:r>
            <a:r>
              <a:rPr lang="pl-PL" altLang="zh-CN" sz="2400">
                <a:solidFill>
                  <a:srgbClr val="FF0000"/>
                </a:solidFill>
                <a:latin typeface="Courier New" pitchFamily="49" charset="0"/>
                <a:ea typeface="Simsun" pitchFamily="2" charset="-122"/>
              </a:rPr>
              <a:t>u.get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Simsun" pitchFamily="2" charset="-122"/>
              </a:rPr>
              <a:t>Host</a:t>
            </a:r>
            <a:r>
              <a:rPr lang="pl-PL" altLang="zh-CN" sz="2400">
                <a:solidFill>
                  <a:srgbClr val="FF0000"/>
                </a:solidFill>
                <a:latin typeface="Courier New" pitchFamily="49" charset="0"/>
                <a:ea typeface="Simsun" pitchFamily="2" charset="-122"/>
              </a:rPr>
              <a:t>()</a:t>
            </a:r>
            <a:r>
              <a:rPr lang="pl-PL" altLang="zh-CN" sz="240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);</a:t>
            </a:r>
            <a:endParaRPr lang="pl-PL" altLang="zh-CN" sz="2400">
              <a:solidFill>
                <a:srgbClr val="000000"/>
              </a:solidFill>
              <a:latin typeface="Simsun" pitchFamily="2" charset="-122"/>
              <a:ea typeface="Simsun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显示输出字符串</a:t>
            </a:r>
            <a:r>
              <a:rPr lang="en-US" altLang="zh-CN" sz="240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“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Simsun" pitchFamily="2" charset="-122"/>
              </a:rPr>
              <a:t>xkcd.com</a:t>
            </a:r>
            <a:r>
              <a:rPr lang="en-US" altLang="zh-CN" sz="240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分解</a:t>
            </a:r>
            <a:r>
              <a:rPr lang="en-US" altLang="zh-CN" smtClean="0"/>
              <a:t>URL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628800"/>
            <a:ext cx="8218488" cy="5135563"/>
          </a:xfrm>
        </p:spPr>
        <p:txBody>
          <a:bodyPr/>
          <a:lstStyle/>
          <a:p>
            <a:pPr>
              <a:defRPr/>
            </a:pPr>
            <a:r>
              <a:rPr lang="en-US" altLang="zh-CN" sz="2800" dirty="0"/>
              <a:t>public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getPort</a:t>
            </a:r>
            <a:r>
              <a:rPr lang="en-US" altLang="zh-CN" sz="2800" dirty="0"/>
              <a:t>()</a:t>
            </a:r>
          </a:p>
          <a:p>
            <a:pPr>
              <a:defRPr/>
            </a:pPr>
            <a:r>
              <a:rPr lang="zh-CN" altLang="en-US" sz="2800" dirty="0" smtClean="0"/>
              <a:t>返回</a:t>
            </a:r>
            <a:r>
              <a:rPr lang="en-US" altLang="zh-CN" sz="2800" dirty="0" smtClean="0"/>
              <a:t>-1</a:t>
            </a:r>
            <a:r>
              <a:rPr lang="zh-CN" altLang="en-US" sz="2800" dirty="0" smtClean="0"/>
              <a:t>或</a:t>
            </a:r>
            <a:r>
              <a:rPr lang="en-US" altLang="zh-CN" sz="2800" dirty="0" err="1" smtClean="0"/>
              <a:t>url</a:t>
            </a:r>
            <a:r>
              <a:rPr lang="zh-CN" altLang="en-US" sz="2800" dirty="0" smtClean="0"/>
              <a:t>中指定的端口号。</a:t>
            </a:r>
            <a:endParaRPr lang="en-US" altLang="zh-CN" sz="2800" dirty="0" smtClean="0"/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en-US" altLang="zh-CN" dirty="0" smtClean="0"/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dirty="0" smtClean="0"/>
          </a:p>
          <a:p>
            <a:pPr>
              <a:defRPr/>
            </a:pPr>
            <a:r>
              <a:rPr lang="en-US" altLang="zh-CN" sz="2800" dirty="0"/>
              <a:t>public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get</a:t>
            </a:r>
            <a:r>
              <a:rPr lang="en-US" altLang="zh-CN" sz="2800" dirty="0" err="1">
                <a:solidFill>
                  <a:srgbClr val="FF0000"/>
                </a:solidFill>
              </a:rPr>
              <a:t>Default</a:t>
            </a:r>
            <a:r>
              <a:rPr lang="en-US" altLang="zh-CN" sz="2800" dirty="0" err="1"/>
              <a:t>Port</a:t>
            </a:r>
            <a:r>
              <a:rPr lang="en-US" altLang="zh-CN" sz="2800" dirty="0"/>
              <a:t>()</a:t>
            </a:r>
          </a:p>
          <a:p>
            <a:pPr>
              <a:defRPr/>
            </a:pPr>
            <a:r>
              <a:rPr lang="zh-CN" altLang="en-US" sz="2800" dirty="0" smtClean="0"/>
              <a:t>返回</a:t>
            </a:r>
            <a:r>
              <a:rPr lang="en-US" altLang="zh-CN" sz="2800" dirty="0" smtClean="0"/>
              <a:t>-1</a:t>
            </a:r>
            <a:r>
              <a:rPr lang="zh-CN" altLang="en-US" sz="2800" dirty="0" smtClean="0"/>
              <a:t>或</a:t>
            </a:r>
            <a:r>
              <a:rPr lang="en-US" altLang="zh-CN" sz="2800" dirty="0" err="1" smtClean="0"/>
              <a:t>url</a:t>
            </a:r>
            <a:r>
              <a:rPr lang="zh-CN" altLang="en-US" sz="2800" dirty="0" smtClean="0"/>
              <a:t>中协议使用的默认端口。</a:t>
            </a:r>
            <a:endParaRPr lang="en-US" altLang="zh-CN" sz="2800" dirty="0" smtClean="0"/>
          </a:p>
        </p:txBody>
      </p:sp>
      <p:sp>
        <p:nvSpPr>
          <p:cNvPr id="3277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611560" y="2852936"/>
            <a:ext cx="8305800" cy="1347787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 sz="24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</a:t>
            </a:r>
            <a:r>
              <a:rPr lang="pl-PL" altLang="zh-CN" sz="24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=</a:t>
            </a:r>
            <a:r>
              <a:rPr lang="pl-PL" altLang="zh-CN" sz="24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400" b="1" dirty="0">
                <a:solidFill>
                  <a:srgbClr val="0066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new</a:t>
            </a:r>
            <a:r>
              <a:rPr lang="pl-PL" altLang="zh-CN" sz="24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 sz="2400" dirty="0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"http://</a:t>
            </a:r>
            <a:r>
              <a:rPr lang="en-US" altLang="zh-CN" sz="2400" dirty="0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www.userfriencly.org/</a:t>
            </a:r>
            <a:r>
              <a:rPr lang="pl-PL" altLang="zh-CN" sz="2400" dirty="0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"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System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 dirty="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out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 dirty="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println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u.getP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ort</a:t>
            </a:r>
            <a:r>
              <a:rPr lang="pl-PL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显示输出端口号为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-1</a:t>
            </a:r>
          </a:p>
        </p:txBody>
      </p:sp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611560" y="5445224"/>
            <a:ext cx="8305800" cy="1347787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 u = new URL(“</a:t>
            </a:r>
            <a:r>
              <a:rPr lang="en-US" altLang="zh-CN" sz="2400">
                <a:solidFill>
                  <a:srgbClr val="C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ftp:/</a:t>
            </a:r>
            <a:r>
              <a:rPr lang="pl-PL" altLang="zh-CN" sz="2400">
                <a:solidFill>
                  <a:srgbClr val="C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/</a:t>
            </a:r>
            <a:r>
              <a:rPr lang="en-US" altLang="zh-CN" sz="2400">
                <a:solidFill>
                  <a:srgbClr val="C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ftp.userfriendly.org:8000/</a:t>
            </a:r>
            <a:r>
              <a:rPr lang="pl-PL" altLang="zh-CN" sz="240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");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System.out.println(</a:t>
            </a:r>
            <a:r>
              <a:rPr lang="pl-PL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u.get</a:t>
            </a: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DefaultPort(</a:t>
            </a:r>
            <a:r>
              <a:rPr lang="pl-PL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</a:t>
            </a:r>
            <a:r>
              <a:rPr lang="pl-PL" altLang="zh-CN" sz="240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显示输出端口号</a:t>
            </a: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分解</a:t>
            </a:r>
            <a:r>
              <a:rPr lang="en-US" altLang="zh-CN" dirty="0" smtClean="0"/>
              <a:t>URL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556792"/>
            <a:ext cx="8218488" cy="5135563"/>
          </a:xfrm>
        </p:spPr>
        <p:txBody>
          <a:bodyPr/>
          <a:lstStyle/>
          <a:p>
            <a:pPr>
              <a:defRPr/>
            </a:pPr>
            <a:r>
              <a:rPr lang="en-US" altLang="zh-CN" sz="2800" dirty="0"/>
              <a:t>public </a:t>
            </a:r>
            <a:r>
              <a:rPr lang="en-US" altLang="zh-CN" sz="2800" dirty="0" smtClean="0"/>
              <a:t>String </a:t>
            </a:r>
            <a:r>
              <a:rPr lang="en-US" altLang="zh-CN" sz="2800" dirty="0" err="1" smtClean="0"/>
              <a:t>getFile</a:t>
            </a:r>
            <a:r>
              <a:rPr lang="en-US" altLang="zh-CN" sz="2800" dirty="0" smtClean="0"/>
              <a:t>()</a:t>
            </a:r>
            <a:endParaRPr lang="en-US" altLang="zh-CN" sz="2800" dirty="0"/>
          </a:p>
          <a:p>
            <a:pPr>
              <a:defRPr/>
            </a:pPr>
            <a:r>
              <a:rPr lang="zh-CN" altLang="en-US" sz="2400" dirty="0"/>
              <a:t>把</a:t>
            </a:r>
            <a:r>
              <a:rPr lang="en-US" altLang="zh-CN" sz="2400" dirty="0" err="1" smtClean="0"/>
              <a:t>url</a:t>
            </a:r>
            <a:r>
              <a:rPr lang="zh-CN" altLang="en-US" sz="2400" dirty="0" smtClean="0"/>
              <a:t>中从第一个斜线</a:t>
            </a:r>
            <a:r>
              <a:rPr lang="en-US" altLang="zh-CN" sz="2400" dirty="0" smtClean="0"/>
              <a:t>(/)</a:t>
            </a:r>
            <a:r>
              <a:rPr lang="zh-CN" altLang="en-US" sz="2400" dirty="0" smtClean="0"/>
              <a:t>一直到片段标识符</a:t>
            </a:r>
            <a:r>
              <a:rPr lang="en-US" altLang="zh-CN" sz="2400" dirty="0" smtClean="0"/>
              <a:t>#</a:t>
            </a:r>
            <a:r>
              <a:rPr lang="zh-CN" altLang="en-US" sz="2400" dirty="0" smtClean="0"/>
              <a:t>之前的字符当作文件部分返回。</a:t>
            </a:r>
            <a:endParaRPr lang="en-US" altLang="zh-CN" sz="2400" dirty="0" smtClean="0"/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en-US" altLang="zh-CN" dirty="0"/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dirty="0" smtClean="0"/>
          </a:p>
          <a:p>
            <a:pPr>
              <a:defRPr/>
            </a:pPr>
            <a:r>
              <a:rPr lang="en-US" altLang="zh-CN" sz="2800" dirty="0"/>
              <a:t>public </a:t>
            </a:r>
            <a:r>
              <a:rPr lang="en-US" altLang="zh-CN" sz="2800" dirty="0" smtClean="0"/>
              <a:t>String </a:t>
            </a:r>
            <a:r>
              <a:rPr lang="en-US" altLang="zh-CN" sz="2800" dirty="0" err="1" smtClean="0"/>
              <a:t>getPath</a:t>
            </a:r>
            <a:r>
              <a:rPr lang="en-US" altLang="zh-CN" sz="2800" dirty="0" smtClean="0"/>
              <a:t>()</a:t>
            </a:r>
            <a:endParaRPr lang="en-US" altLang="zh-CN" sz="2800" dirty="0"/>
          </a:p>
          <a:p>
            <a:pPr>
              <a:defRPr/>
            </a:pPr>
            <a:r>
              <a:rPr lang="zh-CN" altLang="en-US" sz="2400" dirty="0" smtClean="0"/>
              <a:t>把</a:t>
            </a:r>
            <a:r>
              <a:rPr lang="en-US" altLang="zh-CN" sz="2400" dirty="0" err="1" smtClean="0"/>
              <a:t>url</a:t>
            </a:r>
            <a:r>
              <a:rPr lang="zh-CN" altLang="en-US" sz="2400" dirty="0" smtClean="0"/>
              <a:t>中路径和文件部分返回，</a:t>
            </a:r>
            <a:r>
              <a:rPr lang="zh-CN" altLang="en-US" sz="2400" dirty="0" smtClean="0">
                <a:solidFill>
                  <a:srgbClr val="FF0000"/>
                </a:solidFill>
              </a:rPr>
              <a:t>不包括查询字符串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</p:txBody>
      </p:sp>
      <p:sp>
        <p:nvSpPr>
          <p:cNvPr id="3379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683568" y="2924944"/>
            <a:ext cx="8305800" cy="128587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0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 sz="200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</a:t>
            </a:r>
            <a:r>
              <a:rPr lang="pl-PL" altLang="zh-CN" sz="200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=</a:t>
            </a:r>
            <a:r>
              <a:rPr lang="pl-PL" altLang="zh-CN" sz="200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b="1">
                <a:solidFill>
                  <a:srgbClr val="0066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new</a:t>
            </a:r>
            <a:r>
              <a:rPr lang="pl-PL" altLang="zh-CN" sz="200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 sz="20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 sz="2000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"http://www.szu.edu.cn/doc/index.jsp?q=szu#Networkin"</a:t>
            </a:r>
            <a:r>
              <a:rPr lang="pl-PL" altLang="zh-CN" sz="20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00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System</a:t>
            </a:r>
            <a:r>
              <a:rPr lang="pl-PL" altLang="zh-CN" sz="24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out</a:t>
            </a:r>
            <a:r>
              <a:rPr lang="pl-PL" altLang="zh-CN" sz="24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println</a:t>
            </a:r>
            <a:r>
              <a:rPr lang="pl-PL" altLang="zh-CN" sz="24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u.get</a:t>
            </a: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File</a:t>
            </a:r>
            <a:r>
              <a:rPr lang="pl-PL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</a:t>
            </a:r>
            <a:r>
              <a:rPr lang="pl-PL" altLang="zh-CN" sz="24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40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显示输出为：</a:t>
            </a:r>
            <a:r>
              <a:rPr lang="en-US" altLang="zh-CN" sz="2400">
                <a:solidFill>
                  <a:srgbClr val="FF0000"/>
                </a:solidFill>
                <a:ea typeface="Simsun" pitchFamily="2" charset="-122"/>
                <a:cs typeface="Times New Roman" pitchFamily="18" charset="0"/>
              </a:rPr>
              <a:t>/doc/index.jsp?q=szu</a:t>
            </a:r>
            <a:endParaRPr lang="en-US" altLang="zh-CN" sz="2400">
              <a:solidFill>
                <a:srgbClr val="FF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683568" y="5572125"/>
            <a:ext cx="8305800" cy="128587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 sz="20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</a:t>
            </a:r>
            <a:r>
              <a:rPr lang="pl-PL" altLang="zh-CN" sz="20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=</a:t>
            </a:r>
            <a:r>
              <a:rPr lang="pl-PL" altLang="zh-CN" sz="20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b="1" dirty="0">
                <a:solidFill>
                  <a:srgbClr val="0066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new</a:t>
            </a:r>
            <a:r>
              <a:rPr lang="pl-PL" altLang="zh-CN" sz="20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 sz="20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 sz="2000" dirty="0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"http://www.szu.edu.cn/doc/index.jsp?q=szu#Networkin"</a:t>
            </a:r>
            <a:r>
              <a:rPr lang="pl-PL" altLang="zh-CN" sz="20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000" dirty="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System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 dirty="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out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 dirty="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println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u.get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Path</a:t>
            </a:r>
            <a:r>
              <a:rPr lang="pl-PL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显示输出为：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  <a:cs typeface="Times New Roman" pitchFamily="18" charset="0"/>
              </a:rPr>
              <a:t>/doc/index.jsp</a:t>
            </a:r>
            <a:endParaRPr lang="en-US" altLang="zh-CN" sz="2400" dirty="0">
              <a:solidFill>
                <a:srgbClr val="FF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分解</a:t>
            </a:r>
            <a:r>
              <a:rPr lang="en-US" altLang="zh-CN" smtClean="0"/>
              <a:t>URL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628800"/>
            <a:ext cx="8218488" cy="5135563"/>
          </a:xfrm>
        </p:spPr>
        <p:txBody>
          <a:bodyPr/>
          <a:lstStyle/>
          <a:p>
            <a:pPr>
              <a:defRPr/>
            </a:pPr>
            <a:r>
              <a:rPr lang="en-US" altLang="zh-CN" sz="2800" dirty="0"/>
              <a:t>public </a:t>
            </a:r>
            <a:r>
              <a:rPr lang="en-US" altLang="zh-CN" sz="2800" dirty="0" smtClean="0"/>
              <a:t>String </a:t>
            </a:r>
            <a:r>
              <a:rPr lang="en-US" altLang="zh-CN" sz="2800" dirty="0" err="1" smtClean="0"/>
              <a:t>getRef</a:t>
            </a:r>
            <a:r>
              <a:rPr lang="en-US" altLang="zh-CN" sz="2800" dirty="0" smtClean="0"/>
              <a:t>()</a:t>
            </a:r>
            <a:endParaRPr lang="en-US" altLang="zh-CN" sz="2800" dirty="0"/>
          </a:p>
          <a:p>
            <a:pPr>
              <a:defRPr/>
            </a:pPr>
            <a:r>
              <a:rPr lang="zh-CN" altLang="en-US" sz="2400" dirty="0" smtClean="0"/>
              <a:t>返回</a:t>
            </a:r>
            <a:r>
              <a:rPr lang="en-US" altLang="zh-CN" sz="2400" dirty="0" smtClean="0"/>
              <a:t>null</a:t>
            </a:r>
            <a:r>
              <a:rPr lang="zh-CN" altLang="en-US" sz="2400" dirty="0" smtClean="0"/>
              <a:t>或</a:t>
            </a:r>
            <a:r>
              <a:rPr lang="en-US" altLang="zh-CN" sz="2400" dirty="0" err="1" smtClean="0"/>
              <a:t>url</a:t>
            </a:r>
            <a:r>
              <a:rPr lang="zh-CN" altLang="en-US" sz="2400" dirty="0" smtClean="0"/>
              <a:t>中的片段标识符部分。</a:t>
            </a:r>
            <a:endParaRPr lang="en-US" altLang="zh-CN" sz="2400" dirty="0" smtClean="0"/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en-US" altLang="zh-CN" dirty="0"/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dirty="0" smtClean="0"/>
          </a:p>
          <a:p>
            <a:pPr>
              <a:defRPr/>
            </a:pPr>
            <a:r>
              <a:rPr lang="en-US" altLang="zh-CN" sz="2800" dirty="0"/>
              <a:t>public </a:t>
            </a:r>
            <a:r>
              <a:rPr lang="en-US" altLang="zh-CN" sz="2800" dirty="0" smtClean="0"/>
              <a:t>String </a:t>
            </a:r>
            <a:r>
              <a:rPr lang="en-US" altLang="zh-CN" sz="2800" dirty="0" err="1" smtClean="0"/>
              <a:t>getQuery</a:t>
            </a:r>
            <a:r>
              <a:rPr lang="en-US" altLang="zh-CN" sz="2800" dirty="0" smtClean="0"/>
              <a:t>()</a:t>
            </a:r>
            <a:endParaRPr lang="en-US" altLang="zh-CN" sz="2800" dirty="0"/>
          </a:p>
          <a:p>
            <a:pPr>
              <a:defRPr/>
            </a:pPr>
            <a:r>
              <a:rPr lang="zh-CN" altLang="en-US" sz="2400" dirty="0" smtClean="0"/>
              <a:t>返回</a:t>
            </a:r>
            <a:r>
              <a:rPr lang="en-US" altLang="zh-CN" sz="2400" dirty="0" smtClean="0"/>
              <a:t>null</a:t>
            </a:r>
            <a:r>
              <a:rPr lang="zh-CN" altLang="en-US" sz="2400" dirty="0" smtClean="0"/>
              <a:t>或</a:t>
            </a:r>
            <a:r>
              <a:rPr lang="en-US" altLang="zh-CN" sz="2400" dirty="0" err="1" smtClean="0"/>
              <a:t>url</a:t>
            </a:r>
            <a:r>
              <a:rPr lang="zh-CN" altLang="en-US" sz="2400" dirty="0" smtClean="0"/>
              <a:t>中的查询字符串。</a:t>
            </a:r>
            <a:endParaRPr lang="en-US" altLang="zh-CN" sz="2400" dirty="0" smtClean="0"/>
          </a:p>
        </p:txBody>
      </p:sp>
      <p:sp>
        <p:nvSpPr>
          <p:cNvPr id="3584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569913" y="2209800"/>
            <a:ext cx="8305800" cy="128587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 sz="20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</a:t>
            </a:r>
            <a:r>
              <a:rPr lang="pl-PL" altLang="zh-CN" sz="20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=</a:t>
            </a:r>
            <a:r>
              <a:rPr lang="pl-PL" altLang="zh-CN" sz="20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b="1" dirty="0">
                <a:solidFill>
                  <a:srgbClr val="0066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new</a:t>
            </a:r>
            <a:r>
              <a:rPr lang="pl-PL" altLang="zh-CN" sz="20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 sz="20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 sz="2000" dirty="0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"http://www.szu.edu.cn/doc/index.jsp?q=szu#Networkin"</a:t>
            </a:r>
            <a:r>
              <a:rPr lang="pl-PL" altLang="zh-CN" sz="20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000" dirty="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System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 dirty="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out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 dirty="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println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u.get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Ref</a:t>
            </a:r>
            <a:r>
              <a:rPr lang="pl-PL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显示输出为：</a:t>
            </a:r>
            <a:r>
              <a:rPr lang="en-US" altLang="zh-CN" sz="2400" dirty="0" err="1">
                <a:solidFill>
                  <a:srgbClr val="FF0000"/>
                </a:solidFill>
                <a:ea typeface="Simsun" pitchFamily="2" charset="-122"/>
                <a:cs typeface="Times New Roman" pitchFamily="18" charset="0"/>
              </a:rPr>
              <a:t>Networkin</a:t>
            </a:r>
            <a:endParaRPr lang="en-US" altLang="zh-CN" sz="2400" dirty="0">
              <a:solidFill>
                <a:srgbClr val="FF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683568" y="5229200"/>
            <a:ext cx="8305800" cy="128587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 sz="20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</a:t>
            </a:r>
            <a:r>
              <a:rPr lang="pl-PL" altLang="zh-CN" sz="20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=</a:t>
            </a:r>
            <a:r>
              <a:rPr lang="pl-PL" altLang="zh-CN" sz="20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b="1" dirty="0">
                <a:solidFill>
                  <a:srgbClr val="0066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new</a:t>
            </a:r>
            <a:r>
              <a:rPr lang="pl-PL" altLang="zh-CN" sz="20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 sz="20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 sz="2000" dirty="0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"http://www.szu.edu.cn/doc/index.jsp?q=szu#Networkin"</a:t>
            </a:r>
            <a:r>
              <a:rPr lang="pl-PL" altLang="zh-CN" sz="20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000" dirty="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System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 dirty="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out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 dirty="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println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u.get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Query</a:t>
            </a:r>
            <a:r>
              <a:rPr lang="pl-PL" altLang="zh-CN" sz="24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显示输出为：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  <a:cs typeface="Times New Roman" pitchFamily="18" charset="0"/>
              </a:rPr>
              <a:t>q=</a:t>
            </a:r>
            <a:r>
              <a:rPr lang="en-US" altLang="zh-CN" sz="2400" dirty="0" err="1">
                <a:solidFill>
                  <a:srgbClr val="FF0000"/>
                </a:solidFill>
                <a:ea typeface="Simsun" pitchFamily="2" charset="-122"/>
                <a:cs typeface="Times New Roman" pitchFamily="18" charset="0"/>
              </a:rPr>
              <a:t>szu</a:t>
            </a:r>
            <a:endParaRPr lang="en-US" altLang="zh-CN" sz="2400" dirty="0">
              <a:solidFill>
                <a:srgbClr val="FF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分解</a:t>
            </a:r>
            <a:r>
              <a:rPr lang="en-US" altLang="zh-CN" smtClean="0"/>
              <a:t>URL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484784"/>
            <a:ext cx="8218488" cy="5135563"/>
          </a:xfrm>
        </p:spPr>
        <p:txBody>
          <a:bodyPr/>
          <a:lstStyle/>
          <a:p>
            <a:pPr>
              <a:defRPr/>
            </a:pPr>
            <a:r>
              <a:rPr lang="en-US" altLang="zh-CN" sz="2800" dirty="0"/>
              <a:t>public </a:t>
            </a:r>
            <a:r>
              <a:rPr lang="en-US" altLang="zh-CN" sz="2800" dirty="0" smtClean="0"/>
              <a:t>String </a:t>
            </a:r>
            <a:r>
              <a:rPr lang="en-US" altLang="zh-CN" sz="2800" dirty="0" err="1" smtClean="0"/>
              <a:t>getUserInfo</a:t>
            </a:r>
            <a:r>
              <a:rPr lang="en-US" altLang="zh-CN" sz="2800" dirty="0" smtClean="0"/>
              <a:t>()</a:t>
            </a:r>
            <a:endParaRPr lang="en-US" altLang="zh-CN" sz="2800" dirty="0"/>
          </a:p>
          <a:p>
            <a:pPr>
              <a:defRPr/>
            </a:pPr>
            <a:r>
              <a:rPr lang="zh-CN" altLang="en-US" sz="2000" dirty="0"/>
              <a:t>把</a:t>
            </a:r>
            <a:r>
              <a:rPr lang="en-US" altLang="zh-CN" sz="2000" dirty="0" err="1" smtClean="0"/>
              <a:t>url</a:t>
            </a:r>
            <a:r>
              <a:rPr lang="zh-CN" altLang="en-US" sz="2000" dirty="0" smtClean="0"/>
              <a:t>中协议后面双斜线</a:t>
            </a:r>
            <a:r>
              <a:rPr lang="en-US" altLang="zh-CN" sz="2000" dirty="0" smtClean="0"/>
              <a:t>(//)</a:t>
            </a:r>
            <a:r>
              <a:rPr lang="zh-CN" altLang="en-US" sz="2000" dirty="0" smtClean="0"/>
              <a:t>开</a:t>
            </a:r>
            <a:r>
              <a:rPr lang="zh-CN" altLang="en-US" sz="2000" dirty="0"/>
              <a:t>始</a:t>
            </a:r>
            <a:r>
              <a:rPr lang="zh-CN" altLang="en-US" sz="2000" dirty="0" smtClean="0"/>
              <a:t>一直到</a:t>
            </a:r>
            <a:r>
              <a:rPr lang="en-US" altLang="zh-CN" sz="2000" dirty="0" smtClean="0"/>
              <a:t>@</a:t>
            </a:r>
            <a:r>
              <a:rPr lang="zh-CN" altLang="en-US" sz="2000" dirty="0" smtClean="0"/>
              <a:t>之前的字符当作用户信息返回。</a:t>
            </a:r>
            <a:endParaRPr lang="en-US" altLang="zh-CN" sz="2000" dirty="0" smtClean="0"/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en-US" altLang="zh-CN" dirty="0"/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dirty="0" smtClean="0"/>
          </a:p>
          <a:p>
            <a:pPr>
              <a:defRPr/>
            </a:pPr>
            <a:r>
              <a:rPr lang="en-US" altLang="zh-CN" sz="2800" dirty="0"/>
              <a:t>public </a:t>
            </a:r>
            <a:r>
              <a:rPr lang="en-US" altLang="zh-CN" sz="2800" dirty="0" smtClean="0"/>
              <a:t>String </a:t>
            </a:r>
            <a:r>
              <a:rPr lang="en-US" altLang="zh-CN" sz="2800" dirty="0" err="1" smtClean="0"/>
              <a:t>getAuthority</a:t>
            </a:r>
            <a:r>
              <a:rPr lang="en-US" altLang="zh-CN" sz="2800" dirty="0" smtClean="0"/>
              <a:t>()</a:t>
            </a:r>
            <a:endParaRPr lang="en-US" altLang="zh-CN" sz="2800" dirty="0"/>
          </a:p>
          <a:p>
            <a:pPr>
              <a:defRPr/>
            </a:pPr>
            <a:r>
              <a:rPr lang="zh-CN" altLang="en-US" sz="2000" dirty="0" smtClean="0"/>
              <a:t>把</a:t>
            </a:r>
            <a:r>
              <a:rPr lang="en-US" altLang="zh-CN" sz="2000" dirty="0" err="1" smtClean="0"/>
              <a:t>url</a:t>
            </a:r>
            <a:r>
              <a:rPr lang="zh-CN" altLang="en-US" sz="2000" dirty="0" smtClean="0"/>
              <a:t>中</a:t>
            </a:r>
            <a:r>
              <a:rPr lang="zh-CN" altLang="en-US" sz="2000" dirty="0"/>
              <a:t>协议后面双斜线</a:t>
            </a:r>
            <a:r>
              <a:rPr lang="en-US" altLang="zh-CN" sz="2000" dirty="0"/>
              <a:t>(//)</a:t>
            </a:r>
            <a:r>
              <a:rPr lang="zh-CN" altLang="en-US" sz="2000" dirty="0"/>
              <a:t>开始一直到</a:t>
            </a:r>
            <a:r>
              <a:rPr lang="zh-CN" altLang="en-US" sz="2000" dirty="0" smtClean="0"/>
              <a:t>路径之前的字符当作授权机构信息返回。</a:t>
            </a:r>
            <a:endParaRPr lang="en-US" altLang="zh-CN" sz="2000" dirty="0" smtClean="0"/>
          </a:p>
        </p:txBody>
      </p:sp>
      <p:sp>
        <p:nvSpPr>
          <p:cNvPr id="3789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611560" y="2708920"/>
            <a:ext cx="8305800" cy="1655763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0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 sz="200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</a:t>
            </a:r>
            <a:r>
              <a:rPr lang="pl-PL" altLang="zh-CN" sz="200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=</a:t>
            </a:r>
            <a:r>
              <a:rPr lang="pl-PL" altLang="zh-CN" sz="200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 b="1">
                <a:solidFill>
                  <a:srgbClr val="0066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new</a:t>
            </a:r>
            <a:r>
              <a:rPr lang="pl-PL" altLang="zh-CN" sz="200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“</a:t>
            </a:r>
            <a:r>
              <a:rPr lang="en-US" altLang="zh-CN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ftp</a:t>
            </a:r>
            <a:r>
              <a:rPr lang="pl-PL" altLang="zh-CN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://</a:t>
            </a:r>
            <a:r>
              <a:rPr lang="en-US" altLang="zh-CN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mp3:secret@ftp.example.com:210/c%3a/stuff/mp3/</a:t>
            </a:r>
            <a:r>
              <a:rPr lang="pl-PL" altLang="zh-CN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"</a:t>
            </a:r>
            <a:r>
              <a:rPr lang="pl-PL" altLang="zh-CN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System</a:t>
            </a:r>
            <a:r>
              <a:rPr lang="pl-PL" altLang="zh-CN" sz="24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out</a:t>
            </a:r>
            <a:r>
              <a:rPr lang="pl-PL" altLang="zh-CN" sz="24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println</a:t>
            </a:r>
            <a:r>
              <a:rPr lang="pl-PL" altLang="zh-CN" sz="24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u.get</a:t>
            </a: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UserInfo</a:t>
            </a:r>
            <a:r>
              <a:rPr lang="pl-PL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</a:t>
            </a:r>
            <a:r>
              <a:rPr lang="pl-PL" altLang="zh-CN" sz="24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40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显示输出为：</a:t>
            </a:r>
            <a:r>
              <a:rPr lang="en-US" altLang="zh-CN" sz="2400">
                <a:solidFill>
                  <a:srgbClr val="FF0000"/>
                </a:solidFill>
                <a:ea typeface="Simsun" pitchFamily="2" charset="-122"/>
                <a:cs typeface="Times New Roman" pitchFamily="18" charset="0"/>
              </a:rPr>
              <a:t>mp3:secret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但在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mailto</a:t>
            </a: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类型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如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maito:elharo@ibiblio.org</a:t>
            </a: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中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, elharo@ibiblio.org</a:t>
            </a: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是路径。</a:t>
            </a:r>
            <a:endParaRPr lang="en-US" altLang="zh-CN" sz="2000">
              <a:solidFill>
                <a:srgbClr val="FF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611560" y="5572125"/>
            <a:ext cx="8305800" cy="128587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0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 sz="200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</a:t>
            </a:r>
            <a:r>
              <a:rPr lang="pl-PL" altLang="zh-CN" sz="200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0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=</a:t>
            </a:r>
            <a:r>
              <a:rPr lang="pl-PL" altLang="zh-CN" sz="200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b="1">
                <a:solidFill>
                  <a:srgbClr val="0066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new</a:t>
            </a:r>
            <a:r>
              <a:rPr lang="pl-PL" altLang="zh-CN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</a:t>
            </a:r>
            <a:r>
              <a:rPr lang="pl-PL" altLang="zh-CN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"</a:t>
            </a:r>
            <a:r>
              <a:rPr lang="en-US" altLang="zh-CN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ftp</a:t>
            </a:r>
            <a:r>
              <a:rPr lang="pl-PL" altLang="zh-CN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://</a:t>
            </a:r>
            <a:r>
              <a:rPr lang="en-US" altLang="zh-CN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mp3:secret@ftp.example.com:210/c%3a/stuff/mp3/ </a:t>
            </a:r>
            <a:r>
              <a:rPr lang="pl-PL" altLang="zh-CN">
                <a:solidFill>
                  <a:srgbClr val="CC33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"</a:t>
            </a:r>
            <a:r>
              <a:rPr lang="pl-PL" altLang="zh-CN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24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System</a:t>
            </a:r>
            <a:r>
              <a:rPr lang="pl-PL" altLang="zh-CN" sz="24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out</a:t>
            </a:r>
            <a:r>
              <a:rPr lang="pl-PL" altLang="zh-CN" sz="24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</a:t>
            </a:r>
            <a:r>
              <a:rPr lang="pl-PL" altLang="zh-CN" sz="2400">
                <a:solidFill>
                  <a:srgbClr val="3300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println</a:t>
            </a:r>
            <a:r>
              <a:rPr lang="pl-PL" altLang="zh-CN" sz="24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pl-PL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u.get</a:t>
            </a: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Authority</a:t>
            </a:r>
            <a:r>
              <a:rPr lang="pl-PL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</a:t>
            </a:r>
            <a:r>
              <a:rPr lang="pl-PL" altLang="zh-CN" sz="240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40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240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显示输出为：</a:t>
            </a: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mp3:secret@ftp.example.com:210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>
          <a:xfrm>
            <a:off x="263525" y="152400"/>
            <a:ext cx="8540750" cy="1143000"/>
          </a:xfrm>
        </p:spPr>
        <p:txBody>
          <a:bodyPr/>
          <a:lstStyle/>
          <a:p>
            <a:r>
              <a:rPr lang="en-US" altLang="zh-CN" sz="3200" smtClean="0"/>
              <a:t>URL</a:t>
            </a:r>
            <a:r>
              <a:rPr lang="zh-CN" altLang="en-US" sz="3200" smtClean="0"/>
              <a:t>解析例子</a:t>
            </a:r>
          </a:p>
        </p:txBody>
      </p:sp>
      <p:sp>
        <p:nvSpPr>
          <p:cNvPr id="3994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287016" y="476672"/>
            <a:ext cx="8856984" cy="6247864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import java.net.*;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public class URLSplitter {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public static void main(String args[]) {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for (int i = 0; i &lt; args.length; i++) {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try { URL u </a:t>
            </a: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= new URL(args[i])</a:t>
            </a: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</a:t>
            </a:r>
            <a:r>
              <a:rPr lang="en-US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   </a:t>
            </a: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System.out.println("The URL is " + u</a:t>
            </a:r>
            <a:r>
              <a:rPr lang="en-US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</a:t>
            </a:r>
            <a:r>
              <a:rPr lang="en-US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	</a:t>
            </a: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System.out.println("The scheme is " + u.getProtocol());       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</a:t>
            </a:r>
            <a:r>
              <a:rPr lang="en-US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	</a:t>
            </a: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System.out.println("The user info is " + u.getUserInfo());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</a:t>
            </a:r>
            <a:r>
              <a:rPr lang="en-US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	</a:t>
            </a: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String host = u.getHost();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</a:t>
            </a:r>
            <a:r>
              <a:rPr lang="en-US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 </a:t>
            </a: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if (host != null) {</a:t>
            </a:r>
            <a:r>
              <a:rPr lang="en-US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</a:t>
            </a: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int atSign = host.indexOf('@'); 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</a:t>
            </a:r>
            <a:r>
              <a:rPr lang="en-US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                    </a:t>
            </a: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  </a:t>
            </a: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if (atSign != -1) host = host.substring(atSign+1);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  </a:t>
            </a:r>
            <a:r>
              <a:rPr lang="en-US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                             </a:t>
            </a: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System.out.println("The host is " + host);  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} else {           System.out.println("The host is null.");    }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</a:t>
            </a: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System.out.println("The port is " + u.getPort());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System.out.println("The path is " + u.getPath());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System.out.println("The ref is " + u.getRef());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System.out.println("The query string is " + u.getQuery());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} catch (MalformedURLException ex) { </a:t>
            </a:r>
            <a:endParaRPr lang="en-US" altLang="zh-CN" sz="1600" dirty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 </a:t>
            </a: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System.err.println(args[i] + " is not a URL I understand.");</a:t>
            </a:r>
            <a:r>
              <a:rPr lang="en-US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</a:t>
            </a: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}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System.out.println();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}</a:t>
            </a:r>
            <a:r>
              <a:rPr lang="en-US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//for     </a:t>
            </a: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}</a:t>
            </a:r>
            <a:r>
              <a:rPr lang="en-US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//main()      </a:t>
            </a:r>
            <a:r>
              <a:rPr lang="pl-PL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}</a:t>
            </a:r>
            <a:r>
              <a:rPr lang="en-US" altLang="zh-CN" sz="160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//</a:t>
            </a:r>
            <a:r>
              <a:rPr lang="en-US" altLang="zh-CN" sz="1600" dirty="0" err="1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URLSplitter</a:t>
            </a:r>
            <a:endParaRPr lang="en-US" altLang="zh-CN" sz="1600" dirty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762000"/>
          </a:xfrm>
        </p:spPr>
        <p:txBody>
          <a:bodyPr/>
          <a:lstStyle/>
          <a:p>
            <a:r>
              <a:rPr lang="zh-CN" altLang="en-US" sz="3200" dirty="0" smtClean="0"/>
              <a:t>运行结果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323528" y="1628800"/>
            <a:ext cx="8218488" cy="5135563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 smtClean="0"/>
              <a:t>运行</a:t>
            </a:r>
            <a:r>
              <a:rPr lang="en-US" altLang="zh-CN" sz="2400" dirty="0" err="1" smtClean="0"/>
              <a:t>URLSplitter</a:t>
            </a:r>
            <a:r>
              <a:rPr lang="zh-CN" altLang="en-US" sz="2400" dirty="0" smtClean="0"/>
              <a:t>，并输入参数</a:t>
            </a:r>
            <a:endParaRPr lang="en-US" altLang="zh-CN" sz="2400" dirty="0" smtClean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 smtClean="0"/>
              <a:t>http://www.oreilly.com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 smtClean="0"/>
              <a:t>http://admin@ww.blackstar.com:8080/nywc/composition.html?category=piano.</a:t>
            </a:r>
            <a:endParaRPr lang="en-US" altLang="zh-CN" sz="2400" dirty="0" smtClean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 smtClean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solidFill>
                  <a:srgbClr val="FF0000"/>
                </a:solidFill>
              </a:rPr>
              <a:t>运行结果为：</a:t>
            </a:r>
          </a:p>
          <a:p>
            <a:pPr>
              <a:buNone/>
            </a:pPr>
            <a:endParaRPr lang="en-US" altLang="zh-CN" dirty="0" smtClean="0"/>
          </a:p>
          <a:p>
            <a:endParaRPr lang="en-US" altLang="zh-CN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3284984"/>
            <a:ext cx="7697663" cy="3529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339725" y="152400"/>
            <a:ext cx="8540750" cy="1143000"/>
          </a:xfrm>
        </p:spPr>
        <p:txBody>
          <a:bodyPr/>
          <a:lstStyle/>
          <a:p>
            <a:r>
              <a:rPr lang="zh-CN" altLang="en-US" sz="3200" smtClean="0"/>
              <a:t>比较两个</a:t>
            </a:r>
            <a:r>
              <a:rPr lang="en-US" altLang="zh-CN" sz="3200" smtClean="0"/>
              <a:t>url</a:t>
            </a:r>
            <a:endParaRPr lang="zh-CN" altLang="en-US" sz="320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628800"/>
            <a:ext cx="8458200" cy="5135563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 smtClean="0"/>
              <a:t>明明两个</a:t>
            </a:r>
            <a:r>
              <a:rPr lang="en-US" altLang="zh-CN" sz="2400" dirty="0" err="1" smtClean="0"/>
              <a:t>url</a:t>
            </a:r>
            <a:r>
              <a:rPr lang="zh-CN" altLang="en-US" sz="2400" dirty="0" smtClean="0"/>
              <a:t>字符串不一样，为什么比较结果是一样？</a:t>
            </a:r>
            <a:endParaRPr lang="en-US" altLang="zh-CN" sz="2400" dirty="0" smtClean="0"/>
          </a:p>
          <a:p>
            <a:r>
              <a:rPr lang="zh-CN" altLang="en-US" sz="2400" dirty="0" smtClean="0">
                <a:solidFill>
                  <a:srgbClr val="FF0000"/>
                </a:solidFill>
              </a:rPr>
              <a:t>因</a:t>
            </a:r>
            <a:r>
              <a:rPr lang="en-US" altLang="zh-CN" sz="2400" dirty="0" smtClean="0">
                <a:solidFill>
                  <a:srgbClr val="FF0000"/>
                </a:solidFill>
              </a:rPr>
              <a:t>URL</a:t>
            </a:r>
            <a:r>
              <a:rPr lang="zh-CN" altLang="en-US" sz="2400" dirty="0" smtClean="0">
                <a:solidFill>
                  <a:srgbClr val="FF0000"/>
                </a:solidFill>
              </a:rPr>
              <a:t>类的</a:t>
            </a:r>
            <a:r>
              <a:rPr lang="en-US" altLang="zh-CN" sz="2400" dirty="0" smtClean="0">
                <a:solidFill>
                  <a:srgbClr val="FF0000"/>
                </a:solidFill>
              </a:rPr>
              <a:t>equals()</a:t>
            </a:r>
            <a:r>
              <a:rPr lang="zh-CN" altLang="en-US" sz="2400" dirty="0" smtClean="0">
                <a:solidFill>
                  <a:srgbClr val="FF0000"/>
                </a:solidFill>
              </a:rPr>
              <a:t>方法会尝试用</a:t>
            </a:r>
            <a:r>
              <a:rPr lang="en-US" altLang="zh-CN" sz="2400" dirty="0" smtClean="0">
                <a:solidFill>
                  <a:srgbClr val="FF0000"/>
                </a:solidFill>
              </a:rPr>
              <a:t>DNS</a:t>
            </a:r>
            <a:r>
              <a:rPr lang="zh-CN" altLang="en-US" sz="2400" dirty="0" smtClean="0">
                <a:solidFill>
                  <a:srgbClr val="FF0000"/>
                </a:solidFill>
              </a:rPr>
              <a:t>解析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url</a:t>
            </a:r>
            <a:r>
              <a:rPr lang="zh-CN" altLang="en-US" sz="2400" dirty="0" smtClean="0">
                <a:solidFill>
                  <a:srgbClr val="FF0000"/>
                </a:solidFill>
              </a:rPr>
              <a:t>中的主机，判断两个主机是否相同。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r>
              <a:rPr lang="zh-CN" altLang="en-US" sz="2400" dirty="0" smtClean="0"/>
              <a:t>但不会具体比较两个</a:t>
            </a:r>
            <a:r>
              <a:rPr lang="en-US" altLang="zh-CN" sz="2400" dirty="0" err="1" smtClean="0"/>
              <a:t>url</a:t>
            </a:r>
            <a:r>
              <a:rPr lang="zh-CN" altLang="en-US" sz="2400" dirty="0" smtClean="0"/>
              <a:t>标识的资源。</a:t>
            </a:r>
            <a:endParaRPr lang="en-US" altLang="zh-CN" sz="2400" dirty="0" smtClean="0"/>
          </a:p>
          <a:p>
            <a:r>
              <a:rPr lang="zh-CN" altLang="en-US" sz="2400" dirty="0" smtClean="0"/>
              <a:t>例如：该方法的比较结果会返回</a:t>
            </a:r>
            <a:endParaRPr lang="en-US" altLang="zh-CN" sz="2400" dirty="0" smtClean="0"/>
          </a:p>
          <a:p>
            <a:r>
              <a:rPr lang="en-US" altLang="zh-CN" sz="2000" dirty="0" smtClean="0">
                <a:hlinkClick r:id="rId3"/>
              </a:rPr>
              <a:t>http://www.oreilly.com</a:t>
            </a:r>
            <a:r>
              <a:rPr lang="zh-CN" altLang="en-US" sz="2000" dirty="0" smtClean="0"/>
              <a:t>与</a:t>
            </a:r>
            <a:r>
              <a:rPr lang="en-US" altLang="zh-CN" sz="2000" dirty="0" smtClean="0">
                <a:hlinkClick r:id="rId4"/>
              </a:rPr>
              <a:t>http://www.oreilly.com/index.html</a:t>
            </a:r>
            <a:r>
              <a:rPr lang="zh-CN" altLang="en-US" sz="2000" dirty="0" smtClean="0"/>
              <a:t>是不等的。</a:t>
            </a:r>
            <a:endParaRPr lang="en-US" altLang="zh-CN" sz="2000" dirty="0" smtClean="0"/>
          </a:p>
          <a:p>
            <a:r>
              <a:rPr lang="en-US" altLang="zh-CN" sz="2000" dirty="0" smtClean="0">
                <a:hlinkClick r:id="rId3"/>
              </a:rPr>
              <a:t>http://www.oreilly.com</a:t>
            </a:r>
            <a:r>
              <a:rPr lang="zh-CN" altLang="en-US" sz="2000" dirty="0" smtClean="0"/>
              <a:t>与</a:t>
            </a:r>
            <a:r>
              <a:rPr lang="en-US" altLang="zh-CN" sz="2000" dirty="0" smtClean="0">
                <a:hlinkClick r:id="rId3"/>
              </a:rPr>
              <a:t>http://www.oreilly.com:80</a:t>
            </a:r>
            <a:r>
              <a:rPr lang="zh-CN" altLang="en-US" sz="2000" dirty="0" smtClean="0"/>
              <a:t>是不等的。</a:t>
            </a:r>
            <a:endParaRPr lang="en-US" altLang="zh-CN" sz="2000" dirty="0" smtClean="0"/>
          </a:p>
          <a:p>
            <a:r>
              <a:rPr lang="zh-CN" altLang="en-US" sz="2000" dirty="0" smtClean="0"/>
              <a:t>用</a:t>
            </a:r>
            <a:r>
              <a:rPr lang="en-US" altLang="zh-CN" sz="2000" dirty="0" err="1" smtClean="0"/>
              <a:t>sameFile</a:t>
            </a:r>
            <a:r>
              <a:rPr lang="en-US" altLang="zh-CN" sz="2000" dirty="0" smtClean="0"/>
              <a:t>()</a:t>
            </a:r>
            <a:r>
              <a:rPr lang="zh-CN" altLang="en-US" sz="2000" dirty="0" smtClean="0"/>
              <a:t>方法检查两个</a:t>
            </a:r>
            <a:r>
              <a:rPr lang="en-US" altLang="zh-CN" sz="2000" dirty="0" err="1" smtClean="0"/>
              <a:t>url</a:t>
            </a:r>
            <a:r>
              <a:rPr lang="zh-CN" altLang="en-US" sz="2000" dirty="0" smtClean="0"/>
              <a:t>是否指向相同资源。</a:t>
            </a:r>
            <a:endParaRPr lang="en-US" altLang="zh-CN" sz="2000" dirty="0" smtClean="0"/>
          </a:p>
          <a:p>
            <a:r>
              <a:rPr lang="zh-CN" altLang="en-US" sz="2000" dirty="0" smtClean="0"/>
              <a:t>例如：</a:t>
            </a:r>
            <a:r>
              <a:rPr lang="en-US" altLang="zh-CN" sz="2000" dirty="0" smtClean="0">
                <a:hlinkClick r:id="rId4"/>
              </a:rPr>
              <a:t>http://www.oreilly.com/index.html#p1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与 </a:t>
            </a:r>
            <a:r>
              <a:rPr lang="en-US" altLang="zh-CN" sz="2000" dirty="0" smtClean="0">
                <a:hlinkClick r:id="rId4"/>
              </a:rPr>
              <a:t>http://www.oreilly.com/index.html#q2</a:t>
            </a:r>
            <a:endParaRPr lang="en-US" altLang="zh-CN" sz="2000" dirty="0" smtClean="0"/>
          </a:p>
          <a:p>
            <a:r>
              <a:rPr lang="zh-CN" altLang="en-US" sz="2000" dirty="0" smtClean="0"/>
              <a:t>用</a:t>
            </a:r>
            <a:r>
              <a:rPr lang="en-US" altLang="zh-CN" sz="2000" dirty="0" err="1" smtClean="0"/>
              <a:t>sameFile</a:t>
            </a:r>
            <a:r>
              <a:rPr lang="en-US" altLang="zh-CN" sz="2000" dirty="0" smtClean="0"/>
              <a:t>()</a:t>
            </a:r>
            <a:r>
              <a:rPr lang="zh-CN" altLang="en-US" sz="2000" dirty="0" smtClean="0"/>
              <a:t>方法检查返回结果是： </a:t>
            </a:r>
            <a:r>
              <a:rPr lang="zh-CN" altLang="en-US" sz="1800" dirty="0" smtClean="0"/>
              <a:t>两个是相等的，即指向相同的资源。</a:t>
            </a:r>
            <a:endParaRPr lang="en-US" altLang="zh-CN" sz="1800" dirty="0" smtClean="0"/>
          </a:p>
          <a:p>
            <a:r>
              <a:rPr lang="zh-CN" altLang="en-US" sz="2000" dirty="0" smtClean="0"/>
              <a:t>用</a:t>
            </a:r>
            <a:r>
              <a:rPr lang="en-US" altLang="zh-CN" sz="2000" dirty="0" smtClean="0"/>
              <a:t>equals()</a:t>
            </a:r>
            <a:r>
              <a:rPr lang="zh-CN" altLang="en-US" sz="2000" dirty="0" smtClean="0"/>
              <a:t>方法返回结果是 ：两个是不等的。</a:t>
            </a:r>
            <a:endParaRPr lang="en-US" altLang="zh-CN" sz="2000" dirty="0" smtClean="0"/>
          </a:p>
          <a:p>
            <a:r>
              <a:rPr lang="zh-CN" altLang="en-US" sz="2000" dirty="0" smtClean="0">
                <a:solidFill>
                  <a:srgbClr val="FF0000"/>
                </a:solidFill>
              </a:rPr>
              <a:t>局限：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sameFile</a:t>
            </a:r>
            <a:r>
              <a:rPr lang="en-US" altLang="zh-CN" sz="2000" dirty="0" smtClean="0">
                <a:solidFill>
                  <a:srgbClr val="FF0000"/>
                </a:solidFill>
              </a:rPr>
              <a:t>()</a:t>
            </a:r>
            <a:r>
              <a:rPr lang="zh-CN" altLang="en-US" sz="2000" dirty="0" smtClean="0">
                <a:solidFill>
                  <a:srgbClr val="FF0000"/>
                </a:solidFill>
              </a:rPr>
              <a:t>方法比较时不考虑片段标识符。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endParaRPr lang="en-US" altLang="zh-CN" sz="2400" dirty="0" smtClean="0"/>
          </a:p>
        </p:txBody>
      </p:sp>
      <p:sp>
        <p:nvSpPr>
          <p:cNvPr id="4710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URI</a:t>
            </a:r>
            <a:r>
              <a:rPr lang="zh-CN" altLang="en-US" sz="3200" smtClean="0"/>
              <a:t>类</a:t>
            </a: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/>
              <a:t>URI</a:t>
            </a:r>
            <a:r>
              <a:rPr lang="zh-CN" altLang="en-US" dirty="0" smtClean="0"/>
              <a:t>：</a:t>
            </a:r>
            <a:r>
              <a:rPr lang="en-US" altLang="zh-CN" dirty="0" smtClean="0"/>
              <a:t>Uniform Resource Identifier</a:t>
            </a:r>
          </a:p>
          <a:p>
            <a:pPr lvl="1"/>
            <a:r>
              <a:rPr lang="en-US" altLang="zh-CN" dirty="0" smtClean="0"/>
              <a:t>URL</a:t>
            </a:r>
            <a:r>
              <a:rPr lang="zh-CN" altLang="en-US" dirty="0" smtClean="0"/>
              <a:t>：</a:t>
            </a:r>
            <a:r>
              <a:rPr lang="en-US" altLang="zh-CN" dirty="0" smtClean="0"/>
              <a:t>Uniform Resource Locator</a:t>
            </a:r>
          </a:p>
          <a:p>
            <a:pPr lvl="2"/>
            <a:r>
              <a:rPr lang="en-US" altLang="zh-CN" dirty="0" smtClean="0"/>
              <a:t>http://www.szu.edu.cn/szu.asp</a:t>
            </a:r>
          </a:p>
          <a:p>
            <a:pPr lvl="1"/>
            <a:r>
              <a:rPr lang="en-US" altLang="zh-CN" dirty="0" smtClean="0"/>
              <a:t>URN</a:t>
            </a:r>
            <a:r>
              <a:rPr lang="zh-CN" altLang="en-US" dirty="0" smtClean="0"/>
              <a:t>：</a:t>
            </a:r>
            <a:r>
              <a:rPr lang="en-US" altLang="zh-CN" dirty="0" smtClean="0"/>
              <a:t>Uniform Resource Name</a:t>
            </a:r>
          </a:p>
          <a:p>
            <a:pPr lvl="2"/>
            <a:r>
              <a:rPr lang="en-US" altLang="zh-CN" dirty="0" smtClean="0"/>
              <a:t>urn:isbn:0-486-27557-4</a:t>
            </a:r>
          </a:p>
          <a:p>
            <a:pPr lvl="2"/>
            <a:r>
              <a:rPr lang="en-US" altLang="zh-CN" dirty="0" smtClean="0"/>
              <a:t>mailto:yu.zhou@szu.edu.cn</a:t>
            </a:r>
          </a:p>
          <a:p>
            <a:r>
              <a:rPr lang="zh-CN" altLang="en-US" sz="2800" dirty="0" smtClean="0"/>
              <a:t>虽</a:t>
            </a:r>
            <a:r>
              <a:rPr lang="en-US" altLang="zh-CN" sz="2800" dirty="0" smtClean="0"/>
              <a:t>URL</a:t>
            </a:r>
            <a:r>
              <a:rPr lang="zh-CN" altLang="en-US" sz="2800" dirty="0" smtClean="0"/>
              <a:t>可视作一种</a:t>
            </a:r>
            <a:r>
              <a:rPr lang="en-US" altLang="zh-CN" sz="2800" dirty="0" smtClean="0"/>
              <a:t>URI</a:t>
            </a:r>
            <a:r>
              <a:rPr lang="zh-CN" altLang="en-US" sz="2800" dirty="0" smtClean="0"/>
              <a:t>的抽象，但</a:t>
            </a:r>
            <a:r>
              <a:rPr lang="en-US" altLang="zh-CN" sz="2800" dirty="0" smtClean="0"/>
              <a:t>Java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URL</a:t>
            </a:r>
            <a:r>
              <a:rPr lang="zh-CN" altLang="en-US" sz="2800" dirty="0" smtClean="0"/>
              <a:t>类并不是</a:t>
            </a:r>
            <a:r>
              <a:rPr lang="en-US" altLang="zh-CN" sz="2800" dirty="0" smtClean="0"/>
              <a:t>URI</a:t>
            </a:r>
            <a:r>
              <a:rPr lang="zh-CN" altLang="en-US" sz="2800" dirty="0" smtClean="0"/>
              <a:t>的子类</a:t>
            </a:r>
            <a:endParaRPr lang="en-US" altLang="zh-CN" sz="2800" dirty="0" smtClean="0"/>
          </a:p>
          <a:p>
            <a:r>
              <a:rPr lang="en-US" altLang="zh-CN" sz="2800" dirty="0" smtClean="0"/>
              <a:t>URL</a:t>
            </a:r>
            <a:r>
              <a:rPr lang="zh-CN" altLang="en-US" sz="2800" dirty="0" smtClean="0"/>
              <a:t>类与</a:t>
            </a:r>
            <a:r>
              <a:rPr lang="en-US" altLang="zh-CN" sz="2800" dirty="0" smtClean="0"/>
              <a:t>URI</a:t>
            </a:r>
            <a:r>
              <a:rPr lang="zh-CN" altLang="en-US" sz="2800" dirty="0" smtClean="0"/>
              <a:t>类皆是</a:t>
            </a:r>
            <a:r>
              <a:rPr lang="en-US" altLang="zh-CN" sz="2800" dirty="0" smtClean="0"/>
              <a:t>Object</a:t>
            </a:r>
            <a:r>
              <a:rPr lang="zh-CN" altLang="en-US" sz="2800" dirty="0" smtClean="0"/>
              <a:t>的子类</a:t>
            </a:r>
            <a:endParaRPr lang="en-US" altLang="zh-CN" sz="2800" dirty="0" smtClean="0"/>
          </a:p>
          <a:p>
            <a:r>
              <a:rPr lang="en-US" altLang="zh-CN" sz="2800" dirty="0" err="1" smtClean="0"/>
              <a:t>Java.net.URI</a:t>
            </a:r>
            <a:r>
              <a:rPr lang="zh-CN" altLang="en-US" sz="2800" dirty="0" smtClean="0"/>
              <a:t>类</a:t>
            </a:r>
            <a:endParaRPr lang="en-US" altLang="zh-CN" sz="2800" dirty="0" smtClean="0"/>
          </a:p>
        </p:txBody>
      </p:sp>
      <p:sp>
        <p:nvSpPr>
          <p:cNvPr id="4915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URI</a:t>
            </a:r>
            <a:r>
              <a:rPr lang="zh-CN" altLang="en-US" dirty="0" smtClean="0"/>
              <a:t>语法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 smtClean="0"/>
              <a:t>URI</a:t>
            </a:r>
            <a:r>
              <a:rPr lang="zh-CN" altLang="en-US" dirty="0" smtClean="0"/>
              <a:t>的语法由一个模式和一个模式特定部分组成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</a:t>
            </a:r>
            <a:r>
              <a:rPr lang="zh-CN" altLang="en-US" dirty="0" smtClean="0"/>
              <a:t>模式：模式特定部分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其中模式包括：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data, file, ftp, http, mailto, magnet, telnet, urn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形式： </a:t>
            </a:r>
            <a:r>
              <a:rPr lang="en-US" altLang="zh-CN" dirty="0" smtClean="0"/>
              <a:t>//authority/path</a:t>
            </a:r>
            <a:r>
              <a:rPr lang="zh-CN" altLang="en-US" dirty="0" smtClean="0"/>
              <a:t>？</a:t>
            </a:r>
            <a:r>
              <a:rPr lang="en-US" altLang="zh-CN" dirty="0" smtClean="0"/>
              <a:t>query</a:t>
            </a:r>
          </a:p>
          <a:p>
            <a:pPr>
              <a:buNone/>
            </a:pPr>
            <a:r>
              <a:rPr lang="en-US" altLang="zh-CN" dirty="0" smtClean="0"/>
              <a:t>  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URI</a:t>
            </a:r>
            <a:r>
              <a:rPr lang="zh-CN" altLang="en-US" dirty="0" smtClean="0"/>
              <a:t>构造方法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556792"/>
            <a:ext cx="8226148" cy="5135336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CC00FF"/>
                </a:solidFill>
                <a:latin typeface="Courier New" panose="02070309020205020404" pitchFamily="49" charset="0"/>
              </a:rPr>
              <a:t>URI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</a:rPr>
              <a:t>uri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</a:rPr>
              <a:t>URISyntaxException</a:t>
            </a:r>
            <a:endParaRPr lang="en-US" altLang="zh-CN" dirty="0" smtClean="0"/>
          </a:p>
          <a:p>
            <a:r>
              <a:rPr lang="zh-CN" altLang="en-US" dirty="0" smtClean="0"/>
              <a:t>只检查</a:t>
            </a:r>
            <a:r>
              <a:rPr lang="en-US" altLang="zh-CN" dirty="0" smtClean="0"/>
              <a:t>URI</a:t>
            </a:r>
            <a:r>
              <a:rPr lang="zh-CN" altLang="en-US" dirty="0" smtClean="0"/>
              <a:t>语法，不检查协议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voice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2000" dirty="0" err="1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tel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:+1-800-9988-9938"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web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"http://</a:t>
            </a:r>
            <a:r>
              <a:rPr lang="en-US" altLang="zh-CN" sz="20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www.a.com/a.jsp#id=hbc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book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"urn:isbn:1-565-92870-9</a:t>
            </a:r>
            <a:r>
              <a:rPr lang="en-US" altLang="zh-CN" sz="20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</a:p>
          <a:p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scheme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schemeSpecificPart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fragment</a:t>
            </a: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 </a:t>
            </a:r>
            <a:r>
              <a:rPr lang="en-US" altLang="zh-CN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URISyntaxException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absolute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"//www.ibiblio.org"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null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relative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null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"/</a:t>
            </a:r>
            <a:r>
              <a:rPr lang="en-US" altLang="zh-CN" sz="2000" dirty="0" err="1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javafaq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/index.shtml"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"today"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495041" y="6488668"/>
            <a:ext cx="1486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URITester.java</a:t>
            </a:r>
          </a:p>
        </p:txBody>
      </p:sp>
    </p:spTree>
    <p:extLst>
      <p:ext uri="{BB962C8B-B14F-4D97-AF65-F5344CB8AC3E}">
        <p14:creationId xmlns:p14="http://schemas.microsoft.com/office/powerpoint/2010/main" xmlns="" val="280231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URL</a:t>
            </a:r>
            <a:r>
              <a:rPr lang="zh-CN" altLang="en-US" sz="3200" smtClean="0"/>
              <a:t>和</a:t>
            </a:r>
            <a:r>
              <a:rPr lang="en-US" altLang="zh-CN" sz="3200" smtClean="0"/>
              <a:t>URI</a:t>
            </a:r>
            <a:r>
              <a:rPr lang="zh-CN" altLang="en-US" sz="3200" smtClean="0"/>
              <a:t>的选用</a:t>
            </a:r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>
          <a:xfrm>
            <a:off x="323528" y="1772816"/>
            <a:ext cx="8153400" cy="4495800"/>
          </a:xfrm>
        </p:spPr>
        <p:txBody>
          <a:bodyPr/>
          <a:lstStyle/>
          <a:p>
            <a:pPr lvl="1"/>
            <a:r>
              <a:rPr lang="zh-CN" altLang="en-US" dirty="0" smtClean="0"/>
              <a:t>编程实现网络数据获取功能时选用</a:t>
            </a:r>
            <a:r>
              <a:rPr lang="en-US" altLang="zh-CN" dirty="0" smtClean="0"/>
              <a:t>URL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1"/>
            <a:r>
              <a:rPr lang="zh-CN" altLang="en-US" sz="2400" dirty="0" smtClean="0"/>
              <a:t>比如 想要下载一个</a:t>
            </a:r>
            <a:r>
              <a:rPr lang="en-US" altLang="zh-CN" sz="2400" dirty="0" err="1" smtClean="0"/>
              <a:t>url</a:t>
            </a:r>
            <a:r>
              <a:rPr lang="zh-CN" altLang="en-US" sz="2400" dirty="0" smtClean="0"/>
              <a:t>的内容。</a:t>
            </a:r>
            <a:endParaRPr lang="en-US" altLang="zh-CN" sz="2400" dirty="0" smtClean="0"/>
          </a:p>
          <a:p>
            <a:pPr lvl="1"/>
            <a:r>
              <a:rPr lang="zh-CN" altLang="en-US" dirty="0" smtClean="0"/>
              <a:t>编程用于解析和处理统一资源定位符相关的字符串时选用</a:t>
            </a:r>
            <a:r>
              <a:rPr lang="en-US" altLang="zh-CN" dirty="0" smtClean="0"/>
              <a:t>URI</a:t>
            </a:r>
            <a:r>
              <a:rPr lang="zh-CN" altLang="en-US" dirty="0" smtClean="0"/>
              <a:t>类。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URI</a:t>
            </a:r>
            <a:r>
              <a:rPr lang="zh-CN" altLang="en-US" dirty="0" smtClean="0"/>
              <a:t>类无网络获取功能。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比如 想要表示一个</a:t>
            </a:r>
            <a:r>
              <a:rPr lang="en-US" altLang="zh-CN" dirty="0" smtClean="0"/>
              <a:t>XML</a:t>
            </a:r>
            <a:r>
              <a:rPr lang="zh-CN" altLang="en-US" dirty="0" smtClean="0"/>
              <a:t>命名空间。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sp>
        <p:nvSpPr>
          <p:cNvPr id="5018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URI</a:t>
            </a:r>
            <a:r>
              <a:rPr lang="zh-CN" altLang="en-US" sz="3200" smtClean="0"/>
              <a:t>类的构造方法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6055" y="1628800"/>
            <a:ext cx="8226425" cy="51355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根据传入的字符串创建一个</a:t>
            </a:r>
            <a:r>
              <a:rPr lang="en-US" altLang="zh-CN" sz="2400" b="1" dirty="0" smtClean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zh-CN" altLang="en-US" sz="2400" b="1" dirty="0" smtClean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对象</a:t>
            </a:r>
            <a:endParaRPr lang="en-US" altLang="zh-CN" sz="2400" b="1" dirty="0" smtClean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b="1" dirty="0" smtClean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smtClean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URISyntaxException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400" dirty="0" smtClean="0"/>
              <a:t>不检查协议，只检查传入的字符串要合</a:t>
            </a:r>
            <a:r>
              <a:rPr lang="en-US" altLang="zh-CN" sz="2400" dirty="0" err="1" smtClean="0"/>
              <a:t>uri</a:t>
            </a:r>
            <a:r>
              <a:rPr lang="zh-CN" altLang="en-US" sz="2400" dirty="0" smtClean="0"/>
              <a:t>语法规则。</a:t>
            </a:r>
            <a:endParaRPr lang="en-US" altLang="zh-CN" sz="2400" dirty="0" smtClean="0"/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voice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000" dirty="0" err="1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tel</a:t>
            </a:r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:+1-800-9988-9938"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"http://</a:t>
            </a:r>
            <a:r>
              <a:rPr lang="en-US" altLang="zh-CN" sz="2000" dirty="0" smtClean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www.a.com/a.jsp#id=hbc</a:t>
            </a:r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book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"urn:isbn:1-565-92870-9</a:t>
            </a:r>
            <a:r>
              <a:rPr lang="en-US" altLang="zh-CN" sz="2000" dirty="0" smtClean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000" dirty="0" smtClean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sz="2000" dirty="0">
              <a:solidFill>
                <a:srgbClr val="555555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400" dirty="0" smtClean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zh-CN" altLang="en-US" sz="2400" dirty="0" smtClean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格式：</a:t>
            </a:r>
            <a:endParaRPr lang="en-US" altLang="zh-CN" sz="2400" dirty="0" smtClean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zh-CN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协议：协议特定部分：片段</a:t>
            </a:r>
            <a:endParaRPr lang="en-US" altLang="zh-CN" sz="2400" dirty="0" smtClean="0">
              <a:solidFill>
                <a:schemeClr val="tx2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sz="2000" dirty="0" smtClean="0">
              <a:solidFill>
                <a:srgbClr val="555555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5120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 smtClean="0"/>
              <a:t>URI</a:t>
            </a:r>
            <a:r>
              <a:rPr lang="zh-CN" altLang="en-US" sz="3200" dirty="0" smtClean="0"/>
              <a:t>类的构造方法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628800"/>
            <a:ext cx="8226425" cy="51355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根据传入的模式、模式特定部分、片段标识符  字符串创建一个</a:t>
            </a:r>
            <a:r>
              <a:rPr lang="en-US" altLang="zh-CN" sz="2400" b="1" dirty="0" smtClean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zh-CN" altLang="en-US" sz="2400" b="1" dirty="0" smtClean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对象</a:t>
            </a:r>
            <a:endParaRPr lang="en-US" altLang="zh-CN" sz="2000" dirty="0" smtClean="0">
              <a:solidFill>
                <a:srgbClr val="555555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b="1" dirty="0">
                <a:solidFill>
                  <a:srgbClr val="0066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C00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en-US" altLang="zh-CN" sz="24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String</a:t>
            </a:r>
            <a:r>
              <a:rPr lang="en-US" altLang="zh-CN" sz="24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scheme</a:t>
            </a:r>
            <a:r>
              <a:rPr lang="en-US" altLang="zh-CN" sz="24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String</a:t>
            </a:r>
            <a:r>
              <a:rPr lang="en-US" altLang="zh-CN" sz="24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schemeSpecificPart</a:t>
            </a:r>
            <a:r>
              <a:rPr lang="en-US" altLang="zh-CN" sz="24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String</a:t>
            </a:r>
            <a:r>
              <a:rPr lang="en-US" altLang="zh-CN" sz="24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fragment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dirty="0" smtClean="0">
                <a:solidFill>
                  <a:srgbClr val="0066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throws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URISyntaxException</a:t>
            </a:r>
            <a:endParaRPr lang="en-US" altLang="zh-CN" sz="2400" dirty="0" smtClean="0">
              <a:solidFill>
                <a:srgbClr val="000088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Scheme: </a:t>
            </a:r>
            <a:r>
              <a:rPr lang="en-US" altLang="zh-CN" sz="2000" dirty="0" err="1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zh-CN" altLang="en-US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的协议，如</a:t>
            </a:r>
            <a:r>
              <a:rPr lang="en-US" altLang="zh-CN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urn</a:t>
            </a:r>
            <a:r>
              <a:rPr lang="zh-CN" altLang="en-US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err="1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tel</a:t>
            </a:r>
            <a:r>
              <a:rPr lang="zh-CN" altLang="en-US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等，必须以字母开头，由</a:t>
            </a:r>
            <a:r>
              <a:rPr lang="en-US" altLang="zh-CN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ASCAII</a:t>
            </a:r>
            <a:r>
              <a:rPr lang="zh-CN" altLang="en-US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字符、数字和三个标点符（</a:t>
            </a:r>
            <a:r>
              <a:rPr lang="en-US" altLang="zh-CN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.)</a:t>
            </a:r>
            <a:r>
              <a:rPr lang="zh-CN" altLang="en-US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组成。为</a:t>
            </a:r>
            <a:r>
              <a:rPr lang="en-US" altLang="zh-CN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zh-CN" altLang="en-US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时，省略协议，创建 一个相对</a:t>
            </a:r>
            <a:r>
              <a:rPr lang="en-US" altLang="zh-CN" sz="2000" dirty="0" err="1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zh-CN" altLang="en-US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dirty="0" smtClean="0">
              <a:solidFill>
                <a:srgbClr val="000088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Fragment: 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时，表示忽略片段标识符。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000" dirty="0" smtClean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en-US" altLang="zh-CN" sz="2000" dirty="0" smtClean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absolute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"http"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"//www.ibiblio.org"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relative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"/</a:t>
            </a:r>
            <a:r>
              <a:rPr lang="en-US" altLang="zh-CN" sz="2000" dirty="0" err="1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javafaq</a:t>
            </a:r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/index.shtml"</a:t>
            </a:r>
            <a:r>
              <a:rPr lang="en-US" altLang="zh-CN" sz="2000" dirty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"today</a:t>
            </a:r>
            <a:r>
              <a:rPr lang="en-US" altLang="zh-CN" sz="2000" dirty="0" smtClean="0">
                <a:solidFill>
                  <a:srgbClr val="CC33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000" dirty="0" smtClean="0">
                <a:solidFill>
                  <a:srgbClr val="55555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sz="2000" dirty="0" smtClea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5222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/>
              <a:t>URI</a:t>
            </a:r>
            <a:r>
              <a:rPr lang="zh-CN" altLang="en-US" sz="3600" smtClean="0"/>
              <a:t>各部分的获取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395536" y="1772816"/>
            <a:ext cx="8540750" cy="4498975"/>
          </a:xfrm>
        </p:spPr>
        <p:txBody>
          <a:bodyPr>
            <a:normAutofit lnSpcReduction="10000"/>
          </a:bodyPr>
          <a:lstStyle/>
          <a:p>
            <a:r>
              <a:rPr lang="en-US" altLang="zh-CN" sz="2800" dirty="0" err="1" smtClean="0"/>
              <a:t>scheme:scheme</a:t>
            </a:r>
            <a:r>
              <a:rPr lang="en-US" altLang="zh-CN" sz="2800" dirty="0" smtClean="0"/>
              <a:t>-specific-</a:t>
            </a:r>
            <a:r>
              <a:rPr lang="en-US" altLang="zh-CN" sz="2800" dirty="0" err="1" smtClean="0"/>
              <a:t>part:fragment</a:t>
            </a:r>
            <a:endParaRPr lang="en-US" altLang="zh-CN" sz="2800" dirty="0" smtClean="0"/>
          </a:p>
          <a:p>
            <a:pPr lvl="1"/>
            <a:r>
              <a:rPr lang="zh-CN" altLang="en-US" sz="2400" dirty="0" smtClean="0"/>
              <a:t>协议：协议特定部分：片段</a:t>
            </a:r>
            <a:endParaRPr lang="en-US" altLang="zh-CN" sz="2400" dirty="0" smtClean="0"/>
          </a:p>
          <a:p>
            <a:r>
              <a:rPr lang="zh-CN" altLang="en-US" sz="2800" b="1" dirty="0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方法</a:t>
            </a:r>
            <a:endParaRPr lang="en-US" altLang="zh-CN" sz="2800" b="1" dirty="0" smtClean="0">
              <a:solidFill>
                <a:srgbClr val="006699"/>
              </a:solidFill>
              <a:latin typeface="Courier New" pitchFamily="49" charset="0"/>
              <a:ea typeface="Simsun" pitchFamily="2" charset="-122"/>
            </a:endParaRPr>
          </a:p>
          <a:p>
            <a:pPr lvl="1"/>
            <a:r>
              <a:rPr lang="en-US" altLang="zh-CN" sz="2400" b="1" dirty="0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public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String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dirty="0" err="1" smtClean="0">
                <a:solidFill>
                  <a:srgbClr val="CC00FF"/>
                </a:solidFill>
                <a:latin typeface="Courier New" pitchFamily="49" charset="0"/>
                <a:ea typeface="Simsun" pitchFamily="2" charset="-122"/>
              </a:rPr>
              <a:t>getScheme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()</a:t>
            </a:r>
            <a:endParaRPr lang="en-US" altLang="zh-CN" sz="2400" dirty="0" smtClean="0">
              <a:solidFill>
                <a:srgbClr val="000000"/>
              </a:solidFill>
              <a:latin typeface="Simsun" pitchFamily="2" charset="-122"/>
              <a:ea typeface="Simsun" pitchFamily="2" charset="-122"/>
            </a:endParaRPr>
          </a:p>
          <a:p>
            <a:pPr lvl="1"/>
            <a:r>
              <a:rPr lang="en-US" altLang="zh-CN" sz="2400" b="1" dirty="0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public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String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dirty="0" err="1" smtClean="0">
                <a:solidFill>
                  <a:srgbClr val="CC00FF"/>
                </a:solidFill>
                <a:latin typeface="Courier New" pitchFamily="49" charset="0"/>
                <a:ea typeface="Simsun" pitchFamily="2" charset="-122"/>
              </a:rPr>
              <a:t>getSchemeSpecificPart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()</a:t>
            </a:r>
            <a:endParaRPr lang="en-US" altLang="zh-CN" sz="2400" dirty="0" smtClean="0">
              <a:solidFill>
                <a:srgbClr val="000000"/>
              </a:solidFill>
              <a:latin typeface="Simsun" pitchFamily="2" charset="-122"/>
              <a:ea typeface="Simsun" pitchFamily="2" charset="-122"/>
            </a:endParaRPr>
          </a:p>
          <a:p>
            <a:pPr lvl="1"/>
            <a:r>
              <a:rPr lang="en-US" altLang="zh-CN" sz="2400" b="1" dirty="0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public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String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dirty="0" err="1" smtClean="0">
                <a:solidFill>
                  <a:srgbClr val="CC00FF"/>
                </a:solidFill>
                <a:latin typeface="Courier New" pitchFamily="49" charset="0"/>
                <a:ea typeface="Simsun" pitchFamily="2" charset="-122"/>
              </a:rPr>
              <a:t>getRawSchemeSpecificPart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()</a:t>
            </a:r>
            <a:endParaRPr lang="en-US" altLang="zh-CN" sz="2400" dirty="0" smtClean="0">
              <a:solidFill>
                <a:srgbClr val="000000"/>
              </a:solidFill>
              <a:latin typeface="Simsun" pitchFamily="2" charset="-122"/>
              <a:ea typeface="Simsun" pitchFamily="2" charset="-122"/>
            </a:endParaRPr>
          </a:p>
          <a:p>
            <a:pPr lvl="1"/>
            <a:r>
              <a:rPr lang="en-US" altLang="zh-CN" sz="2400" b="1" dirty="0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public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String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dirty="0" err="1" smtClean="0">
                <a:solidFill>
                  <a:srgbClr val="CC00FF"/>
                </a:solidFill>
                <a:latin typeface="Courier New" pitchFamily="49" charset="0"/>
                <a:ea typeface="Simsun" pitchFamily="2" charset="-122"/>
              </a:rPr>
              <a:t>getFragment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()</a:t>
            </a:r>
            <a:endParaRPr lang="en-US" altLang="zh-CN" sz="2400" dirty="0" smtClean="0">
              <a:solidFill>
                <a:srgbClr val="000000"/>
              </a:solidFill>
              <a:latin typeface="Simsun" pitchFamily="2" charset="-122"/>
              <a:ea typeface="Simsun" pitchFamily="2" charset="-122"/>
            </a:endParaRPr>
          </a:p>
          <a:p>
            <a:pPr lvl="1"/>
            <a:r>
              <a:rPr lang="en-US" altLang="zh-CN" sz="2400" b="1" dirty="0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public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String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dirty="0" err="1" smtClean="0">
                <a:solidFill>
                  <a:srgbClr val="CC00FF"/>
                </a:solidFill>
                <a:latin typeface="Courier New" pitchFamily="49" charset="0"/>
                <a:ea typeface="Simsun" pitchFamily="2" charset="-122"/>
              </a:rPr>
              <a:t>getRawFragment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()</a:t>
            </a:r>
          </a:p>
          <a:p>
            <a:pPr lvl="1"/>
            <a:endParaRPr lang="en-US" altLang="zh-CN" sz="2400" dirty="0" smtClean="0">
              <a:solidFill>
                <a:srgbClr val="555555"/>
              </a:solidFill>
              <a:latin typeface="Courier New" pitchFamily="49" charset="0"/>
              <a:ea typeface="Simsun" pitchFamily="2" charset="-122"/>
            </a:endParaRPr>
          </a:p>
          <a:p>
            <a:pPr lvl="1"/>
            <a:r>
              <a:rPr lang="en-US" altLang="zh-CN" sz="2400" b="1" dirty="0" smtClean="0">
                <a:solidFill>
                  <a:srgbClr val="006699"/>
                </a:solidFill>
                <a:latin typeface="Courier New" pitchFamily="49" charset="0"/>
              </a:rPr>
              <a:t>public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</a:rPr>
              <a:t> </a:t>
            </a:r>
            <a:r>
              <a:rPr lang="en-US" altLang="zh-CN" sz="2400" b="1" dirty="0" err="1" smtClean="0">
                <a:solidFill>
                  <a:srgbClr val="007788"/>
                </a:solidFill>
                <a:latin typeface="Courier New" pitchFamily="49" charset="0"/>
              </a:rPr>
              <a:t>boolean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itchFamily="49" charset="0"/>
              </a:rPr>
              <a:t> </a:t>
            </a:r>
            <a:r>
              <a:rPr lang="en-US" altLang="zh-CN" sz="2400" dirty="0" err="1" smtClean="0">
                <a:solidFill>
                  <a:srgbClr val="CC00FF"/>
                </a:solidFill>
                <a:latin typeface="Courier New" pitchFamily="49" charset="0"/>
              </a:rPr>
              <a:t>isOpaque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itchFamily="49" charset="0"/>
              </a:rPr>
              <a:t>()</a:t>
            </a:r>
            <a:endParaRPr lang="en-US" altLang="zh-CN" sz="2400" dirty="0" smtClean="0">
              <a:solidFill>
                <a:srgbClr val="000000"/>
              </a:solidFill>
              <a:latin typeface="Simsun" pitchFamily="2" charset="-122"/>
              <a:ea typeface="Simsun" pitchFamily="2" charset="-122"/>
            </a:endParaRPr>
          </a:p>
          <a:p>
            <a:endParaRPr lang="zh-CN" altLang="en-US" dirty="0" smtClean="0"/>
          </a:p>
        </p:txBody>
      </p:sp>
      <p:sp>
        <p:nvSpPr>
          <p:cNvPr id="5325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相对</a:t>
            </a:r>
            <a:r>
              <a:rPr lang="en-US" altLang="zh-CN" sz="3600" smtClean="0"/>
              <a:t>URI</a:t>
            </a:r>
            <a:r>
              <a:rPr lang="zh-CN" altLang="en-US" sz="3600" smtClean="0"/>
              <a:t>编程解析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628800"/>
            <a:ext cx="8321675" cy="5135562"/>
          </a:xfrm>
        </p:spPr>
        <p:txBody>
          <a:bodyPr/>
          <a:lstStyle/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absolute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"http://www.example.com/"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relative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"images/logo.png"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resolved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absolute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resolve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relative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defRPr/>
            </a:pPr>
            <a:r>
              <a:rPr lang="en-US" altLang="zh-CN" dirty="0" smtClean="0"/>
              <a:t>resolved</a:t>
            </a:r>
            <a:r>
              <a:rPr lang="zh-CN" altLang="en-US" dirty="0" smtClean="0"/>
              <a:t>结果是：</a:t>
            </a:r>
            <a:r>
              <a:rPr lang="en-US" altLang="zh-CN" dirty="0"/>
              <a:t>http://www.example.com/ </a:t>
            </a:r>
            <a:r>
              <a:rPr lang="en-US" altLang="zh-CN" dirty="0" smtClean="0"/>
              <a:t>images/logo.png</a:t>
            </a:r>
          </a:p>
          <a:p>
            <a:pPr>
              <a:defRPr/>
            </a:pPr>
            <a:endParaRPr lang="en-US" altLang="zh-CN" dirty="0" smtClean="0"/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top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2000" dirty="0" err="1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javafaq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/books/"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resolved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top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resolve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20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jnp3/index.html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defRPr/>
            </a:pPr>
            <a:r>
              <a:rPr lang="en-US" altLang="zh-CN" dirty="0"/>
              <a:t>resolved</a:t>
            </a:r>
            <a:r>
              <a:rPr lang="zh-CN" altLang="en-US" dirty="0"/>
              <a:t>结果是</a:t>
            </a:r>
            <a:r>
              <a:rPr lang="zh-CN" altLang="en-US" dirty="0" smtClean="0"/>
              <a:t>：</a:t>
            </a:r>
            <a:r>
              <a:rPr lang="en-US" altLang="zh-CN" dirty="0" err="1"/>
              <a:t>javafaq</a:t>
            </a:r>
            <a:r>
              <a:rPr lang="en-US" altLang="zh-CN" dirty="0"/>
              <a:t>/books/jnp3/index.html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5427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smtClean="0"/>
              <a:t>统一的</a:t>
            </a:r>
            <a:r>
              <a:rPr lang="en-US" altLang="zh-CN" sz="4000" smtClean="0"/>
              <a:t>URL</a:t>
            </a:r>
            <a:r>
              <a:rPr lang="zh-CN" altLang="en-US" sz="4000" smtClean="0"/>
              <a:t>字符编码</a:t>
            </a:r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smtClean="0"/>
              <a:t>为使各系统和平台都能正确理解和解析，</a:t>
            </a:r>
            <a:r>
              <a:rPr lang="en-US" altLang="zh-CN" sz="2800" smtClean="0"/>
              <a:t>URL</a:t>
            </a:r>
            <a:r>
              <a:rPr lang="zh-CN" altLang="en-US" sz="2800" smtClean="0"/>
              <a:t>中使用的字符必须来自</a:t>
            </a:r>
            <a:r>
              <a:rPr lang="en-US" altLang="zh-CN" sz="2800" smtClean="0"/>
              <a:t>ASCII</a:t>
            </a:r>
            <a:r>
              <a:rPr lang="zh-CN" altLang="en-US" sz="2800" smtClean="0"/>
              <a:t>的一个固定的子集</a:t>
            </a:r>
            <a:endParaRPr lang="en-US" altLang="zh-CN" sz="2800" smtClean="0"/>
          </a:p>
          <a:p>
            <a:pPr lvl="1"/>
            <a:r>
              <a:rPr lang="zh-CN" altLang="en-US" sz="2400" smtClean="0"/>
              <a:t>大写字母</a:t>
            </a:r>
            <a:r>
              <a:rPr lang="en-US" altLang="zh-CN" sz="2400" smtClean="0"/>
              <a:t>A-Z</a:t>
            </a:r>
          </a:p>
          <a:p>
            <a:pPr lvl="1"/>
            <a:r>
              <a:rPr lang="zh-CN" altLang="en-US" sz="2400" smtClean="0"/>
              <a:t>小写字母</a:t>
            </a:r>
            <a:r>
              <a:rPr lang="en-US" altLang="zh-CN" sz="2400" smtClean="0"/>
              <a:t>a-z</a:t>
            </a:r>
          </a:p>
          <a:p>
            <a:pPr lvl="1"/>
            <a:r>
              <a:rPr lang="zh-CN" altLang="en-US" sz="2400" smtClean="0"/>
              <a:t>数字</a:t>
            </a:r>
            <a:r>
              <a:rPr lang="en-US" altLang="zh-CN" sz="2400" smtClean="0"/>
              <a:t>0-9</a:t>
            </a:r>
          </a:p>
          <a:p>
            <a:pPr lvl="1"/>
            <a:r>
              <a:rPr lang="zh-CN" altLang="en-US" sz="2400" smtClean="0"/>
              <a:t>标点符号字符</a:t>
            </a:r>
            <a:r>
              <a:rPr lang="en-US" altLang="zh-CN" sz="2400" smtClean="0"/>
              <a:t>-_.!~*'(,)</a:t>
            </a:r>
          </a:p>
          <a:p>
            <a:pPr lvl="1"/>
            <a:r>
              <a:rPr lang="zh-CN" altLang="en-US" sz="2400" smtClean="0"/>
              <a:t>标点符号字符</a:t>
            </a:r>
            <a:r>
              <a:rPr lang="en-US" altLang="zh-CN" sz="2400" smtClean="0"/>
              <a:t>/&amp;?@#;$+=%</a:t>
            </a:r>
          </a:p>
          <a:p>
            <a:r>
              <a:rPr lang="en-US" altLang="zh-CN" sz="2800" smtClean="0"/>
              <a:t>URL</a:t>
            </a:r>
            <a:r>
              <a:rPr lang="zh-CN" altLang="en-US" sz="2800" smtClean="0"/>
              <a:t>中的非上述字符需要转为“</a:t>
            </a:r>
            <a:r>
              <a:rPr lang="en-US" altLang="zh-CN" sz="2800" smtClean="0"/>
              <a:t>%</a:t>
            </a:r>
            <a:r>
              <a:rPr lang="zh-CN" altLang="en-US" sz="2800" smtClean="0"/>
              <a:t>字节值”</a:t>
            </a:r>
            <a:endParaRPr lang="en-US" altLang="zh-CN" sz="2800" smtClean="0"/>
          </a:p>
          <a:p>
            <a:pPr lvl="1"/>
            <a:r>
              <a:rPr lang="en-US" altLang="zh-CN" sz="2400" smtClean="0"/>
              <a:t>%20</a:t>
            </a:r>
            <a:r>
              <a:rPr lang="zh-CN" altLang="en-US" sz="2400" smtClean="0"/>
              <a:t>：空格</a:t>
            </a:r>
            <a:endParaRPr lang="en-US" altLang="zh-CN" sz="2400" smtClean="0"/>
          </a:p>
        </p:txBody>
      </p:sp>
      <p:sp>
        <p:nvSpPr>
          <p:cNvPr id="5530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URLEncoder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800" dirty="0" err="1" smtClean="0">
                <a:latin typeface="Courier New" panose="02070309020205020404" pitchFamily="49" charset="0"/>
              </a:rPr>
              <a:t>Java.net.URLEncoder</a:t>
            </a:r>
            <a:r>
              <a:rPr lang="zh-CN" altLang="en-US" sz="2800" dirty="0" smtClean="0">
                <a:latin typeface="Courier New" panose="02070309020205020404" pitchFamily="49" charset="0"/>
              </a:rPr>
              <a:t>类用于编程准备查询字符串，从而可与使用</a:t>
            </a:r>
            <a:r>
              <a:rPr lang="en-US" altLang="zh-CN" sz="2800" dirty="0" smtClean="0">
                <a:latin typeface="Courier New" panose="02070309020205020404" pitchFamily="49" charset="0"/>
              </a:rPr>
              <a:t>GET</a:t>
            </a:r>
            <a:r>
              <a:rPr lang="zh-CN" altLang="en-US" sz="2800" dirty="0" smtClean="0">
                <a:latin typeface="Courier New" panose="02070309020205020404" pitchFamily="49" charset="0"/>
              </a:rPr>
              <a:t>方法的服务器端程序通信</a:t>
            </a:r>
            <a:endParaRPr lang="en-US" altLang="zh-CN" sz="2800" dirty="0" smtClean="0">
              <a:latin typeface="Courier New" panose="02070309020205020404" pitchFamily="49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encoded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</a:rPr>
              <a:t>URLEncoder</a:t>
            </a:r>
            <a:r>
              <a:rPr lang="en-US" altLang="zh-CN" sz="2400" dirty="0" err="1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sz="2400" dirty="0" err="1">
                <a:solidFill>
                  <a:srgbClr val="330099"/>
                </a:solidFill>
                <a:latin typeface="Courier New" panose="02070309020205020404" pitchFamily="49" charset="0"/>
              </a:rPr>
              <a:t>encode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400" dirty="0">
                <a:solidFill>
                  <a:srgbClr val="CC3300"/>
                </a:solidFill>
                <a:latin typeface="Courier New" panose="02070309020205020404" pitchFamily="49" charset="0"/>
              </a:rPr>
              <a:t>"This*string*has*asterisks"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CC3300"/>
                </a:solidFill>
                <a:latin typeface="Courier New" panose="02070309020205020404" pitchFamily="49" charset="0"/>
              </a:rPr>
              <a:t>"UTF-8"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dirty="0" smtClean="0"/>
          </a:p>
          <a:p>
            <a:pPr>
              <a:defRPr/>
            </a:pPr>
            <a:r>
              <a:rPr lang="en-US" altLang="zh-CN" sz="2800" dirty="0" err="1" smtClean="0"/>
              <a:t>URLEncoder.encode</a:t>
            </a:r>
            <a:r>
              <a:rPr lang="en-US" altLang="zh-CN" sz="2800" dirty="0" smtClean="0"/>
              <a:t>()</a:t>
            </a:r>
            <a:r>
              <a:rPr lang="zh-CN" altLang="en-US" sz="2800" dirty="0" smtClean="0"/>
              <a:t>将字符串中的字符进行编码，使之符合</a:t>
            </a:r>
            <a:r>
              <a:rPr lang="en-US" altLang="zh-CN" sz="2800" dirty="0" smtClean="0"/>
              <a:t>URL</a:t>
            </a:r>
            <a:r>
              <a:rPr lang="zh-CN" altLang="en-US" sz="2800" dirty="0" smtClean="0"/>
              <a:t>字符规范</a:t>
            </a:r>
            <a:endParaRPr lang="zh-CN" altLang="en-US" sz="2800" dirty="0"/>
          </a:p>
        </p:txBody>
      </p:sp>
      <p:sp>
        <p:nvSpPr>
          <p:cNvPr id="5632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>
          <a:xfrm>
            <a:off x="312738" y="25400"/>
            <a:ext cx="8540750" cy="1143000"/>
          </a:xfrm>
        </p:spPr>
        <p:txBody>
          <a:bodyPr/>
          <a:lstStyle/>
          <a:p>
            <a:r>
              <a:rPr lang="zh-CN" altLang="en-US" sz="3600" smtClean="0"/>
              <a:t>使用</a:t>
            </a:r>
            <a:r>
              <a:rPr lang="en-US" altLang="zh-CN" sz="3600" smtClean="0"/>
              <a:t>URLEncoder</a:t>
            </a:r>
            <a:r>
              <a:rPr lang="zh-CN" altLang="en-US" sz="3600" smtClean="0"/>
              <a:t>编码生成查询字符串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2636912"/>
            <a:ext cx="7543800" cy="193833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dirty="0" smtClean="0"/>
              <a:t>将查询串</a:t>
            </a:r>
            <a:r>
              <a:rPr lang="en-US" altLang="zh-CN" dirty="0" smtClean="0"/>
              <a:t>1</a:t>
            </a:r>
            <a:r>
              <a:rPr lang="zh-CN" altLang="en-US" dirty="0" smtClean="0"/>
              <a:t>编码</a:t>
            </a:r>
            <a:endParaRPr lang="en-US" altLang="zh-CN" dirty="0" smtClean="0"/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sz="17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query</a:t>
            </a:r>
            <a:r>
              <a:rPr lang="en-US" altLang="zh-CN" sz="17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URLEncoder.encode</a:t>
            </a:r>
            <a:r>
              <a:rPr lang="en-US" altLang="zh-CN" sz="17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https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://</a:t>
            </a:r>
            <a:r>
              <a:rPr lang="en-US" altLang="zh-CN" sz="17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www.google.com/</a:t>
            </a:r>
            <a:r>
              <a:rPr lang="en-US" altLang="zh-CN" sz="1700" dirty="0" err="1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search?hl</a:t>
            </a:r>
            <a:r>
              <a:rPr lang="en-US" altLang="zh-CN" sz="17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1700" dirty="0" err="1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en&amp;as_q</a:t>
            </a:r>
            <a:r>
              <a:rPr lang="en-US" altLang="zh-CN" sz="17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1700" dirty="0" err="1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Java$as_epq</a:t>
            </a:r>
            <a:r>
              <a:rPr lang="en-US" altLang="zh-CN" sz="17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=I/O,”UTF-8”)</a:t>
            </a:r>
            <a:r>
              <a:rPr lang="en-US" altLang="zh-CN" sz="17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;</a:t>
            </a:r>
            <a:endParaRPr lang="en-US" altLang="zh-CN" dirty="0" smtClean="0"/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800" dirty="0" err="1" smtClean="0">
                <a:latin typeface="Courier New" panose="02070309020205020404" pitchFamily="49" charset="0"/>
                <a:ea typeface="Simsun" panose="02010600030101010101" pitchFamily="2" charset="-122"/>
              </a:rPr>
              <a:t>System.out.println</a:t>
            </a:r>
            <a:r>
              <a:rPr lang="en-US" altLang="zh-CN" sz="1800" dirty="0" smtClean="0">
                <a:latin typeface="Courier New" panose="02070309020205020404" pitchFamily="49" charset="0"/>
                <a:ea typeface="Simsun" panose="02010600030101010101" pitchFamily="2" charset="-122"/>
              </a:rPr>
              <a:t>(query);</a:t>
            </a:r>
          </a:p>
        </p:txBody>
      </p:sp>
      <p:sp>
        <p:nvSpPr>
          <p:cNvPr id="57348" name="矩形 3"/>
          <p:cNvSpPr>
            <a:spLocks noChangeArrowheads="1"/>
          </p:cNvSpPr>
          <p:nvPr/>
        </p:nvSpPr>
        <p:spPr bwMode="auto">
          <a:xfrm>
            <a:off x="395536" y="1700808"/>
            <a:ext cx="82089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B1C20"/>
                </a:solidFill>
                <a:latin typeface="Courier New" pitchFamily="49" charset="0"/>
              </a:rPr>
              <a:t>1.https://</a:t>
            </a:r>
            <a:r>
              <a:rPr lang="en-US" altLang="zh-CN" dirty="0" err="1">
                <a:solidFill>
                  <a:srgbClr val="1B1C20"/>
                </a:solidFill>
                <a:latin typeface="Courier New" pitchFamily="49" charset="0"/>
              </a:rPr>
              <a:t>www.google.com</a:t>
            </a:r>
            <a:r>
              <a:rPr lang="en-US" altLang="zh-CN" dirty="0">
                <a:solidFill>
                  <a:srgbClr val="1B1C20"/>
                </a:solidFill>
                <a:latin typeface="Courier New" pitchFamily="49" charset="0"/>
              </a:rPr>
              <a:t>/</a:t>
            </a:r>
            <a:r>
              <a:rPr lang="en-US" altLang="zh-CN" dirty="0" err="1">
                <a:solidFill>
                  <a:srgbClr val="1B1C20"/>
                </a:solidFill>
                <a:latin typeface="Courier New" pitchFamily="49" charset="0"/>
              </a:rPr>
              <a:t>search?hl</a:t>
            </a:r>
            <a:r>
              <a:rPr lang="en-US" altLang="zh-CN" dirty="0">
                <a:solidFill>
                  <a:srgbClr val="1B1C20"/>
                </a:solidFill>
                <a:latin typeface="Courier New" pitchFamily="49" charset="0"/>
              </a:rPr>
              <a:t>=</a:t>
            </a:r>
            <a:r>
              <a:rPr lang="en-US" altLang="zh-CN" dirty="0" err="1">
                <a:solidFill>
                  <a:srgbClr val="1B1C20"/>
                </a:solidFill>
                <a:latin typeface="Courier New" pitchFamily="49" charset="0"/>
              </a:rPr>
              <a:t>en&amp;as_q</a:t>
            </a:r>
            <a:r>
              <a:rPr lang="en-US" altLang="zh-CN" dirty="0">
                <a:solidFill>
                  <a:srgbClr val="1B1C20"/>
                </a:solidFill>
                <a:latin typeface="Courier New" pitchFamily="49" charset="0"/>
              </a:rPr>
              <a:t>=</a:t>
            </a:r>
            <a:r>
              <a:rPr lang="en-US" altLang="zh-CN" dirty="0" err="1">
                <a:solidFill>
                  <a:srgbClr val="1B1C20"/>
                </a:solidFill>
                <a:latin typeface="Courier New" pitchFamily="49" charset="0"/>
              </a:rPr>
              <a:t>Java&amp;as_epq</a:t>
            </a:r>
            <a:r>
              <a:rPr lang="en-US" altLang="zh-CN" dirty="0">
                <a:solidFill>
                  <a:srgbClr val="1B1C20"/>
                </a:solidFill>
                <a:latin typeface="Courier New" pitchFamily="49" charset="0"/>
              </a:rPr>
              <a:t>=I/O</a:t>
            </a:r>
            <a:endParaRPr lang="zh-CN" altLang="en-US" dirty="0"/>
          </a:p>
        </p:txBody>
      </p:sp>
      <p:sp>
        <p:nvSpPr>
          <p:cNvPr id="57349" name="矩形 4"/>
          <p:cNvSpPr>
            <a:spLocks noChangeArrowheads="1"/>
          </p:cNvSpPr>
          <p:nvPr/>
        </p:nvSpPr>
        <p:spPr bwMode="auto">
          <a:xfrm>
            <a:off x="251520" y="4509120"/>
            <a:ext cx="845502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000088"/>
                </a:solidFill>
                <a:latin typeface="Courier New" pitchFamily="49" charset="0"/>
              </a:rPr>
              <a:t>输出为：</a:t>
            </a:r>
            <a:r>
              <a:rPr lang="en-US" altLang="zh-CN" sz="2000" dirty="0">
                <a:solidFill>
                  <a:srgbClr val="000088"/>
                </a:solidFill>
                <a:latin typeface="Courier New" pitchFamily="49" charset="0"/>
              </a:rPr>
              <a:t>https%3A%2F%2Fwww.google.com%2Fsearch%3Fhl%3Den%26as_q%3DJava%26as_epq%3DI%2FO</a:t>
            </a:r>
            <a:endParaRPr lang="zh-CN" altLang="en-US" sz="2000" dirty="0">
              <a:solidFill>
                <a:srgbClr val="000088"/>
              </a:solidFill>
              <a:latin typeface="Courier New" pitchFamily="49" charset="0"/>
            </a:endParaRPr>
          </a:p>
        </p:txBody>
      </p:sp>
      <p:sp>
        <p:nvSpPr>
          <p:cNvPr id="57350" name="TextBox 1"/>
          <p:cNvSpPr txBox="1">
            <a:spLocks noChangeArrowheads="1"/>
          </p:cNvSpPr>
          <p:nvPr/>
        </p:nvSpPr>
        <p:spPr bwMode="auto">
          <a:xfrm>
            <a:off x="179512" y="5661248"/>
            <a:ext cx="85344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存在盲目编码问题：</a:t>
            </a:r>
            <a:r>
              <a:rPr lang="en-US" altLang="zh-CN" sz="2400" dirty="0" err="1">
                <a:solidFill>
                  <a:srgbClr val="FF0000"/>
                </a:solidFill>
              </a:rPr>
              <a:t>URLEncoder.encode</a:t>
            </a:r>
            <a:r>
              <a:rPr lang="en-US" altLang="zh-CN" sz="2400" dirty="0">
                <a:solidFill>
                  <a:srgbClr val="FF0000"/>
                </a:solidFill>
              </a:rPr>
              <a:t>()</a:t>
            </a:r>
            <a:r>
              <a:rPr lang="zh-CN" altLang="en-US" sz="2400" dirty="0">
                <a:solidFill>
                  <a:srgbClr val="FF0000"/>
                </a:solidFill>
              </a:rPr>
              <a:t>会盲目地进行编码，不区分</a:t>
            </a:r>
            <a:r>
              <a:rPr lang="en-US" altLang="zh-CN" sz="2400" dirty="0">
                <a:solidFill>
                  <a:srgbClr val="FF0000"/>
                </a:solidFill>
              </a:rPr>
              <a:t>URL</a:t>
            </a:r>
            <a:r>
              <a:rPr lang="zh-CN" altLang="en-US" sz="2400" dirty="0">
                <a:solidFill>
                  <a:srgbClr val="FF0000"/>
                </a:solidFill>
              </a:rPr>
              <a:t>查询字符串中使用的特殊字符和需要编码的字符</a:t>
            </a:r>
            <a:r>
              <a:rPr lang="en-US" altLang="zh-CN" sz="2400" dirty="0">
                <a:solidFill>
                  <a:srgbClr val="FF0000"/>
                </a:solidFill>
              </a:rPr>
              <a:t>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7348" grpId="0"/>
      <p:bldP spid="57349" grpId="0"/>
      <p:bldP spid="5735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xfrm>
            <a:off x="312738" y="25400"/>
            <a:ext cx="8540750" cy="1143000"/>
          </a:xfrm>
        </p:spPr>
        <p:txBody>
          <a:bodyPr/>
          <a:lstStyle/>
          <a:p>
            <a:r>
              <a:rPr lang="zh-CN" altLang="en-US" sz="3600" smtClean="0"/>
              <a:t>使用</a:t>
            </a:r>
            <a:r>
              <a:rPr lang="en-US" altLang="zh-CN" sz="3600" smtClean="0"/>
              <a:t>URLEncoder</a:t>
            </a:r>
            <a:r>
              <a:rPr lang="zh-CN" altLang="en-US" sz="3600" smtClean="0"/>
              <a:t>编码生成查询字符串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556792"/>
            <a:ext cx="7543800" cy="48006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 smtClean="0"/>
              <a:t>盲目编码问题的解决</a:t>
            </a:r>
            <a:endParaRPr lang="en-US" altLang="zh-CN" dirty="0" smtClean="0"/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sz="17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"https://www.google.com/search?"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;</a:t>
            </a:r>
            <a:endParaRPr lang="en-US" altLang="zh-CN" sz="17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+=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URLEncoder</a:t>
            </a:r>
            <a:r>
              <a:rPr lang="en-US" altLang="zh-CN" sz="17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encode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"hl"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"UTF-8"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17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+=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"="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;</a:t>
            </a:r>
            <a:endParaRPr lang="en-US" altLang="zh-CN" sz="17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+=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URLEncoder</a:t>
            </a:r>
            <a:r>
              <a:rPr lang="en-US" altLang="zh-CN" sz="17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encode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"en"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"UTF-8"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17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+=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"&amp;"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;</a:t>
            </a:r>
            <a:endParaRPr lang="en-US" altLang="zh-CN" sz="17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+=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URLEncoder</a:t>
            </a:r>
            <a:r>
              <a:rPr lang="en-US" altLang="zh-CN" sz="17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encode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1700" dirty="0" err="1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as_q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"UTF-8"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17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+=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"="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;</a:t>
            </a:r>
            <a:endParaRPr lang="en-US" altLang="zh-CN" sz="17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+=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URLEncoder</a:t>
            </a:r>
            <a:r>
              <a:rPr lang="en-US" altLang="zh-CN" sz="17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encode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"Java"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"UTF-8"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17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+=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"&amp;"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;</a:t>
            </a:r>
            <a:endParaRPr lang="en-US" altLang="zh-CN" sz="17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+=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URLEncoder</a:t>
            </a:r>
            <a:r>
              <a:rPr lang="en-US" altLang="zh-CN" sz="17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encode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1700" dirty="0" err="1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as_epq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"UTF-8"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17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+=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"="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;</a:t>
            </a:r>
            <a:endParaRPr lang="en-US" altLang="zh-CN" sz="17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+=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URLEncoder</a:t>
            </a:r>
            <a:r>
              <a:rPr lang="en-US" altLang="zh-CN" sz="17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encode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"I/O"</a:t>
            </a:r>
            <a:r>
              <a:rPr lang="en-US" altLang="zh-CN" sz="17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7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"UTF-8</a:t>
            </a:r>
            <a:r>
              <a:rPr lang="en-US" altLang="zh-CN" sz="17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17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7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System.out.println</a:t>
            </a:r>
            <a:r>
              <a:rPr lang="en-US" altLang="zh-CN" sz="17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7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5837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58373" name="矩形 3"/>
          <p:cNvSpPr>
            <a:spLocks noChangeArrowheads="1"/>
          </p:cNvSpPr>
          <p:nvPr/>
        </p:nvSpPr>
        <p:spPr bwMode="auto">
          <a:xfrm>
            <a:off x="323528" y="6180137"/>
            <a:ext cx="8305800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Courier New" pitchFamily="49" charset="0"/>
              </a:rPr>
              <a:t>输出为想要的输出</a:t>
            </a:r>
            <a:r>
              <a:rPr lang="zh-CN" altLang="en-US" sz="2000" dirty="0">
                <a:solidFill>
                  <a:srgbClr val="1B1C20"/>
                </a:solidFill>
                <a:latin typeface="Courier New" pitchFamily="49" charset="0"/>
              </a:rPr>
              <a:t>：</a:t>
            </a:r>
            <a:r>
              <a:rPr lang="en-US" altLang="zh-CN" dirty="0">
                <a:solidFill>
                  <a:srgbClr val="1B1C20"/>
                </a:solidFill>
                <a:latin typeface="Courier New" pitchFamily="49" charset="0"/>
              </a:rPr>
              <a:t>https://www.google.com/search?hl=en&amp;as_q=Java&amp;as_epq=I/O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URLDecoder</a:t>
            </a:r>
            <a:endParaRPr lang="zh-CN" altLang="en-US" smtClean="0"/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public</a:t>
            </a:r>
            <a:r>
              <a:rPr lang="en-US" altLang="zh-CN" sz="240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b="1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static</a:t>
            </a:r>
            <a:r>
              <a:rPr lang="en-US" altLang="zh-CN" sz="240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smtClean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String</a:t>
            </a:r>
            <a:r>
              <a:rPr lang="en-US" altLang="zh-CN" sz="240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smtClean="0">
                <a:solidFill>
                  <a:srgbClr val="CC00FF"/>
                </a:solidFill>
                <a:latin typeface="Courier New" pitchFamily="49" charset="0"/>
                <a:ea typeface="Simsun" pitchFamily="2" charset="-122"/>
              </a:rPr>
              <a:t>decode</a:t>
            </a:r>
            <a:r>
              <a:rPr lang="en-US" altLang="zh-CN" sz="2400" smtClean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(</a:t>
            </a:r>
            <a:r>
              <a:rPr lang="en-US" altLang="zh-CN" sz="2400" smtClean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String</a:t>
            </a:r>
            <a:r>
              <a:rPr lang="en-US" altLang="zh-CN" sz="240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smtClean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s</a:t>
            </a:r>
            <a:r>
              <a:rPr lang="en-US" altLang="zh-CN" sz="2400" smtClean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,</a:t>
            </a:r>
            <a:r>
              <a:rPr lang="en-US" altLang="zh-CN" sz="240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smtClean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String</a:t>
            </a:r>
            <a:r>
              <a:rPr lang="en-US" altLang="zh-CN" sz="240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smtClean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encoding</a:t>
            </a:r>
            <a:r>
              <a:rPr lang="en-US" altLang="zh-CN" sz="2400" smtClean="0">
                <a:solidFill>
                  <a:srgbClr val="555555"/>
                </a:solidFill>
                <a:latin typeface="Courier New" pitchFamily="49" charset="0"/>
                <a:ea typeface="Simsun" pitchFamily="2" charset="-122"/>
              </a:rPr>
              <a:t>) </a:t>
            </a:r>
            <a:r>
              <a:rPr lang="en-US" altLang="zh-CN" sz="2400" b="1" smtClean="0">
                <a:solidFill>
                  <a:srgbClr val="006699"/>
                </a:solidFill>
                <a:latin typeface="Courier New" pitchFamily="49" charset="0"/>
                <a:ea typeface="Simsun" pitchFamily="2" charset="-122"/>
              </a:rPr>
              <a:t>throws</a:t>
            </a:r>
            <a:r>
              <a:rPr lang="en-US" altLang="zh-CN" sz="2400" smtClean="0">
                <a:solidFill>
                  <a:srgbClr val="1B1C20"/>
                </a:solidFill>
                <a:latin typeface="Courier New" pitchFamily="49" charset="0"/>
                <a:ea typeface="Simsun" pitchFamily="2" charset="-122"/>
              </a:rPr>
              <a:t> </a:t>
            </a:r>
            <a:r>
              <a:rPr lang="en-US" altLang="zh-CN" sz="2400" smtClean="0">
                <a:solidFill>
                  <a:srgbClr val="000088"/>
                </a:solidFill>
                <a:latin typeface="Courier New" pitchFamily="49" charset="0"/>
                <a:ea typeface="Simsun" pitchFamily="2" charset="-122"/>
              </a:rPr>
              <a:t>UnsupportedEncodingException</a:t>
            </a:r>
            <a:endParaRPr lang="en-US" altLang="zh-CN" sz="2400" smtClean="0">
              <a:solidFill>
                <a:srgbClr val="000000"/>
              </a:solidFill>
              <a:latin typeface="Simsun" pitchFamily="2" charset="-122"/>
              <a:ea typeface="Simsun" pitchFamily="2" charset="-122"/>
            </a:endParaRPr>
          </a:p>
          <a:p>
            <a:r>
              <a:rPr lang="zh-CN" altLang="en-US" sz="2800" smtClean="0"/>
              <a:t>解码，</a:t>
            </a:r>
            <a:r>
              <a:rPr lang="en-US" altLang="zh-CN" sz="2800" smtClean="0"/>
              <a:t>encode()</a:t>
            </a:r>
            <a:r>
              <a:rPr lang="zh-CN" altLang="en-US" sz="2800" smtClean="0"/>
              <a:t>的反变换，对用</a:t>
            </a:r>
            <a:r>
              <a:rPr lang="en-US" altLang="zh-CN" sz="2800" smtClean="0"/>
              <a:t>x-www-form-url-encoded</a:t>
            </a:r>
            <a:r>
              <a:rPr lang="zh-CN" altLang="en-US" sz="2800" smtClean="0"/>
              <a:t>格式编码的字符串进行解码</a:t>
            </a:r>
          </a:p>
        </p:txBody>
      </p:sp>
      <p:sp>
        <p:nvSpPr>
          <p:cNvPr id="5939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通过</a:t>
            </a:r>
            <a:r>
              <a:rPr lang="en-US" altLang="zh-CN" dirty="0" smtClean="0"/>
              <a:t>GET</a:t>
            </a:r>
            <a:r>
              <a:rPr lang="zh-CN" altLang="en-US" dirty="0" smtClean="0"/>
              <a:t>与服务器端通信</a:t>
            </a:r>
            <a:endParaRPr lang="zh-CN" altLang="en-US" dirty="0"/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1170384" y="1867867"/>
            <a:ext cx="14478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altLang="zh-CN"/>
              <a:t>Applet</a:t>
            </a:r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170384" y="2934667"/>
            <a:ext cx="14478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altLang="zh-CN"/>
              <a:t>App</a:t>
            </a:r>
            <a:endParaRPr lang="zh-CN" alt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1228328" y="1444526"/>
            <a:ext cx="1447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客户端</a:t>
            </a: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5724128" y="1412776"/>
            <a:ext cx="1447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/>
              <a:t>服务器端</a:t>
            </a:r>
          </a:p>
        </p:txBody>
      </p:sp>
      <p:sp>
        <p:nvSpPr>
          <p:cNvPr id="8" name="矩形 6"/>
          <p:cNvSpPr>
            <a:spLocks noChangeArrowheads="1"/>
          </p:cNvSpPr>
          <p:nvPr/>
        </p:nvSpPr>
        <p:spPr bwMode="auto">
          <a:xfrm>
            <a:off x="5666184" y="1715467"/>
            <a:ext cx="18288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altLang="zh-CN"/>
              <a:t>CGI</a:t>
            </a:r>
            <a:endParaRPr lang="zh-CN" altLang="en-US"/>
          </a:p>
        </p:txBody>
      </p:sp>
      <p:sp>
        <p:nvSpPr>
          <p:cNvPr id="9" name="矩形 9"/>
          <p:cNvSpPr>
            <a:spLocks noChangeArrowheads="1"/>
          </p:cNvSpPr>
          <p:nvPr/>
        </p:nvSpPr>
        <p:spPr bwMode="auto">
          <a:xfrm>
            <a:off x="5666184" y="2510805"/>
            <a:ext cx="18288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altLang="zh-CN"/>
              <a:t>servlet</a:t>
            </a:r>
            <a:endParaRPr lang="zh-CN" altLang="en-US"/>
          </a:p>
        </p:txBody>
      </p:sp>
      <p:sp>
        <p:nvSpPr>
          <p:cNvPr id="10" name="矩形 10"/>
          <p:cNvSpPr>
            <a:spLocks noChangeArrowheads="1"/>
          </p:cNvSpPr>
          <p:nvPr/>
        </p:nvSpPr>
        <p:spPr bwMode="auto">
          <a:xfrm>
            <a:off x="5666184" y="3277567"/>
            <a:ext cx="18288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altLang="zh-CN"/>
              <a:t>PHP</a:t>
            </a:r>
            <a:endParaRPr lang="zh-CN" altLang="en-US"/>
          </a:p>
        </p:txBody>
      </p:sp>
      <p:sp>
        <p:nvSpPr>
          <p:cNvPr id="11" name="矩形 11"/>
          <p:cNvSpPr>
            <a:spLocks noChangeArrowheads="1"/>
          </p:cNvSpPr>
          <p:nvPr/>
        </p:nvSpPr>
        <p:spPr bwMode="auto">
          <a:xfrm>
            <a:off x="5666184" y="4077667"/>
            <a:ext cx="18288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zh-CN" altLang="en-US"/>
              <a:t>其他使用</a:t>
            </a:r>
            <a:r>
              <a:rPr lang="en-US" altLang="zh-CN"/>
              <a:t>GET</a:t>
            </a:r>
            <a:r>
              <a:rPr lang="zh-CN" altLang="en-US"/>
              <a:t>方法的程序</a:t>
            </a:r>
          </a:p>
        </p:txBody>
      </p:sp>
      <p:sp>
        <p:nvSpPr>
          <p:cNvPr id="12" name="左右箭头 8"/>
          <p:cNvSpPr>
            <a:spLocks noChangeArrowheads="1"/>
          </p:cNvSpPr>
          <p:nvPr/>
        </p:nvSpPr>
        <p:spPr bwMode="auto">
          <a:xfrm>
            <a:off x="3303984" y="2510805"/>
            <a:ext cx="2133600" cy="495300"/>
          </a:xfrm>
          <a:prstGeom prst="leftRightArrow">
            <a:avLst>
              <a:gd name="adj1" fmla="val 50000"/>
              <a:gd name="adj2" fmla="val 4999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532584" y="1963117"/>
            <a:ext cx="1447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使用</a:t>
            </a:r>
            <a:r>
              <a:rPr lang="en-US" altLang="zh-CN"/>
              <a:t>URL</a:t>
            </a:r>
            <a:r>
              <a:rPr lang="zh-CN" altLang="en-US"/>
              <a:t>类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5437584" y="4901158"/>
            <a:ext cx="2590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</a:rPr>
              <a:t>接收特定的名</a:t>
            </a:r>
            <a:r>
              <a:rPr lang="en-US" altLang="zh-CN" sz="2000" dirty="0">
                <a:solidFill>
                  <a:srgbClr val="002060"/>
                </a:solidFill>
              </a:rPr>
              <a:t>-</a:t>
            </a:r>
            <a:r>
              <a:rPr lang="zh-CN" altLang="en-US" sz="2000" dirty="0">
                <a:solidFill>
                  <a:srgbClr val="002060"/>
                </a:solidFill>
              </a:rPr>
              <a:t>值组合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09600" y="3814613"/>
            <a:ext cx="439248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</a:rPr>
              <a:t>创建一个符合服务器端接收要求的查询字符串，再构造一个包含这个查询字符串的</a:t>
            </a:r>
            <a:r>
              <a:rPr lang="en-US" altLang="zh-CN" sz="2000" dirty="0" err="1">
                <a:solidFill>
                  <a:srgbClr val="002060"/>
                </a:solidFill>
              </a:rPr>
              <a:t>url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79512" y="5301208"/>
            <a:ext cx="869315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1.</a:t>
            </a:r>
            <a:r>
              <a:rPr lang="zh-CN" altLang="en-US" sz="2000" dirty="0">
                <a:solidFill>
                  <a:srgbClr val="FF0000"/>
                </a:solidFill>
              </a:rPr>
              <a:t>若服务器端程序也是自己编写的，则客户端编程者也会知道服务器希望接收的名值对。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2.</a:t>
            </a:r>
            <a:r>
              <a:rPr lang="zh-CN" altLang="en-US" sz="2000" dirty="0">
                <a:solidFill>
                  <a:srgbClr val="FF0000"/>
                </a:solidFill>
              </a:rPr>
              <a:t>若服务器端使用了第三方程序，第三方程序文档也会指明它希望接收什么</a:t>
            </a:r>
            <a:r>
              <a:rPr lang="en-US" altLang="zh-CN" sz="2000" dirty="0">
                <a:solidFill>
                  <a:srgbClr val="FF0000"/>
                </a:solidFill>
              </a:rPr>
              <a:t>.  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3.</a:t>
            </a:r>
            <a:r>
              <a:rPr lang="zh-CN" altLang="en-US" sz="2000" dirty="0">
                <a:solidFill>
                  <a:srgbClr val="FF0000"/>
                </a:solidFill>
              </a:rPr>
              <a:t>如果服务器端使用了第三方</a:t>
            </a:r>
            <a:r>
              <a:rPr lang="en-US" altLang="zh-CN" sz="2000" dirty="0">
                <a:solidFill>
                  <a:srgbClr val="FF0000"/>
                </a:solidFill>
              </a:rPr>
              <a:t>API, API</a:t>
            </a:r>
            <a:r>
              <a:rPr lang="zh-CN" altLang="en-US" sz="2000" dirty="0">
                <a:solidFill>
                  <a:srgbClr val="FF0000"/>
                </a:solidFill>
              </a:rPr>
              <a:t>文档会详细指用实现各种用途需发送什么数据</a:t>
            </a:r>
            <a:r>
              <a:rPr lang="en-US" altLang="zh-CN" sz="2000" dirty="0">
                <a:solidFill>
                  <a:srgbClr val="FF0000"/>
                </a:solidFill>
              </a:rPr>
              <a:t>.</a:t>
            </a:r>
          </a:p>
          <a:p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网页表单输入的处理</a:t>
            </a: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611560" y="1700808"/>
            <a:ext cx="7940675" cy="4395787"/>
          </a:xfrm>
        </p:spPr>
        <p:txBody>
          <a:bodyPr/>
          <a:lstStyle/>
          <a:p>
            <a:r>
              <a:rPr lang="zh-CN" altLang="en-US" sz="2800" dirty="0" smtClean="0"/>
              <a:t>互联网应用程序常需要处理表单输入。</a:t>
            </a:r>
            <a:endParaRPr lang="en-US" altLang="zh-CN" sz="2800" dirty="0" smtClean="0"/>
          </a:p>
          <a:p>
            <a:r>
              <a:rPr lang="en-US" altLang="zh-CN" sz="2800" dirty="0" smtClean="0"/>
              <a:t>1.</a:t>
            </a:r>
            <a:r>
              <a:rPr lang="zh-CN" altLang="en-US" sz="2800" dirty="0" smtClean="0"/>
              <a:t>编程时需先弄清楚程序希望得到什么输入</a:t>
            </a:r>
            <a:endParaRPr lang="en-US" altLang="zh-CN" sz="2800" dirty="0" smtClean="0"/>
          </a:p>
          <a:p>
            <a:r>
              <a:rPr lang="en-US" altLang="zh-CN" sz="2800" dirty="0" smtClean="0"/>
              <a:t>2.</a:t>
            </a:r>
            <a:r>
              <a:rPr lang="zh-CN" altLang="en-US" sz="2800" dirty="0" smtClean="0"/>
              <a:t>创建一个查询字符串，包括必要的名值对输入</a:t>
            </a:r>
            <a:endParaRPr lang="en-US" altLang="zh-CN" sz="2800" dirty="0" smtClean="0"/>
          </a:p>
          <a:p>
            <a:r>
              <a:rPr lang="en-US" altLang="zh-CN" sz="2800" dirty="0" smtClean="0"/>
              <a:t>3.</a:t>
            </a:r>
            <a:r>
              <a:rPr lang="zh-CN" altLang="en-US" sz="2800" dirty="0" smtClean="0"/>
              <a:t>构造一个包含此查询串的</a:t>
            </a:r>
            <a:r>
              <a:rPr lang="en-US" altLang="zh-CN" sz="2800" dirty="0" smtClean="0"/>
              <a:t>URL,</a:t>
            </a:r>
            <a:r>
              <a:rPr lang="zh-CN" altLang="en-US" sz="2800" dirty="0" smtClean="0"/>
              <a:t>打开</a:t>
            </a:r>
            <a:r>
              <a:rPr lang="en-US" altLang="zh-CN" sz="2800" dirty="0" smtClean="0"/>
              <a:t>URL</a:t>
            </a:r>
            <a:r>
              <a:rPr lang="zh-CN" altLang="en-US" sz="2800" dirty="0" smtClean="0"/>
              <a:t>连接，读取得到输入流</a:t>
            </a:r>
            <a:endParaRPr lang="en-US" altLang="zh-CN" sz="2800" dirty="0" smtClean="0"/>
          </a:p>
          <a:p>
            <a:r>
              <a:rPr lang="zh-CN" altLang="en-US" sz="2800" dirty="0" smtClean="0"/>
              <a:t>例如：一个</a:t>
            </a:r>
            <a:r>
              <a:rPr lang="en-US" altLang="zh-CN" sz="2800" dirty="0" smtClean="0"/>
              <a:t>360</a:t>
            </a:r>
            <a:r>
              <a:rPr lang="zh-CN" altLang="en-US" sz="2800" dirty="0" smtClean="0"/>
              <a:t>购物网站的表单处理程序如何处理搜索访问表单？</a:t>
            </a:r>
            <a:r>
              <a:rPr lang="en-US" altLang="zh-CN" dirty="0" smtClean="0"/>
              <a:t>http://gouwu.360.cn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/>
              <a:t>GET</a:t>
            </a:r>
            <a:r>
              <a:rPr lang="zh-CN" altLang="en-US" sz="3600" smtClean="0"/>
              <a:t>方法适用场景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539552" y="1916832"/>
            <a:ext cx="7940675" cy="3328987"/>
          </a:xfrm>
        </p:spPr>
        <p:txBody>
          <a:bodyPr/>
          <a:lstStyle/>
          <a:p>
            <a:r>
              <a:rPr lang="en-US" altLang="zh-CN" sz="2800" dirty="0" smtClean="0"/>
              <a:t>GET</a:t>
            </a:r>
            <a:r>
              <a:rPr lang="zh-CN" altLang="en-US" sz="2800" dirty="0" smtClean="0"/>
              <a:t>方法仅限于安全的操作</a:t>
            </a:r>
            <a:endParaRPr lang="en-US" altLang="zh-CN" sz="2800" dirty="0" smtClean="0"/>
          </a:p>
          <a:p>
            <a:r>
              <a:rPr lang="zh-CN" altLang="en-US" sz="2800" dirty="0" smtClean="0"/>
              <a:t>如</a:t>
            </a:r>
            <a:r>
              <a:rPr lang="en-US" altLang="zh-CN" sz="2800" dirty="0" smtClean="0"/>
              <a:t>:</a:t>
            </a:r>
            <a:r>
              <a:rPr lang="zh-CN" altLang="en-US" sz="2800" dirty="0" smtClean="0"/>
              <a:t>搜索请求、页面导航、设置书签、缓存、搜索、预取等</a:t>
            </a:r>
            <a:endParaRPr lang="en-US" altLang="zh-CN" sz="2800" dirty="0" smtClean="0"/>
          </a:p>
          <a:p>
            <a:r>
              <a:rPr lang="zh-CN" altLang="en-US" sz="2800" dirty="0" smtClean="0"/>
              <a:t>不能用于创建或修改资源等不安全操作</a:t>
            </a:r>
            <a:endParaRPr lang="en-US" altLang="zh-CN" sz="2800" dirty="0" smtClean="0"/>
          </a:p>
          <a:p>
            <a:r>
              <a:rPr lang="zh-CN" altLang="en-US" sz="2800" dirty="0" smtClean="0"/>
              <a:t>如：在页面上发布一条评论、订购一个比萨等</a:t>
            </a:r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网页表单输入的处理</a:t>
            </a:r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611560" y="1556792"/>
            <a:ext cx="7543800" cy="2922587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800" dirty="0" smtClean="0"/>
              <a:t>360</a:t>
            </a:r>
            <a:r>
              <a:rPr lang="zh-CN" altLang="en-US" sz="2800" dirty="0" smtClean="0"/>
              <a:t>购物网页      </a:t>
            </a:r>
            <a:r>
              <a:rPr lang="en-US" altLang="zh-CN" sz="2800" dirty="0" smtClean="0"/>
              <a:t>Dmoz.java</a:t>
            </a:r>
          </a:p>
          <a:p>
            <a:endParaRPr lang="en-US" altLang="zh-CN" sz="2800" dirty="0" smtClean="0"/>
          </a:p>
          <a:p>
            <a:endParaRPr lang="en-US" altLang="zh-CN" sz="2800" dirty="0" smtClean="0"/>
          </a:p>
          <a:p>
            <a:endParaRPr lang="en-US" altLang="zh-CN" sz="2800" dirty="0" smtClean="0"/>
          </a:p>
          <a:p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zh-CN" altLang="en-US" sz="2800" dirty="0" smtClean="0"/>
              <a:t>对应</a:t>
            </a:r>
            <a:r>
              <a:rPr lang="en-US" altLang="zh-CN" sz="2800" dirty="0" smtClean="0"/>
              <a:t>html</a:t>
            </a:r>
            <a:r>
              <a:rPr lang="zh-CN" altLang="en-US" sz="2800" dirty="0" smtClean="0"/>
              <a:t>表单</a:t>
            </a:r>
            <a:endParaRPr lang="en-US" altLang="zh-CN" sz="2800" dirty="0" smtClean="0"/>
          </a:p>
        </p:txBody>
      </p:sp>
      <p:pic>
        <p:nvPicPr>
          <p:cNvPr id="6451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988840"/>
            <a:ext cx="6884988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451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933056"/>
            <a:ext cx="73914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程序问题与改进</a:t>
            </a:r>
          </a:p>
        </p:txBody>
      </p:sp>
      <p:sp>
        <p:nvSpPr>
          <p:cNvPr id="655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smtClean="0"/>
              <a:t>编程思考问题：</a:t>
            </a:r>
            <a:r>
              <a:rPr lang="en-US" altLang="zh-CN" sz="2800" smtClean="0"/>
              <a:t>360</a:t>
            </a:r>
            <a:r>
              <a:rPr lang="zh-CN" altLang="en-US" sz="2800" smtClean="0"/>
              <a:t>购物网站表单处理程序的返回结果为何有乱码？请改进</a:t>
            </a:r>
            <a:r>
              <a:rPr lang="en-US" altLang="zh-CN" sz="2800" smtClean="0"/>
              <a:t>DMoz.java</a:t>
            </a:r>
            <a:r>
              <a:rPr lang="zh-CN" altLang="en-US" sz="2800" smtClean="0"/>
              <a:t>程序，改进后的程序可以正常显示查询结果，不会出现乱码。</a:t>
            </a:r>
          </a:p>
        </p:txBody>
      </p:sp>
      <p:sp>
        <p:nvSpPr>
          <p:cNvPr id="6554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编程访问受口令保护的网站</a:t>
            </a:r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smtClean="0"/>
              <a:t>基于</a:t>
            </a:r>
            <a:r>
              <a:rPr lang="en-US" altLang="zh-CN" sz="2800" smtClean="0"/>
              <a:t>HTTP</a:t>
            </a:r>
            <a:r>
              <a:rPr lang="zh-CN" altLang="en-US" sz="2800" smtClean="0"/>
              <a:t>的标准认证</a:t>
            </a:r>
            <a:endParaRPr lang="en-US" altLang="zh-CN" sz="2800" smtClean="0"/>
          </a:p>
          <a:p>
            <a:r>
              <a:rPr lang="en-US" altLang="zh-CN" sz="2800" smtClean="0"/>
              <a:t>Session</a:t>
            </a:r>
            <a:r>
              <a:rPr lang="zh-CN" altLang="en-US" sz="2800" smtClean="0"/>
              <a:t>认证</a:t>
            </a:r>
            <a:endParaRPr lang="en-US" altLang="zh-CN" sz="2800" smtClean="0"/>
          </a:p>
          <a:p>
            <a:r>
              <a:rPr lang="zh-CN" altLang="en-US" sz="2800" smtClean="0"/>
              <a:t>基于</a:t>
            </a:r>
            <a:r>
              <a:rPr lang="en-US" altLang="zh-CN" sz="2800" smtClean="0"/>
              <a:t>Cookie</a:t>
            </a:r>
            <a:r>
              <a:rPr lang="zh-CN" altLang="en-US" sz="2800" smtClean="0"/>
              <a:t>的非标准认证</a:t>
            </a:r>
            <a:endParaRPr lang="en-US" altLang="zh-CN" sz="2800" smtClean="0"/>
          </a:p>
          <a:p>
            <a:endParaRPr lang="en-US" altLang="zh-CN" smtClean="0"/>
          </a:p>
          <a:p>
            <a:endParaRPr lang="zh-CN" altLang="en-US" smtClean="0"/>
          </a:p>
        </p:txBody>
      </p:sp>
      <p:sp>
        <p:nvSpPr>
          <p:cNvPr id="6656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66565" name="TextBox 1"/>
          <p:cNvSpPr txBox="1">
            <a:spLocks noChangeArrowheads="1"/>
          </p:cNvSpPr>
          <p:nvPr/>
        </p:nvSpPr>
        <p:spPr bwMode="auto">
          <a:xfrm>
            <a:off x="533400" y="3732213"/>
            <a:ext cx="6400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/>
              <a:t>Java</a:t>
            </a:r>
            <a:r>
              <a:rPr lang="zh-CN" altLang="en-US" sz="2400"/>
              <a:t>的</a:t>
            </a:r>
            <a:r>
              <a:rPr lang="en-US" altLang="zh-CN" sz="2400"/>
              <a:t>URL</a:t>
            </a:r>
            <a:r>
              <a:rPr lang="zh-CN" altLang="en-US" sz="2400"/>
              <a:t>类可以访问使用</a:t>
            </a:r>
            <a:r>
              <a:rPr lang="en-US" altLang="zh-CN" sz="2400"/>
              <a:t>HTTP</a:t>
            </a:r>
            <a:r>
              <a:rPr lang="zh-CN" altLang="en-US" sz="2400"/>
              <a:t>认证的网站</a:t>
            </a:r>
            <a:r>
              <a:rPr lang="en-US" altLang="zh-CN" sz="2400"/>
              <a:t>.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/>
              <a:t>Java.net.Authenticator</a:t>
            </a:r>
            <a:r>
              <a:rPr lang="zh-CN" altLang="en-US" sz="3600" smtClean="0"/>
              <a:t>类</a:t>
            </a:r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smtClean="0"/>
              <a:t>它为使用</a:t>
            </a:r>
            <a:r>
              <a:rPr lang="en-US" altLang="zh-CN" sz="2800" smtClean="0"/>
              <a:t>HTTP</a:t>
            </a:r>
            <a:r>
              <a:rPr lang="zh-CN" altLang="en-US" sz="2800" smtClean="0"/>
              <a:t>认证自我保护的网站提供用户名和口令</a:t>
            </a:r>
            <a:endParaRPr lang="en-US" altLang="zh-CN" sz="2800" smtClean="0"/>
          </a:p>
          <a:p>
            <a:endParaRPr lang="zh-CN" altLang="en-US" smtClean="0"/>
          </a:p>
        </p:txBody>
      </p:sp>
      <p:sp>
        <p:nvSpPr>
          <p:cNvPr id="6758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67589" name="TextBox 2"/>
          <p:cNvSpPr txBox="1">
            <a:spLocks noChangeArrowheads="1"/>
          </p:cNvSpPr>
          <p:nvPr/>
        </p:nvSpPr>
        <p:spPr bwMode="auto">
          <a:xfrm>
            <a:off x="1425575" y="2606675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tx2"/>
                </a:solidFill>
              </a:rPr>
              <a:t>Public abstract class Authenticator extends Object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67590" name="矩形 3"/>
          <p:cNvSpPr>
            <a:spLocks noChangeArrowheads="1"/>
          </p:cNvSpPr>
          <p:nvPr/>
        </p:nvSpPr>
        <p:spPr bwMode="auto">
          <a:xfrm>
            <a:off x="685800" y="3429000"/>
            <a:ext cx="3048000" cy="304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altLang="zh-CN"/>
              <a:t>Authenticator</a:t>
            </a:r>
            <a:endParaRPr lang="zh-CN" altLang="en-US"/>
          </a:p>
        </p:txBody>
      </p:sp>
      <p:sp>
        <p:nvSpPr>
          <p:cNvPr id="67591" name="矩形 7"/>
          <p:cNvSpPr>
            <a:spLocks noChangeArrowheads="1"/>
          </p:cNvSpPr>
          <p:nvPr/>
        </p:nvSpPr>
        <p:spPr bwMode="auto">
          <a:xfrm>
            <a:off x="685800" y="3733800"/>
            <a:ext cx="30480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altLang="zh-CN"/>
              <a:t>setDefault(Authenticator a)</a:t>
            </a:r>
            <a:endParaRPr lang="zh-CN" altLang="en-US"/>
          </a:p>
        </p:txBody>
      </p:sp>
      <p:sp>
        <p:nvSpPr>
          <p:cNvPr id="67592" name="矩形 8"/>
          <p:cNvSpPr>
            <a:spLocks noChangeArrowheads="1"/>
          </p:cNvSpPr>
          <p:nvPr/>
        </p:nvSpPr>
        <p:spPr bwMode="auto">
          <a:xfrm>
            <a:off x="533400" y="4873625"/>
            <a:ext cx="32004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altLang="zh-CN"/>
              <a:t>DialogAuthenticator</a:t>
            </a:r>
            <a:endParaRPr lang="zh-CN" altLang="en-US"/>
          </a:p>
        </p:txBody>
      </p:sp>
      <p:sp>
        <p:nvSpPr>
          <p:cNvPr id="67593" name="等腰三角形 6"/>
          <p:cNvSpPr>
            <a:spLocks noChangeArrowheads="1"/>
          </p:cNvSpPr>
          <p:nvPr/>
        </p:nvSpPr>
        <p:spPr bwMode="auto">
          <a:xfrm>
            <a:off x="1828800" y="4191000"/>
            <a:ext cx="381000" cy="304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cxnSp>
        <p:nvCxnSpPr>
          <p:cNvPr id="67594" name="直接连接符 10"/>
          <p:cNvCxnSpPr>
            <a:cxnSpLocks noChangeShapeType="1"/>
            <a:stCxn id="67593" idx="3"/>
            <a:endCxn id="67592" idx="0"/>
          </p:cNvCxnSpPr>
          <p:nvPr/>
        </p:nvCxnSpPr>
        <p:spPr bwMode="auto">
          <a:xfrm>
            <a:off x="2019300" y="4495800"/>
            <a:ext cx="114300" cy="3778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2" name="圆角矩形标注 11"/>
          <p:cNvSpPr/>
          <p:nvPr/>
        </p:nvSpPr>
        <p:spPr bwMode="auto">
          <a:xfrm>
            <a:off x="200025" y="6129338"/>
            <a:ext cx="2009775" cy="762000"/>
          </a:xfrm>
          <a:prstGeom prst="wedgeRoundRectCallout">
            <a:avLst>
              <a:gd name="adj1" fmla="val 13776"/>
              <a:gd name="adj2" fmla="val -95595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defRPr/>
            </a:pPr>
            <a:r>
              <a:rPr lang="zh-CN" altLang="en-US" dirty="0">
                <a:ea typeface="宋体" panose="02010600030101010101" pitchFamily="2" charset="-122"/>
              </a:rPr>
              <a:t>用于获得用户名和口令</a:t>
            </a:r>
          </a:p>
        </p:txBody>
      </p:sp>
      <p:sp>
        <p:nvSpPr>
          <p:cNvPr id="67596" name="TextBox 12"/>
          <p:cNvSpPr txBox="1">
            <a:spLocks noChangeArrowheads="1"/>
          </p:cNvSpPr>
          <p:nvPr/>
        </p:nvSpPr>
        <p:spPr bwMode="auto">
          <a:xfrm>
            <a:off x="3886200" y="3429000"/>
            <a:ext cx="510540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为使</a:t>
            </a:r>
            <a:r>
              <a:rPr lang="en-US" altLang="zh-CN" sz="2400">
                <a:solidFill>
                  <a:srgbClr val="FF0000"/>
                </a:solidFill>
              </a:rPr>
              <a:t>URL</a:t>
            </a:r>
            <a:r>
              <a:rPr lang="zh-CN" altLang="en-US" sz="2400">
                <a:solidFill>
                  <a:srgbClr val="FF0000"/>
                </a:solidFill>
              </a:rPr>
              <a:t>类可以使用获得用户名和口令的子类</a:t>
            </a:r>
            <a:r>
              <a:rPr lang="en-US" altLang="zh-CN" sz="2400">
                <a:solidFill>
                  <a:srgbClr val="FF0000"/>
                </a:solidFill>
              </a:rPr>
              <a:t>,</a:t>
            </a:r>
            <a:r>
              <a:rPr lang="zh-CN" altLang="en-US" sz="2400">
                <a:solidFill>
                  <a:srgbClr val="FF0000"/>
                </a:solidFill>
              </a:rPr>
              <a:t>必须先安装认证程序</a:t>
            </a:r>
            <a:r>
              <a:rPr lang="en-US" altLang="zh-CN" sz="2400">
                <a:solidFill>
                  <a:srgbClr val="FF0000"/>
                </a:solidFill>
              </a:rPr>
              <a:t>:</a:t>
            </a:r>
          </a:p>
          <a:p>
            <a:endParaRPr lang="en-US" altLang="zh-CN" sz="2400">
              <a:solidFill>
                <a:srgbClr val="FF0000"/>
              </a:solidFill>
            </a:endParaRPr>
          </a:p>
          <a:p>
            <a:endParaRPr lang="en-US" altLang="zh-CN" sz="2400">
              <a:solidFill>
                <a:srgbClr val="FF0000"/>
              </a:solidFill>
            </a:endParaRPr>
          </a:p>
          <a:p>
            <a:r>
              <a:rPr lang="zh-CN" altLang="en-US" sz="2400">
                <a:solidFill>
                  <a:srgbClr val="FF0000"/>
                </a:solidFill>
              </a:rPr>
              <a:t>当</a:t>
            </a:r>
            <a:r>
              <a:rPr lang="en-US" altLang="zh-CN" sz="2400">
                <a:solidFill>
                  <a:srgbClr val="FF0000"/>
                </a:solidFill>
              </a:rPr>
              <a:t>URL</a:t>
            </a:r>
            <a:r>
              <a:rPr lang="zh-CN" altLang="en-US" sz="2400">
                <a:solidFill>
                  <a:srgbClr val="FF0000"/>
                </a:solidFill>
              </a:rPr>
              <a:t>类需要用用户名和口令时</a:t>
            </a:r>
            <a:r>
              <a:rPr lang="en-US" altLang="zh-CN" sz="2400">
                <a:solidFill>
                  <a:srgbClr val="FF0000"/>
                </a:solidFill>
              </a:rPr>
              <a:t>,</a:t>
            </a:r>
            <a:r>
              <a:rPr lang="zh-CN" altLang="en-US" sz="2400">
                <a:solidFill>
                  <a:srgbClr val="FF0000"/>
                </a:solidFill>
              </a:rPr>
              <a:t>使用下面的静态方法询问获得：</a:t>
            </a:r>
          </a:p>
        </p:txBody>
      </p:sp>
      <p:sp>
        <p:nvSpPr>
          <p:cNvPr id="67597" name="TextBox 13"/>
          <p:cNvSpPr txBox="1">
            <a:spLocks noChangeArrowheads="1"/>
          </p:cNvSpPr>
          <p:nvPr/>
        </p:nvSpPr>
        <p:spPr bwMode="auto">
          <a:xfrm>
            <a:off x="2819400" y="4305300"/>
            <a:ext cx="6553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chemeClr val="tx2"/>
                </a:solidFill>
              </a:rPr>
              <a:t>Authenticator.setDefault(new DialogAuthenticator());</a:t>
            </a:r>
            <a:endParaRPr lang="zh-CN" altLang="en-US" sz="2000">
              <a:solidFill>
                <a:schemeClr val="tx2"/>
              </a:solidFill>
            </a:endParaRPr>
          </a:p>
        </p:txBody>
      </p:sp>
      <p:sp>
        <p:nvSpPr>
          <p:cNvPr id="67598" name="TextBox 18"/>
          <p:cNvSpPr txBox="1">
            <a:spLocks noChangeArrowheads="1"/>
          </p:cNvSpPr>
          <p:nvPr/>
        </p:nvSpPr>
        <p:spPr bwMode="auto">
          <a:xfrm>
            <a:off x="2209800" y="5757863"/>
            <a:ext cx="65532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Public static PasswordAuthentication requestPasswordAuthentication</a:t>
            </a:r>
            <a:r>
              <a:rPr lang="en-US" altLang="zh-CN">
                <a:solidFill>
                  <a:schemeClr val="tx2"/>
                </a:solidFill>
              </a:rPr>
              <a:t>( InetAddress address, int port, String Protocol, String prompt, String scheme) throws …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67599" name="矩形 22"/>
          <p:cNvSpPr>
            <a:spLocks noChangeArrowheads="1"/>
          </p:cNvSpPr>
          <p:nvPr/>
        </p:nvSpPr>
        <p:spPr bwMode="auto">
          <a:xfrm>
            <a:off x="550863" y="5330825"/>
            <a:ext cx="3182937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altLang="zh-CN"/>
              <a:t>getPasswordAuthentication()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/>
              <a:t>PasswordAuthenticator</a:t>
            </a:r>
            <a:r>
              <a:rPr lang="zh-CN" altLang="en-US" sz="3600" smtClean="0"/>
              <a:t>类</a:t>
            </a:r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smtClean="0"/>
              <a:t>它为授权者封装和保存用户名和口令</a:t>
            </a:r>
            <a:endParaRPr lang="en-US" altLang="zh-CN" sz="2800" smtClean="0"/>
          </a:p>
          <a:p>
            <a:endParaRPr lang="zh-CN" altLang="en-US" smtClean="0"/>
          </a:p>
        </p:txBody>
      </p:sp>
      <p:pic>
        <p:nvPicPr>
          <p:cNvPr id="6861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060848"/>
            <a:ext cx="6553200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861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996952"/>
            <a:ext cx="6524625" cy="171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861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4797152"/>
            <a:ext cx="6553200" cy="179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/>
              <a:t>JPasswordField</a:t>
            </a:r>
            <a:r>
              <a:rPr lang="zh-CN" altLang="en-US" sz="3600" smtClean="0"/>
              <a:t>类</a:t>
            </a:r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smtClean="0"/>
              <a:t>用以稍安全的方式询问用户口令的</a:t>
            </a:r>
            <a:r>
              <a:rPr lang="en-US" altLang="zh-CN" sz="2800" smtClean="0"/>
              <a:t>Swing</a:t>
            </a:r>
            <a:r>
              <a:rPr lang="zh-CN" altLang="en-US" sz="2800" smtClean="0"/>
              <a:t>组件</a:t>
            </a:r>
            <a:endParaRPr lang="en-US" altLang="zh-CN" sz="2800" smtClean="0"/>
          </a:p>
          <a:p>
            <a:endParaRPr lang="en-US" altLang="zh-CN" sz="2800" smtClean="0"/>
          </a:p>
          <a:p>
            <a:r>
              <a:rPr lang="zh-CN" altLang="en-US" sz="2800" smtClean="0"/>
              <a:t>用户输入的内容会回显为</a:t>
            </a:r>
            <a:r>
              <a:rPr lang="en-US" altLang="zh-CN" sz="2800" smtClean="0"/>
              <a:t>*</a:t>
            </a:r>
            <a:r>
              <a:rPr lang="zh-CN" altLang="en-US" sz="2800" smtClean="0"/>
              <a:t>号，把口令存储为</a:t>
            </a:r>
            <a:r>
              <a:rPr lang="en-US" altLang="zh-CN" sz="2800" smtClean="0"/>
              <a:t>char</a:t>
            </a:r>
            <a:r>
              <a:rPr lang="zh-CN" altLang="en-US" sz="2800" smtClean="0"/>
              <a:t>数组，用完后可用</a:t>
            </a:r>
            <a:r>
              <a:rPr lang="en-US" altLang="zh-CN" sz="2800" smtClean="0"/>
              <a:t>0</a:t>
            </a:r>
            <a:r>
              <a:rPr lang="zh-CN" altLang="en-US" sz="2800" smtClean="0"/>
              <a:t>覆盖</a:t>
            </a:r>
          </a:p>
        </p:txBody>
      </p:sp>
      <p:pic>
        <p:nvPicPr>
          <p:cNvPr id="6963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133600"/>
            <a:ext cx="472440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9637" name="TextBox 2"/>
          <p:cNvSpPr txBox="1">
            <a:spLocks noChangeArrowheads="1"/>
          </p:cNvSpPr>
          <p:nvPr/>
        </p:nvSpPr>
        <p:spPr bwMode="auto">
          <a:xfrm>
            <a:off x="609600" y="3581400"/>
            <a:ext cx="4953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tx2"/>
                </a:solidFill>
              </a:rPr>
              <a:t>Public char[ ] getPassword( )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69638" name="TextBox 3"/>
          <p:cNvSpPr txBox="1">
            <a:spLocks noChangeArrowheads="1"/>
          </p:cNvSpPr>
          <p:nvPr/>
        </p:nvSpPr>
        <p:spPr bwMode="auto">
          <a:xfrm>
            <a:off x="457200" y="4343400"/>
            <a:ext cx="8382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/>
              <a:t>自定义</a:t>
            </a:r>
            <a:r>
              <a:rPr lang="en-US" altLang="zh-CN" sz="2400" dirty="0"/>
              <a:t>Authentication</a:t>
            </a:r>
            <a:r>
              <a:rPr lang="zh-CN" altLang="en-US" sz="2400" dirty="0"/>
              <a:t>子类编程示例：自定义一个基于</a:t>
            </a:r>
            <a:r>
              <a:rPr lang="en-US" altLang="zh-CN" sz="2400" dirty="0"/>
              <a:t>Swing</a:t>
            </a:r>
            <a:r>
              <a:rPr lang="zh-CN" altLang="en-US" sz="2400" dirty="0"/>
              <a:t>的</a:t>
            </a:r>
            <a:r>
              <a:rPr lang="en-US" altLang="zh-CN" sz="2400" dirty="0"/>
              <a:t>Authentication</a:t>
            </a:r>
            <a:r>
              <a:rPr lang="zh-CN" altLang="en-US" sz="2400" dirty="0"/>
              <a:t>子类，它弹出一个对话框，向用户询问用户名和口令。其中，</a:t>
            </a:r>
            <a:r>
              <a:rPr lang="en-US" altLang="zh-CN" sz="2400" dirty="0" err="1"/>
              <a:t>JPasswordField</a:t>
            </a:r>
            <a:r>
              <a:rPr lang="zh-CN" altLang="en-US" sz="2400" dirty="0"/>
              <a:t>收集口令，</a:t>
            </a:r>
            <a:r>
              <a:rPr lang="en-US" altLang="zh-CN" sz="2400" dirty="0" err="1"/>
              <a:t>JTextField</a:t>
            </a:r>
            <a:r>
              <a:rPr lang="zh-CN" altLang="en-US" sz="2400" dirty="0"/>
              <a:t>获得用户名。 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源码</a:t>
            </a:r>
            <a:r>
              <a:rPr lang="zh-CN" altLang="en-US" sz="2400" dirty="0"/>
              <a:t>参考：</a:t>
            </a:r>
            <a:r>
              <a:rPr lang="en-US" altLang="zh-CN" sz="2400" dirty="0" smtClean="0"/>
              <a:t>DialogAuthenticator.java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编程思考</a:t>
            </a:r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>
          <a:xfrm>
            <a:off x="539552" y="1628800"/>
            <a:ext cx="8302253" cy="4093567"/>
          </a:xfrm>
        </p:spPr>
        <p:txBody>
          <a:bodyPr/>
          <a:lstStyle/>
          <a:p>
            <a:r>
              <a:rPr lang="zh-CN" altLang="en-US" sz="2800" dirty="0" smtClean="0"/>
              <a:t>如何编程实现网页加密，使某个或某些特定网页的查看受口令保护？</a:t>
            </a:r>
            <a:endParaRPr lang="en-US" altLang="zh-CN" sz="2800" dirty="0" smtClean="0"/>
          </a:p>
        </p:txBody>
      </p:sp>
      <p:pic>
        <p:nvPicPr>
          <p:cNvPr id="7066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708920"/>
            <a:ext cx="4824536" cy="403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1351</TotalTime>
  <Words>3513</Words>
  <Application>Microsoft Office PowerPoint</Application>
  <PresentationFormat>全屏显示(4:3)</PresentationFormat>
  <Paragraphs>590</Paragraphs>
  <Slides>57</Slides>
  <Notes>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58" baseType="lpstr">
      <vt:lpstr>中性</vt:lpstr>
      <vt:lpstr>                       URL和URI</vt:lpstr>
      <vt:lpstr>目录</vt:lpstr>
      <vt:lpstr>URI&amp;URL</vt:lpstr>
      <vt:lpstr>URL</vt:lpstr>
      <vt:lpstr>绝对URL，相对URL</vt:lpstr>
      <vt:lpstr>相对URL</vt:lpstr>
      <vt:lpstr>URL类</vt:lpstr>
      <vt:lpstr>URL类：协议支持</vt:lpstr>
      <vt:lpstr>运行结果</vt:lpstr>
      <vt:lpstr>字符串构造URL</vt:lpstr>
      <vt:lpstr>分块构造URL</vt:lpstr>
      <vt:lpstr>构造相对URL</vt:lpstr>
      <vt:lpstr>从URL获取数据</vt:lpstr>
      <vt:lpstr>从URL获取数据：openStream</vt:lpstr>
      <vt:lpstr>思考</vt:lpstr>
      <vt:lpstr>例子：下载一个Web页面</vt:lpstr>
      <vt:lpstr>运行结果</vt:lpstr>
      <vt:lpstr>思考</vt:lpstr>
      <vt:lpstr>编码方式的指定</vt:lpstr>
      <vt:lpstr>从URL获取数据：openConnection（）方法</vt:lpstr>
      <vt:lpstr>从URL获取数据：openConnection</vt:lpstr>
      <vt:lpstr>从URL获取数据：getContent</vt:lpstr>
      <vt:lpstr>例：下载一个对象</vt:lpstr>
      <vt:lpstr>运行结果</vt:lpstr>
      <vt:lpstr>分解URL</vt:lpstr>
      <vt:lpstr>分解URL</vt:lpstr>
      <vt:lpstr>分解URL</vt:lpstr>
      <vt:lpstr>分解URL</vt:lpstr>
      <vt:lpstr>分解URL</vt:lpstr>
      <vt:lpstr>分解URL</vt:lpstr>
      <vt:lpstr>分解URL</vt:lpstr>
      <vt:lpstr>URL解析例子</vt:lpstr>
      <vt:lpstr>运行结果</vt:lpstr>
      <vt:lpstr>比较两个url</vt:lpstr>
      <vt:lpstr>URI类</vt:lpstr>
      <vt:lpstr>URI语法</vt:lpstr>
      <vt:lpstr>URI构造方法</vt:lpstr>
      <vt:lpstr>URL和URI的选用</vt:lpstr>
      <vt:lpstr>URI类的构造方法</vt:lpstr>
      <vt:lpstr>URI类的构造方法</vt:lpstr>
      <vt:lpstr>URI各部分的获取</vt:lpstr>
      <vt:lpstr>相对URI编程解析</vt:lpstr>
      <vt:lpstr>统一的URL字符编码</vt:lpstr>
      <vt:lpstr>URLEncoder</vt:lpstr>
      <vt:lpstr>使用URLEncoder编码生成查询字符串</vt:lpstr>
      <vt:lpstr>使用URLEncoder编码生成查询字符串</vt:lpstr>
      <vt:lpstr>URLDecoder</vt:lpstr>
      <vt:lpstr>通过GET与服务器端通信</vt:lpstr>
      <vt:lpstr>网页表单输入的处理</vt:lpstr>
      <vt:lpstr>GET方法适用场景</vt:lpstr>
      <vt:lpstr>网页表单输入的处理</vt:lpstr>
      <vt:lpstr>程序问题与改进</vt:lpstr>
      <vt:lpstr>编程访问受口令保护的网站</vt:lpstr>
      <vt:lpstr>Java.net.Authenticator类</vt:lpstr>
      <vt:lpstr>PasswordAuthenticator类</vt:lpstr>
      <vt:lpstr>JPasswordField类</vt:lpstr>
      <vt:lpstr>编程思考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端美科技高校合作产学研发展计划</dc:title>
  <cp:lastModifiedBy>dell</cp:lastModifiedBy>
  <cp:revision>165</cp:revision>
  <dcterms:modified xsi:type="dcterms:W3CDTF">2024-05-09T10:14:14Z</dcterms:modified>
</cp:coreProperties>
</file>