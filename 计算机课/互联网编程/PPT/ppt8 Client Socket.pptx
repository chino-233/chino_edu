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509" r:id="rId3"/>
    <p:sldId id="425" r:id="rId4"/>
    <p:sldId id="478" r:id="rId5"/>
    <p:sldId id="498" r:id="rId6"/>
    <p:sldId id="511" r:id="rId7"/>
    <p:sldId id="479" r:id="rId8"/>
    <p:sldId id="480" r:id="rId9"/>
    <p:sldId id="514" r:id="rId10"/>
    <p:sldId id="515" r:id="rId11"/>
    <p:sldId id="481" r:id="rId12"/>
    <p:sldId id="516" r:id="rId13"/>
    <p:sldId id="505" r:id="rId14"/>
    <p:sldId id="506" r:id="rId15"/>
    <p:sldId id="482" r:id="rId16"/>
    <p:sldId id="517" r:id="rId17"/>
    <p:sldId id="518" r:id="rId18"/>
    <p:sldId id="500" r:id="rId19"/>
    <p:sldId id="501" r:id="rId20"/>
    <p:sldId id="502" r:id="rId21"/>
    <p:sldId id="519" r:id="rId22"/>
    <p:sldId id="484" r:id="rId23"/>
    <p:sldId id="485" r:id="rId24"/>
    <p:sldId id="499" r:id="rId25"/>
    <p:sldId id="486" r:id="rId26"/>
    <p:sldId id="520" r:id="rId27"/>
    <p:sldId id="521" r:id="rId28"/>
    <p:sldId id="522" r:id="rId29"/>
    <p:sldId id="487" r:id="rId30"/>
    <p:sldId id="507" r:id="rId31"/>
    <p:sldId id="508" r:id="rId32"/>
    <p:sldId id="488" r:id="rId33"/>
    <p:sldId id="489" r:id="rId34"/>
    <p:sldId id="490" r:id="rId35"/>
    <p:sldId id="491" r:id="rId36"/>
    <p:sldId id="492" r:id="rId37"/>
    <p:sldId id="493" r:id="rId38"/>
    <p:sldId id="494" r:id="rId39"/>
    <p:sldId id="495" r:id="rId40"/>
    <p:sldId id="496" r:id="rId41"/>
    <p:sldId id="523" r:id="rId42"/>
    <p:sldId id="497" r:id="rId43"/>
    <p:sldId id="512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3864" y="-1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BF99B-FB83-4451-8B3A-3AA4058B0A25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DD088-3A57-4AAD-8514-636C7E100E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83768" y="3861048"/>
            <a:ext cx="6660232" cy="1828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                   </a:t>
            </a:r>
            <a:r>
              <a:rPr lang="en-US" altLang="zh-CN" dirty="0" smtClean="0"/>
              <a:t>Client Socket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周宇          </a:t>
            </a:r>
            <a:r>
              <a:rPr lang="zh-CN" altLang="en-US" dirty="0" smtClean="0"/>
              <a:t>副教授            </a:t>
            </a:r>
            <a:r>
              <a:rPr lang="zh-CN" altLang="en-US" dirty="0" smtClean="0"/>
              <a:t>深圳大学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dirty="0" smtClean="0"/>
              <a:t>使用</a:t>
            </a:r>
            <a:r>
              <a:rPr lang="en-US" altLang="zh-CN" sz="3200" dirty="0" smtClean="0"/>
              <a:t>Socket</a:t>
            </a:r>
          </a:p>
          <a:p>
            <a:r>
              <a:rPr lang="zh-CN" altLang="en-US" sz="3200" dirty="0" smtClean="0"/>
              <a:t>用</a:t>
            </a:r>
            <a:r>
              <a:rPr lang="en-US" altLang="zh-CN" sz="3200" dirty="0" smtClean="0"/>
              <a:t>Telnet</a:t>
            </a:r>
            <a:r>
              <a:rPr lang="zh-CN" altLang="en-US" sz="3200" dirty="0" smtClean="0"/>
              <a:t>研究协议</a:t>
            </a:r>
          </a:p>
          <a:p>
            <a:r>
              <a:rPr lang="zh-CN" altLang="en-US" sz="3200" dirty="0" smtClean="0"/>
              <a:t>构造和连接</a:t>
            </a:r>
            <a:r>
              <a:rPr lang="en-US" altLang="zh-CN" sz="3200" dirty="0" smtClean="0"/>
              <a:t>Socket</a:t>
            </a:r>
          </a:p>
          <a:p>
            <a:r>
              <a:rPr lang="zh-CN" altLang="en-US" sz="3200" dirty="0" smtClean="0"/>
              <a:t>设置</a:t>
            </a:r>
            <a:r>
              <a:rPr lang="en-US" altLang="zh-CN" sz="3200" dirty="0" smtClean="0"/>
              <a:t>Socket</a:t>
            </a:r>
            <a:r>
              <a:rPr lang="zh-CN" altLang="en-US" sz="3200" dirty="0" smtClean="0"/>
              <a:t>选项</a:t>
            </a:r>
          </a:p>
          <a:p>
            <a:r>
              <a:rPr lang="en-US" altLang="zh-CN" sz="3200" dirty="0" smtClean="0"/>
              <a:t>Socket</a:t>
            </a:r>
            <a:r>
              <a:rPr lang="zh-CN" altLang="en-US" sz="3200" dirty="0" smtClean="0"/>
              <a:t>异常</a:t>
            </a:r>
          </a:p>
          <a:p>
            <a:r>
              <a:rPr lang="en-US" altLang="zh-CN" sz="3200" dirty="0" smtClean="0"/>
              <a:t>GUI</a:t>
            </a:r>
            <a:r>
              <a:rPr lang="zh-CN" altLang="en-US" sz="3200" dirty="0" smtClean="0"/>
              <a:t>应用中的</a:t>
            </a:r>
            <a:r>
              <a:rPr lang="en-US" altLang="zh-CN" sz="3200" dirty="0" smtClean="0"/>
              <a:t>Socket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数据传输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/>
              <a:t>Internet</a:t>
            </a:r>
            <a:r>
              <a:rPr lang="zh-CN" altLang="en-US" sz="3200" dirty="0" smtClean="0"/>
              <a:t>数据按</a:t>
            </a:r>
            <a:r>
              <a:rPr lang="zh-CN" altLang="en-US" sz="3200" dirty="0" smtClean="0">
                <a:solidFill>
                  <a:srgbClr val="FF0000"/>
                </a:solidFill>
              </a:rPr>
              <a:t>有限大小的包</a:t>
            </a:r>
            <a:r>
              <a:rPr lang="zh-CN" altLang="en-US" sz="3200" dirty="0" smtClean="0"/>
              <a:t>传输，</a:t>
            </a:r>
            <a:r>
              <a:rPr lang="zh-CN" altLang="en-US" sz="3200" dirty="0" smtClean="0">
                <a:solidFill>
                  <a:srgbClr val="FF0000"/>
                </a:solidFill>
              </a:rPr>
              <a:t>数据报</a:t>
            </a:r>
            <a:r>
              <a:rPr lang="en-US" altLang="zh-CN" sz="3200" dirty="0" smtClean="0"/>
              <a:t>(datagram)</a:t>
            </a:r>
          </a:p>
          <a:p>
            <a:r>
              <a:rPr lang="zh-CN" altLang="en-US" dirty="0" smtClean="0"/>
              <a:t>包括：</a:t>
            </a:r>
            <a:r>
              <a:rPr lang="zh-CN" altLang="en-US" dirty="0" smtClean="0">
                <a:solidFill>
                  <a:srgbClr val="FF0000"/>
                </a:solidFill>
              </a:rPr>
              <a:t>首部和有效载荷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首部：地址和端口信息、校验信息、传输可靠性管理信息等</a:t>
            </a:r>
            <a:endParaRPr lang="en-US" altLang="zh-CN" dirty="0" smtClean="0"/>
          </a:p>
          <a:p>
            <a:r>
              <a:rPr lang="zh-CN" altLang="en-US" sz="3200" dirty="0" smtClean="0"/>
              <a:t>有效载荷：数据本身。</a:t>
            </a:r>
            <a:endParaRPr lang="en-US" altLang="zh-CN" dirty="0" smtClean="0"/>
          </a:p>
          <a:p>
            <a:r>
              <a:rPr lang="zh-CN" altLang="en-US" dirty="0" smtClean="0"/>
              <a:t>问题：</a:t>
            </a:r>
            <a:r>
              <a:rPr lang="zh-CN" altLang="en-US" dirty="0" smtClean="0">
                <a:solidFill>
                  <a:srgbClr val="FF0000"/>
                </a:solidFill>
              </a:rPr>
              <a:t>包在传输中的重传，顺序的排列、追踪造成繁重的工作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1664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8640960" cy="2736304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sz="3400" dirty="0" smtClean="0"/>
              <a:t>Socket</a:t>
            </a:r>
            <a:r>
              <a:rPr lang="zh-CN" altLang="en-US" sz="3400" dirty="0" smtClean="0"/>
              <a:t>是两个主机之间的一个连接</a:t>
            </a:r>
            <a:r>
              <a:rPr lang="en-US" altLang="zh-CN" sz="3400" dirty="0" smtClean="0"/>
              <a:t> </a:t>
            </a:r>
          </a:p>
          <a:p>
            <a:r>
              <a:rPr lang="en-US" altLang="zh-CN" sz="3400" dirty="0" smtClean="0"/>
              <a:t>Socket</a:t>
            </a:r>
            <a:r>
              <a:rPr lang="zh-CN" altLang="en-US" sz="3400" dirty="0" smtClean="0"/>
              <a:t>连接远程主机，连接成功就可从</a:t>
            </a:r>
            <a:r>
              <a:rPr lang="en-US" altLang="zh-CN" sz="3400" dirty="0" smtClean="0"/>
              <a:t>socket</a:t>
            </a:r>
            <a:r>
              <a:rPr lang="zh-CN" altLang="en-US" sz="3400" dirty="0" smtClean="0"/>
              <a:t>得到</a:t>
            </a:r>
            <a:r>
              <a:rPr lang="zh-CN" altLang="en-US" sz="3400" dirty="0" smtClean="0">
                <a:solidFill>
                  <a:srgbClr val="FF0000"/>
                </a:solidFill>
              </a:rPr>
              <a:t>输入流</a:t>
            </a:r>
            <a:r>
              <a:rPr lang="zh-CN" altLang="en-US" sz="3400" dirty="0" smtClean="0"/>
              <a:t>和</a:t>
            </a:r>
            <a:r>
              <a:rPr lang="zh-CN" altLang="en-US" sz="3400" dirty="0" smtClean="0">
                <a:solidFill>
                  <a:srgbClr val="FF0000"/>
                </a:solidFill>
              </a:rPr>
              <a:t>输出流</a:t>
            </a:r>
            <a:endParaRPr lang="en-US" altLang="zh-CN" sz="3400" dirty="0" smtClean="0">
              <a:solidFill>
                <a:srgbClr val="FF0000"/>
              </a:solidFill>
            </a:endParaRPr>
          </a:p>
          <a:p>
            <a:r>
              <a:rPr lang="zh-CN" altLang="en-US" sz="3400" b="1" dirty="0" smtClean="0"/>
              <a:t>全双工连接</a:t>
            </a:r>
            <a:r>
              <a:rPr lang="zh-CN" altLang="en-US" sz="3400" dirty="0" smtClean="0"/>
              <a:t>，客户端和服务器端可以同时发送和接收数据</a:t>
            </a:r>
            <a:endParaRPr lang="en-US" altLang="zh-CN" sz="3400" dirty="0" smtClean="0"/>
          </a:p>
          <a:p>
            <a:r>
              <a:rPr lang="zh-CN" altLang="en-US" sz="3400" dirty="0" smtClean="0"/>
              <a:t>传输的数据的含义取决于应用层协议：先协商握手，再具体传输数据</a:t>
            </a:r>
            <a:endParaRPr lang="en-US" altLang="zh-CN" sz="3400" dirty="0" smtClean="0"/>
          </a:p>
          <a:p>
            <a:r>
              <a:rPr lang="zh-CN" altLang="en-US" sz="3400" dirty="0" smtClean="0"/>
              <a:t>数据传输结束后，</a:t>
            </a:r>
            <a:r>
              <a:rPr lang="zh-CN" altLang="en-US" sz="3400" b="1" dirty="0" smtClean="0"/>
              <a:t>关闭连接</a:t>
            </a:r>
          </a:p>
          <a:p>
            <a:endParaRPr lang="zh-CN" alt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547664" y="4077072"/>
            <a:ext cx="6391359" cy="2664296"/>
            <a:chOff x="4914" y="7331"/>
            <a:chExt cx="3904" cy="1911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5685" y="8918"/>
              <a:ext cx="2216" cy="3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charset="0"/>
                <a:buChar char="n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0000"/>
                </a:buClr>
                <a:buFont typeface="Webdings" panose="05030102010509060703" pitchFamily="18" charset="2"/>
                <a:buChar char="=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kumimoji="0" lang="en-US" altLang="zh-CN" sz="2000" b="1" dirty="0" smtClean="0">
                  <a:latin typeface="Times New Roman" panose="02020603050405020304" pitchFamily="18" charset="0"/>
                </a:rPr>
                <a:t>Socket</a:t>
              </a:r>
              <a:r>
                <a:rPr kumimoji="0" lang="zh-CN" altLang="en-US" sz="2000" b="1" dirty="0" smtClean="0">
                  <a:latin typeface="Times New Roman" panose="02020603050405020304" pitchFamily="18" charset="0"/>
                </a:rPr>
                <a:t>连接</a:t>
              </a:r>
              <a:r>
                <a:rPr kumimoji="0" lang="zh-CN" altLang="en-US" sz="2000" b="1" dirty="0">
                  <a:latin typeface="Times New Roman" panose="02020603050405020304" pitchFamily="18" charset="0"/>
                </a:rPr>
                <a:t>示意图</a:t>
              </a:r>
            </a:p>
          </p:txBody>
        </p: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4914" y="7331"/>
              <a:ext cx="3904" cy="1429"/>
              <a:chOff x="4914" y="7331"/>
              <a:chExt cx="3904" cy="1429"/>
            </a:xfrm>
          </p:grpSpPr>
          <p:grpSp>
            <p:nvGrpSpPr>
              <p:cNvPr id="7" name="Group 7"/>
              <p:cNvGrpSpPr>
                <a:grpSpLocks/>
              </p:cNvGrpSpPr>
              <p:nvPr/>
            </p:nvGrpSpPr>
            <p:grpSpPr bwMode="auto">
              <a:xfrm>
                <a:off x="4914" y="7356"/>
                <a:ext cx="1278" cy="1404"/>
                <a:chOff x="2079" y="11934"/>
                <a:chExt cx="1545" cy="2028"/>
              </a:xfrm>
            </p:grpSpPr>
            <p:sp>
              <p:nvSpPr>
                <p:cNvPr id="19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079" y="12714"/>
                  <a:ext cx="1545" cy="468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2000" b="1">
                      <a:latin typeface="Times New Roman" panose="02020603050405020304" pitchFamily="18" charset="0"/>
                    </a:rPr>
                    <a:t>客户端</a:t>
                  </a:r>
                  <a:r>
                    <a:rPr kumimoji="0" lang="en-US" altLang="zh-CN" sz="2000" b="1">
                      <a:latin typeface="Times New Roman" panose="02020603050405020304" pitchFamily="18" charset="0"/>
                    </a:rPr>
                    <a:t>Socket</a:t>
                  </a:r>
                </a:p>
              </p:txBody>
            </p:sp>
            <p:sp>
              <p:nvSpPr>
                <p:cNvPr id="2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182" y="11934"/>
                  <a:ext cx="927" cy="468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2000" b="1" dirty="0">
                      <a:latin typeface="Times New Roman" panose="02020603050405020304" pitchFamily="18" charset="0"/>
                    </a:rPr>
                    <a:t>输入流</a:t>
                  </a:r>
                </a:p>
              </p:txBody>
            </p:sp>
            <p:sp>
              <p:nvSpPr>
                <p:cNvPr id="21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594" y="12402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285" y="13494"/>
                  <a:ext cx="927" cy="468"/>
                </a:xfrm>
                <a:prstGeom prst="rect">
                  <a:avLst/>
                </a:prstGeom>
                <a:solidFill>
                  <a:srgbClr val="00CC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2000" b="1">
                      <a:latin typeface="Times New Roman" panose="02020603050405020304" pitchFamily="18" charset="0"/>
                    </a:rPr>
                    <a:t>输出流</a:t>
                  </a:r>
                </a:p>
              </p:txBody>
            </p:sp>
            <p:sp>
              <p:nvSpPr>
                <p:cNvPr id="23" name="Line 12"/>
                <p:cNvSpPr>
                  <a:spLocks noChangeShapeType="1"/>
                </p:cNvSpPr>
                <p:nvPr/>
              </p:nvSpPr>
              <p:spPr bwMode="auto">
                <a:xfrm>
                  <a:off x="2800" y="13182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" name="Group 13"/>
              <p:cNvGrpSpPr>
                <a:grpSpLocks/>
              </p:cNvGrpSpPr>
              <p:nvPr/>
            </p:nvGrpSpPr>
            <p:grpSpPr bwMode="auto">
              <a:xfrm>
                <a:off x="7539" y="7331"/>
                <a:ext cx="1279" cy="1404"/>
                <a:chOff x="5229" y="11898"/>
                <a:chExt cx="1545" cy="2028"/>
              </a:xfrm>
            </p:grpSpPr>
            <p:sp>
              <p:nvSpPr>
                <p:cNvPr id="1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229" y="12678"/>
                  <a:ext cx="1545" cy="468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2000" b="1">
                      <a:latin typeface="Times New Roman" panose="02020603050405020304" pitchFamily="18" charset="0"/>
                    </a:rPr>
                    <a:t>服务器端</a:t>
                  </a:r>
                  <a:r>
                    <a:rPr kumimoji="0" lang="en-US" altLang="zh-CN" sz="2000" b="1">
                      <a:latin typeface="Times New Roman" panose="02020603050405020304" pitchFamily="18" charset="0"/>
                    </a:rPr>
                    <a:t>Socket</a:t>
                  </a:r>
                </a:p>
              </p:txBody>
            </p:sp>
            <p:sp>
              <p:nvSpPr>
                <p:cNvPr id="15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5332" y="11898"/>
                  <a:ext cx="927" cy="468"/>
                </a:xfrm>
                <a:prstGeom prst="rect">
                  <a:avLst/>
                </a:prstGeom>
                <a:solidFill>
                  <a:srgbClr val="00CC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2000" b="1">
                      <a:latin typeface="Times New Roman" panose="02020603050405020304" pitchFamily="18" charset="0"/>
                    </a:rPr>
                    <a:t>输出流</a:t>
                  </a:r>
                </a:p>
              </p:txBody>
            </p:sp>
            <p:sp>
              <p:nvSpPr>
                <p:cNvPr id="16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5744" y="12366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5435" y="13458"/>
                  <a:ext cx="927" cy="468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2000" b="1">
                      <a:latin typeface="Times New Roman" panose="02020603050405020304" pitchFamily="18" charset="0"/>
                    </a:rPr>
                    <a:t>输入流</a:t>
                  </a:r>
                </a:p>
              </p:txBody>
            </p:sp>
            <p:sp>
              <p:nvSpPr>
                <p:cNvPr id="18" name="Line 18"/>
                <p:cNvSpPr>
                  <a:spLocks noChangeShapeType="1"/>
                </p:cNvSpPr>
                <p:nvPr/>
              </p:nvSpPr>
              <p:spPr bwMode="auto">
                <a:xfrm>
                  <a:off x="5950" y="13146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" name="Group 19"/>
              <p:cNvGrpSpPr>
                <a:grpSpLocks/>
              </p:cNvGrpSpPr>
              <p:nvPr/>
            </p:nvGrpSpPr>
            <p:grpSpPr bwMode="auto">
              <a:xfrm>
                <a:off x="5766" y="7439"/>
                <a:ext cx="1874" cy="1312"/>
                <a:chOff x="5766" y="7439"/>
                <a:chExt cx="1874" cy="1312"/>
              </a:xfrm>
            </p:grpSpPr>
            <p:sp>
              <p:nvSpPr>
                <p:cNvPr id="10" name="Line 20"/>
                <p:cNvSpPr>
                  <a:spLocks noChangeShapeType="1"/>
                </p:cNvSpPr>
                <p:nvPr/>
              </p:nvSpPr>
              <p:spPr bwMode="auto">
                <a:xfrm>
                  <a:off x="5766" y="7572"/>
                  <a:ext cx="184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5851" y="8652"/>
                  <a:ext cx="17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6304" y="7439"/>
                  <a:ext cx="776" cy="3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000" b="1" dirty="0">
                      <a:latin typeface="Times New Roman" panose="02020603050405020304" pitchFamily="18" charset="0"/>
                      <a:ea typeface="仿宋_GB2312" pitchFamily="49" charset="-122"/>
                    </a:rPr>
                    <a:t>  </a:t>
                  </a:r>
                  <a:r>
                    <a:rPr kumimoji="0" lang="zh-CN" altLang="en-US" sz="2000" b="1" dirty="0">
                      <a:latin typeface="Times New Roman" panose="02020603050405020304" pitchFamily="18" charset="0"/>
                      <a:ea typeface="仿宋_GB2312" pitchFamily="49" charset="-122"/>
                    </a:rPr>
                    <a:t>连接</a:t>
                  </a:r>
                </a:p>
              </p:txBody>
            </p:sp>
            <p:sp>
              <p:nvSpPr>
                <p:cNvPr id="1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6351" y="8520"/>
                  <a:ext cx="727" cy="23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charset="0"/>
                    <a:buChar char="n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CC0000"/>
                    </a:buClr>
                    <a:buFont typeface="Webdings" panose="05030102010509060703" pitchFamily="18" charset="2"/>
                    <a:buChar char="=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000" b="1">
                      <a:latin typeface="Times New Roman" panose="02020603050405020304" pitchFamily="18" charset="0"/>
                      <a:ea typeface="仿宋_GB2312" pitchFamily="49" charset="-122"/>
                    </a:rPr>
                    <a:t>  </a:t>
                  </a:r>
                  <a:r>
                    <a:rPr kumimoji="0" lang="zh-CN" altLang="en-US" sz="2000" b="1">
                      <a:latin typeface="Times New Roman" panose="02020603050405020304" pitchFamily="18" charset="0"/>
                      <a:ea typeface="仿宋_GB2312" pitchFamily="49" charset="-122"/>
                    </a:rPr>
                    <a:t>连接</a:t>
                  </a:r>
                </a:p>
              </p:txBody>
            </p:sp>
          </p:grpSp>
        </p:grpSp>
      </p:grpSp>
    </p:spTree>
    <p:extLst>
      <p:ext uri="{BB962C8B-B14F-4D97-AF65-F5344CB8AC3E}">
        <p14:creationId xmlns="" xmlns:p14="http://schemas.microsoft.com/office/powerpoint/2010/main" val="180162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Socket</a:t>
            </a:r>
            <a:r>
              <a:rPr lang="zh-CN" altLang="en-US" dirty="0" smtClean="0"/>
              <a:t>的基本操作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1560" y="1628800"/>
            <a:ext cx="8153400" cy="4495800"/>
          </a:xfrm>
        </p:spPr>
        <p:txBody>
          <a:bodyPr/>
          <a:lstStyle/>
          <a:p>
            <a:r>
              <a:rPr lang="zh-CN" altLang="en-US" dirty="0" smtClean="0"/>
              <a:t>连接远程机器</a:t>
            </a:r>
            <a:endParaRPr lang="en-US" altLang="zh-CN" dirty="0" smtClean="0"/>
          </a:p>
          <a:p>
            <a:r>
              <a:rPr lang="zh-CN" altLang="en-US" dirty="0" smtClean="0"/>
              <a:t>发送数据</a:t>
            </a:r>
            <a:endParaRPr lang="en-US" altLang="zh-CN" dirty="0" smtClean="0"/>
          </a:p>
          <a:p>
            <a:r>
              <a:rPr lang="zh-CN" altLang="en-US" dirty="0" smtClean="0"/>
              <a:t>接收数据</a:t>
            </a:r>
            <a:endParaRPr lang="en-US" altLang="zh-CN" dirty="0" smtClean="0"/>
          </a:p>
          <a:p>
            <a:r>
              <a:rPr lang="zh-CN" altLang="en-US" dirty="0" smtClean="0"/>
              <a:t>关闭连接</a:t>
            </a:r>
            <a:endParaRPr lang="en-US" altLang="zh-CN" dirty="0" smtClean="0"/>
          </a:p>
          <a:p>
            <a:r>
              <a:rPr lang="zh-CN" altLang="en-US" dirty="0" smtClean="0"/>
              <a:t>绑定端口</a:t>
            </a:r>
            <a:endParaRPr lang="en-US" altLang="zh-CN" dirty="0" smtClean="0"/>
          </a:p>
          <a:p>
            <a:r>
              <a:rPr lang="zh-CN" altLang="en-US" dirty="0" smtClean="0"/>
              <a:t>监听入站数据</a:t>
            </a:r>
            <a:endParaRPr lang="en-US" altLang="zh-CN" dirty="0" smtClean="0"/>
          </a:p>
          <a:p>
            <a:r>
              <a:rPr lang="zh-CN" altLang="en-US" dirty="0" smtClean="0"/>
              <a:t>在绑定端口上接收来自远程机器的连接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7164288" y="1772816"/>
            <a:ext cx="576064" cy="18002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812360" y="2420888"/>
            <a:ext cx="1547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Socket</a:t>
            </a:r>
            <a:r>
              <a:rPr lang="zh-CN" altLang="en-US" sz="2400" dirty="0" smtClean="0"/>
              <a:t>类</a:t>
            </a:r>
            <a:endParaRPr lang="zh-CN" altLang="en-US" sz="2400" dirty="0"/>
          </a:p>
        </p:txBody>
      </p:sp>
      <p:sp>
        <p:nvSpPr>
          <p:cNvPr id="6" name="右大括号 5"/>
          <p:cNvSpPr/>
          <p:nvPr/>
        </p:nvSpPr>
        <p:spPr>
          <a:xfrm>
            <a:off x="7236296" y="3933056"/>
            <a:ext cx="576064" cy="129614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812360" y="4221088"/>
            <a:ext cx="1080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/>
              <a:t>ServerSocket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23528" y="1556792"/>
            <a:ext cx="8540750" cy="2304255"/>
          </a:xfrm>
        </p:spPr>
        <p:txBody>
          <a:bodyPr/>
          <a:lstStyle/>
          <a:p>
            <a:r>
              <a:rPr lang="en-US" altLang="zh-CN" sz="2800" dirty="0" smtClean="0"/>
              <a:t>Telnet</a:t>
            </a:r>
          </a:p>
          <a:p>
            <a:pPr lvl="1"/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WinXP</a:t>
            </a:r>
            <a:r>
              <a:rPr lang="zh-CN" altLang="en-US" sz="2400" dirty="0" smtClean="0"/>
              <a:t>及之前默认开启；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Win7</a:t>
            </a:r>
            <a:r>
              <a:rPr lang="zh-CN" altLang="en-US" sz="2400" dirty="0" smtClean="0"/>
              <a:t>及之后默认关闭；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如何开启</a:t>
            </a:r>
            <a:r>
              <a:rPr lang="en-US" altLang="zh-CN" sz="2400" dirty="0" smtClean="0"/>
              <a:t>Telnet</a:t>
            </a:r>
          </a:p>
          <a:p>
            <a:pPr lvl="2"/>
            <a:r>
              <a:rPr lang="zh-CN" altLang="en-US" sz="2000" dirty="0" smtClean="0"/>
              <a:t>控制面板 </a:t>
            </a:r>
            <a:r>
              <a:rPr lang="en-US" altLang="zh-CN" sz="2000" dirty="0" smtClean="0"/>
              <a:t> -&gt;  </a:t>
            </a:r>
            <a:r>
              <a:rPr lang="zh-CN" altLang="en-US" sz="2000" dirty="0" smtClean="0"/>
              <a:t>程序和功能 </a:t>
            </a:r>
            <a:r>
              <a:rPr lang="en-US" altLang="zh-CN" sz="2000" dirty="0" smtClean="0"/>
              <a:t>-&gt; </a:t>
            </a:r>
            <a:r>
              <a:rPr lang="zh-CN" altLang="en-US" sz="2000" dirty="0" smtClean="0"/>
              <a:t>打开或关闭</a:t>
            </a:r>
            <a:r>
              <a:rPr lang="en-US" altLang="zh-CN" sz="2000" dirty="0" smtClean="0"/>
              <a:t>Windows</a:t>
            </a:r>
            <a:r>
              <a:rPr lang="zh-CN" altLang="en-US" sz="2000" dirty="0" smtClean="0"/>
              <a:t>功能 </a:t>
            </a:r>
            <a:r>
              <a:rPr lang="en-US" altLang="zh-CN" sz="2000" dirty="0" smtClean="0"/>
              <a:t>-&gt; </a:t>
            </a:r>
            <a:r>
              <a:rPr lang="zh-CN" altLang="en-US" sz="2000" dirty="0" smtClean="0"/>
              <a:t>勾选</a:t>
            </a:r>
            <a:r>
              <a:rPr lang="en-US" altLang="zh-CN" sz="2000" dirty="0" smtClean="0"/>
              <a:t>Telnet</a:t>
            </a:r>
            <a:r>
              <a:rPr lang="zh-CN" altLang="en-US" sz="2000" dirty="0" smtClean="0"/>
              <a:t>客户端</a:t>
            </a:r>
            <a:endParaRPr lang="en-US" altLang="zh-CN" sz="2000" dirty="0" smtClean="0"/>
          </a:p>
          <a:p>
            <a:pPr lvl="2"/>
            <a:endParaRPr lang="en-US" altLang="zh-CN" sz="2000" dirty="0" smtClean="0"/>
          </a:p>
          <a:p>
            <a:pPr lvl="2"/>
            <a:endParaRPr lang="en-US" altLang="zh-CN" sz="2000" dirty="0" smtClean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755576" y="4149080"/>
            <a:ext cx="7848872" cy="114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  <a:defRPr/>
            </a:pPr>
            <a:r>
              <a:rPr lang="zh-CN" altLang="en-US" sz="2800" b="1" kern="0" dirty="0" smtClean="0"/>
              <a:t>可以使用</a:t>
            </a:r>
            <a:r>
              <a:rPr lang="en-US" altLang="zh-CN" sz="2800" b="1" kern="0" dirty="0" smtClean="0"/>
              <a:t>Telnet</a:t>
            </a:r>
            <a:r>
              <a:rPr lang="zh-CN" altLang="en-US" sz="2800" b="1" kern="0" dirty="0" smtClean="0"/>
              <a:t>连接服务器</a:t>
            </a:r>
            <a:endParaRPr lang="en-US" altLang="zh-CN" sz="2800" b="1" kern="0" dirty="0" smtClean="0"/>
          </a:p>
          <a:p>
            <a:pPr>
              <a:buNone/>
              <a:defRPr/>
            </a:pPr>
            <a:r>
              <a:rPr lang="zh-CN" altLang="en-US" sz="2400" kern="0" dirty="0" smtClean="0"/>
              <a:t>如：</a:t>
            </a:r>
            <a:r>
              <a:rPr lang="en-US" altLang="zh-CN" sz="2400" kern="0" dirty="0" smtClean="0"/>
              <a:t>telnet www.szu.edu.cn 80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67544" y="260648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使用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Telnet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研究协议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用命令从时间服务器读取数据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8153400" cy="2952328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可以使用</a:t>
            </a:r>
            <a:r>
              <a:rPr lang="en-US" altLang="zh-CN" dirty="0" smtClean="0"/>
              <a:t>Telnet</a:t>
            </a:r>
            <a:r>
              <a:rPr lang="zh-CN" altLang="en-US" dirty="0" smtClean="0"/>
              <a:t>连接服务器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如：</a:t>
            </a:r>
            <a:r>
              <a:rPr lang="en-US" altLang="zh-CN" dirty="0" smtClean="0"/>
              <a:t>telnet www.szu.edu.cn 80</a:t>
            </a:r>
          </a:p>
          <a:p>
            <a:r>
              <a:rPr lang="zh-CN" altLang="en-US" dirty="0" smtClean="0"/>
              <a:t>连接美国</a:t>
            </a:r>
            <a:r>
              <a:rPr lang="zh-CN" altLang="en-US" sz="3200" dirty="0" smtClean="0"/>
              <a:t>国家标准技术研究院（</a:t>
            </a:r>
            <a:r>
              <a:rPr lang="en-US" altLang="zh-CN" sz="3200" dirty="0" smtClean="0"/>
              <a:t>NIST</a:t>
            </a:r>
            <a:r>
              <a:rPr lang="zh-CN" altLang="en-US" sz="3200" dirty="0" smtClean="0"/>
              <a:t>）</a:t>
            </a:r>
            <a:r>
              <a:rPr lang="zh-CN" altLang="en-US" dirty="0" smtClean="0"/>
              <a:t>的时间服务器：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telnet time.nist.gov 13</a:t>
            </a:r>
          </a:p>
          <a:p>
            <a:pPr lvl="1"/>
            <a:r>
              <a:rPr lang="zh-CN" altLang="en-US" dirty="0" smtClean="0"/>
              <a:t>以</a:t>
            </a:r>
            <a:r>
              <a:rPr lang="en-US" altLang="zh-CN" dirty="0" smtClean="0"/>
              <a:t>RFC867</a:t>
            </a:r>
            <a:r>
              <a:rPr lang="zh-CN" altLang="en-US" dirty="0" smtClean="0"/>
              <a:t>协议返回结果；非标准时间服务协议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91680" y="4615751"/>
            <a:ext cx="5472608" cy="224224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3033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日期格式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2708920"/>
            <a:ext cx="7543801" cy="4248472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JJJJJ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：修正儒略日（</a:t>
            </a:r>
            <a:r>
              <a:rPr lang="en-US" altLang="zh-CN" sz="3400" dirty="0">
                <a:latin typeface="Times New Roman" pitchFamily="18" charset="0"/>
                <a:cs typeface="Times New Roman" pitchFamily="18" charset="0"/>
              </a:rPr>
              <a:t>Modified Julian Date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）自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1858.11.17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以来的日数</a:t>
            </a:r>
            <a:endParaRPr lang="en-US" altLang="zh-CN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YY-MM-DD HH:MM:SS 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日期与时间</a:t>
            </a:r>
            <a:endParaRPr lang="en-US" altLang="zh-CN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TT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50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表示日光节省时间；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表示标准时间</a:t>
            </a:r>
            <a:endParaRPr lang="en-US" altLang="zh-CN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：一位码，指示当前月最后一天子夜是滞增加或减去一个闰秒。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表示无闰秒，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表示增加三个闰秒，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表示减去一个闰秒</a:t>
            </a:r>
            <a:endParaRPr lang="en-US" altLang="zh-CN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：服务器状态，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表示健康，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指最多相差的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秒，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指相差超过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5S</a:t>
            </a:r>
          </a:p>
          <a:p>
            <a:r>
              <a:rPr lang="en-US" altLang="zh-CN" sz="3400" dirty="0" err="1" smtClean="0">
                <a:latin typeface="Times New Roman" pitchFamily="18" charset="0"/>
                <a:cs typeface="Times New Roman" pitchFamily="18" charset="0"/>
              </a:rPr>
              <a:t>msADV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：延迟补偿毫秒数，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NIST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把此数增加到它发送的时间</a:t>
            </a:r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对网络延迟做补偿</a:t>
            </a:r>
            <a:endParaRPr lang="en-US" altLang="zh-CN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3400" dirty="0" smtClean="0">
                <a:latin typeface="Times New Roman" pitchFamily="18" charset="0"/>
                <a:cs typeface="Times New Roman" pitchFamily="18" charset="0"/>
              </a:rPr>
              <a:t>UTC</a:t>
            </a:r>
            <a:r>
              <a:rPr lang="zh-CN" altLang="en-US" sz="34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3400" dirty="0">
                <a:latin typeface="Times New Roman" pitchFamily="18" charset="0"/>
                <a:cs typeface="Times New Roman" pitchFamily="18" charset="0"/>
              </a:rPr>
              <a:t>Coordinated Universal Time</a:t>
            </a:r>
            <a:endParaRPr lang="en-US" altLang="zh-CN" sz="3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705494" y="2211413"/>
            <a:ext cx="7754938" cy="461962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57516 16-05-08 12:48:05 50 0 0 105.0 UTC(NIST) *</a:t>
            </a:r>
          </a:p>
        </p:txBody>
      </p:sp>
      <p:sp>
        <p:nvSpPr>
          <p:cNvPr id="6" name="文本框 1"/>
          <p:cNvSpPr txBox="1">
            <a:spLocks noChangeArrowheads="1"/>
          </p:cNvSpPr>
          <p:nvPr/>
        </p:nvSpPr>
        <p:spPr bwMode="auto">
          <a:xfrm>
            <a:off x="755576" y="1556792"/>
            <a:ext cx="73612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/>
              <a:t>Daytime</a:t>
            </a:r>
            <a:r>
              <a:rPr lang="zh-CN" altLang="en-US" sz="2400" dirty="0" smtClean="0"/>
              <a:t>服务器返回的的</a:t>
            </a:r>
            <a:r>
              <a:rPr lang="zh-CN" altLang="en-US" sz="2400" dirty="0"/>
              <a:t>时间</a:t>
            </a:r>
            <a:r>
              <a:rPr lang="zh-CN" altLang="en-US" dirty="0"/>
              <a:t>：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91350" y="2708920"/>
            <a:ext cx="21526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6835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9217024" cy="438150"/>
          </a:xfrm>
        </p:spPr>
        <p:txBody>
          <a:bodyPr anchor="t">
            <a:noAutofit/>
          </a:bodyPr>
          <a:lstStyle/>
          <a:p>
            <a:r>
              <a:rPr lang="zh-CN" altLang="en-US" sz="3600" dirty="0" smtClean="0"/>
              <a:t>使用</a:t>
            </a:r>
            <a:r>
              <a:rPr lang="en-US" altLang="zh-CN" sz="3600" dirty="0" smtClean="0"/>
              <a:t>socket</a:t>
            </a:r>
            <a:r>
              <a:rPr lang="zh-CN" altLang="en-US" sz="3600" dirty="0" smtClean="0"/>
              <a:t>编程从时间服务器获取数据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683568" y="1484784"/>
            <a:ext cx="8136904" cy="537321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000" dirty="0" smtClean="0">
                <a:solidFill>
                  <a:srgbClr val="FF0066"/>
                </a:solidFill>
              </a:rPr>
              <a:t>try (Socket </a:t>
            </a:r>
            <a:r>
              <a:rPr lang="en-US" altLang="zh-CN" sz="2000" dirty="0" err="1" smtClean="0">
                <a:solidFill>
                  <a:srgbClr val="FF0066"/>
                </a:solidFill>
              </a:rPr>
              <a:t>socket</a:t>
            </a:r>
            <a:r>
              <a:rPr lang="en-US" altLang="zh-CN" sz="2000" dirty="0" smtClean="0">
                <a:solidFill>
                  <a:srgbClr val="FF0066"/>
                </a:solidFill>
              </a:rPr>
              <a:t>= new Socket(“time.nist.gov”,13)){</a:t>
            </a:r>
            <a:br>
              <a:rPr lang="en-US" altLang="zh-CN" sz="2000" dirty="0" smtClean="0">
                <a:solidFill>
                  <a:srgbClr val="FF0066"/>
                </a:solidFill>
              </a:rPr>
            </a:br>
            <a:r>
              <a:rPr lang="en-US" altLang="zh-CN" sz="2000" dirty="0" smtClean="0">
                <a:solidFill>
                  <a:srgbClr val="FF0066"/>
                </a:solidFill>
              </a:rPr>
              <a:t>	// </a:t>
            </a:r>
            <a:r>
              <a:rPr lang="zh-CN" altLang="en-US" sz="2000" dirty="0" smtClean="0">
                <a:solidFill>
                  <a:srgbClr val="FF0066"/>
                </a:solidFill>
              </a:rPr>
              <a:t>从</a:t>
            </a:r>
            <a:r>
              <a:rPr lang="en-US" altLang="zh-CN" sz="2000" dirty="0" smtClean="0">
                <a:solidFill>
                  <a:srgbClr val="FF0066"/>
                </a:solidFill>
              </a:rPr>
              <a:t>socket</a:t>
            </a:r>
            <a:r>
              <a:rPr lang="zh-CN" altLang="en-US" sz="2000" dirty="0" smtClean="0">
                <a:solidFill>
                  <a:srgbClr val="FF0066"/>
                </a:solidFill>
              </a:rPr>
              <a:t>读取</a:t>
            </a:r>
            <a:r>
              <a:rPr lang="en-US" altLang="zh-CN" sz="2000" dirty="0" smtClean="0">
                <a:solidFill>
                  <a:srgbClr val="FF0066"/>
                </a:solidFill>
              </a:rPr>
              <a:t>…….. </a:t>
            </a:r>
            <a:br>
              <a:rPr lang="en-US" altLang="zh-CN" sz="2000" dirty="0" smtClean="0">
                <a:solidFill>
                  <a:srgbClr val="FF0066"/>
                </a:solidFill>
              </a:rPr>
            </a:br>
            <a:r>
              <a:rPr lang="en-US" altLang="zh-CN" sz="2000" dirty="0" smtClean="0">
                <a:solidFill>
                  <a:srgbClr val="FF0066"/>
                </a:solidFill>
              </a:rPr>
              <a:t>}</a:t>
            </a:r>
            <a:br>
              <a:rPr lang="en-US" altLang="zh-CN" sz="2000" dirty="0" smtClean="0">
                <a:solidFill>
                  <a:srgbClr val="FF0066"/>
                </a:solidFill>
              </a:rPr>
            </a:br>
            <a:r>
              <a:rPr lang="en-US" altLang="zh-CN" sz="2000" dirty="0" smtClean="0">
                <a:solidFill>
                  <a:srgbClr val="FF0066"/>
                </a:solidFill>
              </a:rPr>
              <a:t>catch</a:t>
            </a:r>
            <a:r>
              <a:rPr lang="zh-CN" altLang="en-US" sz="2000" dirty="0" smtClean="0">
                <a:solidFill>
                  <a:srgbClr val="FF0066"/>
                </a:solidFill>
              </a:rPr>
              <a:t>（</a:t>
            </a:r>
            <a:r>
              <a:rPr lang="en-US" altLang="zh-CN" sz="2000" dirty="0" smtClean="0">
                <a:solidFill>
                  <a:srgbClr val="FF0066"/>
                </a:solidFill>
              </a:rPr>
              <a:t>IOException ex){ </a:t>
            </a:r>
            <a:br>
              <a:rPr lang="en-US" altLang="zh-CN" sz="2000" dirty="0" smtClean="0">
                <a:solidFill>
                  <a:srgbClr val="FF0066"/>
                </a:solidFill>
              </a:rPr>
            </a:br>
            <a:r>
              <a:rPr lang="en-US" altLang="zh-CN" sz="2000" dirty="0" smtClean="0">
                <a:solidFill>
                  <a:srgbClr val="FF0066"/>
                </a:solidFill>
              </a:rPr>
              <a:t>	</a:t>
            </a:r>
            <a:r>
              <a:rPr lang="en-US" altLang="zh-CN" sz="2000" dirty="0" err="1" smtClean="0">
                <a:solidFill>
                  <a:srgbClr val="FF0066"/>
                </a:solidFill>
              </a:rPr>
              <a:t>System.err.println</a:t>
            </a:r>
            <a:r>
              <a:rPr lang="en-US" altLang="zh-CN" sz="2000" dirty="0" smtClean="0">
                <a:solidFill>
                  <a:srgbClr val="FF0066"/>
                </a:solidFill>
              </a:rPr>
              <a:t>(“could not connect to time.nist.gov”);</a:t>
            </a:r>
            <a:br>
              <a:rPr lang="en-US" altLang="zh-CN" sz="2000" dirty="0" smtClean="0">
                <a:solidFill>
                  <a:srgbClr val="FF0066"/>
                </a:solidFill>
              </a:rPr>
            </a:br>
            <a:r>
              <a:rPr lang="en-US" altLang="zh-CN" sz="2000" dirty="0" smtClean="0">
                <a:solidFill>
                  <a:srgbClr val="FF0066"/>
                </a:solidFill>
              </a:rPr>
              <a:t>}</a:t>
            </a:r>
          </a:p>
          <a:p>
            <a:r>
              <a:rPr lang="en-US" altLang="zh-CN" sz="2000" dirty="0" smtClean="0"/>
              <a:t>Socket </a:t>
            </a:r>
            <a:r>
              <a:rPr lang="en-US" altLang="zh-CN" sz="2000" dirty="0" err="1" smtClean="0"/>
              <a:t>socket</a:t>
            </a:r>
            <a:r>
              <a:rPr lang="en-US" altLang="zh-CN" sz="2000" dirty="0" smtClean="0"/>
              <a:t>=null;</a:t>
            </a:r>
            <a:br>
              <a:rPr lang="en-US" altLang="zh-CN" sz="2000" dirty="0" smtClean="0"/>
            </a:br>
            <a:r>
              <a:rPr lang="en-US" altLang="zh-CN" sz="2000" dirty="0" smtClean="0"/>
              <a:t>try{ </a:t>
            </a:r>
            <a:br>
              <a:rPr lang="en-US" altLang="zh-CN" sz="2000" dirty="0" smtClean="0"/>
            </a:br>
            <a:r>
              <a:rPr lang="en-US" altLang="zh-CN" sz="2000" dirty="0" smtClean="0"/>
              <a:t>	socket=new Socket(“time.nist.gov”,13);</a:t>
            </a:r>
            <a:br>
              <a:rPr lang="en-US" altLang="zh-CN" sz="2000" dirty="0" smtClean="0"/>
            </a:br>
            <a:r>
              <a:rPr lang="en-US" altLang="zh-CN" sz="2000" dirty="0" smtClean="0"/>
              <a:t>	// </a:t>
            </a:r>
            <a:r>
              <a:rPr lang="zh-CN" altLang="en-US" sz="2000" dirty="0" smtClean="0"/>
              <a:t>从</a:t>
            </a:r>
            <a:r>
              <a:rPr lang="en-US" altLang="zh-CN" sz="2000" dirty="0" smtClean="0"/>
              <a:t>socket</a:t>
            </a:r>
            <a:r>
              <a:rPr lang="zh-CN" altLang="en-US" sz="2000" dirty="0" smtClean="0"/>
              <a:t>读取</a:t>
            </a:r>
            <a:r>
              <a:rPr lang="en-US" altLang="zh-CN" sz="2000" dirty="0" smtClean="0"/>
              <a:t>… </a:t>
            </a:r>
            <a:br>
              <a:rPr lang="en-US" altLang="zh-CN" sz="2000" dirty="0" smtClean="0"/>
            </a:br>
            <a:r>
              <a:rPr lang="en-US" altLang="zh-CN" sz="2000" dirty="0" smtClean="0"/>
              <a:t>}catch (IOException ex){ </a:t>
            </a:r>
            <a:br>
              <a:rPr lang="en-US" altLang="zh-CN" sz="2000" dirty="0" smtClean="0"/>
            </a:b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System.err.prinln</a:t>
            </a:r>
            <a:r>
              <a:rPr lang="en-US" altLang="zh-CN" sz="2000" dirty="0" smtClean="0"/>
              <a:t>(ex);</a:t>
            </a:r>
            <a:br>
              <a:rPr lang="en-US" altLang="zh-CN" sz="2000" dirty="0" smtClean="0"/>
            </a:br>
            <a:r>
              <a:rPr lang="en-US" altLang="zh-CN" sz="2000" dirty="0" smtClean="0"/>
              <a:t>}finally{ </a:t>
            </a:r>
            <a:br>
              <a:rPr lang="en-US" altLang="zh-CN" sz="2000" dirty="0" smtClean="0"/>
            </a:br>
            <a:r>
              <a:rPr lang="en-US" altLang="zh-CN" sz="2000" dirty="0" smtClean="0"/>
              <a:t>	if (socket!=null){ </a:t>
            </a:r>
            <a:br>
              <a:rPr lang="en-US" altLang="zh-CN" sz="2000" dirty="0" smtClean="0"/>
            </a:br>
            <a:r>
              <a:rPr lang="en-US" altLang="zh-CN" sz="2000" dirty="0" smtClean="0"/>
              <a:t>		try {</a:t>
            </a:r>
            <a:br>
              <a:rPr lang="en-US" altLang="zh-CN" sz="2000" dirty="0" smtClean="0"/>
            </a:br>
            <a:r>
              <a:rPr lang="en-US" altLang="zh-CN" sz="2000" dirty="0" smtClean="0"/>
              <a:t>			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socket.close</a:t>
            </a:r>
            <a:r>
              <a:rPr lang="en-US" altLang="zh-CN" sz="2000" dirty="0" smtClean="0">
                <a:solidFill>
                  <a:srgbClr val="FF0000"/>
                </a:solidFill>
              </a:rPr>
              <a:t>();</a:t>
            </a:r>
          </a:p>
          <a:p>
            <a:r>
              <a:rPr lang="en-US" altLang="zh-CN" sz="2000" dirty="0" smtClean="0">
                <a:solidFill>
                  <a:srgbClr val="FF0000"/>
                </a:solidFill>
              </a:rPr>
              <a:t/>
            </a:r>
            <a:br>
              <a:rPr lang="en-US" altLang="zh-CN" sz="2000" dirty="0" smtClean="0">
                <a:solidFill>
                  <a:srgbClr val="FF0000"/>
                </a:solidFill>
              </a:rPr>
            </a:br>
            <a:r>
              <a:rPr lang="en-US" altLang="zh-CN" sz="2000" dirty="0" smtClean="0"/>
              <a:t>		} catch (IOException e) { //</a:t>
            </a:r>
            <a:r>
              <a:rPr lang="en-US" altLang="zh-CN" sz="2000" dirty="0" err="1" smtClean="0"/>
              <a:t>doNothing</a:t>
            </a:r>
            <a:r>
              <a:rPr lang="en-US" altLang="zh-CN" sz="2000" dirty="0" smtClean="0"/>
              <a:t> }</a:t>
            </a:r>
            <a:br>
              <a:rPr lang="en-US" altLang="zh-CN" sz="2000" dirty="0" smtClean="0"/>
            </a:br>
            <a:r>
              <a:rPr lang="en-US" altLang="zh-CN" sz="2000" dirty="0" smtClean="0"/>
              <a:t>	}</a:t>
            </a:r>
            <a:br>
              <a:rPr lang="en-US" altLang="zh-CN" sz="2000" dirty="0" smtClean="0"/>
            </a:br>
            <a:r>
              <a:rPr lang="en-US" altLang="zh-CN" sz="2000" dirty="0" smtClean="0"/>
              <a:t>}</a:t>
            </a:r>
            <a:endParaRPr lang="zh-CN" altLang="en-US" sz="2000" dirty="0" smtClean="0"/>
          </a:p>
        </p:txBody>
      </p:sp>
      <p:sp>
        <p:nvSpPr>
          <p:cNvPr id="15364" name="线形标注 1 3"/>
          <p:cNvSpPr>
            <a:spLocks/>
          </p:cNvSpPr>
          <p:nvPr/>
        </p:nvSpPr>
        <p:spPr bwMode="auto">
          <a:xfrm>
            <a:off x="6444208" y="3861048"/>
            <a:ext cx="2362200" cy="685800"/>
          </a:xfrm>
          <a:prstGeom prst="border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 dirty="0"/>
              <a:t>Java6</a:t>
            </a:r>
            <a:r>
              <a:rPr lang="zh-CN" altLang="en-US" dirty="0"/>
              <a:t>及以前的版本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dirty="0" smtClean="0"/>
              <a:t>为连接设置超时时间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323528" y="1628800"/>
            <a:ext cx="8540750" cy="4968552"/>
          </a:xfrm>
        </p:spPr>
        <p:txBody>
          <a:bodyPr/>
          <a:lstStyle/>
          <a:p>
            <a:r>
              <a:rPr lang="zh-CN" altLang="en-US" sz="2400" dirty="0" smtClean="0"/>
              <a:t>对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设置一个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超时时间</a:t>
            </a:r>
            <a:r>
              <a:rPr lang="zh-CN" altLang="en-US" sz="2400" dirty="0" smtClean="0"/>
              <a:t>，如果连接服务器间服务器挂起，则会给出</a:t>
            </a:r>
            <a:r>
              <a:rPr lang="en-US" altLang="zh-CN" sz="2400" dirty="0" err="1" smtClean="0"/>
              <a:t>socketTimeoutException</a:t>
            </a:r>
            <a:r>
              <a:rPr lang="zh-CN" altLang="en-US" sz="2400" dirty="0" smtClean="0"/>
              <a:t>异常通知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Socket.setSoTimeout</a:t>
            </a:r>
            <a:r>
              <a:rPr lang="en-US" altLang="zh-CN" sz="2400" dirty="0" smtClean="0"/>
              <a:t>(15000);//15</a:t>
            </a:r>
            <a:r>
              <a:rPr lang="zh-CN" altLang="en-US" sz="2400" dirty="0" smtClean="0"/>
              <a:t>秒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en-US" altLang="zh-CN" sz="2400" dirty="0" err="1" smtClean="0"/>
              <a:t>InputStream</a:t>
            </a:r>
            <a:r>
              <a:rPr lang="en-US" altLang="zh-CN" sz="2400" dirty="0" smtClean="0"/>
              <a:t> in = </a:t>
            </a:r>
            <a:r>
              <a:rPr lang="en-US" altLang="zh-CN" sz="2400" dirty="0" err="1" smtClean="0"/>
              <a:t>socket.getInputStream</a:t>
            </a:r>
            <a:r>
              <a:rPr lang="en-US" altLang="zh-CN" sz="2400" dirty="0" smtClean="0"/>
              <a:t>();</a:t>
            </a:r>
          </a:p>
          <a:p>
            <a:pPr>
              <a:buNone/>
            </a:pPr>
            <a:r>
              <a:rPr lang="en-US" altLang="zh-CN" sz="2400" dirty="0" smtClean="0"/>
              <a:t>    //</a:t>
            </a:r>
            <a:r>
              <a:rPr lang="zh-CN" altLang="en-US" sz="2400" dirty="0" smtClean="0"/>
              <a:t>从输入流读取服务器发送的字节，此处的协议指定发送的字节必须是</a:t>
            </a:r>
            <a:r>
              <a:rPr lang="en-US" altLang="zh-CN" sz="2400" dirty="0" smtClean="0">
                <a:solidFill>
                  <a:srgbClr val="FF0000"/>
                </a:solidFill>
              </a:rPr>
              <a:t>ASCII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en-US" altLang="zh-CN" sz="2400" dirty="0" err="1" smtClean="0"/>
              <a:t>InputStreamReader</a:t>
            </a:r>
            <a:r>
              <a:rPr lang="en-US" altLang="zh-CN" sz="2400" dirty="0" smtClean="0"/>
              <a:t> reader=new </a:t>
            </a:r>
            <a:r>
              <a:rPr lang="en-US" altLang="zh-CN" sz="2400" dirty="0" err="1" smtClean="0"/>
              <a:t>InputStreamReader</a:t>
            </a:r>
            <a:r>
              <a:rPr lang="en-US" altLang="zh-CN" sz="2400" dirty="0" smtClean="0"/>
              <a:t>(in, “</a:t>
            </a:r>
            <a:r>
              <a:rPr lang="en-US" altLang="zh-CN" sz="2400" dirty="0" smtClean="0">
                <a:solidFill>
                  <a:srgbClr val="FF0000"/>
                </a:solidFill>
              </a:rPr>
              <a:t>ASCII</a:t>
            </a:r>
            <a:r>
              <a:rPr lang="en-US" altLang="zh-CN" sz="2400" dirty="0" smtClean="0"/>
              <a:t>”);</a:t>
            </a:r>
            <a:br>
              <a:rPr lang="en-US" altLang="zh-CN" sz="2400" dirty="0" smtClean="0"/>
            </a:br>
            <a:r>
              <a:rPr lang="en-US" altLang="zh-CN" sz="2400" dirty="0" smtClean="0"/>
              <a:t>for(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= </a:t>
            </a:r>
            <a:r>
              <a:rPr lang="en-US" altLang="zh-CN" sz="2400" dirty="0" err="1" smtClean="0"/>
              <a:t>reader.read</a:t>
            </a:r>
            <a:r>
              <a:rPr lang="en-US" altLang="zh-CN" sz="2400" dirty="0" smtClean="0"/>
              <a:t>(); c!=-1; c=</a:t>
            </a:r>
            <a:r>
              <a:rPr lang="en-US" altLang="zh-CN" sz="2400" dirty="0" err="1" smtClean="0"/>
              <a:t>reader.read</a:t>
            </a:r>
            <a:r>
              <a:rPr lang="en-US" altLang="zh-CN" sz="2400" dirty="0" smtClean="0"/>
              <a:t>()){</a:t>
            </a:r>
          </a:p>
          <a:p>
            <a:pPr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Time.append</a:t>
            </a:r>
            <a:r>
              <a:rPr lang="en-US" altLang="zh-CN" sz="2400" dirty="0" smtClean="0"/>
              <a:t>((char c);</a:t>
            </a:r>
          </a:p>
          <a:p>
            <a:pPr>
              <a:buNone/>
            </a:pPr>
            <a:r>
              <a:rPr lang="en-US" altLang="zh-CN" sz="2400" dirty="0" smtClean="0"/>
              <a:t>    }</a:t>
            </a:r>
          </a:p>
          <a:p>
            <a:pPr>
              <a:buNone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System.out.println</a:t>
            </a:r>
            <a:r>
              <a:rPr lang="en-US" altLang="zh-CN" sz="2400" dirty="0" smtClean="0"/>
              <a:t>(time);</a:t>
            </a:r>
          </a:p>
          <a:p>
            <a:endParaRPr lang="en-US" altLang="zh-CN" sz="2000" dirty="0" smtClean="0"/>
          </a:p>
          <a:p>
            <a:endParaRPr lang="en-US" altLang="zh-CN" sz="1600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Daytime</a:t>
            </a:r>
            <a:r>
              <a:rPr lang="zh-CN" altLang="en-US" dirty="0" smtClean="0"/>
              <a:t>协议客户端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7543801" cy="681185"/>
          </a:xfrm>
        </p:spPr>
        <p:txBody>
          <a:bodyPr/>
          <a:lstStyle/>
          <a:p>
            <a:r>
              <a:rPr lang="zh-CN" altLang="en-US" dirty="0" smtClean="0"/>
              <a:t>从服务器获取数据并打印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634099" y="6423118"/>
            <a:ext cx="1509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DaytimeClient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846" y="2348880"/>
            <a:ext cx="9037154" cy="25314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2315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dirty="0" smtClean="0"/>
              <a:t>使用协议和理解数据格式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540750" cy="4498975"/>
          </a:xfrm>
        </p:spPr>
        <p:txBody>
          <a:bodyPr/>
          <a:lstStyle/>
          <a:p>
            <a:r>
              <a:rPr lang="zh-CN" altLang="en-US" sz="2800" dirty="0" smtClean="0"/>
              <a:t>网络程序的重点工作通常是使用协议和理解数据格式</a:t>
            </a:r>
            <a:endParaRPr lang="en-US" altLang="zh-CN" sz="2800" dirty="0" smtClean="0"/>
          </a:p>
          <a:p>
            <a:r>
              <a:rPr lang="zh-CN" altLang="en-US" sz="2800" dirty="0" smtClean="0"/>
              <a:t>如果不只是显示输出时间服务器发送给你的文本，而是希望把它解析为一个</a:t>
            </a:r>
            <a:r>
              <a:rPr lang="en-US" altLang="zh-CN" sz="2800" dirty="0" err="1" smtClean="0"/>
              <a:t>java.util.Date</a:t>
            </a:r>
            <a:r>
              <a:rPr lang="zh-CN" altLang="en-US" sz="2800" dirty="0" smtClean="0"/>
              <a:t>对象，该如何编程？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endParaRPr lang="en-US" altLang="zh-CN" sz="2000" dirty="0" smtClean="0"/>
          </a:p>
          <a:p>
            <a:endParaRPr lang="en-US" altLang="zh-CN" sz="1600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生成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2060848"/>
            <a:ext cx="8153400" cy="4035152"/>
          </a:xfrm>
        </p:spPr>
        <p:txBody>
          <a:bodyPr/>
          <a:lstStyle/>
          <a:p>
            <a:pPr>
              <a:buNone/>
            </a:pPr>
            <a:endParaRPr lang="zh-CN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132856"/>
            <a:ext cx="7488832" cy="392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331640" y="5445224"/>
            <a:ext cx="43924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95536" y="6165304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parseDate</a:t>
            </a:r>
            <a:r>
              <a:rPr lang="zh-CN" altLang="en-US" dirty="0" smtClean="0"/>
              <a:t>将字符串表示的时间进行解析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parseDate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844824"/>
            <a:ext cx="7847013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971600" y="2276872"/>
            <a:ext cx="576064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71600" y="2564904"/>
            <a:ext cx="748883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43608" y="4005064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将时间字符串分解为特定格式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具体解析格式的设定（</a:t>
            </a:r>
            <a:r>
              <a:rPr lang="en-US" altLang="zh-CN" dirty="0" err="1" smtClean="0"/>
              <a:t>simpleDateFormat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9" name="下箭头 8"/>
          <p:cNvSpPr/>
          <p:nvPr/>
        </p:nvSpPr>
        <p:spPr>
          <a:xfrm>
            <a:off x="6804248" y="2852936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660232" y="35010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HH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RFC868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RFC868</a:t>
            </a:r>
            <a:r>
              <a:rPr lang="zh-CN" altLang="en-US" dirty="0" smtClean="0"/>
              <a:t>协议：格林尼治标准时间（</a:t>
            </a:r>
            <a:r>
              <a:rPr lang="en-US" altLang="zh-CN" dirty="0" smtClean="0"/>
              <a:t>GMT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1900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</a:t>
            </a:r>
            <a:r>
              <a:rPr lang="zh-CN" altLang="en-US" dirty="0" smtClean="0"/>
              <a:t>日</a:t>
            </a:r>
            <a:r>
              <a:rPr lang="en-US" altLang="zh-CN" dirty="0" smtClean="0"/>
              <a:t>00:00:00</a:t>
            </a:r>
            <a:r>
              <a:rPr lang="zh-CN" altLang="en-US" dirty="0" smtClean="0"/>
              <a:t>之后经过的秒数，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位无符号整数</a:t>
            </a:r>
            <a:r>
              <a:rPr lang="en-US" altLang="zh-CN" dirty="0" smtClean="0"/>
              <a:t>,big-endian(</a:t>
            </a:r>
            <a:r>
              <a:rPr lang="zh-CN" altLang="en-US" dirty="0" smtClean="0"/>
              <a:t>大端）</a:t>
            </a:r>
            <a:endParaRPr lang="en-US" altLang="zh-CN" dirty="0" smtClean="0"/>
          </a:p>
          <a:p>
            <a:r>
              <a:rPr lang="zh-CN" altLang="en-US" dirty="0" smtClean="0"/>
              <a:t>大端和小端的区别？</a:t>
            </a:r>
            <a:endParaRPr lang="en-US" altLang="zh-CN" dirty="0" smtClean="0"/>
          </a:p>
          <a:p>
            <a:r>
              <a:rPr lang="en-US" altLang="zh-CN" dirty="0" smtClean="0"/>
              <a:t>UINT32</a:t>
            </a:r>
            <a:r>
              <a:rPr lang="zh-CN" altLang="en-US" dirty="0" smtClean="0"/>
              <a:t>能表示到</a:t>
            </a:r>
            <a:r>
              <a:rPr lang="en-US" altLang="zh-CN" dirty="0" smtClean="0"/>
              <a:t>2036</a:t>
            </a:r>
            <a:r>
              <a:rPr lang="zh-CN" altLang="en-US" dirty="0" smtClean="0"/>
              <a:t>年</a:t>
            </a:r>
            <a:endParaRPr lang="en-US" altLang="zh-CN" dirty="0" smtClean="0"/>
          </a:p>
          <a:p>
            <a:r>
              <a:rPr lang="en-US" altLang="zh-CN" dirty="0" smtClean="0"/>
              <a:t>Java</a:t>
            </a:r>
            <a:r>
              <a:rPr lang="zh-CN" altLang="en-US" dirty="0" smtClean="0"/>
              <a:t>内的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类表示的时间</a:t>
            </a:r>
            <a:r>
              <a:rPr lang="en-US" altLang="zh-CN" dirty="0" smtClean="0"/>
              <a:t>1970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</a:t>
            </a:r>
            <a:r>
              <a:rPr lang="zh-CN" altLang="en-US" dirty="0" smtClean="0"/>
              <a:t>日</a:t>
            </a:r>
            <a:r>
              <a:rPr lang="en-US" altLang="zh-CN" dirty="0" smtClean="0"/>
              <a:t> </a:t>
            </a:r>
            <a:r>
              <a:rPr lang="en-US" altLang="zh-CN" dirty="0"/>
              <a:t>00:00:00.000 </a:t>
            </a:r>
            <a:r>
              <a:rPr lang="zh-CN" altLang="en-US" dirty="0" smtClean="0"/>
              <a:t>之后的后毫秒数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123492" y="6488668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Time</a:t>
            </a:r>
          </a:p>
        </p:txBody>
      </p:sp>
    </p:spTree>
    <p:extLst>
      <p:ext uri="{BB962C8B-B14F-4D97-AF65-F5344CB8AC3E}">
        <p14:creationId xmlns="" xmlns:p14="http://schemas.microsoft.com/office/powerpoint/2010/main" val="308619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sz="4000" dirty="0" smtClean="0"/>
              <a:t>处理服务器返回的复杂数据格式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251520" y="1772816"/>
            <a:ext cx="8540750" cy="4498975"/>
          </a:xfrm>
        </p:spPr>
        <p:txBody>
          <a:bodyPr/>
          <a:lstStyle/>
          <a:p>
            <a:r>
              <a:rPr lang="zh-CN" altLang="en-US" sz="2800" dirty="0" smtClean="0"/>
              <a:t>网络程序遇到不同的协议，可能会遇到陌生复杂的数据格式，那么程序必须读取原始字节，再按字节解释。</a:t>
            </a:r>
            <a:endParaRPr lang="en-US" altLang="zh-CN" sz="2800" dirty="0" smtClean="0"/>
          </a:p>
          <a:p>
            <a:r>
              <a:rPr lang="zh-CN" altLang="en-US" sz="2800" dirty="0" smtClean="0"/>
              <a:t>必须自己编写代码处理服务器发送的任意格式的数据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endParaRPr lang="en-US" altLang="zh-CN" sz="2000" dirty="0" smtClean="0"/>
          </a:p>
          <a:p>
            <a:endParaRPr lang="en-US" altLang="zh-CN" sz="1600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sz="4000" dirty="0" smtClean="0"/>
              <a:t>用</a:t>
            </a:r>
            <a:r>
              <a:rPr lang="en-US" altLang="zh-CN" sz="4000" dirty="0" smtClean="0"/>
              <a:t>socket</a:t>
            </a:r>
            <a:r>
              <a:rPr lang="zh-CN" altLang="en-US" sz="4000" dirty="0" smtClean="0"/>
              <a:t>写入服务器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8264525" cy="5715000"/>
          </a:xfrm>
        </p:spPr>
        <p:txBody>
          <a:bodyPr/>
          <a:lstStyle/>
          <a:p>
            <a:r>
              <a:rPr lang="zh-CN" altLang="en-US" sz="2400" dirty="0" smtClean="0"/>
              <a:t>用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写入服务器，需向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请求一个输出流和一个输入流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使用输出流在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上发送数据，同时使用输入流读取数据。</a:t>
            </a:r>
            <a:endParaRPr lang="en-US" altLang="zh-CN" sz="2400" dirty="0" smtClean="0"/>
          </a:p>
          <a:p>
            <a:r>
              <a:rPr lang="zh-CN" altLang="en-US" sz="2400" dirty="0" smtClean="0"/>
              <a:t>使用</a:t>
            </a:r>
            <a:r>
              <a:rPr lang="en-US" altLang="zh-CN" sz="2400" dirty="0" smtClean="0"/>
              <a:t>RFC2229</a:t>
            </a:r>
            <a:r>
              <a:rPr lang="zh-CN" altLang="en-US" sz="2400" dirty="0" smtClean="0"/>
              <a:t>的字典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dict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协议：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telnet dict.org 2628 </a:t>
            </a:r>
          </a:p>
          <a:p>
            <a:pPr lvl="1"/>
            <a:r>
              <a:rPr lang="zh-CN" altLang="en-US" sz="2000" dirty="0" smtClean="0"/>
              <a:t>服务器正常，字典有变更，可以使用</a:t>
            </a:r>
            <a:r>
              <a:rPr lang="en-US" altLang="zh-CN" sz="2000" dirty="0" smtClean="0"/>
              <a:t>show db</a:t>
            </a:r>
            <a:r>
              <a:rPr lang="zh-CN" altLang="en-US" sz="2000" dirty="0" smtClean="0"/>
              <a:t>查看</a:t>
            </a:r>
            <a:r>
              <a:rPr lang="en-US" altLang="zh-CN" sz="2000" dirty="0" smtClean="0"/>
              <a:t>db</a:t>
            </a:r>
            <a:r>
              <a:rPr lang="zh-CN" altLang="en-US" sz="2000" dirty="0" smtClean="0"/>
              <a:t>，然后使用类似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define </a:t>
            </a:r>
            <a:r>
              <a:rPr lang="en-US" altLang="zh-CN" sz="2000" dirty="0" err="1" smtClean="0"/>
              <a:t>fd</a:t>
            </a:r>
            <a:r>
              <a:rPr lang="en-US" altLang="zh-CN" sz="2000" dirty="0" smtClean="0"/>
              <a:t>-eng-</a:t>
            </a:r>
            <a:r>
              <a:rPr lang="en-US" altLang="zh-CN" sz="2000" dirty="0" err="1" smtClean="0"/>
              <a:t>fra</a:t>
            </a:r>
            <a:r>
              <a:rPr lang="en-US" altLang="zh-CN" sz="2000" dirty="0" smtClean="0"/>
              <a:t> XXXX </a:t>
            </a:r>
            <a:r>
              <a:rPr lang="zh-CN" altLang="en-US" sz="2000" dirty="0" smtClean="0"/>
              <a:t>来查询单词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编程实现该协议客户端：</a:t>
            </a:r>
            <a:r>
              <a:rPr lang="en-US" altLang="zh-CN" sz="1800" dirty="0" smtClean="0"/>
              <a:t>Socket </a:t>
            </a:r>
            <a:r>
              <a:rPr lang="en-US" altLang="zh-CN" sz="1800" dirty="0" err="1" smtClean="0"/>
              <a:t>socket</a:t>
            </a:r>
            <a:r>
              <a:rPr lang="en-US" altLang="zh-CN" sz="1800" dirty="0" smtClean="0"/>
              <a:t> = new Socket(“dict.org”,2628)</a:t>
            </a:r>
            <a:br>
              <a:rPr lang="en-US" altLang="zh-CN" sz="1800" dirty="0" smtClean="0"/>
            </a:br>
            <a:r>
              <a:rPr lang="en-US" altLang="zh-CN" sz="1800" dirty="0" err="1" smtClean="0"/>
              <a:t>OutputStream</a:t>
            </a:r>
            <a:r>
              <a:rPr lang="en-US" altLang="zh-CN" sz="1800" dirty="0" smtClean="0"/>
              <a:t> out = </a:t>
            </a:r>
            <a:r>
              <a:rPr lang="en-US" altLang="zh-CN" sz="1800" dirty="0" err="1" smtClean="0"/>
              <a:t>socket.getOutputStream</a:t>
            </a:r>
            <a:r>
              <a:rPr lang="en-US" altLang="zh-CN" sz="1800" dirty="0" smtClean="0"/>
              <a:t>();</a:t>
            </a:r>
            <a:br>
              <a:rPr lang="en-US" altLang="zh-CN" sz="1800" dirty="0" smtClean="0"/>
            </a:br>
            <a:r>
              <a:rPr lang="en-US" altLang="zh-CN" sz="1800" dirty="0" smtClean="0"/>
              <a:t>Writer </a:t>
            </a:r>
            <a:r>
              <a:rPr lang="en-US" altLang="zh-CN" sz="1800" dirty="0" err="1" smtClean="0"/>
              <a:t>writer</a:t>
            </a:r>
            <a:r>
              <a:rPr lang="en-US" altLang="zh-CN" sz="1800" dirty="0" smtClean="0"/>
              <a:t> = new </a:t>
            </a:r>
            <a:r>
              <a:rPr lang="en-US" altLang="zh-CN" sz="1800" dirty="0" err="1" smtClean="0"/>
              <a:t>OutputStreamWriter</a:t>
            </a:r>
            <a:r>
              <a:rPr lang="en-US" altLang="zh-CN" sz="1800" dirty="0" smtClean="0"/>
              <a:t>(out, “UTF-8”);</a:t>
            </a:r>
            <a:br>
              <a:rPr lang="en-US" altLang="zh-CN" sz="1800" dirty="0" smtClean="0"/>
            </a:br>
            <a:r>
              <a:rPr lang="en-US" altLang="zh-CN" sz="1800" dirty="0" err="1" smtClean="0"/>
              <a:t>writer.write</a:t>
            </a:r>
            <a:r>
              <a:rPr lang="en-US" altLang="zh-CN" sz="1800" dirty="0" smtClean="0"/>
              <a:t>(“DEFINEENG-</a:t>
            </a:r>
            <a:r>
              <a:rPr lang="en-US" altLang="zh-CN" sz="1800" dirty="0" err="1" smtClean="0"/>
              <a:t>latgold</a:t>
            </a:r>
            <a:r>
              <a:rPr lang="en-US" altLang="zh-CN" sz="1800" dirty="0" smtClean="0"/>
              <a:t>\r\n”);</a:t>
            </a:r>
            <a:br>
              <a:rPr lang="en-US" altLang="zh-CN" sz="1800" dirty="0" smtClean="0"/>
            </a:br>
            <a:r>
              <a:rPr lang="en-US" altLang="zh-CN" sz="1800" dirty="0" err="1" smtClean="0"/>
              <a:t>writer.flush</a:t>
            </a:r>
            <a:r>
              <a:rPr lang="en-US" altLang="zh-CN" sz="1800" dirty="0" smtClean="0"/>
              <a:t>();</a:t>
            </a:r>
          </a:p>
          <a:p>
            <a:pPr lvl="1"/>
            <a:endParaRPr lang="en-US" altLang="zh-CN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实例（英文拉丁文单词转换）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5616624" cy="455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259632" y="3789040"/>
            <a:ext cx="3456384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71600" y="6021288"/>
            <a:ext cx="662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建立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连接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向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写入，发送到服务器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读取服务器反馈</a:t>
            </a:r>
            <a:endParaRPr lang="en-US" altLang="zh-CN" dirty="0" smtClean="0"/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59632" y="4149080"/>
            <a:ext cx="43924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59632" y="4725144"/>
            <a:ext cx="43924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4819650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11560" y="5805264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写入英文单词，显示对应的信息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15616" y="1844824"/>
            <a:ext cx="381642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060848"/>
            <a:ext cx="8496944" cy="3491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611560" y="2564904"/>
            <a:ext cx="5544616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67544" y="5661248"/>
            <a:ext cx="7992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写入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的信息，英文单词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显示对应的相应码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每个单词的翻译信息以</a:t>
            </a:r>
            <a:r>
              <a:rPr lang="en-US" altLang="zh-CN" dirty="0" smtClean="0"/>
              <a:t>. </a:t>
            </a:r>
            <a:r>
              <a:rPr lang="zh-CN" altLang="en-US" dirty="0" smtClean="0"/>
              <a:t>表示结束</a:t>
            </a:r>
            <a:endParaRPr lang="en-US" altLang="zh-CN" dirty="0" smtClean="0"/>
          </a:p>
          <a:p>
            <a:pPr marL="342900" indent="-342900">
              <a:buAutoNum type="arabicPeriod"/>
            </a:pPr>
            <a:endParaRPr lang="en-US" altLang="zh-CN" dirty="0" smtClean="0"/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11560" y="3356992"/>
            <a:ext cx="5904656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9552" y="4725144"/>
            <a:ext cx="554461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dirty="0" smtClean="0"/>
              <a:t>半关闭</a:t>
            </a:r>
            <a:r>
              <a:rPr lang="en-US" altLang="zh-CN" dirty="0" smtClean="0"/>
              <a:t>socket</a:t>
            </a:r>
            <a:endParaRPr lang="zh-CN" altLang="en-US" dirty="0" smtClean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251520" y="1484784"/>
            <a:ext cx="8264525" cy="5715000"/>
          </a:xfrm>
        </p:spPr>
        <p:txBody>
          <a:bodyPr/>
          <a:lstStyle/>
          <a:p>
            <a:r>
              <a:rPr lang="zh-CN" altLang="en-US" sz="2400" dirty="0" smtClean="0"/>
              <a:t>若只需要关闭连接的一半如输入或者输出，则可用：</a:t>
            </a:r>
            <a:endParaRPr lang="en-US" altLang="zh-CN" sz="1800" dirty="0" smtClean="0"/>
          </a:p>
          <a:p>
            <a:pPr lvl="1"/>
            <a:r>
              <a:rPr lang="zh-CN" altLang="en-US" sz="2000" dirty="0" smtClean="0"/>
              <a:t>可以关闭一半的</a:t>
            </a:r>
            <a:r>
              <a:rPr lang="en-US" altLang="zh-CN" sz="2000" dirty="0" smtClean="0"/>
              <a:t>Socket</a:t>
            </a:r>
          </a:p>
          <a:p>
            <a:pPr lvl="2"/>
            <a:r>
              <a:rPr lang="en-US" altLang="zh-CN" sz="2000" dirty="0" err="1" smtClean="0"/>
              <a:t>shutdownInput</a:t>
            </a:r>
            <a:r>
              <a:rPr lang="en-US" altLang="zh-CN" sz="2000" dirty="0" smtClean="0"/>
              <a:t> ()/ </a:t>
            </a:r>
            <a:r>
              <a:rPr lang="en-US" altLang="zh-CN" sz="2000" dirty="0" err="1" smtClean="0"/>
              <a:t>shutdownOutput</a:t>
            </a:r>
            <a:r>
              <a:rPr lang="en-US" altLang="zh-CN" sz="2000" dirty="0" smtClean="0"/>
              <a:t>()</a:t>
            </a:r>
          </a:p>
          <a:p>
            <a:pPr lvl="2"/>
            <a:r>
              <a:rPr lang="zh-CN" altLang="en-US" sz="2000" dirty="0" smtClean="0"/>
              <a:t>后续仍然需要</a:t>
            </a:r>
            <a:r>
              <a:rPr lang="en-US" altLang="zh-CN" sz="2000" dirty="0" smtClean="0"/>
              <a:t>close</a:t>
            </a:r>
          </a:p>
          <a:p>
            <a:pPr lvl="1"/>
            <a:r>
              <a:rPr lang="zh-CN" altLang="en-US" sz="2400" dirty="0" smtClean="0"/>
              <a:t>半关闭方法实质并未关闭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，只是调整与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连接的流，使之认为已经到了流的末尾。半关闭方法并不释放与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关联的资源，如端口等。关闭输入之后再读取输入流会返回</a:t>
            </a:r>
            <a:r>
              <a:rPr lang="en-US" altLang="zh-CN" sz="2400" dirty="0" smtClean="0"/>
              <a:t>-1</a:t>
            </a:r>
            <a:r>
              <a:rPr lang="zh-CN" altLang="en-US" sz="2400" dirty="0" smtClean="0"/>
              <a:t>，关闭输出之后再写入</a:t>
            </a:r>
            <a:r>
              <a:rPr lang="en-US" altLang="zh-CN" sz="2400" dirty="0" smtClean="0"/>
              <a:t>socket</a:t>
            </a:r>
            <a:r>
              <a:rPr lang="zh-CN" altLang="en-US" sz="2400" dirty="0" smtClean="0"/>
              <a:t>会抛出一个</a:t>
            </a:r>
            <a:r>
              <a:rPr lang="en-US" altLang="zh-CN" sz="2400" dirty="0" smtClean="0"/>
              <a:t>IOException</a:t>
            </a:r>
            <a:r>
              <a:rPr lang="zh-CN" altLang="en-US" sz="2400" dirty="0" smtClean="0"/>
              <a:t>异常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即使半关闭了连接，或将连接的两半都关闭，使用结束后仍需关闭该</a:t>
            </a:r>
            <a:r>
              <a:rPr lang="en-US" altLang="zh-CN" sz="2400" dirty="0" smtClean="0"/>
              <a:t>socket</a:t>
            </a:r>
          </a:p>
          <a:p>
            <a:pPr lvl="1"/>
            <a:r>
              <a:rPr lang="zh-CN" altLang="en-US" sz="2400" dirty="0" smtClean="0"/>
              <a:t>若需确定输入流和输出流是打开的还是关闭的，可使用：</a:t>
            </a:r>
            <a:endParaRPr lang="en-US" altLang="zh-CN" sz="2400" dirty="0" smtClean="0"/>
          </a:p>
          <a:p>
            <a:endParaRPr lang="zh-CN" altLang="en-US" dirty="0" smtClean="0"/>
          </a:p>
        </p:txBody>
      </p:sp>
      <p:sp>
        <p:nvSpPr>
          <p:cNvPr id="20484" name="文本框 2"/>
          <p:cNvSpPr txBox="1">
            <a:spLocks noChangeArrowheads="1"/>
          </p:cNvSpPr>
          <p:nvPr/>
        </p:nvSpPr>
        <p:spPr bwMode="auto">
          <a:xfrm>
            <a:off x="899592" y="6149975"/>
            <a:ext cx="59436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isInputShutdown</a:t>
            </a:r>
            <a:r>
              <a:rPr lang="en-US" altLang="zh-CN" sz="2000" dirty="0"/>
              <a:t>()</a:t>
            </a:r>
          </a:p>
          <a:p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isOutputShutdown</a:t>
            </a:r>
            <a:r>
              <a:rPr lang="en-US" altLang="zh-CN" sz="2000" dirty="0"/>
              <a:t>()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半关闭</a:t>
            </a:r>
            <a:r>
              <a:rPr lang="en-US" altLang="zh-CN" dirty="0" smtClean="0"/>
              <a:t>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7959255" cy="2052785"/>
          </a:xfrm>
        </p:spPr>
        <p:txBody>
          <a:bodyPr/>
          <a:lstStyle/>
          <a:p>
            <a:pPr lvl="0">
              <a:buClr>
                <a:srgbClr val="E48312"/>
              </a:buClr>
            </a:pPr>
            <a:r>
              <a:rPr lang="zh-CN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关闭输入流或者输出流</a:t>
            </a:r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 smtClean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shutdownInput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endParaRPr lang="en-US" altLang="zh-CN" sz="2000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shutdownOutput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</a:p>
        </p:txBody>
      </p:sp>
      <p:sp>
        <p:nvSpPr>
          <p:cNvPr id="4" name="矩形 3"/>
          <p:cNvSpPr/>
          <p:nvPr/>
        </p:nvSpPr>
        <p:spPr>
          <a:xfrm>
            <a:off x="179512" y="3212976"/>
            <a:ext cx="8865705" cy="286232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connection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"www.oreilly.com"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80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))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Writer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out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OutputStreamWriter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endParaRPr lang="en-US" altLang="zh-CN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           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connection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getOutputStream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(),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"8859_1"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out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write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"GET / HTTP 1.0\r\n\r\n"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out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flush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b="1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b="1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connection</a:t>
            </a:r>
            <a:r>
              <a:rPr lang="en-US" altLang="zh-CN" b="1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b="1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shutdownOutput</a:t>
            </a:r>
            <a:r>
              <a:rPr lang="en-US" altLang="zh-CN" b="1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// </a:t>
            </a:r>
            <a:r>
              <a:rPr lang="en-US" altLang="zh-CN" i="1" dirty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read the response...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printStackTrace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7504" y="6165304"/>
            <a:ext cx="8752717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 lvl="0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60000"/>
              <a:buFont typeface="Calibri" panose="020F0502020204030204" pitchFamily="34" charset="0"/>
              <a:buChar char="●"/>
            </a:pPr>
            <a:r>
              <a:rPr lang="en-US" altLang="zh-CN" sz="2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Shutdown</a:t>
            </a:r>
            <a:r>
              <a:rPr lang="zh-CN" altLang="en-US" sz="2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只影响流，不释放</a:t>
            </a:r>
            <a:r>
              <a:rPr lang="en-US" altLang="zh-CN" sz="2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Socket</a:t>
            </a:r>
            <a:r>
              <a:rPr lang="zh-CN" altLang="en-US" sz="2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资源，仍需</a:t>
            </a:r>
            <a:r>
              <a:rPr lang="en-US" altLang="zh-CN" sz="2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close()</a:t>
            </a:r>
            <a:endParaRPr lang="zh-CN" altLang="en-US" sz="2800" dirty="0">
              <a:solidFill>
                <a:srgbClr val="000000">
                  <a:lumMod val="75000"/>
                  <a:lumOff val="2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318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构造和连接</a:t>
            </a:r>
            <a:r>
              <a:rPr lang="en-US" altLang="zh-CN" dirty="0" smtClean="0"/>
              <a:t>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8153400" cy="4495800"/>
          </a:xfrm>
        </p:spPr>
        <p:txBody>
          <a:bodyPr/>
          <a:lstStyle/>
          <a:p>
            <a:r>
              <a:rPr lang="zh-CN" altLang="en-US" dirty="0" smtClean="0"/>
              <a:t>构造方法</a:t>
            </a:r>
            <a:endParaRPr lang="en-US" altLang="zh-CN" dirty="0" smtClean="0"/>
          </a:p>
          <a:p>
            <a:pPr lvl="1"/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port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UnknownHostException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port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连接指定的主机和端口，如失败则抛出</a:t>
            </a:r>
            <a:r>
              <a:rPr lang="en-US" altLang="zh-CN" dirty="0" smtClean="0"/>
              <a:t>IOException</a:t>
            </a:r>
            <a:r>
              <a:rPr lang="zh-CN" altLang="en-US" dirty="0" smtClean="0"/>
              <a:t>异常</a:t>
            </a:r>
            <a:endParaRPr lang="en-US" altLang="zh-CN" dirty="0" smtClean="0"/>
          </a:p>
          <a:p>
            <a:r>
              <a:rPr lang="zh-CN" altLang="en-US" dirty="0" smtClean="0"/>
              <a:t>可用来检查主机上哪些端口开放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86564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31640" y="1916832"/>
            <a:ext cx="5976664" cy="374111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236296" y="6237312"/>
            <a:ext cx="1712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LowPortScanner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选择从哪个本地端口连接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构造方法</a:t>
            </a:r>
            <a:endParaRPr lang="en-US" altLang="zh-CN" dirty="0"/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port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interface,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localPort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UnknownHostException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endParaRPr lang="en-US" altLang="zh-CN" sz="2000" b="1" dirty="0" smtClean="0">
              <a:solidFill>
                <a:srgbClr val="006699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port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interface,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localPort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/>
              <a:t>interface</a:t>
            </a:r>
            <a:r>
              <a:rPr lang="zh-CN" altLang="en-US" dirty="0" smtClean="0"/>
              <a:t>选择哪个接口（物理网卡或虚拟网卡）</a:t>
            </a:r>
            <a:endParaRPr lang="en-US" altLang="zh-CN" dirty="0" smtClean="0"/>
          </a:p>
          <a:p>
            <a:r>
              <a:rPr lang="en-US" altLang="zh-CN" dirty="0" err="1" smtClean="0"/>
              <a:t>localPort</a:t>
            </a:r>
            <a:r>
              <a:rPr lang="zh-CN" altLang="en-US" dirty="0" smtClean="0"/>
              <a:t>选择本地端口号，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表示由程序自动随机选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64686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dirty="0" smtClean="0"/>
              <a:t>构造但不连接</a:t>
            </a: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539552" y="1628800"/>
            <a:ext cx="8229600" cy="5068888"/>
          </a:xfrm>
        </p:spPr>
        <p:txBody>
          <a:bodyPr/>
          <a:lstStyle/>
          <a:p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public Socket()</a:t>
            </a:r>
          </a:p>
          <a:p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public void connect(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SocketAddress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endpoint,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timeout) throws IOException</a:t>
            </a:r>
          </a:p>
          <a:p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先构造，以后再连接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Socket 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=new Socket();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SocketAddress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address= new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(SERVER, PORT);</a:t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try{</a:t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socket.connect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(address)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	//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doSomething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}catch (IOException ex){ //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doSomething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finally{</a:t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	try {</a:t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	   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socket.close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();</a:t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	} catch (IOException ex) { … }</a:t>
            </a:r>
            <a:b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zh-CN" alt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775575" cy="438150"/>
          </a:xfrm>
        </p:spPr>
        <p:txBody>
          <a:bodyPr anchor="t">
            <a:noAutofit/>
          </a:bodyPr>
          <a:lstStyle/>
          <a:p>
            <a:r>
              <a:rPr lang="en-US" altLang="zh-CN" dirty="0" err="1" smtClean="0"/>
              <a:t>SocketAddress</a:t>
            </a:r>
            <a:endParaRPr lang="zh-CN" altLang="en-US" dirty="0" smtClean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23528" y="1700808"/>
            <a:ext cx="8540750" cy="4498975"/>
          </a:xfrm>
        </p:spPr>
        <p:txBody>
          <a:bodyPr>
            <a:no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当前只支持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TCP/IP Socket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，都是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的实例</a:t>
            </a:r>
            <a:endParaRPr lang="en-US" altLang="zh-CN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getRemoteSocketAddress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getLocalSocketAddress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用于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socket.connect</a:t>
            </a:r>
            <a:endParaRPr lang="en-US" altLang="zh-CN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也可使用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直接构造</a:t>
            </a:r>
            <a:endParaRPr lang="en-US" altLang="zh-CN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address,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port)</a:t>
            </a:r>
          </a:p>
          <a:p>
            <a:pPr lvl="1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(String host,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port)</a:t>
            </a:r>
            <a:endParaRPr lang="zh-CN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port)</a:t>
            </a:r>
          </a:p>
          <a:p>
            <a:pPr lvl="1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public static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createUnresolved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(String host,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port)</a:t>
            </a:r>
          </a:p>
          <a:p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InetSocketAddress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提供了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getAddress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getPort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getHostName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等方法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dirty="0" smtClean="0"/>
              <a:t>代理服务器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179512" y="1700808"/>
            <a:ext cx="8540750" cy="4498975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public Socket(Proxy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proxy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默认由</a:t>
            </a:r>
            <a:r>
              <a:rPr lang="en-US" altLang="zh-CN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socksProxyHost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socksProxyPort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系统属性控制</a:t>
            </a:r>
            <a:endParaRPr lang="en-US" altLang="zh-CN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可以通过前述函数自定义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Proxy.NO_PROXY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，不使用代理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Proxy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proxy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= new Proxy(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Proxy.Type.SOCKS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proxyAddress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Proxy.Type.HTTP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Proxy.Type.DIRECT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获取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的信息</a:t>
            </a:r>
            <a:r>
              <a:rPr lang="en-US" altLang="zh-CN" dirty="0" smtClean="0"/>
              <a:t>(get)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700808"/>
            <a:ext cx="8153400" cy="4495800"/>
          </a:xfrm>
        </p:spPr>
        <p:txBody>
          <a:bodyPr/>
          <a:lstStyle/>
          <a:p>
            <a:pPr marL="0" lvl="0" indent="0">
              <a:buClr>
                <a:srgbClr val="E48312"/>
              </a:buClr>
              <a:buNone/>
            </a:pPr>
            <a:r>
              <a:rPr lang="zh-CN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分别获取远程地址、远程端口、本地地址、本地端口</a:t>
            </a:r>
          </a:p>
          <a:p>
            <a:r>
              <a:rPr lang="en-US" altLang="zh-CN" sz="24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getInetAddress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getPort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getLocalAddress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getLocalPort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87531" y="6488668"/>
            <a:ext cx="1163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SocketInfo</a:t>
            </a:r>
          </a:p>
        </p:txBody>
      </p:sp>
    </p:spTree>
    <p:extLst>
      <p:ext uri="{BB962C8B-B14F-4D97-AF65-F5344CB8AC3E}">
        <p14:creationId xmlns="" xmlns:p14="http://schemas.microsoft.com/office/powerpoint/2010/main" val="52081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关闭还是连接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/>
              <a:t>Socket</a:t>
            </a:r>
            <a:r>
              <a:rPr lang="zh-CN" altLang="en-US" dirty="0" smtClean="0"/>
              <a:t>关闭，</a:t>
            </a:r>
            <a:r>
              <a:rPr lang="en-US" altLang="zh-CN" dirty="0" err="1" smtClean="0"/>
              <a:t>isClosed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方法返回</a:t>
            </a:r>
            <a:r>
              <a:rPr lang="en-US" altLang="zh-CN" dirty="0" smtClean="0"/>
              <a:t>true</a:t>
            </a:r>
          </a:p>
          <a:p>
            <a:r>
              <a:rPr lang="en-US" altLang="zh-CN" dirty="0" smtClean="0"/>
              <a:t>isConnected()</a:t>
            </a:r>
            <a:r>
              <a:rPr lang="zh-CN" altLang="en-US" dirty="0" smtClean="0"/>
              <a:t>方法，能够连接远程主机</a:t>
            </a:r>
            <a:r>
              <a:rPr lang="en-US" altLang="zh-CN" dirty="0" smtClean="0"/>
              <a:t>true</a:t>
            </a:r>
          </a:p>
          <a:p>
            <a:pPr>
              <a:buNone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以下可以判断一个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当前为打开状态的是？</a:t>
            </a:r>
            <a:endParaRPr lang="en-US" altLang="zh-CN" dirty="0" smtClean="0"/>
          </a:p>
          <a:p>
            <a:pPr>
              <a:buNone/>
            </a:pPr>
            <a:r>
              <a:rPr lang="en-US" altLang="zh-CN" sz="2400" dirty="0" smtClean="0"/>
              <a:t>A isConnected() 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true, </a:t>
            </a:r>
            <a:r>
              <a:rPr lang="en-US" altLang="zh-CN" sz="2400" dirty="0" err="1" smtClean="0"/>
              <a:t>isClosed</a:t>
            </a:r>
            <a:r>
              <a:rPr lang="en-US" altLang="zh-CN" sz="2400" dirty="0" smtClean="0"/>
              <a:t>() 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true</a:t>
            </a:r>
          </a:p>
          <a:p>
            <a:pPr>
              <a:buNone/>
            </a:pPr>
            <a:r>
              <a:rPr lang="en-US" altLang="zh-CN" sz="2400" dirty="0" smtClean="0"/>
              <a:t>B isConnected() 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false, </a:t>
            </a:r>
            <a:r>
              <a:rPr lang="en-US" altLang="zh-CN" sz="2400" dirty="0" err="1" smtClean="0"/>
              <a:t>isClosed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false</a:t>
            </a:r>
            <a:endParaRPr lang="zh-CN" altLang="en-US" sz="2400" dirty="0" smtClean="0"/>
          </a:p>
          <a:p>
            <a:pPr>
              <a:buNone/>
            </a:pPr>
            <a:r>
              <a:rPr lang="en-US" altLang="zh-CN" sz="2400" dirty="0" smtClean="0"/>
              <a:t>C isConnected()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false, </a:t>
            </a:r>
            <a:r>
              <a:rPr lang="en-US" altLang="zh-CN" sz="2400" dirty="0" err="1" smtClean="0"/>
              <a:t>isClosed</a:t>
            </a:r>
            <a:r>
              <a:rPr lang="en-US" altLang="zh-CN" sz="2400" dirty="0" smtClean="0"/>
              <a:t>() 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true</a:t>
            </a:r>
          </a:p>
          <a:p>
            <a:pPr>
              <a:buNone/>
            </a:pPr>
            <a:r>
              <a:rPr lang="en-US" altLang="zh-CN" sz="2400" dirty="0" smtClean="0"/>
              <a:t>D isConnected() 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true, </a:t>
            </a:r>
            <a:r>
              <a:rPr lang="en-US" altLang="zh-CN" sz="2400" dirty="0" err="1" smtClean="0"/>
              <a:t>isClosed</a:t>
            </a:r>
            <a:r>
              <a:rPr lang="en-US" altLang="zh-CN" sz="2400" dirty="0" smtClean="0"/>
              <a:t>() 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false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5301208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答案：</a:t>
            </a:r>
            <a:r>
              <a:rPr lang="en-US" altLang="zh-CN" sz="2400" dirty="0" smtClean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5949280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判断语句： 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 connected = </a:t>
            </a:r>
            <a:r>
              <a:rPr lang="en-US" altLang="zh-CN" dirty="0" err="1" smtClean="0"/>
              <a:t>socket.isConnected</a:t>
            </a:r>
            <a:r>
              <a:rPr lang="en-US" altLang="zh-CN" dirty="0" smtClean="0"/>
              <a:t>() &amp;&amp; ! </a:t>
            </a:r>
            <a:r>
              <a:rPr lang="en-US" altLang="zh-CN" dirty="0" err="1" smtClean="0"/>
              <a:t>socket.isClosed</a:t>
            </a:r>
            <a:r>
              <a:rPr lang="en-US" altLang="zh-CN" dirty="0" smtClean="0"/>
              <a:t>();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设置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选项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zh-CN" altLang="en-US" dirty="0" smtClean="0"/>
              <a:t>个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zh-CN" altLang="en-US" dirty="0" smtClean="0"/>
              <a:t>选项</a:t>
            </a:r>
            <a:endParaRPr lang="en-US" altLang="zh-CN" dirty="0" smtClean="0"/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TCP_NODELAY</a:t>
            </a:r>
          </a:p>
          <a:p>
            <a:pPr lvl="1"/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SO_BINDADDR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SO_TIMEOUT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SO_LINGER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SO_SNDBUF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SO_RCVBUF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SO_KEEPALIVE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OOBINLINE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IP_TOS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服务类型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76466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TCP_NODELAY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setTcpNoDelay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boolean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on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boolean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getTcpNoDelay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/>
              <a:t>true</a:t>
            </a:r>
            <a:r>
              <a:rPr lang="zh-CN" altLang="en-US" dirty="0" smtClean="0"/>
              <a:t>：包尽可能快的返送，不考虑包大小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底层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不支持该属性则抛出异常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5116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SO_LINGER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setSoLinger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boolean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on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seconds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getSoLinger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/>
              <a:t>Socket</a:t>
            </a:r>
            <a:r>
              <a:rPr lang="zh-CN" altLang="en-US" dirty="0" smtClean="0"/>
              <a:t>关闭时如何处理尚未发送的数据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默认：</a:t>
            </a:r>
            <a:r>
              <a:rPr lang="en-US" altLang="zh-CN" dirty="0" smtClean="0"/>
              <a:t>close()</a:t>
            </a:r>
            <a:r>
              <a:rPr lang="zh-CN" altLang="en-US" dirty="0" smtClean="0"/>
              <a:t>立刻返回，但数据继续发送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打开：</a:t>
            </a:r>
            <a:r>
              <a:rPr lang="en-US" altLang="zh-CN" dirty="0" smtClean="0"/>
              <a:t>close()</a:t>
            </a:r>
            <a:r>
              <a:rPr lang="zh-CN" altLang="en-US" dirty="0" smtClean="0"/>
              <a:t>方法会阻塞</a:t>
            </a:r>
            <a:r>
              <a:rPr lang="en-US" altLang="zh-CN" dirty="0" smtClean="0"/>
              <a:t>seconds</a:t>
            </a:r>
            <a:r>
              <a:rPr lang="zh-CN" altLang="en-US" dirty="0" smtClean="0"/>
              <a:t>秒，等待发送数据和接收确认。时间一到则关闭。</a:t>
            </a:r>
            <a:endParaRPr lang="en-US" altLang="zh-CN" dirty="0" smtClean="0"/>
          </a:p>
          <a:p>
            <a:r>
              <a:rPr lang="zh-CN" altLang="en-US" dirty="0" smtClean="0"/>
              <a:t>如底层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不支持，抛出异常。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61651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SO_TIMEOUT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setSoTimeout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milliseconds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getSoTimeout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/>
              <a:t>read()</a:t>
            </a:r>
            <a:r>
              <a:rPr lang="zh-CN" altLang="en-US" dirty="0" smtClean="0"/>
              <a:t>方法等待数据的最大毫秒数，超时则抛出异常</a:t>
            </a:r>
            <a:r>
              <a:rPr lang="en-US" altLang="zh-CN" dirty="0" err="1" smtClean="0"/>
              <a:t>InterruptedIOException</a:t>
            </a:r>
            <a:r>
              <a:rPr lang="zh-CN" altLang="en-US" dirty="0" smtClean="0"/>
              <a:t>，可继续下一次</a:t>
            </a:r>
            <a:r>
              <a:rPr lang="en-US" altLang="zh-CN" dirty="0" smtClean="0"/>
              <a:t>read()</a:t>
            </a:r>
          </a:p>
          <a:p>
            <a:endParaRPr lang="en-US" altLang="zh-CN" dirty="0"/>
          </a:p>
          <a:p>
            <a:r>
              <a:rPr lang="zh-CN" altLang="en-US" dirty="0" smtClean="0"/>
              <a:t>底层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不支持此选项，则抛出</a:t>
            </a:r>
            <a:r>
              <a:rPr lang="en-US" altLang="zh-CN" dirty="0" smtClean="0"/>
              <a:t>SocketException</a:t>
            </a:r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18761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SO_RCVBUF</a:t>
            </a:r>
            <a:r>
              <a:rPr lang="zh-CN" altLang="en-US" dirty="0" smtClean="0"/>
              <a:t>和</a:t>
            </a:r>
            <a:r>
              <a:rPr lang="en-US" altLang="zh-CN" dirty="0" smtClean="0"/>
              <a:t>SO_SNDBUF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setReceiveBufferSize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size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IllegalArgumentException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getReceiveBufferSize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setSendBufferSize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size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IllegalArgumentException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getSendBufferSize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设置缓冲区大小：数据大且网速快用大缓冲区，否则小缓冲区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19042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SO_KEEPALIVE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setKeepAlive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boolean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on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boolean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getKeepAlive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每一段时间（两小时）客户端通过空闲连接发送数据包；</a:t>
            </a:r>
            <a:endParaRPr lang="en-US" altLang="zh-CN" dirty="0" smtClean="0"/>
          </a:p>
          <a:p>
            <a:r>
              <a:rPr lang="zh-CN" altLang="en-US" dirty="0" smtClean="0"/>
              <a:t>如服务器不响应，客户端持续尝试</a:t>
            </a:r>
            <a:r>
              <a:rPr lang="en-US" altLang="zh-CN" dirty="0" smtClean="0"/>
              <a:t>12</a:t>
            </a:r>
            <a:r>
              <a:rPr lang="zh-CN" altLang="en-US" dirty="0" smtClean="0"/>
              <a:t>分钟，如仍无响应，则关闭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防止客户端不知服务器已经崩溃。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68676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OOBINLINE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</a:rPr>
              <a:t>sendUrgentData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data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IOException</a:t>
            </a:r>
          </a:p>
          <a:p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setOOBInline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boolean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on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boolean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getOOBInline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3200" dirty="0" smtClean="0"/>
              <a:t>用于在正常输入流中，插入有特异性的“紧急数据</a:t>
            </a:r>
            <a:r>
              <a:rPr lang="en-US" altLang="zh-CN" sz="3200" dirty="0" smtClean="0"/>
              <a:t>”</a:t>
            </a:r>
            <a:r>
              <a:rPr lang="zh-CN" altLang="en-US" sz="3200" dirty="0" smtClean="0"/>
              <a:t>，而且依赖高层应用程序的特别处理，例如“</a:t>
            </a:r>
            <a:r>
              <a:rPr lang="en-US" altLang="zh-CN" sz="3200" dirty="0" err="1" smtClean="0"/>
              <a:t>ctrl+c</a:t>
            </a:r>
            <a:r>
              <a:rPr lang="en-US" altLang="zh-CN" sz="3200" dirty="0" smtClean="0"/>
              <a:t>”</a:t>
            </a:r>
            <a:endParaRPr lang="zh-CN" altLang="en-US" sz="3200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92936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SO_REUSEADDR</a:t>
            </a: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95536" y="1700808"/>
            <a:ext cx="8540750" cy="4498975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绑定端口会独占端口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端口关闭时网络上仍然可能会传输发给旧端口的数据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因此通常要等一小段时间端口才恢复可用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SO_REUSEADDR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，不等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先构造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socket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但不连接（无参数构造函数）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再设置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setReuseAddress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(true)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再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connect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之前的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Socket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也需要这样设置才能生效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zh-CN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2389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IP_TOS</a:t>
            </a:r>
            <a:r>
              <a:rPr lang="zh-CN" altLang="en-US" dirty="0" smtClean="0"/>
              <a:t>服务类型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getTrafficClass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void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setTrafficClass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b="1" dirty="0" err="1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trafficClass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SocketException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指定数据包的优先级：延时、丢包率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VOIP</a:t>
            </a:r>
            <a:r>
              <a:rPr lang="zh-CN" altLang="en-US" dirty="0" smtClean="0"/>
              <a:t>视频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Email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72488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775575" cy="438150"/>
          </a:xfrm>
        </p:spPr>
        <p:txBody>
          <a:bodyPr anchor="t">
            <a:noAutofit/>
          </a:bodyPr>
          <a:lstStyle/>
          <a:p>
            <a:r>
              <a:rPr lang="en-US" altLang="zh-CN" sz="4000" dirty="0" smtClean="0"/>
              <a:t>SOCKET</a:t>
            </a:r>
            <a:r>
              <a:rPr lang="zh-CN" altLang="en-US" sz="4000" dirty="0" smtClean="0"/>
              <a:t>异常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395536" y="1700808"/>
            <a:ext cx="8540750" cy="4498975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IOException</a:t>
            </a:r>
          </a:p>
          <a:p>
            <a:pPr lvl="1"/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SocketException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BindException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通常是端口被占用，也可能是无权限使用该端口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ConnectException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连接被远程主机拒绝，通常是远程主机没在监听对应端口或进程忙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NoRouteToHostException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连接超时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ProtocolException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数据不符合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TCP/IP 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规范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zh-CN" altLang="en-US" dirty="0" smtClean="0"/>
          </a:p>
        </p:txBody>
      </p:sp>
      <p:sp>
        <p:nvSpPr>
          <p:cNvPr id="4" name="矩形 3"/>
          <p:cNvSpPr/>
          <p:nvPr/>
        </p:nvSpPr>
        <p:spPr>
          <a:xfrm>
            <a:off x="179512" y="5877272"/>
            <a:ext cx="8568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 smtClean="0">
                <a:solidFill>
                  <a:srgbClr val="FF0000"/>
                </a:solidFill>
              </a:rPr>
              <a:t>IOException</a:t>
            </a:r>
            <a:r>
              <a:rPr lang="zh-CN" altLang="en-US" sz="2400" dirty="0" smtClean="0">
                <a:solidFill>
                  <a:srgbClr val="FF0000"/>
                </a:solidFill>
              </a:rPr>
              <a:t>或其子类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java.net.SocketException</a:t>
            </a:r>
            <a:r>
              <a:rPr lang="en-US" altLang="zh-CN" sz="2400" dirty="0" smtClean="0">
                <a:solidFill>
                  <a:srgbClr val="FF0000"/>
                </a:solidFill>
              </a:rPr>
              <a:t>:</a:t>
            </a:r>
          </a:p>
          <a:p>
            <a:pPr>
              <a:buNone/>
            </a:pPr>
            <a:r>
              <a:rPr lang="en-US" altLang="zh-CN" sz="2400" dirty="0" smtClean="0">
                <a:solidFill>
                  <a:srgbClr val="FF0000"/>
                </a:solidFill>
              </a:rPr>
              <a:t>public class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SocketException</a:t>
            </a:r>
            <a:r>
              <a:rPr lang="en-US" altLang="zh-CN" sz="2400" dirty="0" smtClean="0">
                <a:solidFill>
                  <a:srgbClr val="FF0000"/>
                </a:solidFill>
              </a:rPr>
              <a:t> extends IOException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GUI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PC</a:t>
            </a:r>
            <a:r>
              <a:rPr lang="zh-CN" altLang="en-US" dirty="0" smtClean="0"/>
              <a:t>应用程序：</a:t>
            </a:r>
            <a:r>
              <a:rPr lang="en-US" altLang="zh-CN" dirty="0" smtClean="0"/>
              <a:t>Swing</a:t>
            </a:r>
          </a:p>
          <a:p>
            <a:pPr lvl="1"/>
            <a:r>
              <a:rPr lang="zh-CN" altLang="en-US" dirty="0" smtClean="0"/>
              <a:t>参考</a:t>
            </a:r>
            <a:r>
              <a:rPr lang="en-US" altLang="zh-CN" dirty="0" smtClean="0"/>
              <a:t>《Java</a:t>
            </a:r>
            <a:r>
              <a:rPr lang="zh-CN" altLang="en-US" dirty="0" smtClean="0"/>
              <a:t>程序设计</a:t>
            </a:r>
            <a:r>
              <a:rPr lang="en-US" altLang="zh-CN" dirty="0" smtClean="0"/>
              <a:t>》</a:t>
            </a:r>
            <a:r>
              <a:rPr lang="zh-CN" altLang="en-US" dirty="0" smtClean="0"/>
              <a:t>中的图形界面部分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GUI</a:t>
            </a:r>
            <a:r>
              <a:rPr lang="zh-CN" altLang="en-US" dirty="0" smtClean="0"/>
              <a:t>程序一般有三个线程</a:t>
            </a:r>
            <a:endParaRPr lang="en-US" altLang="zh-CN" dirty="0" smtClean="0"/>
          </a:p>
          <a:p>
            <a:pPr lvl="1"/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Whois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简单目录服务协议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212603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思考与练习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1"/>
          <p:cNvSpPr txBox="1">
            <a:spLocks noGrp="1" noChangeArrowheads="1"/>
          </p:cNvSpPr>
          <p:nvPr>
            <p:ph sz="quarter" idx="1"/>
          </p:nvPr>
        </p:nvSpPr>
        <p:spPr bwMode="auto">
          <a:xfrm>
            <a:off x="251520" y="1916832"/>
            <a:ext cx="8153400" cy="2398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思考题</a:t>
            </a:r>
            <a:r>
              <a:rPr lang="zh-CN" altLang="en-US" sz="3200" dirty="0" smtClean="0"/>
              <a:t>：</a:t>
            </a:r>
            <a:endParaRPr lang="en-US" altLang="zh-CN" sz="3200" dirty="0"/>
          </a:p>
          <a:p>
            <a:pPr>
              <a:buNone/>
            </a:pPr>
            <a:r>
              <a:rPr lang="zh-CN" altLang="en-US" sz="2800" dirty="0" smtClean="0"/>
              <a:t>   尝试</a:t>
            </a:r>
            <a:r>
              <a:rPr lang="zh-CN" altLang="en-US" sz="2800" dirty="0"/>
              <a:t>用</a:t>
            </a:r>
            <a:r>
              <a:rPr lang="en-US" altLang="zh-CN" sz="2800" dirty="0"/>
              <a:t>java</a:t>
            </a:r>
            <a:r>
              <a:rPr lang="zh-CN" altLang="en-US" sz="2800" dirty="0"/>
              <a:t>编写一个邮件发送程序，使用自己的邮箱帐号</a:t>
            </a:r>
            <a:r>
              <a:rPr lang="zh-CN" altLang="en-US" sz="2800" dirty="0" smtClean="0"/>
              <a:t>向</a:t>
            </a:r>
            <a:r>
              <a:rPr lang="en-US" altLang="zh-CN" sz="2800" dirty="0" smtClean="0"/>
              <a:t>137896753@qq.com</a:t>
            </a:r>
            <a:r>
              <a:rPr lang="zh-CN" altLang="en-US" sz="2800" dirty="0"/>
              <a:t>发送邮件，在邮件正文中写明：这是学号</a:t>
            </a:r>
            <a:r>
              <a:rPr lang="en-US" altLang="zh-CN" sz="2800" dirty="0"/>
              <a:t>-</a:t>
            </a:r>
            <a:r>
              <a:rPr lang="zh-CN" altLang="en-US" sz="2800" dirty="0"/>
              <a:t>姓名自编写邮件发送程序，从邮箱</a:t>
            </a:r>
            <a:r>
              <a:rPr lang="en-US" altLang="zh-CN" sz="2800" dirty="0"/>
              <a:t>XXX</a:t>
            </a:r>
            <a:r>
              <a:rPr lang="zh-CN" altLang="en-US" sz="2800" dirty="0"/>
              <a:t>发送的邮件，请查收。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2858</TotalTime>
  <Words>1976</Words>
  <Application>Microsoft Office PowerPoint</Application>
  <PresentationFormat>全屏显示(4:3)</PresentationFormat>
  <Paragraphs>279</Paragraphs>
  <Slides>43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4" baseType="lpstr">
      <vt:lpstr>中性</vt:lpstr>
      <vt:lpstr>                   Client Socket</vt:lpstr>
      <vt:lpstr>主要内容</vt:lpstr>
      <vt:lpstr>数据传输</vt:lpstr>
      <vt:lpstr>Socket</vt:lpstr>
      <vt:lpstr>Socket的基本操作</vt:lpstr>
      <vt:lpstr>幻灯片 6</vt:lpstr>
      <vt:lpstr>用命令从时间服务器读取数据</vt:lpstr>
      <vt:lpstr>日期格式</vt:lpstr>
      <vt:lpstr>使用socket编程从时间服务器获取数据</vt:lpstr>
      <vt:lpstr>为连接设置超时时间</vt:lpstr>
      <vt:lpstr>Daytime协议客户端</vt:lpstr>
      <vt:lpstr>使用协议和理解数据格式</vt:lpstr>
      <vt:lpstr>生成Date对象</vt:lpstr>
      <vt:lpstr>parseDate</vt:lpstr>
      <vt:lpstr>RFC868协议</vt:lpstr>
      <vt:lpstr>处理服务器返回的复杂数据格式</vt:lpstr>
      <vt:lpstr>用socket写入服务器</vt:lpstr>
      <vt:lpstr>实例（英文拉丁文单词转换）</vt:lpstr>
      <vt:lpstr>幻灯片 19</vt:lpstr>
      <vt:lpstr>幻灯片 20</vt:lpstr>
      <vt:lpstr>半关闭socket</vt:lpstr>
      <vt:lpstr>半关闭Socket</vt:lpstr>
      <vt:lpstr>构造和连接Socket</vt:lpstr>
      <vt:lpstr>实例</vt:lpstr>
      <vt:lpstr>选择从哪个本地端口连接</vt:lpstr>
      <vt:lpstr>构造但不连接</vt:lpstr>
      <vt:lpstr>SocketAddress</vt:lpstr>
      <vt:lpstr>代理服务器</vt:lpstr>
      <vt:lpstr>获取Socket的信息(get)</vt:lpstr>
      <vt:lpstr>关闭还是连接</vt:lpstr>
      <vt:lpstr>练习</vt:lpstr>
      <vt:lpstr>设置Socket选项</vt:lpstr>
      <vt:lpstr>TCP_NODELAY</vt:lpstr>
      <vt:lpstr>SO_LINGER</vt:lpstr>
      <vt:lpstr>SO_TIMEOUT</vt:lpstr>
      <vt:lpstr>SO_RCVBUF和SO_SNDBUF</vt:lpstr>
      <vt:lpstr>SO_KEEPALIVE</vt:lpstr>
      <vt:lpstr>OOBINLINE</vt:lpstr>
      <vt:lpstr>SO_REUSEADDR</vt:lpstr>
      <vt:lpstr>IP_TOS服务类型</vt:lpstr>
      <vt:lpstr>SOCKET异常</vt:lpstr>
      <vt:lpstr>GUI中的Socket应用</vt:lpstr>
      <vt:lpstr>思考与练习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端美科技高校合作产学研发展计划</dc:title>
  <cp:lastModifiedBy>dell</cp:lastModifiedBy>
  <cp:revision>251</cp:revision>
  <dcterms:modified xsi:type="dcterms:W3CDTF">2024-05-30T09:09:35Z</dcterms:modified>
</cp:coreProperties>
</file>