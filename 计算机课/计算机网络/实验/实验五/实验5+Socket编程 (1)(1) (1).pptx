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58" r:id="rId5"/>
    <p:sldId id="275" r:id="rId6"/>
    <p:sldId id="276" r:id="rId7"/>
    <p:sldId id="277" r:id="rId8"/>
    <p:sldId id="278" r:id="rId9"/>
    <p:sldId id="279" r:id="rId10"/>
    <p:sldId id="281" r:id="rId11"/>
    <p:sldId id="282" r:id="rId12"/>
    <p:sldId id="260" r:id="rId13"/>
    <p:sldId id="283" r:id="rId14"/>
    <p:sldId id="284" r:id="rId15"/>
  </p:sldIdLst>
  <p:sldSz cx="9144000" cy="6858000" type="screen4x3"/>
  <p:notesSz cx="9144000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8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776" y="91"/>
      </p:cViewPr>
      <p:guideLst>
        <p:guide pos="288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10033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 bwMode="auto"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 bwMode="auto"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597090" y="791570"/>
            <a:ext cx="7949821" cy="329787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85000"/>
              </a:lnSpc>
              <a:defRPr sz="4800" spc="-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586854" y="4199913"/>
            <a:ext cx="7970292" cy="1398708"/>
          </a:xfrm>
        </p:spPr>
        <p:txBody>
          <a:bodyPr lIns="91440" rIns="9144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2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C34C3E0-8F87-464B-8BF5-C835B9D1EFAE}" type="datetimeFigureOut">
              <a:rPr lang="en-US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9C1DFD-7A37-4EF0-B9EF-5509F1B78000}" type="slidenum">
              <a:rPr lang="en-US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 bwMode="auto">
          <a:xfrm>
            <a:off x="586854" y="4091924"/>
            <a:ext cx="797029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582895" y="286605"/>
            <a:ext cx="7964423" cy="71923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82894" y="1121666"/>
            <a:ext cx="7964424" cy="5086142"/>
          </a:xfrm>
        </p:spPr>
        <p:txBody>
          <a:bodyPr>
            <a:normAutofit/>
          </a:bodyPr>
          <a:lstStyle>
            <a:lvl1pPr>
              <a:defRPr sz="2800"/>
            </a:lvl1pPr>
            <a:lvl2pPr marL="444500" indent="-263525">
              <a:buFont typeface="Wingdings" panose="05000000000000000000"/>
              <a:buChar char="§"/>
              <a:defRPr sz="2400"/>
            </a:lvl2pPr>
            <a:lvl3pPr marL="627380" indent="-269875">
              <a:buFont typeface="Wingdings" panose="05000000000000000000"/>
              <a:buChar char="§"/>
              <a:defRPr sz="2400"/>
            </a:lvl3pPr>
            <a:lvl4pPr marL="808355" indent="-269875">
              <a:buFont typeface="Wingdings" panose="05000000000000000000"/>
              <a:buChar char="§"/>
              <a:defRPr sz="2000"/>
            </a:lvl4pPr>
            <a:lvl5pPr marL="982980" indent="-262255">
              <a:buFont typeface="Wingdings" panose="05000000000000000000"/>
              <a:buChar char="§"/>
              <a:defRPr sz="20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C34C3E0-8F87-464B-8BF5-C835B9D1EFAE}" type="datetimeFigureOut">
              <a:rPr lang="en-US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9C1DFD-7A37-4EF0-B9EF-5509F1B78000}" type="slidenum">
              <a:rPr lang="en-US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 bwMode="auto">
          <a:xfrm flipV="1">
            <a:off x="582895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 bwMode="auto">
          <a:xfrm flipV="1">
            <a:off x="582895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 bwMode="auto"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586854" y="758952"/>
            <a:ext cx="7970292" cy="333049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 defTabSz="914400">
              <a:lnSpc>
                <a:spcPct val="85000"/>
              </a:lnSpc>
              <a:spcBef>
                <a:spcPts val="0"/>
              </a:spcBef>
              <a:buNone/>
              <a:defRPr lang="en-US" sz="4800" spc="-5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86854" y="4212451"/>
            <a:ext cx="7970292" cy="1383678"/>
          </a:xfrm>
        </p:spPr>
        <p:txBody>
          <a:bodyPr lIns="91440" rIns="91440" anchor="t" anchorCtr="0">
            <a:normAutofit/>
          </a:bodyPr>
          <a:lstStyle>
            <a:lvl1pPr marL="0" indent="0" algn="ctr">
              <a:buNone/>
              <a:defRPr sz="2000" cap="all" spc="2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C34C3E0-8F87-464B-8BF5-C835B9D1EFAE}" type="datetimeFigureOut">
              <a:rPr lang="en-US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9C1DFD-7A37-4EF0-B9EF-5509F1B78000}" type="slidenum">
              <a:rPr lang="en-US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 bwMode="auto">
          <a:xfrm>
            <a:off x="586854" y="4091924"/>
            <a:ext cx="797029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 bwMode="auto">
          <a:xfrm>
            <a:off x="586854" y="4091924"/>
            <a:ext cx="797029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10033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 bwMode="auto">
          <a:xfrm>
            <a:off x="583200" y="286606"/>
            <a:ext cx="7936848" cy="71826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597313" y="1108368"/>
            <a:ext cx="3922704" cy="497764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57177" y="1108368"/>
            <a:ext cx="3876984" cy="4981050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2C34C3E0-8F87-464B-8BF5-C835B9D1EFAE}" type="datetimeFigureOut">
              <a:rPr lang="en-US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6B9C1DFD-7A37-4EF0-B9EF-5509F1B78000}" type="slidenum">
              <a:rPr lang="en-US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 bwMode="auto"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 bwMode="auto"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 bwMode="auto">
          <a:xfrm>
            <a:off x="583200" y="286606"/>
            <a:ext cx="7936848" cy="71728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97313" y="1123676"/>
            <a:ext cx="392270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97313" y="1977309"/>
            <a:ext cx="3922704" cy="4272237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57177" y="1123676"/>
            <a:ext cx="387698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57177" y="1977309"/>
            <a:ext cx="3876984" cy="4272237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C34C3E0-8F87-464B-8BF5-C835B9D1EFAE}" type="datetimeFigureOut">
              <a:rPr lang="en-US"/>
              <a:t>3/24/2025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9C1DFD-7A37-4EF0-B9EF-5509F1B78000}" type="slidenum">
              <a:rPr lang="en-US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 bwMode="auto"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auto"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582264" y="286605"/>
            <a:ext cx="7964423" cy="71923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C34C3E0-8F87-464B-8BF5-C835B9D1EFAE}" type="datetimeFigureOut">
              <a:rPr lang="en-US"/>
              <a:t>3/24/2025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9C1DFD-7A37-4EF0-B9EF-5509F1B78000}" type="slidenum">
              <a:rPr lang="en-US"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 bwMode="auto"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 bwMode="auto"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 bwMode="auto"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C34C3E0-8F87-464B-8BF5-C835B9D1EFAE}" type="datetimeFigureOut">
              <a:rPr lang="en-US"/>
              <a:t>3/24/2025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9C1DFD-7A37-4EF0-B9EF-5509F1B7800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auto">
          <a:xfrm>
            <a:off x="14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 bwMode="auto"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342900" y="594358"/>
            <a:ext cx="2400300" cy="22860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3460238" y="731520"/>
            <a:ext cx="5009393" cy="5257800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349135" y="6459788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2C34C3E0-8F87-464B-8BF5-C835B9D1EFAE}" type="datetimeFigureOut">
              <a:rPr lang="en-US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600450" y="6459788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B9C1DFD-7A37-4EF0-B9EF-5509F1B7800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auto">
          <a:xfrm>
            <a:off x="1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 bwMode="auto">
          <a:xfrm>
            <a:off x="13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22960" y="5074920"/>
            <a:ext cx="7589520" cy="82296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13" y="0"/>
            <a:ext cx="9143989" cy="4915076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C34C3E0-8F87-464B-8BF5-C835B9D1EFAE}" type="datetimeFigureOut">
              <a:rPr lang="en-US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9C1DFD-7A37-4EF0-B9EF-5509F1B7800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583200" y="286605"/>
            <a:ext cx="7964423" cy="71923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576000" y="1121666"/>
            <a:ext cx="7964424" cy="4747428"/>
          </a:xfrm>
        </p:spPr>
        <p:txBody>
          <a:bodyPr vert="eaVert" lIns="45720" tIns="0" rIns="45720" bIns="0"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C34C3E0-8F87-464B-8BF5-C835B9D1EFAE}" type="datetimeFigureOut">
              <a:rPr lang="en-US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9C1DFD-7A37-4EF0-B9EF-5509F1B7800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 bwMode="auto"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543676" y="414781"/>
            <a:ext cx="1971675" cy="5757421"/>
          </a:xfrm>
          <a:prstGeom prst="rect">
            <a:avLst/>
          </a:prstGeo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C34C3E0-8F87-464B-8BF5-C835B9D1EFAE}" type="datetimeFigureOut">
              <a:rPr lang="en-US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9C1DFD-7A37-4EF0-B9EF-5509F1B7800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 bwMode="auto">
          <a:xfrm>
            <a:off x="0" y="0"/>
            <a:ext cx="9144000" cy="10033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 bwMode="auto">
          <a:xfrm>
            <a:off x="1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 bwMode="auto">
          <a:xfrm>
            <a:off x="1" y="6334317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576001" y="286605"/>
            <a:ext cx="7964423" cy="7192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76000" y="1121666"/>
            <a:ext cx="7964424" cy="509350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 lang="en-US" sz="2000" b="0" i="0" u="none" strike="noStrike" cap="none" spc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22962" y="6459788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2C34C3E0-8F87-464B-8BF5-C835B9D1EFAE}" type="datetimeFigureOut">
              <a:rPr lang="en-US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2764640" y="6459788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cap="all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425345" y="6459788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B9C1DFD-7A37-4EF0-B9EF-5509F1B78000}" type="slidenum">
              <a:rPr lang="en-US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1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85000"/>
        </a:lnSpc>
        <a:spcBef>
          <a:spcPts val="0"/>
        </a:spcBef>
        <a:buNone/>
        <a:defRPr sz="4200" spc="-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9875" indent="-269875" algn="l" defTabSz="91440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/>
        <a:buChar char="§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44500" marR="0" indent="-263525" algn="l" defTabSz="914400">
        <a:lnSpc>
          <a:spcPct val="90000"/>
        </a:lnSpc>
        <a:spcBef>
          <a:spcPts val="200"/>
        </a:spcBef>
        <a:spcAft>
          <a:spcPts val="400"/>
        </a:spcAft>
        <a:buClr>
          <a:srgbClr val="3DA3ED"/>
        </a:buClr>
        <a:buSzTx/>
        <a:buFont typeface="Wingdings" panose="05000000000000000000"/>
        <a:buChar char="§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27380" marR="0" indent="-269875" algn="l" defTabSz="914400">
        <a:lnSpc>
          <a:spcPct val="90000"/>
        </a:lnSpc>
        <a:spcBef>
          <a:spcPts val="200"/>
        </a:spcBef>
        <a:spcAft>
          <a:spcPts val="400"/>
        </a:spcAft>
        <a:buClr>
          <a:srgbClr val="3DA3ED"/>
        </a:buClr>
        <a:buSzTx/>
        <a:buFont typeface="Wingdings" panose="05000000000000000000"/>
        <a:buChar char="§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8355" marR="0" indent="-269875" algn="l" defTabSz="914400">
        <a:lnSpc>
          <a:spcPct val="90000"/>
        </a:lnSpc>
        <a:spcBef>
          <a:spcPts val="200"/>
        </a:spcBef>
        <a:spcAft>
          <a:spcPts val="400"/>
        </a:spcAft>
        <a:buClr>
          <a:srgbClr val="3DA3ED"/>
        </a:buClr>
        <a:buSzTx/>
        <a:buFont typeface="Wingdings" panose="05000000000000000000"/>
        <a:buChar char="§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82980" marR="0" indent="-262255" algn="l" defTabSz="914400">
        <a:lnSpc>
          <a:spcPct val="90000"/>
        </a:lnSpc>
        <a:spcBef>
          <a:spcPts val="200"/>
        </a:spcBef>
        <a:spcAft>
          <a:spcPts val="400"/>
        </a:spcAft>
        <a:buClr>
          <a:srgbClr val="3DA3ED"/>
        </a:buClr>
        <a:buSzTx/>
        <a:buFont typeface="Wingdings" panose="05000000000000000000"/>
        <a:buChar char="§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计算机网络</a:t>
            </a:r>
            <a:br>
              <a:rPr lang="en-US"/>
            </a:br>
            <a:br>
              <a:rPr lang="en-US"/>
            </a:br>
            <a:r>
              <a:rPr lang="zh-CN" sz="4400"/>
              <a:t>实验五 </a:t>
            </a:r>
            <a:r>
              <a:rPr lang="en-US" sz="4400"/>
              <a:t>Socket</a:t>
            </a:r>
            <a:r>
              <a:rPr lang="zh-CN" sz="4400"/>
              <a:t>网络编程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lang="zh-CN"/>
              <a:t>计算机与软件学院</a:t>
            </a:r>
            <a:endParaRPr lang="en-US"/>
          </a:p>
          <a:p>
            <a:pPr>
              <a:spcBef>
                <a:spcPts val="0"/>
              </a:spcBef>
              <a:defRPr/>
            </a:pPr>
            <a:r>
              <a:rPr lang="zh-CN"/>
              <a:t>深圳大学</a:t>
            </a:r>
            <a:endParaRPr lang="en-US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24BC32BB-60D9-617E-58CD-061EB1672C08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7289797" y="6492875"/>
            <a:ext cx="1854203" cy="365125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制作人：彭伟轩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 sz="4000" dirty="0"/>
              <a:t>实验</a:t>
            </a:r>
            <a:r>
              <a:rPr lang="zh-CN" altLang="en-US" sz="4000" dirty="0"/>
              <a:t>五</a:t>
            </a:r>
            <a:r>
              <a:rPr lang="zh-CN" sz="4000" dirty="0"/>
              <a:t> </a:t>
            </a:r>
            <a:r>
              <a:rPr lang="en-US" sz="4000" dirty="0"/>
              <a:t>Socket</a:t>
            </a:r>
            <a:r>
              <a:rPr lang="zh-CN" sz="4000" dirty="0"/>
              <a:t>网络编程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 bwMode="auto"/>
        <p:txBody>
          <a:bodyPr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zh-CN" dirty="0"/>
              <a:t>实验目的</a:t>
            </a:r>
          </a:p>
          <a:p>
            <a:pPr lvl="1">
              <a:defRPr/>
            </a:pPr>
            <a:r>
              <a:rPr lang="zh-CN" altLang="en-US" b="0" i="0" dirty="0">
                <a:solidFill>
                  <a:srgbClr val="24292E"/>
                </a:solidFill>
                <a:effectLst/>
                <a:latin typeface="Helvetica Neue"/>
              </a:rPr>
              <a:t>理解</a:t>
            </a:r>
            <a:r>
              <a:rPr lang="en-US" altLang="zh-CN" b="0" i="0" dirty="0">
                <a:solidFill>
                  <a:srgbClr val="24292E"/>
                </a:solidFill>
                <a:effectLst/>
                <a:latin typeface="Helvetica Neue"/>
              </a:rPr>
              <a:t>TCP</a:t>
            </a:r>
            <a:r>
              <a:rPr lang="zh-CN" altLang="en-US" b="0" i="0" dirty="0">
                <a:solidFill>
                  <a:srgbClr val="24292E"/>
                </a:solidFill>
                <a:effectLst/>
                <a:latin typeface="Helvetica Neue"/>
              </a:rPr>
              <a:t>套接字的定义</a:t>
            </a:r>
            <a:endParaRPr lang="en-GB" altLang="zh-CN" b="0" i="0" dirty="0">
              <a:solidFill>
                <a:srgbClr val="24292E"/>
              </a:solidFill>
              <a:effectLst/>
              <a:latin typeface="Helvetica Neue"/>
            </a:endParaRPr>
          </a:p>
          <a:p>
            <a:pPr lvl="1">
              <a:defRPr/>
            </a:pPr>
            <a:r>
              <a:rPr lang="zh-CN" altLang="en-US" dirty="0"/>
              <a:t>掌握基本的</a:t>
            </a:r>
            <a:r>
              <a:rPr lang="en-US" altLang="zh-CN" dirty="0"/>
              <a:t>TCP</a:t>
            </a:r>
            <a:r>
              <a:rPr lang="zh-CN" altLang="en-US" dirty="0"/>
              <a:t>套接字编程方法</a:t>
            </a:r>
          </a:p>
          <a:p>
            <a:pPr lvl="1">
              <a:defRPr/>
            </a:pPr>
            <a:r>
              <a:rPr lang="zh-CN" altLang="en-US" dirty="0"/>
              <a:t>了解简单网络应用的编程思路</a:t>
            </a:r>
          </a:p>
          <a:p>
            <a:pPr lvl="1">
              <a:defRPr/>
            </a:pPr>
            <a:r>
              <a:rPr lang="zh-CN" altLang="en-US" dirty="0"/>
              <a:t>了解网络编程相关的一些库</a:t>
            </a:r>
            <a:endParaRPr lang="en-US" dirty="0"/>
          </a:p>
          <a:p>
            <a:pPr>
              <a:lnSpc>
                <a:spcPct val="90000"/>
              </a:lnSpc>
              <a:defRPr/>
            </a:pPr>
            <a:r>
              <a:rPr lang="zh-CN" dirty="0"/>
              <a:t>实验环境</a:t>
            </a:r>
          </a:p>
          <a:p>
            <a:pPr lvl="1">
              <a:defRPr/>
            </a:pPr>
            <a:r>
              <a:rPr lang="zh-CN" dirty="0"/>
              <a:t>具有</a:t>
            </a:r>
            <a:r>
              <a:rPr lang="en-US" dirty="0"/>
              <a:t>Internet</a:t>
            </a:r>
            <a:r>
              <a:rPr lang="zh-CN" dirty="0"/>
              <a:t>连接的主机</a:t>
            </a:r>
            <a:endParaRPr lang="en-US" dirty="0"/>
          </a:p>
          <a:p>
            <a:pPr lvl="1">
              <a:defRPr/>
            </a:pPr>
            <a:r>
              <a:rPr lang="en-US" altLang="zh-CN" dirty="0"/>
              <a:t>c</a:t>
            </a:r>
            <a:r>
              <a:rPr lang="zh-CN" dirty="0"/>
              <a:t>语言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2025/3/24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计算机网络实验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CDF2DC-913F-4A16-9C18-8900B299D998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实验任务要求</a:t>
            </a:r>
            <a:endParaRPr lang="en-US"/>
          </a:p>
        </p:txBody>
      </p:sp>
      <p:sp>
        <p:nvSpPr>
          <p:cNvPr id="15363" name="Content Placeholder 7"/>
          <p:cNvSpPr>
            <a:spLocks noGrp="1" noChangeArrowheads="1"/>
          </p:cNvSpPr>
          <p:nvPr>
            <p:ph idx="1"/>
          </p:nvPr>
        </p:nvSpPr>
        <p:spPr bwMode="auto"/>
        <p:txBody>
          <a:bodyPr/>
          <a:lstStyle/>
          <a:p>
            <a:pPr marL="382905" lvl="1" indent="-182880">
              <a:defRPr/>
            </a:pPr>
            <a:r>
              <a:rPr lang="zh-CN" altLang="en-US" dirty="0"/>
              <a:t>了解网络编程的相关库</a:t>
            </a:r>
          </a:p>
          <a:p>
            <a:pPr marL="382905" lvl="1" indent="-182880">
              <a:defRPr/>
            </a:pPr>
            <a:r>
              <a:rPr lang="zh-CN" altLang="en-US" dirty="0"/>
              <a:t>掌握编写简单网络应用的技能</a:t>
            </a:r>
          </a:p>
          <a:p>
            <a:pPr marL="382905" lvl="1" indent="-182880">
              <a:defRPr/>
            </a:pPr>
            <a:r>
              <a:rPr lang="zh-CN" altLang="en-US" dirty="0"/>
              <a:t>依照步骤完成实验内容</a:t>
            </a:r>
          </a:p>
          <a:p>
            <a:pPr marL="382905" lvl="1" indent="-182880">
              <a:defRPr/>
            </a:pPr>
            <a:r>
              <a:rPr lang="zh-CN" altLang="en-US" dirty="0"/>
              <a:t>对实验结果截图</a:t>
            </a:r>
          </a:p>
          <a:p>
            <a:pPr marL="382905" lvl="1" indent="-182880">
              <a:defRPr/>
            </a:pPr>
            <a:r>
              <a:rPr lang="zh-CN" altLang="en-US" dirty="0"/>
              <a:t>撰写实验报告</a:t>
            </a:r>
            <a:endParaRPr lang="en-US" dirty="0"/>
          </a:p>
          <a:p>
            <a:pPr marL="382905" lvl="1" indent="-182880">
              <a:defRPr/>
            </a:pP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2025/3/24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计算机网络实验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54D46A6-7336-4199-AC73-BAD4954AE5E0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实验内容</a:t>
            </a: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 bwMode="auto"/>
        <p:txBody>
          <a:bodyPr>
            <a:noAutofit/>
          </a:bodyPr>
          <a:lstStyle/>
          <a:p>
            <a:pPr marL="658495" lvl="1" indent="-457200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dirty="0"/>
              <a:t> </a:t>
            </a:r>
            <a:r>
              <a:rPr lang="zh-CN" altLang="en-US" dirty="0"/>
              <a:t>任务一：通过套接字在</a:t>
            </a:r>
            <a:r>
              <a:rPr lang="en-US" altLang="zh-CN" dirty="0"/>
              <a:t>Client</a:t>
            </a:r>
            <a:r>
              <a:rPr lang="zh-CN" altLang="en-US" dirty="0"/>
              <a:t>和</a:t>
            </a:r>
            <a:r>
              <a:rPr lang="en-US" altLang="zh-CN" dirty="0"/>
              <a:t>Server</a:t>
            </a:r>
            <a:r>
              <a:rPr lang="zh-CN" altLang="en-US" dirty="0"/>
              <a:t>之间建立</a:t>
            </a:r>
            <a:r>
              <a:rPr lang="en-US" altLang="zh-CN" dirty="0"/>
              <a:t>TCP Socket</a:t>
            </a:r>
            <a:r>
              <a:rPr lang="zh-CN" altLang="en-US" dirty="0"/>
              <a:t>连接（阅读代码并理解）</a:t>
            </a:r>
            <a:endParaRPr lang="en-US" dirty="0"/>
          </a:p>
          <a:p>
            <a:pPr marL="658495" lvl="1" indent="-457200">
              <a:lnSpc>
                <a:spcPct val="100000"/>
              </a:lnSpc>
              <a:buFont typeface="+mj-lt"/>
              <a:buAutoNum type="arabicPeriod"/>
              <a:defRPr/>
            </a:pPr>
            <a:r>
              <a:rPr lang="zh-CN" altLang="en-US" dirty="0"/>
              <a:t>任务二：在服务端使用 </a:t>
            </a:r>
            <a:r>
              <a:rPr lang="en-US" altLang="zh-CN" dirty="0"/>
              <a:t>send() </a:t>
            </a:r>
            <a:r>
              <a:rPr lang="zh-CN" altLang="en-US" dirty="0"/>
              <a:t>函数向客户端发送视频文件（编程实现）</a:t>
            </a:r>
            <a:endParaRPr lang="en-GB" altLang="zh-CN" dirty="0"/>
          </a:p>
          <a:p>
            <a:pPr marL="658495" lvl="1" indent="-457200">
              <a:lnSpc>
                <a:spcPct val="100000"/>
              </a:lnSpc>
              <a:buFont typeface="+mj-lt"/>
              <a:buAutoNum type="arabicPeriod"/>
              <a:defRPr/>
            </a:pPr>
            <a:r>
              <a:rPr lang="zh-CN" altLang="en-US" dirty="0"/>
              <a:t>任务三：在客户端使用 </a:t>
            </a:r>
            <a:r>
              <a:rPr lang="en-US" altLang="zh-CN" dirty="0" err="1"/>
              <a:t>recv</a:t>
            </a:r>
            <a:r>
              <a:rPr lang="en-US" altLang="zh-CN" dirty="0"/>
              <a:t>() </a:t>
            </a:r>
            <a:r>
              <a:rPr lang="zh-CN" altLang="en-US" dirty="0"/>
              <a:t>函数接收服务端发送的视频文件（编程实现）</a:t>
            </a:r>
            <a:endParaRPr lang="en-GB" altLang="zh-CN" dirty="0"/>
          </a:p>
          <a:p>
            <a:pPr marL="658495" lvl="1" indent="-457200">
              <a:lnSpc>
                <a:spcPct val="100000"/>
              </a:lnSpc>
              <a:buFont typeface="+mj-lt"/>
              <a:buAutoNum type="arabicPeriod"/>
              <a:defRPr/>
            </a:pPr>
            <a:r>
              <a:rPr lang="zh-CN" altLang="en-US" dirty="0"/>
              <a:t>任务四：更改程序实现一对一的</a:t>
            </a:r>
            <a:r>
              <a:rPr lang="zh-CN" dirty="0"/>
              <a:t>聊天</a:t>
            </a:r>
            <a:r>
              <a:rPr lang="zh-CN" altLang="en-US" dirty="0"/>
              <a:t>窗口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2025/3/24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计算机网络实验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CDF2DC-913F-4A16-9C18-8900B299D998}" type="slidenum">
              <a:rPr lang="en-US"/>
              <a:t>4</a:t>
            </a:fld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ACF1429-DC3E-9697-D096-82C0836BBA4D}"/>
              </a:ext>
            </a:extLst>
          </p:cNvPr>
          <p:cNvSpPr txBox="1"/>
          <p:nvPr/>
        </p:nvSpPr>
        <p:spPr>
          <a:xfrm>
            <a:off x="953588" y="4361795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程序编译示例：</a:t>
            </a:r>
          </a:p>
          <a:p>
            <a:r>
              <a:rPr lang="en-GB" dirty="0" err="1"/>
              <a:t>gcc</a:t>
            </a:r>
            <a:r>
              <a:rPr lang="en-GB" dirty="0"/>
              <a:t> .\</a:t>
            </a:r>
            <a:r>
              <a:rPr lang="en-GB" dirty="0" err="1"/>
              <a:t>server.c</a:t>
            </a:r>
            <a:r>
              <a:rPr lang="en-GB" dirty="0"/>
              <a:t> -o server.exe -lwsock32</a:t>
            </a:r>
          </a:p>
          <a:p>
            <a:r>
              <a:rPr lang="en-GB" dirty="0" err="1"/>
              <a:t>gcc</a:t>
            </a:r>
            <a:r>
              <a:rPr lang="en-GB" dirty="0"/>
              <a:t> .\</a:t>
            </a:r>
            <a:r>
              <a:rPr lang="en-GB" dirty="0" err="1"/>
              <a:t>client.c</a:t>
            </a:r>
            <a:r>
              <a:rPr lang="en-GB" dirty="0"/>
              <a:t> -o client.exe -lwsock32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4E5D03-192E-8D9F-BA6C-88B908E69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2400" dirty="0"/>
              <a:t>任务一：通过套接字在</a:t>
            </a:r>
            <a:r>
              <a:rPr lang="en-GB" sz="2400" dirty="0"/>
              <a:t>Client</a:t>
            </a:r>
            <a:r>
              <a:rPr lang="zh-CN" altLang="en-US" sz="2400" dirty="0"/>
              <a:t>和</a:t>
            </a:r>
            <a:r>
              <a:rPr lang="en-GB" sz="2400" dirty="0"/>
              <a:t>Server</a:t>
            </a:r>
            <a:r>
              <a:rPr lang="zh-CN" altLang="en-US" sz="2400" dirty="0"/>
              <a:t>之间建立</a:t>
            </a:r>
            <a:r>
              <a:rPr lang="en-GB" sz="2400" dirty="0"/>
              <a:t>TCP Socket</a:t>
            </a:r>
            <a:r>
              <a:rPr lang="zh-CN" altLang="en-US" sz="2400" dirty="0"/>
              <a:t>连接</a:t>
            </a:r>
            <a:endParaRPr lang="en-GB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895B66-D072-36D2-5E28-507C8502F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en-US" sz="2600" dirty="0"/>
              <a:t>服务端：</a:t>
            </a:r>
          </a:p>
          <a:p>
            <a:pPr marL="180975" lvl="1" indent="0">
              <a:lnSpc>
                <a:spcPct val="120000"/>
              </a:lnSpc>
              <a:buNone/>
            </a:pPr>
            <a:r>
              <a:rPr lang="en-US" altLang="zh-CN" sz="2100" b="1" dirty="0"/>
              <a:t>Step1. </a:t>
            </a:r>
            <a:r>
              <a:rPr lang="zh-CN" altLang="en-US" sz="2100" b="1" dirty="0"/>
              <a:t>创建套接字</a:t>
            </a:r>
          </a:p>
          <a:p>
            <a:pPr marL="180975" lvl="1" indent="0">
              <a:lnSpc>
                <a:spcPct val="120000"/>
              </a:lnSpc>
              <a:buNone/>
            </a:pPr>
            <a:r>
              <a:rPr lang="zh-CN" altLang="en-US" sz="2100" dirty="0"/>
              <a:t>使用 </a:t>
            </a:r>
            <a:r>
              <a:rPr lang="en-US" altLang="zh-CN" sz="2100" dirty="0"/>
              <a:t>socket() </a:t>
            </a:r>
            <a:r>
              <a:rPr lang="zh-CN" altLang="en-US" sz="2100" dirty="0"/>
              <a:t>函数创建一个套接字，并返回套接字描述符。</a:t>
            </a:r>
          </a:p>
          <a:p>
            <a:pPr marL="180975" lvl="1" indent="0">
              <a:lnSpc>
                <a:spcPct val="120000"/>
              </a:lnSpc>
              <a:buNone/>
            </a:pPr>
            <a:endParaRPr lang="zh-CN" altLang="en-US" sz="2100" dirty="0"/>
          </a:p>
          <a:p>
            <a:pPr marL="180975" lvl="1" indent="0">
              <a:lnSpc>
                <a:spcPct val="120000"/>
              </a:lnSpc>
              <a:buNone/>
            </a:pPr>
            <a:r>
              <a:rPr lang="en-US" altLang="zh-CN" sz="2100" b="1" dirty="0"/>
              <a:t>Step2. </a:t>
            </a:r>
            <a:r>
              <a:rPr lang="zh-CN" altLang="en-US" sz="2100" b="1" dirty="0"/>
              <a:t>配置</a:t>
            </a:r>
            <a:r>
              <a:rPr lang="en-US" altLang="zh-CN" sz="2100" b="1" dirty="0"/>
              <a:t>IP</a:t>
            </a:r>
            <a:r>
              <a:rPr lang="zh-CN" altLang="en-US" sz="2100" b="1" dirty="0"/>
              <a:t>及端口号并绑定套接字</a:t>
            </a:r>
          </a:p>
          <a:p>
            <a:pPr marL="180975" lvl="1" indent="0">
              <a:lnSpc>
                <a:spcPct val="120000"/>
              </a:lnSpc>
              <a:buNone/>
            </a:pPr>
            <a:r>
              <a:rPr lang="zh-CN" altLang="en-US" sz="2100" dirty="0"/>
              <a:t>创建一个</a:t>
            </a:r>
            <a:r>
              <a:rPr lang="en-US" altLang="zh-CN" sz="2100" dirty="0" err="1"/>
              <a:t>sockaddr_in</a:t>
            </a:r>
            <a:r>
              <a:rPr lang="zh-CN" altLang="en-US" sz="2100" dirty="0"/>
              <a:t>类型的结构体变量来存储地址信息。配置服务器将接受针对任意</a:t>
            </a:r>
            <a:r>
              <a:rPr lang="en-US" altLang="zh-CN" sz="2100" dirty="0"/>
              <a:t>IP</a:t>
            </a:r>
            <a:r>
              <a:rPr lang="zh-CN" altLang="en-US" sz="2100" dirty="0"/>
              <a:t>地址的请求以及服务器所监听的端口号。</a:t>
            </a:r>
          </a:p>
          <a:p>
            <a:pPr marL="180975" lvl="1" indent="0">
              <a:lnSpc>
                <a:spcPct val="120000"/>
              </a:lnSpc>
              <a:buNone/>
            </a:pPr>
            <a:r>
              <a:rPr lang="zh-CN" altLang="en-US" sz="2100" dirty="0"/>
              <a:t>使用 </a:t>
            </a:r>
            <a:r>
              <a:rPr lang="en-US" altLang="zh-CN" sz="2100" dirty="0"/>
              <a:t>bind() </a:t>
            </a:r>
            <a:r>
              <a:rPr lang="zh-CN" altLang="en-US" sz="2100" dirty="0"/>
              <a:t>函数将之前创建的套接字与 </a:t>
            </a:r>
            <a:r>
              <a:rPr lang="en-US" altLang="zh-CN" sz="2100" dirty="0" err="1"/>
              <a:t>sockaddr_in</a:t>
            </a:r>
            <a:r>
              <a:rPr lang="en-US" altLang="zh-CN" sz="2100" dirty="0"/>
              <a:t> </a:t>
            </a:r>
            <a:r>
              <a:rPr lang="zh-CN" altLang="en-US" sz="2100" dirty="0"/>
              <a:t>结构体变量绑定，关联套接字和服务器的</a:t>
            </a:r>
            <a:r>
              <a:rPr lang="en-US" altLang="zh-CN" sz="2100" dirty="0"/>
              <a:t>IP</a:t>
            </a:r>
            <a:r>
              <a:rPr lang="zh-CN" altLang="en-US" sz="2100" dirty="0"/>
              <a:t>地址及端口号。</a:t>
            </a:r>
          </a:p>
          <a:p>
            <a:pPr marL="180975" lvl="1" indent="0">
              <a:lnSpc>
                <a:spcPct val="120000"/>
              </a:lnSpc>
              <a:buNone/>
            </a:pPr>
            <a:endParaRPr lang="zh-CN" altLang="en-US" sz="2100" dirty="0"/>
          </a:p>
          <a:p>
            <a:pPr marL="180975" lvl="1" indent="0">
              <a:lnSpc>
                <a:spcPct val="120000"/>
              </a:lnSpc>
              <a:buNone/>
            </a:pPr>
            <a:r>
              <a:rPr lang="en-US" altLang="zh-CN" sz="2100" b="1" dirty="0"/>
              <a:t>Step3. </a:t>
            </a:r>
            <a:r>
              <a:rPr lang="zh-CN" altLang="en-US" sz="2100" b="1" dirty="0"/>
              <a:t>监听端口</a:t>
            </a:r>
          </a:p>
          <a:p>
            <a:pPr marL="180975" lvl="1" indent="0">
              <a:lnSpc>
                <a:spcPct val="120000"/>
              </a:lnSpc>
              <a:buNone/>
            </a:pPr>
            <a:r>
              <a:rPr lang="zh-CN" altLang="en-US" sz="2100" dirty="0"/>
              <a:t>通过 </a:t>
            </a:r>
            <a:r>
              <a:rPr lang="en-US" altLang="zh-CN" sz="2100" dirty="0"/>
              <a:t>listen() </a:t>
            </a:r>
            <a:r>
              <a:rPr lang="zh-CN" altLang="en-US" sz="2100" dirty="0"/>
              <a:t>函数使套接字进入监听端口 </a:t>
            </a:r>
            <a:r>
              <a:rPr lang="en-US" altLang="zh-CN" sz="2100" dirty="0"/>
              <a:t>PORT </a:t>
            </a:r>
            <a:r>
              <a:rPr lang="zh-CN" altLang="en-US" sz="2100" dirty="0"/>
              <a:t>，准备接收来自客户端的连接请求。</a:t>
            </a:r>
          </a:p>
          <a:p>
            <a:pPr marL="180975" lvl="1" indent="0">
              <a:lnSpc>
                <a:spcPct val="120000"/>
              </a:lnSpc>
              <a:buNone/>
            </a:pPr>
            <a:endParaRPr lang="zh-CN" altLang="en-US" sz="2100" dirty="0"/>
          </a:p>
          <a:p>
            <a:pPr marL="180975" lvl="1" indent="0">
              <a:lnSpc>
                <a:spcPct val="120000"/>
              </a:lnSpc>
              <a:buNone/>
            </a:pPr>
            <a:r>
              <a:rPr lang="en-US" altLang="zh-CN" sz="2100" b="1" dirty="0"/>
              <a:t>Step4. </a:t>
            </a:r>
            <a:r>
              <a:rPr lang="zh-CN" altLang="en-US" sz="2100" b="1" dirty="0"/>
              <a:t>接受客户端连接请求</a:t>
            </a:r>
          </a:p>
          <a:p>
            <a:pPr marL="180975" lvl="1" indent="0">
              <a:lnSpc>
                <a:spcPct val="120000"/>
              </a:lnSpc>
              <a:buNone/>
            </a:pPr>
            <a:r>
              <a:rPr lang="zh-CN" altLang="en-US" sz="2100" dirty="0"/>
              <a:t>当服务端监听到端口上的连接请求时，使用</a:t>
            </a:r>
            <a:r>
              <a:rPr lang="en-US" altLang="zh-CN" sz="2100" dirty="0"/>
              <a:t>accept() </a:t>
            </a:r>
            <a:r>
              <a:rPr lang="zh-CN" altLang="en-US" sz="2100" dirty="0"/>
              <a:t>函数接收连接并返回一个新的连接</a:t>
            </a:r>
            <a:r>
              <a:rPr lang="en-US" altLang="zh-CN" sz="2100" dirty="0"/>
              <a:t>SOCKET(</a:t>
            </a:r>
            <a:r>
              <a:rPr lang="zh-CN" altLang="en-US" sz="2100" dirty="0"/>
              <a:t>套接字描述符</a:t>
            </a:r>
            <a:r>
              <a:rPr lang="en-US" altLang="zh-CN" sz="2100" dirty="0"/>
              <a:t>)</a:t>
            </a:r>
            <a:r>
              <a:rPr lang="zh-CN" altLang="en-US" sz="2100" dirty="0"/>
              <a:t>。这个新</a:t>
            </a:r>
            <a:r>
              <a:rPr lang="en-US" altLang="zh-CN" sz="2100" dirty="0"/>
              <a:t>SOCKET</a:t>
            </a:r>
            <a:r>
              <a:rPr lang="zh-CN" altLang="en-US" sz="2100" dirty="0"/>
              <a:t>用于服务器和客户端之间的后续通信。</a:t>
            </a:r>
            <a:endParaRPr lang="en-GB" sz="2100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7289A481-C584-0132-C0ED-97C88885854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822962" y="6459788"/>
            <a:ext cx="185420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2025/3/24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601A5A1-83E1-292E-87C5-CF8DE6A3A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764640" y="6459788"/>
            <a:ext cx="3617103" cy="365125"/>
          </a:xfrm>
        </p:spPr>
        <p:txBody>
          <a:bodyPr/>
          <a:lstStyle/>
          <a:p>
            <a:pPr>
              <a:defRPr/>
            </a:pPr>
            <a:r>
              <a:rPr lang="zh-CN"/>
              <a:t>计算机网络实验</a:t>
            </a:r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60D95989-27A5-B8F4-B57A-EC78A8B64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425345" y="6459788"/>
            <a:ext cx="984019" cy="365125"/>
          </a:xfrm>
        </p:spPr>
        <p:txBody>
          <a:bodyPr/>
          <a:lstStyle/>
          <a:p>
            <a:pPr>
              <a:defRPr/>
            </a:pPr>
            <a:fld id="{0ECDF2DC-913F-4A16-9C18-8900B299D998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16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61865-0BF4-4F5B-0556-22372E3F0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5AF110-CCAF-7A47-E4E0-4EF29F453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2400" dirty="0"/>
              <a:t>任务一：通过套接字在</a:t>
            </a:r>
            <a:r>
              <a:rPr lang="en-GB" sz="2400" dirty="0"/>
              <a:t>Client</a:t>
            </a:r>
            <a:r>
              <a:rPr lang="zh-CN" altLang="en-US" sz="2400" dirty="0"/>
              <a:t>和</a:t>
            </a:r>
            <a:r>
              <a:rPr lang="en-GB" sz="2400" dirty="0"/>
              <a:t>Server</a:t>
            </a:r>
            <a:r>
              <a:rPr lang="zh-CN" altLang="en-US" sz="2400" dirty="0"/>
              <a:t>之间建立</a:t>
            </a:r>
            <a:r>
              <a:rPr lang="en-GB" sz="2400" dirty="0"/>
              <a:t>TCP Socket</a:t>
            </a:r>
            <a:r>
              <a:rPr lang="zh-CN" altLang="en-US" sz="2400" dirty="0"/>
              <a:t>连接</a:t>
            </a:r>
            <a:endParaRPr lang="en-GB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CACF83-BD1B-9783-869D-405E807AD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zh-CN" altLang="en-US" sz="1800" b="1" i="0" dirty="0">
                <a:solidFill>
                  <a:srgbClr val="24292E"/>
                </a:solidFill>
                <a:effectLst/>
                <a:latin typeface="Helvetica Neue"/>
              </a:rPr>
              <a:t>客户端</a:t>
            </a:r>
            <a:r>
              <a:rPr lang="zh-CN" altLang="en-US" sz="2200" b="1" i="0" dirty="0">
                <a:solidFill>
                  <a:srgbClr val="24292E"/>
                </a:solidFill>
                <a:effectLst/>
                <a:latin typeface="Helvetica Neue"/>
              </a:rPr>
              <a:t>：</a:t>
            </a:r>
          </a:p>
          <a:p>
            <a:pPr marL="180975" lvl="1" indent="0">
              <a:lnSpc>
                <a:spcPct val="100000"/>
              </a:lnSpc>
              <a:buNone/>
            </a:pPr>
            <a:r>
              <a:rPr lang="en-US" altLang="zh-CN" sz="1500" b="1" dirty="0"/>
              <a:t>Step1. </a:t>
            </a:r>
            <a:r>
              <a:rPr lang="zh-CN" altLang="en-US" sz="1500" b="1" dirty="0"/>
              <a:t>创建套接字</a:t>
            </a:r>
          </a:p>
          <a:p>
            <a:pPr marL="180975" lvl="1" indent="0">
              <a:lnSpc>
                <a:spcPct val="100000"/>
              </a:lnSpc>
              <a:buNone/>
            </a:pPr>
            <a:r>
              <a:rPr lang="zh-CN" altLang="en-US" sz="1500" dirty="0"/>
              <a:t>使用 </a:t>
            </a:r>
            <a:r>
              <a:rPr lang="en-US" altLang="zh-CN" sz="1500" dirty="0"/>
              <a:t>socket()</a:t>
            </a:r>
            <a:r>
              <a:rPr lang="zh-CN" altLang="en-US" sz="1500" dirty="0"/>
              <a:t> 函数创建一个套接字，并返回套接字描述符。</a:t>
            </a:r>
            <a:endParaRPr lang="en-GB" altLang="zh-CN" sz="1500" dirty="0"/>
          </a:p>
          <a:p>
            <a:pPr marL="180975" lvl="1" indent="0">
              <a:lnSpc>
                <a:spcPct val="100000"/>
              </a:lnSpc>
              <a:buNone/>
            </a:pPr>
            <a:endParaRPr lang="zh-CN" altLang="en-US" sz="1500" dirty="0"/>
          </a:p>
          <a:p>
            <a:pPr marL="180975" lvl="1" indent="0">
              <a:lnSpc>
                <a:spcPct val="100000"/>
              </a:lnSpc>
              <a:buNone/>
            </a:pPr>
            <a:r>
              <a:rPr lang="en-US" altLang="zh-CN" sz="1500" b="1" dirty="0"/>
              <a:t>Step2. </a:t>
            </a:r>
            <a:r>
              <a:rPr lang="zh-CN" altLang="en-US" sz="1500" b="1" dirty="0"/>
              <a:t>配置</a:t>
            </a:r>
            <a:r>
              <a:rPr lang="en-US" altLang="zh-CN" sz="1500" b="1" dirty="0"/>
              <a:t>IP</a:t>
            </a:r>
            <a:r>
              <a:rPr lang="zh-CN" altLang="en-US" sz="1500" b="1" dirty="0"/>
              <a:t>及端口号</a:t>
            </a:r>
          </a:p>
          <a:p>
            <a:pPr marL="180975" lvl="1" indent="0">
              <a:lnSpc>
                <a:spcPct val="100000"/>
              </a:lnSpc>
              <a:buNone/>
            </a:pPr>
            <a:r>
              <a:rPr lang="zh-CN" altLang="en-US" sz="1500" dirty="0"/>
              <a:t>创建一个</a:t>
            </a:r>
            <a:r>
              <a:rPr lang="en-US" altLang="zh-CN" sz="1500" dirty="0" err="1"/>
              <a:t>sockaddr_in</a:t>
            </a:r>
            <a:r>
              <a:rPr lang="zh-CN" altLang="en-US" sz="1500" dirty="0"/>
              <a:t>类型的结构体变量来存储地址信息。并配置请求的服务器</a:t>
            </a:r>
            <a:r>
              <a:rPr lang="en-US" altLang="zh-CN" sz="1500" dirty="0"/>
              <a:t>IP</a:t>
            </a:r>
            <a:r>
              <a:rPr lang="zh-CN" altLang="en-US" sz="1500" dirty="0"/>
              <a:t>地址及端口号。</a:t>
            </a:r>
            <a:endParaRPr lang="en-GB" altLang="zh-CN" sz="1500" dirty="0"/>
          </a:p>
          <a:p>
            <a:pPr marL="180975" lvl="1" indent="0">
              <a:lnSpc>
                <a:spcPct val="100000"/>
              </a:lnSpc>
              <a:buNone/>
            </a:pPr>
            <a:endParaRPr lang="zh-CN" altLang="en-US" sz="1500" dirty="0"/>
          </a:p>
          <a:p>
            <a:pPr marL="180975" lvl="1" indent="0">
              <a:lnSpc>
                <a:spcPct val="100000"/>
              </a:lnSpc>
              <a:buNone/>
            </a:pPr>
            <a:r>
              <a:rPr lang="en-US" altLang="zh-CN" sz="1500" b="1" dirty="0"/>
              <a:t>Step3. </a:t>
            </a:r>
            <a:r>
              <a:rPr lang="zh-CN" altLang="en-US" sz="1500" b="1" dirty="0"/>
              <a:t>连接服务端</a:t>
            </a:r>
          </a:p>
          <a:p>
            <a:pPr marL="180975" lvl="1" indent="0">
              <a:lnSpc>
                <a:spcPct val="100000"/>
              </a:lnSpc>
              <a:buNone/>
            </a:pPr>
            <a:r>
              <a:rPr lang="zh-CN" altLang="en-US" sz="1500" dirty="0"/>
              <a:t>使用 </a:t>
            </a:r>
            <a:r>
              <a:rPr lang="en-US" altLang="zh-CN" sz="1500" dirty="0"/>
              <a:t>connect()</a:t>
            </a:r>
            <a:r>
              <a:rPr lang="zh-CN" altLang="en-US" sz="1500" dirty="0"/>
              <a:t> 函数向服务端发送连接请求。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0895EC6B-2433-A892-56EE-4DCB8CFC7B6A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822962" y="6459788"/>
            <a:ext cx="185420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2025/3/24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6AAE1B1-CB69-4DC0-174D-0D3352CD6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764640" y="6459788"/>
            <a:ext cx="3617103" cy="365125"/>
          </a:xfrm>
        </p:spPr>
        <p:txBody>
          <a:bodyPr/>
          <a:lstStyle/>
          <a:p>
            <a:pPr>
              <a:defRPr/>
            </a:pPr>
            <a:r>
              <a:rPr lang="zh-CN"/>
              <a:t>计算机网络实验</a:t>
            </a:r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98E929A0-99A4-99B2-9E2E-F8171547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425345" y="6459788"/>
            <a:ext cx="984019" cy="365125"/>
          </a:xfrm>
        </p:spPr>
        <p:txBody>
          <a:bodyPr/>
          <a:lstStyle/>
          <a:p>
            <a:pPr>
              <a:defRPr/>
            </a:pPr>
            <a:fld id="{0ECDF2DC-913F-4A16-9C18-8900B299D998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752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6D716-41B1-5BD3-8E20-7A110D293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BEEEEA-8F54-DDCC-3FE5-01B3777DA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2400" dirty="0"/>
              <a:t>任务二：在服务端使用 </a:t>
            </a:r>
            <a:r>
              <a:rPr lang="en-US" altLang="zh-CN" sz="2400" dirty="0"/>
              <a:t>send() </a:t>
            </a:r>
            <a:r>
              <a:rPr lang="zh-CN" altLang="en-US" sz="2400" dirty="0"/>
              <a:t>函数向客户端发送视频文件</a:t>
            </a:r>
            <a:endParaRPr lang="en-GB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544813-52AC-7FAB-6F95-FD38D7561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zh-CN" altLang="en-US" sz="1800" b="1" i="0" dirty="0">
                <a:solidFill>
                  <a:srgbClr val="24292E"/>
                </a:solidFill>
                <a:effectLst/>
                <a:latin typeface="Helvetica Neue"/>
              </a:rPr>
              <a:t>在服务端读取视频文件，并传输文件至客户端，主要有以下五步：</a:t>
            </a:r>
            <a:endParaRPr lang="en-GB" altLang="zh-CN" sz="1800" b="1" i="0" dirty="0">
              <a:solidFill>
                <a:srgbClr val="24292E"/>
              </a:solidFill>
              <a:effectLst/>
              <a:latin typeface="Helvetica Neue"/>
            </a:endParaRPr>
          </a:p>
          <a:p>
            <a:pPr marL="180975" lvl="1" indent="0">
              <a:lnSpc>
                <a:spcPct val="100000"/>
              </a:lnSpc>
              <a:buNone/>
            </a:pPr>
            <a:r>
              <a:rPr lang="en-GB" altLang="zh-CN" sz="1500" b="1" dirty="0"/>
              <a:t>Step1. </a:t>
            </a:r>
            <a:r>
              <a:rPr lang="zh-CN" altLang="en-US" sz="1500" b="1" dirty="0"/>
              <a:t>创建发送缓冲区</a:t>
            </a:r>
          </a:p>
          <a:p>
            <a:pPr marL="180975" lvl="1" indent="0">
              <a:lnSpc>
                <a:spcPct val="100000"/>
              </a:lnSpc>
              <a:buNone/>
            </a:pPr>
            <a:r>
              <a:rPr lang="zh-CN" altLang="en-US" sz="1500" dirty="0"/>
              <a:t>创建一个</a:t>
            </a:r>
            <a:r>
              <a:rPr lang="en-US" altLang="zh-CN" sz="1500" dirty="0"/>
              <a:t>char</a:t>
            </a:r>
            <a:r>
              <a:rPr lang="zh-CN" altLang="en-US" sz="1500" dirty="0"/>
              <a:t>类型的数组作为发送缓冲区，存储待发送的数据。</a:t>
            </a:r>
            <a:endParaRPr lang="en-GB" altLang="zh-CN" sz="1500" dirty="0"/>
          </a:p>
          <a:p>
            <a:pPr marL="180975" lvl="1" indent="0">
              <a:lnSpc>
                <a:spcPct val="100000"/>
              </a:lnSpc>
              <a:buNone/>
            </a:pPr>
            <a:r>
              <a:rPr lang="en-GB" sz="1200" b="1" i="0" dirty="0">
                <a:solidFill>
                  <a:srgbClr val="D73A49"/>
                </a:solidFill>
                <a:effectLst/>
                <a:latin typeface="Helvetica Neue"/>
              </a:rPr>
              <a:t>char</a:t>
            </a:r>
            <a:r>
              <a:rPr lang="en-GB" sz="1200" b="0" i="0" dirty="0">
                <a:solidFill>
                  <a:srgbClr val="24292E"/>
                </a:solidFill>
                <a:effectLst/>
                <a:latin typeface="SFMono-Regular"/>
              </a:rPr>
              <a:t> buffer[BUFFER_SIZE] = {</a:t>
            </a:r>
            <a:r>
              <a:rPr lang="en-GB" sz="1200" b="0" i="0" dirty="0">
                <a:solidFill>
                  <a:srgbClr val="005CC5"/>
                </a:solidFill>
                <a:effectLst/>
                <a:latin typeface="Helvetica Neue"/>
              </a:rPr>
              <a:t>0</a:t>
            </a:r>
            <a:r>
              <a:rPr lang="en-GB" sz="1200" b="0" i="0" dirty="0">
                <a:solidFill>
                  <a:srgbClr val="24292E"/>
                </a:solidFill>
                <a:effectLst/>
                <a:latin typeface="SFMono-Regular"/>
              </a:rPr>
              <a:t>};</a:t>
            </a:r>
            <a:endParaRPr lang="zh-CN" altLang="en-US" sz="1500" dirty="0"/>
          </a:p>
          <a:p>
            <a:pPr marL="180975" lvl="1" indent="0">
              <a:lnSpc>
                <a:spcPct val="100000"/>
              </a:lnSpc>
              <a:buNone/>
            </a:pPr>
            <a:r>
              <a:rPr lang="en-US" altLang="zh-CN" sz="1500" b="1" dirty="0"/>
              <a:t>Step2. </a:t>
            </a:r>
            <a:r>
              <a:rPr lang="zh-CN" altLang="en-US" sz="1500" b="1" dirty="0"/>
              <a:t>打开视频文件</a:t>
            </a:r>
          </a:p>
          <a:p>
            <a:pPr marL="180975" lvl="1" indent="0">
              <a:lnSpc>
                <a:spcPct val="100000"/>
              </a:lnSpc>
              <a:buNone/>
            </a:pPr>
            <a:r>
              <a:rPr lang="zh-CN" altLang="en-US" sz="1500" dirty="0"/>
              <a:t>使用 </a:t>
            </a:r>
            <a:r>
              <a:rPr lang="en-GB" altLang="zh-CN" sz="1500" dirty="0"/>
              <a:t>FILE * </a:t>
            </a:r>
            <a:r>
              <a:rPr lang="en-GB" altLang="zh-CN" sz="1500" dirty="0" err="1"/>
              <a:t>fopen</a:t>
            </a:r>
            <a:r>
              <a:rPr lang="en-GB" altLang="zh-CN" sz="1500" dirty="0"/>
              <a:t> ( </a:t>
            </a:r>
            <a:r>
              <a:rPr lang="en-GB" altLang="zh-CN" sz="1500" dirty="0" err="1"/>
              <a:t>const</a:t>
            </a:r>
            <a:r>
              <a:rPr lang="en-GB" altLang="zh-CN" sz="1500" dirty="0"/>
              <a:t> char * filename, </a:t>
            </a:r>
            <a:r>
              <a:rPr lang="en-GB" altLang="zh-CN" sz="1500" dirty="0" err="1"/>
              <a:t>const</a:t>
            </a:r>
            <a:r>
              <a:rPr lang="en-GB" altLang="zh-CN" sz="1500" dirty="0"/>
              <a:t> char * mode ); </a:t>
            </a:r>
            <a:r>
              <a:rPr lang="zh-CN" altLang="en-US" sz="1500" dirty="0"/>
              <a:t>打开视频文件。其中</a:t>
            </a:r>
            <a:r>
              <a:rPr lang="en-US" altLang="zh-CN" sz="1500" dirty="0"/>
              <a:t>filename</a:t>
            </a:r>
            <a:r>
              <a:rPr lang="zh-CN" altLang="en-US" sz="1500" dirty="0"/>
              <a:t>表示代传输的视频文件名，并且可以包含路径（如果系统支持），</a:t>
            </a:r>
            <a:r>
              <a:rPr lang="en-US" altLang="zh-CN" sz="1500" dirty="0"/>
              <a:t>mode</a:t>
            </a:r>
            <a:r>
              <a:rPr lang="zh-CN" altLang="en-US" sz="1500" dirty="0"/>
              <a:t>为表示文件访问模式的字符串，可能为：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422BAD5-11E4-AF41-9E0E-AEB35FEFA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926" y="3356698"/>
            <a:ext cx="4007399" cy="2966938"/>
          </a:xfrm>
          <a:prstGeom prst="rect">
            <a:avLst/>
          </a:prstGeom>
        </p:spPr>
      </p:pic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975A5BE2-5B6C-4BF8-D3A2-509471B4DA96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822962" y="6459788"/>
            <a:ext cx="185420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2025/3/24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95081114-DFC8-9BDC-8AA8-D47B50C6C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764640" y="6459788"/>
            <a:ext cx="3617103" cy="365125"/>
          </a:xfrm>
        </p:spPr>
        <p:txBody>
          <a:bodyPr/>
          <a:lstStyle/>
          <a:p>
            <a:pPr>
              <a:defRPr/>
            </a:pPr>
            <a:r>
              <a:rPr lang="zh-CN"/>
              <a:t>计算机网络实验</a:t>
            </a:r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08C1338A-487F-BBB3-CB7B-61758F0D6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425345" y="6459788"/>
            <a:ext cx="984019" cy="365125"/>
          </a:xfrm>
        </p:spPr>
        <p:txBody>
          <a:bodyPr/>
          <a:lstStyle/>
          <a:p>
            <a:pPr>
              <a:defRPr/>
            </a:pPr>
            <a:fld id="{0ECDF2DC-913F-4A16-9C18-8900B299D998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822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EB3732-4467-7B71-8069-31EEB9A40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z="2400" b="0" i="0" u="none" strike="noStrike" kern="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/>
                <a:ea typeface="华文楷体"/>
                <a:cs typeface="Arial"/>
              </a:rPr>
              <a:t>任务二：在服务端使用 </a:t>
            </a:r>
            <a:r>
              <a:rPr kumimoji="0" lang="en-US" altLang="zh-CN" sz="2400" b="0" i="0" u="none" strike="noStrike" kern="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/>
                <a:ea typeface="华文楷体"/>
                <a:cs typeface="Arial"/>
              </a:rPr>
              <a:t>send() </a:t>
            </a:r>
            <a:r>
              <a:rPr kumimoji="0" lang="zh-CN" altLang="en-US" sz="2400" b="0" i="0" u="none" strike="noStrike" kern="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/>
                <a:ea typeface="华文楷体"/>
                <a:cs typeface="Arial"/>
              </a:rPr>
              <a:t>函数向客户端发送视频文件</a:t>
            </a:r>
            <a:endParaRPr lang="en-GB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544A4B-32EA-2FB7-4E9B-32B3A66DA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0975" lvl="1" indent="0">
              <a:lnSpc>
                <a:spcPct val="100000"/>
              </a:lnSpc>
              <a:buNone/>
            </a:pPr>
            <a:r>
              <a:rPr lang="en-GB" sz="1500" b="1" dirty="0"/>
              <a:t>Step3. </a:t>
            </a:r>
            <a:r>
              <a:rPr lang="zh-CN" altLang="en-US" sz="1500" b="1" dirty="0"/>
              <a:t>读取文件内容</a:t>
            </a:r>
          </a:p>
          <a:p>
            <a:pPr marL="180975" lvl="1" indent="0">
              <a:lnSpc>
                <a:spcPct val="100000"/>
              </a:lnSpc>
              <a:buNone/>
            </a:pPr>
            <a:r>
              <a:rPr lang="zh-CN" altLang="en-US" sz="1500" dirty="0"/>
              <a:t>使用</a:t>
            </a:r>
            <a:r>
              <a:rPr lang="en-GB" altLang="zh-CN" sz="1500" dirty="0" err="1"/>
              <a:t>size_t</a:t>
            </a:r>
            <a:r>
              <a:rPr lang="en-GB" altLang="zh-CN" sz="1500" dirty="0"/>
              <a:t> </a:t>
            </a:r>
            <a:r>
              <a:rPr lang="en-GB" altLang="zh-CN" sz="1500" dirty="0" err="1"/>
              <a:t>fread</a:t>
            </a:r>
            <a:r>
              <a:rPr lang="en-GB" altLang="zh-CN" sz="1500" dirty="0"/>
              <a:t> (void * </a:t>
            </a:r>
            <a:r>
              <a:rPr lang="en-GB" altLang="zh-CN" sz="1500" dirty="0" err="1"/>
              <a:t>ptr</a:t>
            </a:r>
            <a:r>
              <a:rPr lang="en-GB" altLang="zh-CN" sz="1500" dirty="0"/>
              <a:t>, </a:t>
            </a:r>
            <a:r>
              <a:rPr lang="en-GB" altLang="zh-CN" sz="1500" dirty="0" err="1"/>
              <a:t>size_t</a:t>
            </a:r>
            <a:r>
              <a:rPr lang="en-GB" altLang="zh-CN" sz="1500" dirty="0"/>
              <a:t> size, </a:t>
            </a:r>
            <a:r>
              <a:rPr lang="en-GB" altLang="zh-CN" sz="1500" dirty="0" err="1"/>
              <a:t>size_t</a:t>
            </a:r>
            <a:r>
              <a:rPr lang="en-GB" altLang="zh-CN" sz="1500" dirty="0"/>
              <a:t> count, FILE * stream); </a:t>
            </a:r>
            <a:r>
              <a:rPr lang="zh-CN" altLang="en-US" sz="1500" dirty="0"/>
              <a:t>读取视频文件内容，并放入发送缓冲区。</a:t>
            </a:r>
            <a:endParaRPr lang="en-GB" altLang="zh-CN" sz="1500" dirty="0"/>
          </a:p>
          <a:p>
            <a:pPr marL="180975" lvl="1" indent="0">
              <a:lnSpc>
                <a:spcPct val="100000"/>
              </a:lnSpc>
              <a:buNone/>
            </a:pPr>
            <a:r>
              <a:rPr lang="zh-CN" altLang="en-US" sz="1500" dirty="0"/>
              <a:t>其中</a:t>
            </a:r>
            <a:r>
              <a:rPr lang="en-US" altLang="zh-CN" sz="1500" dirty="0" err="1"/>
              <a:t>ptr</a:t>
            </a:r>
            <a:r>
              <a:rPr lang="zh-CN" altLang="en-US" sz="1500" dirty="0"/>
              <a:t>表示指向大小至少 </a:t>
            </a:r>
            <a:r>
              <a:rPr lang="en-US" altLang="zh-CN" sz="1500" dirty="0"/>
              <a:t>count </a:t>
            </a:r>
            <a:r>
              <a:rPr lang="zh-CN" altLang="en-US" sz="1500" dirty="0"/>
              <a:t>个字节的内存块的指针；</a:t>
            </a:r>
            <a:r>
              <a:rPr lang="en-US" altLang="zh-CN" sz="1500" dirty="0"/>
              <a:t>size</a:t>
            </a:r>
            <a:r>
              <a:rPr lang="zh-CN" altLang="en-US" sz="1500" dirty="0"/>
              <a:t>为要读取的每个元素的大小（以字节为单位）；</a:t>
            </a:r>
            <a:r>
              <a:rPr lang="en-US" altLang="zh-CN" sz="1500" dirty="0"/>
              <a:t>stream</a:t>
            </a:r>
            <a:r>
              <a:rPr lang="zh-CN" altLang="en-US" sz="1500" dirty="0"/>
              <a:t>表示指向指定输入流 </a:t>
            </a:r>
            <a:r>
              <a:rPr lang="en-US" altLang="zh-CN" sz="1500" dirty="0"/>
              <a:t>FILE </a:t>
            </a:r>
            <a:r>
              <a:rPr lang="zh-CN" altLang="en-US" sz="1500" dirty="0"/>
              <a:t>对象的指针。</a:t>
            </a:r>
            <a:endParaRPr lang="en-GB" altLang="zh-CN" sz="1500" dirty="0"/>
          </a:p>
          <a:p>
            <a:pPr marL="180975" lvl="1" indent="0">
              <a:lnSpc>
                <a:spcPct val="100000"/>
              </a:lnSpc>
              <a:buNone/>
            </a:pPr>
            <a:r>
              <a:rPr lang="zh-CN" altLang="en-US" sz="1500" dirty="0"/>
              <a:t>该函数返回成功读取的元素总数。如果此数字与计数参数不同，则可能发生读取错误或读取时已到达文件结尾。</a:t>
            </a:r>
            <a:endParaRPr lang="en-GB" altLang="zh-CN" sz="1500" dirty="0"/>
          </a:p>
          <a:p>
            <a:pPr marL="180975" lvl="1" indent="0">
              <a:lnSpc>
                <a:spcPct val="100000"/>
              </a:lnSpc>
              <a:buNone/>
            </a:pPr>
            <a:r>
              <a:rPr lang="en-US" altLang="zh-CN" sz="1500" b="1" dirty="0"/>
              <a:t>Step4. </a:t>
            </a:r>
            <a:r>
              <a:rPr lang="zh-CN" altLang="en-US" sz="1500" b="1" dirty="0"/>
              <a:t>将发送缓冲区的内容发送至客户端</a:t>
            </a:r>
          </a:p>
          <a:p>
            <a:pPr marL="180975" lvl="1" indent="0">
              <a:lnSpc>
                <a:spcPct val="100000"/>
              </a:lnSpc>
              <a:buNone/>
            </a:pPr>
            <a:r>
              <a:rPr lang="zh-CN" altLang="en-US" sz="1500" dirty="0"/>
              <a:t>使用 </a:t>
            </a:r>
            <a:r>
              <a:rPr lang="en-US" altLang="zh-CN" sz="1500" dirty="0"/>
              <a:t>int WSAAPI send(SOCKET s, const char *</a:t>
            </a:r>
            <a:r>
              <a:rPr lang="en-US" altLang="zh-CN" sz="1500" dirty="0" err="1"/>
              <a:t>buf</a:t>
            </a:r>
            <a:r>
              <a:rPr lang="en-US" altLang="zh-CN" sz="1500" dirty="0"/>
              <a:t>, int </a:t>
            </a:r>
            <a:r>
              <a:rPr lang="en-US" altLang="zh-CN" sz="1500" dirty="0" err="1"/>
              <a:t>len</a:t>
            </a:r>
            <a:r>
              <a:rPr lang="en-US" altLang="zh-CN" sz="1500" dirty="0"/>
              <a:t>, int flags); </a:t>
            </a:r>
            <a:r>
              <a:rPr lang="zh-CN" altLang="en-US" sz="1500" dirty="0"/>
              <a:t>将发送缓冲区的内容发送至客户端。</a:t>
            </a:r>
          </a:p>
          <a:p>
            <a:pPr marL="180975" lvl="1" indent="0">
              <a:lnSpc>
                <a:spcPct val="100000"/>
              </a:lnSpc>
              <a:buNone/>
            </a:pPr>
            <a:r>
              <a:rPr lang="zh-CN" altLang="en-US" sz="1500" dirty="0"/>
              <a:t>其中</a:t>
            </a:r>
            <a:r>
              <a:rPr lang="en-US" altLang="zh-CN" sz="1500" dirty="0"/>
              <a:t>s</a:t>
            </a:r>
            <a:r>
              <a:rPr lang="zh-CN" altLang="en-US" sz="1500" dirty="0"/>
              <a:t>为已连接套接字的描述符；</a:t>
            </a:r>
            <a:r>
              <a:rPr lang="en-US" altLang="zh-CN" sz="1500" dirty="0" err="1"/>
              <a:t>buf</a:t>
            </a:r>
            <a:r>
              <a:rPr lang="zh-CN" altLang="en-US" sz="1500" dirty="0"/>
              <a:t>为指向包含要传输的数据的缓冲区的指针；</a:t>
            </a:r>
            <a:r>
              <a:rPr lang="en-US" altLang="zh-CN" sz="1500" dirty="0" err="1"/>
              <a:t>len</a:t>
            </a:r>
            <a:r>
              <a:rPr lang="zh-CN" altLang="en-US" sz="1500" dirty="0"/>
              <a:t>表示</a:t>
            </a:r>
            <a:r>
              <a:rPr lang="en-US" altLang="zh-CN" sz="1500" dirty="0" err="1"/>
              <a:t>buf</a:t>
            </a:r>
            <a:r>
              <a:rPr lang="en-US" altLang="zh-CN" sz="1500" dirty="0"/>
              <a:t> </a:t>
            </a:r>
            <a:r>
              <a:rPr lang="zh-CN" altLang="en-US" sz="1500" dirty="0"/>
              <a:t>参数指向的缓冲区中数据的长度（以字节为单位）；</a:t>
            </a:r>
            <a:r>
              <a:rPr lang="en-US" altLang="zh-CN" sz="1500" dirty="0"/>
              <a:t>flags</a:t>
            </a:r>
            <a:r>
              <a:rPr lang="zh-CN" altLang="en-US" sz="1500" dirty="0"/>
              <a:t>为一组指定调用方式的标志（可以为</a:t>
            </a:r>
            <a:r>
              <a:rPr lang="en-US" altLang="zh-CN" sz="1500" dirty="0"/>
              <a:t>0</a:t>
            </a:r>
            <a:r>
              <a:rPr lang="zh-CN" altLang="en-US" sz="1500" dirty="0"/>
              <a:t>）。</a:t>
            </a:r>
          </a:p>
          <a:p>
            <a:pPr marL="180975" lvl="1" indent="0">
              <a:lnSpc>
                <a:spcPct val="100000"/>
              </a:lnSpc>
              <a:buNone/>
            </a:pPr>
            <a:r>
              <a:rPr lang="zh-CN" altLang="en-US" sz="1500" dirty="0"/>
              <a:t>如果没有发生错误，</a:t>
            </a:r>
            <a:r>
              <a:rPr lang="en-US" altLang="zh-CN" sz="1500" dirty="0"/>
              <a:t>send() </a:t>
            </a:r>
            <a:r>
              <a:rPr lang="zh-CN" altLang="en-US" sz="1500" dirty="0"/>
              <a:t>返回发送的总字节数，该字节数可以小于 </a:t>
            </a:r>
            <a:r>
              <a:rPr lang="en-US" altLang="zh-CN" sz="1500" dirty="0" err="1"/>
              <a:t>len</a:t>
            </a:r>
            <a:r>
              <a:rPr lang="en-US" altLang="zh-CN" sz="1500" dirty="0"/>
              <a:t> </a:t>
            </a:r>
            <a:r>
              <a:rPr lang="zh-CN" altLang="en-US" sz="1500" dirty="0"/>
              <a:t>参数中请求发送的字节数。</a:t>
            </a:r>
            <a:endParaRPr lang="en-GB" altLang="zh-CN" sz="1500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3A38BDAD-913D-10CD-91FE-3873ED025F32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822962" y="6459788"/>
            <a:ext cx="185420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2025/3/24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FA1CD61-82A1-8D9C-B64A-5ED850D9D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764640" y="6459788"/>
            <a:ext cx="3617103" cy="365125"/>
          </a:xfrm>
        </p:spPr>
        <p:txBody>
          <a:bodyPr/>
          <a:lstStyle/>
          <a:p>
            <a:pPr>
              <a:defRPr/>
            </a:pPr>
            <a:r>
              <a:rPr lang="zh-CN"/>
              <a:t>计算机网络实验</a:t>
            </a:r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11BF82EF-975E-CD18-AB8F-430099CE8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425345" y="6459788"/>
            <a:ext cx="984019" cy="365125"/>
          </a:xfrm>
        </p:spPr>
        <p:txBody>
          <a:bodyPr/>
          <a:lstStyle/>
          <a:p>
            <a:pPr>
              <a:defRPr/>
            </a:pPr>
            <a:fld id="{0ECDF2DC-913F-4A16-9C18-8900B299D998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71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AD030-DED7-8946-9B5C-B1DC50D3B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BA9BAA-EC16-5B96-FB8C-579464F1D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z="2400" b="0" i="0" u="none" strike="noStrike" kern="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/>
                <a:ea typeface="华文楷体"/>
                <a:cs typeface="Arial"/>
              </a:rPr>
              <a:t>任务二：在服务端使用 </a:t>
            </a:r>
            <a:r>
              <a:rPr kumimoji="0" lang="en-US" altLang="zh-CN" sz="2400" b="0" i="0" u="none" strike="noStrike" kern="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/>
                <a:ea typeface="华文楷体"/>
                <a:cs typeface="Arial"/>
              </a:rPr>
              <a:t>send() </a:t>
            </a:r>
            <a:r>
              <a:rPr kumimoji="0" lang="zh-CN" altLang="en-US" sz="2400" b="0" i="0" u="none" strike="noStrike" kern="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/>
                <a:ea typeface="华文楷体"/>
                <a:cs typeface="Arial"/>
              </a:rPr>
              <a:t>函数向客户端发送视频文件</a:t>
            </a:r>
            <a:endParaRPr lang="en-GB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A4CF11-C807-8729-3C13-23A730243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0975" lvl="1" indent="0">
              <a:lnSpc>
                <a:spcPct val="100000"/>
              </a:lnSpc>
              <a:buNone/>
            </a:pPr>
            <a:r>
              <a:rPr lang="en-GB" sz="1500" b="1" dirty="0"/>
              <a:t>Step5. </a:t>
            </a:r>
            <a:r>
              <a:rPr lang="zh-CN" altLang="en-US" sz="1500" b="1" dirty="0"/>
              <a:t>关闭文件及</a:t>
            </a:r>
            <a:r>
              <a:rPr lang="en-GB" sz="1500" b="1" dirty="0"/>
              <a:t>socket</a:t>
            </a:r>
            <a:r>
              <a:rPr lang="zh-CN" altLang="en-US" sz="1500" b="1" dirty="0"/>
              <a:t>连接</a:t>
            </a:r>
            <a:endParaRPr lang="en-GB" altLang="zh-CN" sz="1500" b="1" dirty="0"/>
          </a:p>
          <a:p>
            <a:pPr marL="180975" lvl="1" indent="0">
              <a:lnSpc>
                <a:spcPct val="100000"/>
              </a:lnSpc>
              <a:buNone/>
            </a:pPr>
            <a:r>
              <a:rPr lang="zh-CN" altLang="en-US" sz="1500" dirty="0"/>
              <a:t>使用</a:t>
            </a:r>
            <a:r>
              <a:rPr lang="en-GB" altLang="zh-CN" sz="1500" dirty="0"/>
              <a:t>int </a:t>
            </a:r>
            <a:r>
              <a:rPr lang="en-GB" altLang="zh-CN" sz="1500" dirty="0" err="1"/>
              <a:t>fclose</a:t>
            </a:r>
            <a:r>
              <a:rPr lang="en-GB" altLang="zh-CN" sz="1500" dirty="0"/>
              <a:t>(FILE * stream);</a:t>
            </a:r>
            <a:r>
              <a:rPr lang="zh-CN" altLang="en-US" sz="1500" dirty="0"/>
              <a:t>关闭文件指针。其中</a:t>
            </a:r>
            <a:r>
              <a:rPr lang="en-GB" altLang="zh-CN" sz="1500" dirty="0"/>
              <a:t>stream</a:t>
            </a:r>
            <a:r>
              <a:rPr lang="zh-CN" altLang="en-US" sz="1500" dirty="0"/>
              <a:t>为指向待关闭对象的</a:t>
            </a:r>
            <a:r>
              <a:rPr lang="en-GB" altLang="zh-CN" sz="1500" dirty="0"/>
              <a:t>FILE</a:t>
            </a:r>
            <a:r>
              <a:rPr lang="zh-CN" altLang="en-US" sz="1500" dirty="0"/>
              <a:t>指针。如果流成功关闭，则返回</a:t>
            </a:r>
            <a:r>
              <a:rPr lang="en-US" altLang="zh-CN" sz="1500" dirty="0"/>
              <a:t>0</a:t>
            </a:r>
            <a:r>
              <a:rPr lang="zh-CN" altLang="en-US" sz="1500" dirty="0"/>
              <a:t>。失败时，返回系统宏定义</a:t>
            </a:r>
            <a:r>
              <a:rPr lang="en-GB" altLang="zh-CN" sz="1500" dirty="0"/>
              <a:t>EOF</a:t>
            </a:r>
            <a:r>
              <a:rPr lang="zh-CN" altLang="en-GB" sz="1500" dirty="0"/>
              <a:t>。</a:t>
            </a:r>
          </a:p>
          <a:p>
            <a:pPr marL="180975" lvl="1" indent="0">
              <a:lnSpc>
                <a:spcPct val="100000"/>
              </a:lnSpc>
              <a:buNone/>
            </a:pPr>
            <a:r>
              <a:rPr lang="zh-CN" altLang="en-US" sz="1500" dirty="0"/>
              <a:t>使用</a:t>
            </a:r>
            <a:r>
              <a:rPr lang="en-GB" altLang="zh-CN" sz="1500" dirty="0"/>
              <a:t>int WSAAPI </a:t>
            </a:r>
            <a:r>
              <a:rPr lang="en-GB" altLang="zh-CN" sz="1500" dirty="0" err="1"/>
              <a:t>closesocket</a:t>
            </a:r>
            <a:r>
              <a:rPr lang="en-GB" altLang="zh-CN" sz="1500" dirty="0"/>
              <a:t>(SOCKET s);</a:t>
            </a:r>
            <a:r>
              <a:rPr lang="zh-CN" altLang="en-US" sz="1500" dirty="0"/>
              <a:t>关闭</a:t>
            </a:r>
            <a:r>
              <a:rPr lang="en-GB" altLang="zh-CN" sz="1500" dirty="0"/>
              <a:t>socket</a:t>
            </a:r>
            <a:r>
              <a:rPr lang="zh-CN" altLang="en-US" sz="1500" dirty="0"/>
              <a:t>连接。</a:t>
            </a:r>
            <a:r>
              <a:rPr lang="en-GB" altLang="zh-CN" sz="1500" dirty="0"/>
              <a:t>s</a:t>
            </a:r>
            <a:r>
              <a:rPr lang="zh-CN" altLang="en-US" sz="1500" dirty="0"/>
              <a:t>表示要关闭的套接字的描述符。如果没有发生错误，</a:t>
            </a:r>
            <a:r>
              <a:rPr lang="en-GB" altLang="zh-CN" sz="1500" dirty="0" err="1"/>
              <a:t>closesocket</a:t>
            </a:r>
            <a:r>
              <a:rPr lang="en-GB" altLang="zh-CN" sz="1500" dirty="0"/>
              <a:t>() </a:t>
            </a:r>
            <a:r>
              <a:rPr lang="zh-CN" altLang="en-US" sz="1500" dirty="0"/>
              <a:t>返回</a:t>
            </a:r>
            <a:r>
              <a:rPr lang="en-US" altLang="zh-CN" sz="1500" dirty="0"/>
              <a:t>0</a:t>
            </a:r>
            <a:r>
              <a:rPr lang="zh-CN" altLang="en-US" sz="1500" dirty="0"/>
              <a:t>； 否则返回系统宏定义</a:t>
            </a:r>
            <a:r>
              <a:rPr lang="en-GB" altLang="zh-CN" sz="1500" dirty="0"/>
              <a:t>SOCKET_ERROR</a:t>
            </a:r>
            <a:r>
              <a:rPr lang="zh-CN" altLang="en-GB" sz="1500" dirty="0"/>
              <a:t>。</a:t>
            </a:r>
            <a:endParaRPr lang="en-GB" altLang="zh-CN" sz="1500" dirty="0"/>
          </a:p>
          <a:p>
            <a:pPr marL="180975" lvl="1" indent="0">
              <a:lnSpc>
                <a:spcPct val="100000"/>
              </a:lnSpc>
              <a:buNone/>
            </a:pPr>
            <a:endParaRPr lang="en-GB" altLang="zh-CN" sz="1500" dirty="0"/>
          </a:p>
          <a:p>
            <a:pPr marL="180975" lvl="1" indent="0">
              <a:lnSpc>
                <a:spcPct val="100000"/>
              </a:lnSpc>
              <a:buNone/>
            </a:pPr>
            <a:r>
              <a:rPr lang="en-GB" altLang="zh-CN" sz="1500" dirty="0"/>
              <a:t>Tips: </a:t>
            </a:r>
          </a:p>
          <a:p>
            <a:pPr marL="180975" lvl="1" indent="0">
              <a:lnSpc>
                <a:spcPct val="100000"/>
              </a:lnSpc>
              <a:buNone/>
            </a:pPr>
            <a:r>
              <a:rPr lang="en-GB" altLang="zh-CN" sz="1500" dirty="0"/>
              <a:t>1.fopen(), </a:t>
            </a:r>
            <a:r>
              <a:rPr lang="en-GB" altLang="zh-CN" sz="1500" dirty="0" err="1"/>
              <a:t>fread</a:t>
            </a:r>
            <a:r>
              <a:rPr lang="en-GB" altLang="zh-CN" sz="1500" dirty="0"/>
              <a:t>(), </a:t>
            </a:r>
            <a:r>
              <a:rPr lang="en-GB" altLang="zh-CN" sz="1500" dirty="0" err="1"/>
              <a:t>fclose</a:t>
            </a:r>
            <a:r>
              <a:rPr lang="en-GB" altLang="zh-CN" sz="1500" dirty="0"/>
              <a:t>()</a:t>
            </a:r>
            <a:r>
              <a:rPr lang="zh-CN" altLang="en-US" sz="1500" dirty="0"/>
              <a:t>等函数在</a:t>
            </a:r>
            <a:r>
              <a:rPr lang="en-GB" altLang="zh-CN" sz="1500" dirty="0"/>
              <a:t>C</a:t>
            </a:r>
            <a:r>
              <a:rPr lang="zh-CN" altLang="en-US" sz="1500" dirty="0"/>
              <a:t>语言标准</a:t>
            </a:r>
            <a:r>
              <a:rPr lang="en-GB" altLang="zh-CN" sz="1500" dirty="0"/>
              <a:t>I/O</a:t>
            </a:r>
            <a:r>
              <a:rPr lang="zh-CN" altLang="en-US" sz="1500" dirty="0"/>
              <a:t>库中，需要引入头文件</a:t>
            </a:r>
            <a:r>
              <a:rPr lang="en-US" altLang="zh-CN" sz="1500" dirty="0"/>
              <a:t>``</a:t>
            </a:r>
            <a:r>
              <a:rPr lang="en-GB" altLang="zh-CN" sz="1500" dirty="0" err="1"/>
              <a:t>stdio.h</a:t>
            </a:r>
            <a:r>
              <a:rPr lang="en-GB" altLang="zh-CN" sz="1500" dirty="0"/>
              <a:t>"</a:t>
            </a:r>
            <a:r>
              <a:rPr lang="zh-CN" altLang="en-GB" sz="1500" dirty="0"/>
              <a:t>。</a:t>
            </a:r>
          </a:p>
          <a:p>
            <a:pPr marL="180975" lvl="1" indent="0">
              <a:lnSpc>
                <a:spcPct val="100000"/>
              </a:lnSpc>
              <a:buNone/>
            </a:pPr>
            <a:r>
              <a:rPr lang="en-GB" altLang="zh-CN" sz="1500" dirty="0"/>
              <a:t>2.send(), </a:t>
            </a:r>
            <a:r>
              <a:rPr lang="en-GB" altLang="zh-CN" sz="1500" dirty="0" err="1"/>
              <a:t>closesocket</a:t>
            </a:r>
            <a:r>
              <a:rPr lang="en-GB" altLang="zh-CN" sz="1500" dirty="0"/>
              <a:t>()</a:t>
            </a:r>
            <a:r>
              <a:rPr lang="zh-CN" altLang="en-US" sz="1500" dirty="0"/>
              <a:t>等函数均为系统调用，在</a:t>
            </a:r>
            <a:r>
              <a:rPr lang="en-GB" altLang="zh-CN" sz="1500" dirty="0"/>
              <a:t>Windows</a:t>
            </a:r>
            <a:r>
              <a:rPr lang="zh-CN" altLang="en-US" sz="1500" dirty="0"/>
              <a:t>系统中需要引入头文件</a:t>
            </a:r>
            <a:r>
              <a:rPr lang="en-US" altLang="zh-CN" sz="1500" dirty="0"/>
              <a:t>``</a:t>
            </a:r>
            <a:r>
              <a:rPr lang="en-GB" altLang="zh-CN" sz="1500" dirty="0"/>
              <a:t>winsock2.h"</a:t>
            </a:r>
            <a:r>
              <a:rPr lang="zh-CN" altLang="en-GB" sz="1500" dirty="0"/>
              <a:t>。</a:t>
            </a:r>
          </a:p>
          <a:p>
            <a:pPr marL="180975" lvl="1" indent="0">
              <a:lnSpc>
                <a:spcPct val="100000"/>
              </a:lnSpc>
              <a:buNone/>
            </a:pPr>
            <a:r>
              <a:rPr lang="en-GB" altLang="zh-CN" sz="1500" dirty="0"/>
              <a:t>3.</a:t>
            </a:r>
            <a:r>
              <a:rPr lang="zh-CN" altLang="en-US" sz="1500" dirty="0"/>
              <a:t>发送缓冲区的大小是有限的，可能无法一次读入完整的视频文件，这就需要循环读取文件并发送。可以利用 </a:t>
            </a:r>
            <a:r>
              <a:rPr lang="en-GB" altLang="zh-CN" sz="1500" dirty="0" err="1"/>
              <a:t>fread</a:t>
            </a:r>
            <a:r>
              <a:rPr lang="en-GB" altLang="zh-CN" sz="1500" dirty="0"/>
              <a:t>() </a:t>
            </a:r>
            <a:r>
              <a:rPr lang="zh-CN" altLang="en-US" sz="1500" dirty="0"/>
              <a:t>的返回值判断文件是否读取完毕。</a:t>
            </a:r>
            <a:endParaRPr lang="en-GB" altLang="zh-CN" sz="1500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D6B2C84A-60CE-F86F-8BFF-5F665F50E42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822962" y="6459788"/>
            <a:ext cx="185420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2025/3/24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E754DA49-1908-64D2-055D-9D1591B7D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764640" y="6459788"/>
            <a:ext cx="3617103" cy="365125"/>
          </a:xfrm>
        </p:spPr>
        <p:txBody>
          <a:bodyPr/>
          <a:lstStyle/>
          <a:p>
            <a:pPr>
              <a:defRPr/>
            </a:pPr>
            <a:r>
              <a:rPr lang="zh-CN"/>
              <a:t>计算机网络实验</a:t>
            </a:r>
            <a:endParaRPr lang="en-US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B2BD15F0-5691-C301-DDA5-7EF45C684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425345" y="6459788"/>
            <a:ext cx="984019" cy="365125"/>
          </a:xfrm>
        </p:spPr>
        <p:txBody>
          <a:bodyPr/>
          <a:lstStyle/>
          <a:p>
            <a:pPr>
              <a:defRPr/>
            </a:pPr>
            <a:fld id="{0ECDF2DC-913F-4A16-9C18-8900B299D998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64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DD43F-2427-7736-BF1F-296C1E18C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3A60F2-4ABD-6B9E-D01B-BAC820C97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2400" dirty="0"/>
              <a:t>任务三：在客户端使用 </a:t>
            </a:r>
            <a:r>
              <a:rPr lang="en-US" altLang="zh-CN" sz="2400" dirty="0" err="1"/>
              <a:t>recv</a:t>
            </a:r>
            <a:r>
              <a:rPr lang="en-US" altLang="zh-CN" sz="2400" dirty="0"/>
              <a:t>() </a:t>
            </a:r>
            <a:r>
              <a:rPr lang="zh-CN" altLang="en-US" sz="2400" dirty="0"/>
              <a:t>函数接收服务端发送的视频文件</a:t>
            </a:r>
            <a:endParaRPr lang="en-GB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2B472E-59C9-AC6E-62CD-862CAE5FC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zh-CN" altLang="en-US" sz="1800" b="1" i="0" dirty="0">
                <a:solidFill>
                  <a:srgbClr val="24292E"/>
                </a:solidFill>
                <a:effectLst/>
                <a:latin typeface="Helvetica Neue"/>
              </a:rPr>
              <a:t>在服务端读取视频文件，并传输文件至客户端，主要有以下五步：</a:t>
            </a:r>
            <a:endParaRPr lang="en-GB" altLang="zh-CN" sz="1800" b="1" i="0" dirty="0">
              <a:solidFill>
                <a:srgbClr val="24292E"/>
              </a:solidFill>
              <a:effectLst/>
              <a:latin typeface="Helvetica Neue"/>
            </a:endParaRPr>
          </a:p>
          <a:p>
            <a:pPr marL="180975" lvl="1" indent="0">
              <a:lnSpc>
                <a:spcPct val="100000"/>
              </a:lnSpc>
              <a:buNone/>
            </a:pPr>
            <a:r>
              <a:rPr lang="en-GB" altLang="zh-CN" sz="1500" b="1" dirty="0"/>
              <a:t>Step1. </a:t>
            </a:r>
            <a:r>
              <a:rPr lang="zh-CN" altLang="en-US" sz="1500" b="1" dirty="0"/>
              <a:t>创建发送缓冲区</a:t>
            </a:r>
          </a:p>
          <a:p>
            <a:pPr marL="180975" lvl="1" indent="0">
              <a:lnSpc>
                <a:spcPct val="100000"/>
              </a:lnSpc>
              <a:buNone/>
            </a:pPr>
            <a:r>
              <a:rPr lang="zh-CN" altLang="en-US" sz="1500" dirty="0"/>
              <a:t>创建一个</a:t>
            </a:r>
            <a:r>
              <a:rPr lang="en-US" altLang="zh-CN" sz="1500" dirty="0"/>
              <a:t>char</a:t>
            </a:r>
            <a:r>
              <a:rPr lang="zh-CN" altLang="en-US" sz="1500" dirty="0"/>
              <a:t>类型的数组作为发送缓冲区，存储待发送的数据。</a:t>
            </a:r>
            <a:endParaRPr lang="en-GB" altLang="zh-CN" sz="1500" dirty="0"/>
          </a:p>
          <a:p>
            <a:pPr marL="180975" lvl="1" indent="0">
              <a:lnSpc>
                <a:spcPct val="100000"/>
              </a:lnSpc>
              <a:buNone/>
            </a:pPr>
            <a:r>
              <a:rPr lang="en-GB" sz="1200" b="1" i="0" dirty="0">
                <a:solidFill>
                  <a:srgbClr val="D73A49"/>
                </a:solidFill>
                <a:effectLst/>
                <a:latin typeface="Helvetica Neue"/>
              </a:rPr>
              <a:t>char</a:t>
            </a:r>
            <a:r>
              <a:rPr lang="en-GB" sz="1200" b="0" i="0" dirty="0">
                <a:solidFill>
                  <a:srgbClr val="24292E"/>
                </a:solidFill>
                <a:effectLst/>
                <a:latin typeface="SFMono-Regular"/>
              </a:rPr>
              <a:t> buffer[BUFFER_SIZE] = {</a:t>
            </a:r>
            <a:r>
              <a:rPr lang="en-GB" sz="1200" b="0" i="0" dirty="0">
                <a:solidFill>
                  <a:srgbClr val="005CC5"/>
                </a:solidFill>
                <a:effectLst/>
                <a:latin typeface="Helvetica Neue"/>
              </a:rPr>
              <a:t>0</a:t>
            </a:r>
            <a:r>
              <a:rPr lang="en-GB" sz="1200" b="0" i="0" dirty="0">
                <a:solidFill>
                  <a:srgbClr val="24292E"/>
                </a:solidFill>
                <a:effectLst/>
                <a:latin typeface="SFMono-Regular"/>
              </a:rPr>
              <a:t>};</a:t>
            </a:r>
            <a:endParaRPr lang="zh-CN" altLang="en-US" sz="1500" dirty="0"/>
          </a:p>
          <a:p>
            <a:pPr marL="180975" lvl="1" indent="0">
              <a:lnSpc>
                <a:spcPct val="100000"/>
              </a:lnSpc>
              <a:buNone/>
            </a:pPr>
            <a:r>
              <a:rPr lang="en-US" altLang="zh-CN" sz="1500" b="1" dirty="0"/>
              <a:t>Step2. </a:t>
            </a:r>
            <a:r>
              <a:rPr lang="zh-CN" altLang="en-US" sz="1500" b="1" dirty="0"/>
              <a:t>打开视频文件</a:t>
            </a:r>
          </a:p>
          <a:p>
            <a:pPr marL="180975" lvl="1" indent="0">
              <a:lnSpc>
                <a:spcPct val="100000"/>
              </a:lnSpc>
              <a:buNone/>
            </a:pPr>
            <a:r>
              <a:rPr lang="zh-CN" altLang="en-US" sz="1500" dirty="0"/>
              <a:t>使用 </a:t>
            </a:r>
            <a:r>
              <a:rPr lang="en-GB" altLang="zh-CN" sz="1500" dirty="0"/>
              <a:t>FILE * </a:t>
            </a:r>
            <a:r>
              <a:rPr lang="en-GB" altLang="zh-CN" sz="1500" dirty="0" err="1"/>
              <a:t>fopen</a:t>
            </a:r>
            <a:r>
              <a:rPr lang="en-GB" altLang="zh-CN" sz="1500" dirty="0"/>
              <a:t> ( </a:t>
            </a:r>
            <a:r>
              <a:rPr lang="en-GB" altLang="zh-CN" sz="1500" dirty="0" err="1"/>
              <a:t>const</a:t>
            </a:r>
            <a:r>
              <a:rPr lang="en-GB" altLang="zh-CN" sz="1500" dirty="0"/>
              <a:t> char * filename, </a:t>
            </a:r>
            <a:r>
              <a:rPr lang="en-GB" altLang="zh-CN" sz="1500" dirty="0" err="1"/>
              <a:t>const</a:t>
            </a:r>
            <a:r>
              <a:rPr lang="en-GB" altLang="zh-CN" sz="1500" dirty="0"/>
              <a:t> char * mode ); </a:t>
            </a:r>
            <a:r>
              <a:rPr lang="zh-CN" altLang="en-US" sz="1500" dirty="0"/>
              <a:t>创建一个空的文件，用于存储接收到的视频数据。（更改</a:t>
            </a:r>
            <a:r>
              <a:rPr lang="en-GB" altLang="zh-CN" sz="1500" dirty="0"/>
              <a:t>mode</a:t>
            </a:r>
            <a:r>
              <a:rPr lang="zh-CN" altLang="en-US" sz="1500" dirty="0"/>
              <a:t>的值以创建新文件。）</a:t>
            </a:r>
            <a:endParaRPr lang="en-GB" altLang="zh-CN" sz="1500" dirty="0"/>
          </a:p>
          <a:p>
            <a:pPr marL="180975" lvl="1" indent="0">
              <a:lnSpc>
                <a:spcPct val="100000"/>
              </a:lnSpc>
              <a:buNone/>
            </a:pPr>
            <a:r>
              <a:rPr lang="en-US" altLang="zh-CN" sz="1500" b="1" dirty="0"/>
              <a:t>Step3. </a:t>
            </a:r>
            <a:r>
              <a:rPr lang="zh-CN" altLang="en-US" sz="1500" b="1" dirty="0"/>
              <a:t>接收服务端发送的数据并写入接收缓冲区</a:t>
            </a:r>
            <a:endParaRPr lang="en-GB" altLang="zh-CN" sz="1500" b="1" dirty="0"/>
          </a:p>
          <a:p>
            <a:pPr marL="180975" lvl="1" indent="0">
              <a:lnSpc>
                <a:spcPct val="100000"/>
              </a:lnSpc>
              <a:buNone/>
            </a:pPr>
            <a:r>
              <a:rPr lang="zh-CN" altLang="en-US" sz="1500" dirty="0"/>
              <a:t>使用 </a:t>
            </a:r>
            <a:r>
              <a:rPr lang="en-US" altLang="zh-CN" sz="1500" dirty="0"/>
              <a:t>int WSAAPI </a:t>
            </a:r>
            <a:r>
              <a:rPr lang="en-US" altLang="zh-CN" sz="1500" dirty="0" err="1"/>
              <a:t>recv</a:t>
            </a:r>
            <a:r>
              <a:rPr lang="en-US" altLang="zh-CN" sz="1500" dirty="0"/>
              <a:t>(SOCKET s, const char *</a:t>
            </a:r>
            <a:r>
              <a:rPr lang="en-US" altLang="zh-CN" sz="1500" dirty="0" err="1"/>
              <a:t>buf</a:t>
            </a:r>
            <a:r>
              <a:rPr lang="en-US" altLang="zh-CN" sz="1500" dirty="0"/>
              <a:t>, int </a:t>
            </a:r>
            <a:r>
              <a:rPr lang="en-US" altLang="zh-CN" sz="1500" dirty="0" err="1"/>
              <a:t>len</a:t>
            </a:r>
            <a:r>
              <a:rPr lang="en-US" altLang="zh-CN" sz="1500" dirty="0"/>
              <a:t>, int flags); </a:t>
            </a:r>
            <a:r>
              <a:rPr lang="zh-CN" altLang="en-US" sz="1500" dirty="0"/>
              <a:t>接收到的数据读入接收缓冲区。</a:t>
            </a:r>
          </a:p>
          <a:p>
            <a:pPr marL="180975" lvl="1" indent="0">
              <a:lnSpc>
                <a:spcPct val="100000"/>
              </a:lnSpc>
              <a:buNone/>
            </a:pPr>
            <a:r>
              <a:rPr lang="zh-CN" altLang="en-US" sz="1500" dirty="0"/>
              <a:t>其中</a:t>
            </a:r>
            <a:r>
              <a:rPr lang="en-US" altLang="zh-CN" sz="1500" dirty="0"/>
              <a:t>s</a:t>
            </a:r>
            <a:r>
              <a:rPr lang="zh-CN" altLang="en-US" sz="1500" dirty="0"/>
              <a:t>为已连接套接字的描述符；</a:t>
            </a:r>
            <a:r>
              <a:rPr lang="en-US" altLang="zh-CN" sz="1500" dirty="0" err="1"/>
              <a:t>buf</a:t>
            </a:r>
            <a:r>
              <a:rPr lang="zh-CN" altLang="en-US" sz="1500" dirty="0"/>
              <a:t>表示指向接收传入数据的缓冲区的指针；</a:t>
            </a:r>
            <a:r>
              <a:rPr lang="en-US" altLang="zh-CN" sz="1500" dirty="0" err="1"/>
              <a:t>len</a:t>
            </a:r>
            <a:r>
              <a:rPr lang="zh-CN" altLang="en-US" sz="1500" dirty="0"/>
              <a:t>表示</a:t>
            </a:r>
            <a:r>
              <a:rPr lang="en-US" altLang="zh-CN" sz="1500" dirty="0" err="1"/>
              <a:t>buf</a:t>
            </a:r>
            <a:r>
              <a:rPr lang="en-US" altLang="zh-CN" sz="1500" dirty="0"/>
              <a:t> </a:t>
            </a:r>
            <a:r>
              <a:rPr lang="zh-CN" altLang="en-US" sz="1500" dirty="0"/>
              <a:t>参数指向的缓冲区中数据的长度（以字节为单位）；</a:t>
            </a:r>
            <a:r>
              <a:rPr lang="en-US" altLang="zh-CN" sz="1500" dirty="0"/>
              <a:t>flags</a:t>
            </a:r>
            <a:r>
              <a:rPr lang="zh-CN" altLang="en-US" sz="1500" dirty="0"/>
              <a:t>为一组指定调用方式的标志（可以为</a:t>
            </a:r>
            <a:r>
              <a:rPr lang="en-US" altLang="zh-CN" sz="1500" dirty="0"/>
              <a:t>0</a:t>
            </a:r>
            <a:r>
              <a:rPr lang="zh-CN" altLang="en-US" sz="1500" dirty="0"/>
              <a:t>）。</a:t>
            </a:r>
          </a:p>
          <a:p>
            <a:pPr marL="180975" lvl="1" indent="0">
              <a:lnSpc>
                <a:spcPct val="100000"/>
              </a:lnSpc>
              <a:buNone/>
            </a:pPr>
            <a:r>
              <a:rPr lang="zh-CN" altLang="en-US" sz="1500" dirty="0"/>
              <a:t>如果没有发生错误，</a:t>
            </a:r>
            <a:r>
              <a:rPr lang="en-US" altLang="zh-CN" sz="1500" dirty="0" err="1"/>
              <a:t>recv</a:t>
            </a:r>
            <a:r>
              <a:rPr lang="en-US" altLang="zh-CN" sz="1500" dirty="0"/>
              <a:t>()</a:t>
            </a:r>
            <a:r>
              <a:rPr lang="zh-CN" altLang="en-US" sz="1500" dirty="0"/>
              <a:t>返回接收到的字节数，</a:t>
            </a:r>
            <a:r>
              <a:rPr lang="en-US" altLang="zh-CN" sz="1500" dirty="0" err="1"/>
              <a:t>buf</a:t>
            </a:r>
            <a:r>
              <a:rPr lang="zh-CN" altLang="en-US" sz="1500" dirty="0"/>
              <a:t>参数指向的缓冲区将包含接收到的数据。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43D7545C-C445-0EFA-2340-05CE6D169A5C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822962" y="6459788"/>
            <a:ext cx="185420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2025/3/24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338053C1-5EBB-C128-3081-078C3CC33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764640" y="6459788"/>
            <a:ext cx="3617103" cy="365125"/>
          </a:xfrm>
        </p:spPr>
        <p:txBody>
          <a:bodyPr/>
          <a:lstStyle/>
          <a:p>
            <a:pPr>
              <a:defRPr/>
            </a:pPr>
            <a:r>
              <a:rPr lang="zh-CN"/>
              <a:t>计算机网络实验</a:t>
            </a:r>
            <a:endParaRPr lang="en-US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BEEE00BD-E051-9756-2879-D6DDC82F4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425345" y="6459788"/>
            <a:ext cx="984019" cy="365125"/>
          </a:xfrm>
        </p:spPr>
        <p:txBody>
          <a:bodyPr/>
          <a:lstStyle/>
          <a:p>
            <a:pPr>
              <a:defRPr/>
            </a:pPr>
            <a:fld id="{0ECDF2DC-913F-4A16-9C18-8900B299D998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408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6A80D-F467-618D-2415-EE01FF828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E4A653-CE9E-9DD4-418E-5C4F72DA4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0" lang="zh-CN" altLang="en-US" sz="2400" b="0" i="0" u="none" strike="noStrike" kern="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/>
                <a:ea typeface="华文楷体"/>
                <a:cs typeface="Arial"/>
              </a:rPr>
              <a:t>任务三：在客户端使用 </a:t>
            </a:r>
            <a:r>
              <a:rPr kumimoji="0" lang="en-US" altLang="zh-CN" sz="2400" b="0" i="0" u="none" strike="noStrike" kern="0" cap="none" spc="-5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/>
                <a:ea typeface="华文楷体"/>
                <a:cs typeface="Arial"/>
              </a:rPr>
              <a:t>recv</a:t>
            </a:r>
            <a:r>
              <a:rPr kumimoji="0" lang="en-US" altLang="zh-CN" sz="2400" b="0" i="0" u="none" strike="noStrike" kern="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/>
                <a:ea typeface="华文楷体"/>
                <a:cs typeface="Arial"/>
              </a:rPr>
              <a:t>() </a:t>
            </a:r>
            <a:r>
              <a:rPr kumimoji="0" lang="zh-CN" altLang="en-US" sz="2400" b="0" i="0" u="none" strike="noStrike" kern="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/>
                <a:ea typeface="华文楷体"/>
                <a:cs typeface="Arial"/>
              </a:rPr>
              <a:t>函数接收服务端发送的视频文件</a:t>
            </a:r>
            <a:endParaRPr lang="en-GB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D5F51C-44DC-D5AF-8EF2-6C20A9B03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80975" lvl="1" indent="0">
              <a:lnSpc>
                <a:spcPct val="100000"/>
              </a:lnSpc>
              <a:buNone/>
            </a:pPr>
            <a:r>
              <a:rPr lang="en-US" altLang="zh-CN" sz="1500" b="1" dirty="0"/>
              <a:t>Step4. </a:t>
            </a:r>
            <a:r>
              <a:rPr lang="zh-CN" altLang="en-US" sz="1500" b="1" dirty="0"/>
              <a:t>写入文件内容</a:t>
            </a:r>
          </a:p>
          <a:p>
            <a:pPr marL="180975" lvl="1" indent="0">
              <a:lnSpc>
                <a:spcPct val="100000"/>
              </a:lnSpc>
              <a:buNone/>
            </a:pPr>
            <a:r>
              <a:rPr lang="zh-CN" altLang="en-US" sz="1500" dirty="0"/>
              <a:t>使用</a:t>
            </a:r>
            <a:r>
              <a:rPr lang="en-US" altLang="zh-CN" sz="1500" dirty="0" err="1"/>
              <a:t>size_t</a:t>
            </a:r>
            <a:r>
              <a:rPr lang="en-US" altLang="zh-CN" sz="1500" dirty="0"/>
              <a:t> </a:t>
            </a:r>
            <a:r>
              <a:rPr lang="en-US" altLang="zh-CN" sz="1500" dirty="0" err="1"/>
              <a:t>fwrite</a:t>
            </a:r>
            <a:r>
              <a:rPr lang="en-US" altLang="zh-CN" sz="1500" dirty="0"/>
              <a:t> (const void * </a:t>
            </a:r>
            <a:r>
              <a:rPr lang="en-US" altLang="zh-CN" sz="1500" dirty="0" err="1"/>
              <a:t>ptr</a:t>
            </a:r>
            <a:r>
              <a:rPr lang="en-US" altLang="zh-CN" sz="1500" dirty="0"/>
              <a:t>, </a:t>
            </a:r>
            <a:r>
              <a:rPr lang="en-US" altLang="zh-CN" sz="1500" dirty="0" err="1"/>
              <a:t>size_t</a:t>
            </a:r>
            <a:r>
              <a:rPr lang="en-US" altLang="zh-CN" sz="1500" dirty="0"/>
              <a:t> size, </a:t>
            </a:r>
            <a:r>
              <a:rPr lang="en-US" altLang="zh-CN" sz="1500" dirty="0" err="1"/>
              <a:t>size_t</a:t>
            </a:r>
            <a:r>
              <a:rPr lang="en-US" altLang="zh-CN" sz="1500" dirty="0"/>
              <a:t> count, FILE * stream); </a:t>
            </a:r>
            <a:r>
              <a:rPr lang="zh-CN" altLang="en-US" sz="1500" dirty="0"/>
              <a:t>将接收缓冲区内的数据写入创建的视频文件中。</a:t>
            </a:r>
          </a:p>
          <a:p>
            <a:pPr marL="180975" lvl="1" indent="0">
              <a:lnSpc>
                <a:spcPct val="100000"/>
              </a:lnSpc>
              <a:buNone/>
            </a:pPr>
            <a:r>
              <a:rPr lang="zh-CN" altLang="en-US" sz="1500" dirty="0"/>
              <a:t>其中</a:t>
            </a:r>
            <a:r>
              <a:rPr lang="en-US" altLang="zh-CN" sz="1500" dirty="0" err="1"/>
              <a:t>ptr</a:t>
            </a:r>
            <a:r>
              <a:rPr lang="zh-CN" altLang="en-US" sz="1500" dirty="0"/>
              <a:t>表示指向要写入的元素数组的指针；</a:t>
            </a:r>
            <a:r>
              <a:rPr lang="en-US" altLang="zh-CN" sz="1500" dirty="0"/>
              <a:t>size</a:t>
            </a:r>
            <a:r>
              <a:rPr lang="zh-CN" altLang="en-US" sz="1500" dirty="0"/>
              <a:t>为要写入的每个元素的大小（以字节为单位）；</a:t>
            </a:r>
          </a:p>
          <a:p>
            <a:pPr marL="180975" lvl="1" indent="0">
              <a:lnSpc>
                <a:spcPct val="100000"/>
              </a:lnSpc>
              <a:buNone/>
            </a:pPr>
            <a:r>
              <a:rPr lang="en-US" altLang="zh-CN" sz="1500" dirty="0"/>
              <a:t>count</a:t>
            </a:r>
            <a:r>
              <a:rPr lang="zh-CN" altLang="en-US" sz="1500" dirty="0"/>
              <a:t>为元素数量，每个元素的大小为</a:t>
            </a:r>
            <a:r>
              <a:rPr lang="en-US" altLang="zh-CN" sz="1500" dirty="0"/>
              <a:t>size</a:t>
            </a:r>
            <a:r>
              <a:rPr lang="zh-CN" altLang="en-US" sz="1500" dirty="0"/>
              <a:t>字节；</a:t>
            </a:r>
            <a:r>
              <a:rPr lang="en-US" altLang="zh-CN" sz="1500" dirty="0"/>
              <a:t>stream</a:t>
            </a:r>
            <a:r>
              <a:rPr lang="zh-CN" altLang="en-US" sz="1500" dirty="0"/>
              <a:t>表示指向指定输出流 </a:t>
            </a:r>
            <a:r>
              <a:rPr lang="en-US" altLang="zh-CN" sz="1500" dirty="0"/>
              <a:t>FILE </a:t>
            </a:r>
            <a:r>
              <a:rPr lang="zh-CN" altLang="en-US" sz="1500" dirty="0"/>
              <a:t>对象的指针。</a:t>
            </a:r>
          </a:p>
          <a:p>
            <a:pPr marL="180975" lvl="1" indent="0">
              <a:lnSpc>
                <a:spcPct val="100000"/>
              </a:lnSpc>
              <a:buNone/>
            </a:pPr>
            <a:r>
              <a:rPr lang="zh-CN" altLang="en-US" sz="1500" dirty="0"/>
              <a:t>该函数返回成功写入的元素总数。如果该数字与计数参数不同，则说明写入错误导致函数无法完成。</a:t>
            </a:r>
            <a:endParaRPr lang="en-GB" sz="1500" dirty="0"/>
          </a:p>
          <a:p>
            <a:pPr marL="180975" lvl="1" indent="0">
              <a:lnSpc>
                <a:spcPct val="100000"/>
              </a:lnSpc>
              <a:buNone/>
            </a:pPr>
            <a:r>
              <a:rPr lang="en-GB" sz="1500" b="1" dirty="0"/>
              <a:t>Step5. </a:t>
            </a:r>
            <a:r>
              <a:rPr lang="zh-CN" altLang="en-US" sz="1500" b="1" dirty="0"/>
              <a:t>关闭文件及</a:t>
            </a:r>
            <a:r>
              <a:rPr lang="en-GB" sz="1500" b="1" dirty="0"/>
              <a:t>socket</a:t>
            </a:r>
            <a:r>
              <a:rPr lang="zh-CN" altLang="en-US" sz="1500" b="1" dirty="0"/>
              <a:t>连接</a:t>
            </a:r>
            <a:endParaRPr lang="en-GB" altLang="zh-CN" sz="1500" b="1" dirty="0"/>
          </a:p>
          <a:p>
            <a:pPr marL="180975" lvl="1" indent="0">
              <a:lnSpc>
                <a:spcPct val="100000"/>
              </a:lnSpc>
              <a:buNone/>
            </a:pPr>
            <a:r>
              <a:rPr lang="zh-CN" altLang="en-US" sz="1500" dirty="0"/>
              <a:t>使用</a:t>
            </a:r>
            <a:r>
              <a:rPr lang="en-GB" altLang="zh-CN" sz="1500" dirty="0"/>
              <a:t>int </a:t>
            </a:r>
            <a:r>
              <a:rPr lang="en-GB" altLang="zh-CN" sz="1500" dirty="0" err="1"/>
              <a:t>fclose</a:t>
            </a:r>
            <a:r>
              <a:rPr lang="en-GB" altLang="zh-CN" sz="1500" dirty="0"/>
              <a:t>(FILE * stream);</a:t>
            </a:r>
            <a:r>
              <a:rPr lang="zh-CN" altLang="en-US" sz="1500" dirty="0"/>
              <a:t>关闭文件指针。其中</a:t>
            </a:r>
            <a:r>
              <a:rPr lang="en-GB" altLang="zh-CN" sz="1500" dirty="0"/>
              <a:t>stream</a:t>
            </a:r>
            <a:r>
              <a:rPr lang="zh-CN" altLang="en-US" sz="1500" dirty="0"/>
              <a:t>为指向待关闭对象的</a:t>
            </a:r>
            <a:r>
              <a:rPr lang="en-GB" altLang="zh-CN" sz="1500" dirty="0"/>
              <a:t>FILE</a:t>
            </a:r>
            <a:r>
              <a:rPr lang="zh-CN" altLang="en-US" sz="1500" dirty="0"/>
              <a:t>指针。如果流成功关闭，则返回</a:t>
            </a:r>
            <a:r>
              <a:rPr lang="en-US" altLang="zh-CN" sz="1500" dirty="0"/>
              <a:t>0</a:t>
            </a:r>
            <a:r>
              <a:rPr lang="zh-CN" altLang="en-US" sz="1500" dirty="0"/>
              <a:t>。失败时，返回系统宏定义</a:t>
            </a:r>
            <a:r>
              <a:rPr lang="en-GB" altLang="zh-CN" sz="1500" dirty="0"/>
              <a:t>EOF</a:t>
            </a:r>
            <a:r>
              <a:rPr lang="zh-CN" altLang="en-GB" sz="1500" dirty="0"/>
              <a:t>。</a:t>
            </a:r>
          </a:p>
          <a:p>
            <a:pPr marL="180975" lvl="1" indent="0">
              <a:lnSpc>
                <a:spcPct val="100000"/>
              </a:lnSpc>
              <a:buNone/>
            </a:pPr>
            <a:r>
              <a:rPr lang="zh-CN" altLang="en-US" sz="1500" dirty="0"/>
              <a:t>使用</a:t>
            </a:r>
            <a:r>
              <a:rPr lang="en-GB" altLang="zh-CN" sz="1500" dirty="0"/>
              <a:t>int WSAAPI </a:t>
            </a:r>
            <a:r>
              <a:rPr lang="en-GB" altLang="zh-CN" sz="1500" dirty="0" err="1"/>
              <a:t>closesocket</a:t>
            </a:r>
            <a:r>
              <a:rPr lang="en-GB" altLang="zh-CN" sz="1500" dirty="0"/>
              <a:t>(SOCKET s);</a:t>
            </a:r>
            <a:r>
              <a:rPr lang="zh-CN" altLang="en-US" sz="1500" dirty="0"/>
              <a:t>关闭</a:t>
            </a:r>
            <a:r>
              <a:rPr lang="en-GB" altLang="zh-CN" sz="1500" dirty="0"/>
              <a:t>socket</a:t>
            </a:r>
            <a:r>
              <a:rPr lang="zh-CN" altLang="en-US" sz="1500" dirty="0"/>
              <a:t>连接。</a:t>
            </a:r>
            <a:r>
              <a:rPr lang="en-GB" altLang="zh-CN" sz="1500" dirty="0"/>
              <a:t>s</a:t>
            </a:r>
            <a:r>
              <a:rPr lang="zh-CN" altLang="en-US" sz="1500" dirty="0"/>
              <a:t>表示要关闭的套接字的描述符。如果没有发生错误，</a:t>
            </a:r>
            <a:r>
              <a:rPr lang="en-GB" altLang="zh-CN" sz="1500" dirty="0" err="1"/>
              <a:t>closesocket</a:t>
            </a:r>
            <a:r>
              <a:rPr lang="en-GB" altLang="zh-CN" sz="1500" dirty="0"/>
              <a:t>() </a:t>
            </a:r>
            <a:r>
              <a:rPr lang="zh-CN" altLang="en-US" sz="1500" dirty="0"/>
              <a:t>返回</a:t>
            </a:r>
            <a:r>
              <a:rPr lang="en-US" altLang="zh-CN" sz="1500" dirty="0"/>
              <a:t>0</a:t>
            </a:r>
            <a:r>
              <a:rPr lang="zh-CN" altLang="en-US" sz="1500" dirty="0"/>
              <a:t>； 否则返回系统宏定义</a:t>
            </a:r>
            <a:r>
              <a:rPr lang="en-GB" altLang="zh-CN" sz="1500" dirty="0"/>
              <a:t>SOCKET_ERROR</a:t>
            </a:r>
            <a:r>
              <a:rPr lang="zh-CN" altLang="en-GB" sz="1500" dirty="0"/>
              <a:t>。</a:t>
            </a:r>
            <a:endParaRPr lang="en-GB" altLang="zh-CN" sz="1500" dirty="0"/>
          </a:p>
          <a:p>
            <a:pPr marL="180975" lvl="1" indent="0">
              <a:lnSpc>
                <a:spcPct val="100000"/>
              </a:lnSpc>
              <a:buNone/>
            </a:pPr>
            <a:endParaRPr lang="en-GB" altLang="zh-CN" sz="1500" dirty="0"/>
          </a:p>
          <a:p>
            <a:pPr marL="180975" lvl="1" indent="0">
              <a:lnSpc>
                <a:spcPct val="100000"/>
              </a:lnSpc>
              <a:buNone/>
            </a:pPr>
            <a:r>
              <a:rPr lang="en-GB" altLang="zh-CN" sz="1500" dirty="0"/>
              <a:t>Tips: </a:t>
            </a:r>
          </a:p>
          <a:p>
            <a:pPr marL="180975" lvl="1" indent="0">
              <a:lnSpc>
                <a:spcPct val="100000"/>
              </a:lnSpc>
              <a:buNone/>
            </a:pPr>
            <a:r>
              <a:rPr lang="en-GB" altLang="zh-CN" sz="1500" dirty="0"/>
              <a:t>1.fopen(), </a:t>
            </a:r>
            <a:r>
              <a:rPr lang="en-GB" altLang="zh-CN" sz="1500" dirty="0" err="1"/>
              <a:t>fread</a:t>
            </a:r>
            <a:r>
              <a:rPr lang="en-GB" altLang="zh-CN" sz="1500" dirty="0"/>
              <a:t>(), </a:t>
            </a:r>
            <a:r>
              <a:rPr lang="en-GB" altLang="zh-CN" sz="1500" dirty="0" err="1"/>
              <a:t>fclose</a:t>
            </a:r>
            <a:r>
              <a:rPr lang="en-GB" altLang="zh-CN" sz="1500" dirty="0"/>
              <a:t>()</a:t>
            </a:r>
            <a:r>
              <a:rPr lang="zh-CN" altLang="en-US" sz="1500" dirty="0"/>
              <a:t>等函数在</a:t>
            </a:r>
            <a:r>
              <a:rPr lang="en-GB" altLang="zh-CN" sz="1500" dirty="0"/>
              <a:t>C</a:t>
            </a:r>
            <a:r>
              <a:rPr lang="zh-CN" altLang="en-US" sz="1500" dirty="0"/>
              <a:t>语言标准</a:t>
            </a:r>
            <a:r>
              <a:rPr lang="en-GB" altLang="zh-CN" sz="1500" dirty="0"/>
              <a:t>I/O</a:t>
            </a:r>
            <a:r>
              <a:rPr lang="zh-CN" altLang="en-US" sz="1500" dirty="0"/>
              <a:t>库中，需要引入头文件</a:t>
            </a:r>
            <a:r>
              <a:rPr lang="en-US" altLang="zh-CN" sz="1500" dirty="0"/>
              <a:t>``</a:t>
            </a:r>
            <a:r>
              <a:rPr lang="en-GB" altLang="zh-CN" sz="1500" dirty="0" err="1"/>
              <a:t>stdio.h</a:t>
            </a:r>
            <a:r>
              <a:rPr lang="en-GB" altLang="zh-CN" sz="1500" dirty="0"/>
              <a:t>"</a:t>
            </a:r>
            <a:r>
              <a:rPr lang="zh-CN" altLang="en-GB" sz="1500" dirty="0"/>
              <a:t>。</a:t>
            </a:r>
          </a:p>
          <a:p>
            <a:pPr marL="180975" lvl="1" indent="0">
              <a:lnSpc>
                <a:spcPct val="100000"/>
              </a:lnSpc>
              <a:buNone/>
            </a:pPr>
            <a:r>
              <a:rPr lang="en-GB" altLang="zh-CN" sz="1500" dirty="0"/>
              <a:t>2.send(), </a:t>
            </a:r>
            <a:r>
              <a:rPr lang="en-GB" altLang="zh-CN" sz="1500" dirty="0" err="1"/>
              <a:t>closesocket</a:t>
            </a:r>
            <a:r>
              <a:rPr lang="en-GB" altLang="zh-CN" sz="1500" dirty="0"/>
              <a:t>()</a:t>
            </a:r>
            <a:r>
              <a:rPr lang="zh-CN" altLang="en-US" sz="1500" dirty="0"/>
              <a:t>等函数均为系统调用，在</a:t>
            </a:r>
            <a:r>
              <a:rPr lang="en-GB" altLang="zh-CN" sz="1500" dirty="0"/>
              <a:t>Windows</a:t>
            </a:r>
            <a:r>
              <a:rPr lang="zh-CN" altLang="en-US" sz="1500" dirty="0"/>
              <a:t>系统中需要引入头文件</a:t>
            </a:r>
            <a:r>
              <a:rPr lang="en-US" altLang="zh-CN" sz="1500" dirty="0"/>
              <a:t>``</a:t>
            </a:r>
            <a:r>
              <a:rPr lang="en-GB" altLang="zh-CN" sz="1500" dirty="0"/>
              <a:t>winsock2.h"</a:t>
            </a:r>
            <a:r>
              <a:rPr lang="zh-CN" altLang="en-GB" sz="1500" dirty="0"/>
              <a:t>。</a:t>
            </a:r>
          </a:p>
          <a:p>
            <a:pPr marL="180975" lvl="1" indent="0">
              <a:lnSpc>
                <a:spcPct val="100000"/>
              </a:lnSpc>
              <a:buNone/>
            </a:pPr>
            <a:r>
              <a:rPr lang="en-GB" altLang="zh-CN" sz="1500" dirty="0"/>
              <a:t>3.</a:t>
            </a:r>
            <a:r>
              <a:rPr lang="zh-CN" altLang="en-US" sz="1500" dirty="0"/>
              <a:t> 接收缓冲区的大小是有限的，可能无法一次接收完毕整个视频数据之后再写入新的视频文件，这就需要循环接收数据并写入文件（在接收缓冲区满后写一次文件）。可以利用 </a:t>
            </a:r>
            <a:r>
              <a:rPr lang="en-US" altLang="zh-CN" sz="1500" dirty="0" err="1"/>
              <a:t>recv</a:t>
            </a:r>
            <a:r>
              <a:rPr lang="en-US" altLang="zh-CN" sz="1500" dirty="0"/>
              <a:t>() </a:t>
            </a:r>
            <a:r>
              <a:rPr lang="zh-CN" altLang="en-US" sz="1500" dirty="0"/>
              <a:t>的返回值判断文件是否传输完毕。</a:t>
            </a:r>
            <a:endParaRPr lang="en-GB" altLang="zh-CN" sz="1500" dirty="0"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F05EAD0A-ECD9-7E80-CE37-B5BC384A2AF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822962" y="6459788"/>
            <a:ext cx="185420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2025/3/24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7AC841DB-318C-F6FD-4205-BE9CBC9E5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764640" y="6459788"/>
            <a:ext cx="3617103" cy="365125"/>
          </a:xfrm>
        </p:spPr>
        <p:txBody>
          <a:bodyPr/>
          <a:lstStyle/>
          <a:p>
            <a:pPr>
              <a:defRPr/>
            </a:pPr>
            <a:r>
              <a:rPr lang="zh-CN"/>
              <a:t>计算机网络实验</a:t>
            </a:r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21E999CB-2E53-893C-3F96-710FBA566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425345" y="6459788"/>
            <a:ext cx="984019" cy="365125"/>
          </a:xfrm>
        </p:spPr>
        <p:txBody>
          <a:bodyPr/>
          <a:lstStyle/>
          <a:p>
            <a:pPr>
              <a:defRPr/>
            </a:pPr>
            <a:fld id="{0ECDF2DC-913F-4A16-9C18-8900B299D998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434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实验报告撰写要求</a:t>
            </a:r>
            <a:endParaRPr lang="en-US"/>
          </a:p>
        </p:txBody>
      </p:sp>
      <p:sp>
        <p:nvSpPr>
          <p:cNvPr id="16387" name="Content Placeholder 2"/>
          <p:cNvSpPr>
            <a:spLocks noGrp="1" noChangeArrowheads="1"/>
          </p:cNvSpPr>
          <p:nvPr>
            <p:ph idx="1"/>
          </p:nvPr>
        </p:nvSpPr>
        <p:spPr bwMode="auto"/>
        <p:txBody>
          <a:bodyPr/>
          <a:lstStyle/>
          <a:p>
            <a:pPr marL="382905" lvl="1" indent="-182880">
              <a:defRPr/>
            </a:pPr>
            <a:r>
              <a:rPr lang="zh-CN" altLang="en-US" dirty="0"/>
              <a:t>阅读任务点一的代码，理解服务端与客户端之间的套接字连接，说明套接字连接过程。</a:t>
            </a:r>
          </a:p>
          <a:p>
            <a:pPr marL="382905" lvl="1" indent="-182880">
              <a:defRPr/>
            </a:pPr>
            <a:r>
              <a:rPr lang="zh-CN" altLang="en-US" dirty="0"/>
              <a:t>根据任务点二与任务点三的提示，变现代码实现服务端与客户端之间的文件传输。</a:t>
            </a:r>
            <a:endParaRPr lang="en-GB" altLang="zh-CN" dirty="0"/>
          </a:p>
          <a:p>
            <a:pPr marL="382905" lvl="1" indent="-182880">
              <a:defRPr/>
            </a:pPr>
            <a:r>
              <a:rPr lang="zh-CN" dirty="0"/>
              <a:t>对于实验操作返回结果的解释为加分项，解释地越详细越好</a:t>
            </a:r>
            <a:endParaRPr lang="en-US" dirty="0"/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E0C23BDE-C0E5-D05A-C979-33DEC792F13B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822962" y="6459788"/>
            <a:ext cx="185420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2025/3/24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43B19EF-475A-69F8-0607-626B85EAC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764640" y="6459788"/>
            <a:ext cx="3617103" cy="365125"/>
          </a:xfrm>
        </p:spPr>
        <p:txBody>
          <a:bodyPr/>
          <a:lstStyle/>
          <a:p>
            <a:pPr>
              <a:defRPr/>
            </a:pPr>
            <a:r>
              <a:rPr lang="zh-CN"/>
              <a:t>计算机网络实验</a:t>
            </a:r>
            <a:endParaRPr lang="en-US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9E100B0E-51D2-6657-7617-F0785FFED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425345" y="6459788"/>
            <a:ext cx="984019" cy="365125"/>
          </a:xfrm>
        </p:spPr>
        <p:txBody>
          <a:bodyPr/>
          <a:lstStyle/>
          <a:p>
            <a:pPr>
              <a:defRPr/>
            </a:pPr>
            <a:fld id="{0ECDF2DC-913F-4A16-9C18-8900B299D998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816A92E-22A6-2800-C224-008ED23A39B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ACDED-5415-F376-6967-A98EF228BC15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 altLang="en-US" dirty="0"/>
              <a:t>思考题</a:t>
            </a:r>
            <a:endParaRPr lang="en-US" dirty="0"/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1C6D9F0C-927A-0DB8-B086-7CE546523E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/>
          <a:lstStyle/>
          <a:p>
            <a:pPr marL="382905" lvl="1" indent="-182880">
              <a:defRPr/>
            </a:pPr>
            <a:r>
              <a:rPr lang="zh-CN" altLang="en-US" dirty="0"/>
              <a:t>如果不断开</a:t>
            </a:r>
            <a:r>
              <a:rPr lang="en-US" altLang="zh-CN" dirty="0" err="1"/>
              <a:t>tcp</a:t>
            </a:r>
            <a:r>
              <a:rPr lang="zh-CN" altLang="en-US" dirty="0"/>
              <a:t>连接，如何连续传两个文件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FE19F-D11C-F357-C558-0E4D94271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42D76-4A45-4801-686B-17C6CF069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D2EED56-5130-434B-A1B8-8BD1EA48AA1F}" type="slidenum">
              <a:rPr lang="en-US"/>
              <a:t>13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E3F938-AD7B-497D-FAD3-21538184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822962" y="6459788"/>
            <a:ext cx="185420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2025/3/24</a:t>
            </a:r>
          </a:p>
        </p:txBody>
      </p:sp>
    </p:spTree>
    <p:extLst>
      <p:ext uri="{BB962C8B-B14F-4D97-AF65-F5344CB8AC3E}">
        <p14:creationId xmlns:p14="http://schemas.microsoft.com/office/powerpoint/2010/main" val="3068356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7A09E13-CB71-3333-A3A0-055CCD071E2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8FCD-8413-8DD7-5220-7C86694BA52C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 altLang="en-US" dirty="0"/>
              <a:t>阅读材料</a:t>
            </a:r>
            <a:endParaRPr lang="en-US" dirty="0"/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F714F960-2EF0-FD8E-842E-E4C5D7C374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/>
          <a:lstStyle/>
          <a:p>
            <a:pPr marL="382905" lvl="1" indent="-182880">
              <a:defRPr/>
            </a:pPr>
            <a:r>
              <a:rPr lang="en-GB" altLang="zh-CN" dirty="0"/>
              <a:t>socket</a:t>
            </a:r>
            <a:r>
              <a:rPr lang="zh-CN" altLang="en-US" dirty="0"/>
              <a:t>编程（</a:t>
            </a:r>
            <a:r>
              <a:rPr lang="en-GB" altLang="zh-CN" dirty="0"/>
              <a:t>Windows</a:t>
            </a:r>
            <a:r>
              <a:rPr lang="zh-CN" altLang="en-GB" dirty="0"/>
              <a:t>）</a:t>
            </a:r>
          </a:p>
          <a:p>
            <a:pPr marL="200025" lvl="1" indent="0">
              <a:buNone/>
              <a:defRPr/>
            </a:pPr>
            <a:r>
              <a:rPr lang="en-GB" altLang="zh-CN" dirty="0"/>
              <a:t>  https://www.geeksforgeeks.org/socket-programming-cc/</a:t>
            </a:r>
          </a:p>
          <a:p>
            <a:pPr marL="382905" lvl="1" indent="-182880">
              <a:defRPr/>
            </a:pPr>
            <a:r>
              <a:rPr lang="en-GB" altLang="zh-CN" dirty="0"/>
              <a:t>C</a:t>
            </a:r>
            <a:r>
              <a:rPr lang="zh-CN" altLang="en-US" dirty="0"/>
              <a:t>语言环境搭建（</a:t>
            </a:r>
            <a:r>
              <a:rPr lang="en-GB" altLang="zh-CN" dirty="0"/>
              <a:t>Windows</a:t>
            </a:r>
            <a:r>
              <a:rPr lang="zh-CN" altLang="en-GB" dirty="0"/>
              <a:t>）</a:t>
            </a:r>
          </a:p>
          <a:p>
            <a:pPr marL="200025" lvl="1" indent="0">
              <a:buNone/>
              <a:defRPr/>
            </a:pPr>
            <a:r>
              <a:rPr lang="en-GB" altLang="zh-CN" dirty="0"/>
              <a:t>  https://zhuanlan.zhihu.com/p/354400717</a:t>
            </a:r>
          </a:p>
          <a:p>
            <a:pPr marL="382905" lvl="1" indent="-182880">
              <a:defRPr/>
            </a:pPr>
            <a:r>
              <a:rPr lang="en-GB" altLang="zh-CN" dirty="0"/>
              <a:t>C</a:t>
            </a:r>
            <a:r>
              <a:rPr lang="zh-CN" altLang="en-US" dirty="0"/>
              <a:t>语言文件操作</a:t>
            </a:r>
          </a:p>
          <a:p>
            <a:pPr marL="200025" lvl="1" indent="0">
              <a:buNone/>
              <a:defRPr/>
            </a:pPr>
            <a:r>
              <a:rPr lang="en-GB" altLang="zh-CN" dirty="0"/>
              <a:t>  https://cplusplus.com/reference/cstdio/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5416B-F67F-7EF4-70D9-57C0BC9A5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计算机网络实验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78D41-47DE-0819-86CA-5D60EAB87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D2EED56-5130-434B-A1B8-8BD1EA48AA1F}" type="slidenum">
              <a:rPr lang="en-US"/>
              <a:t>14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D786E-7EC5-CF83-BE19-3FD26157715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822962" y="6459788"/>
            <a:ext cx="185420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2025/3/24</a:t>
            </a:r>
          </a:p>
        </p:txBody>
      </p:sp>
    </p:spTree>
    <p:extLst>
      <p:ext uri="{BB962C8B-B14F-4D97-AF65-F5344CB8AC3E}">
        <p14:creationId xmlns:p14="http://schemas.microsoft.com/office/powerpoint/2010/main" val="1325271841"/>
      </p:ext>
    </p:extLst>
  </p:cSld>
  <p:clrMapOvr>
    <a:masterClrMapping/>
  </p:clrMapOvr>
</p:sld>
</file>

<file path=ppt/theme/theme1.xml><?xml version="1.0" encoding="utf-8"?>
<a:theme xmlns:a="http://schemas.openxmlformats.org/drawingml/2006/main" name="computer-network">
  <a:themeElements>
    <a:clrScheme name="Custom 10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3DA3ED"/>
      </a:accent1>
      <a:accent2>
        <a:srgbClr val="00B4A6"/>
      </a:accent2>
      <a:accent3>
        <a:srgbClr val="E81588"/>
      </a:accent3>
      <a:accent4>
        <a:srgbClr val="008222"/>
      </a:accent4>
      <a:accent5>
        <a:srgbClr val="F1B61E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3">
      <a:majorFont>
        <a:latin typeface="Calibri"/>
        <a:ea typeface="华文楷体"/>
        <a:cs typeface="Arial"/>
      </a:majorFont>
      <a:minorFont>
        <a:latin typeface="Calibri"/>
        <a:ea typeface="华文楷体"/>
        <a:cs typeface="Arial"/>
      </a:minorFont>
    </a:fontScheme>
    <a:fmtScheme name="Retrospect"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/>
        </a:gradFill>
        <a:gradFill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computer-network</Template>
  <TotalTime>29</TotalTime>
  <Words>1815</Words>
  <Application>Microsoft Office PowerPoint</Application>
  <PresentationFormat>全屏显示(4:3)</PresentationFormat>
  <Paragraphs>153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Helvetica Neue</vt:lpstr>
      <vt:lpstr>SFMono-Regular</vt:lpstr>
      <vt:lpstr>Arial</vt:lpstr>
      <vt:lpstr>Calibri</vt:lpstr>
      <vt:lpstr>Wingdings</vt:lpstr>
      <vt:lpstr>computer-network</vt:lpstr>
      <vt:lpstr>计算机网络  实验五 Socket网络编程</vt:lpstr>
      <vt:lpstr>实验五 Socket网络编程</vt:lpstr>
      <vt:lpstr>实验任务要求</vt:lpstr>
      <vt:lpstr>实验内容</vt:lpstr>
      <vt:lpstr>任务一：通过套接字在Client和Server之间建立TCP Socket连接</vt:lpstr>
      <vt:lpstr>任务一：通过套接字在Client和Server之间建立TCP Socket连接</vt:lpstr>
      <vt:lpstr>任务二：在服务端使用 send() 函数向客户端发送视频文件</vt:lpstr>
      <vt:lpstr>任务二：在服务端使用 send() 函数向客户端发送视频文件</vt:lpstr>
      <vt:lpstr>任务二：在服务端使用 send() 函数向客户端发送视频文件</vt:lpstr>
      <vt:lpstr>任务三：在客户端使用 recv() 函数接收服务端发送的视频文件</vt:lpstr>
      <vt:lpstr>任务三：在客户端使用 recv() 函数接收服务端发送的视频文件</vt:lpstr>
      <vt:lpstr>实验报告撰写要求</vt:lpstr>
      <vt:lpstr>思考题</vt:lpstr>
      <vt:lpstr>阅读材料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谢瑞桃</dc:creator>
  <cp:lastModifiedBy>伟轩 彭</cp:lastModifiedBy>
  <cp:revision>291</cp:revision>
  <dcterms:created xsi:type="dcterms:W3CDTF">2020-03-02T12:19:00Z</dcterms:created>
  <dcterms:modified xsi:type="dcterms:W3CDTF">2025-03-24T11:29:48Z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EA674B9279774DA1AE5176590D8F290F_12</vt:lpwstr>
  </property>
  <property fmtid="{D5CDD505-2E9C-101B-9397-08002B2CF9AE}" pid="3" name="KSOProductBuildVer">
    <vt:lpwstr>2052-12.1.0.20305</vt:lpwstr>
  </property>
</Properties>
</file>