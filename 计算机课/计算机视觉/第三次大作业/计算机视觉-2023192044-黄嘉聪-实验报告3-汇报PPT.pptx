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6.xml" ContentType="application/vnd.openxmlformats-officedocument.presentationml.notesSlide+xml"/>
  <Override PartName="/ppt/tags/tag14.xml" ContentType="application/vnd.openxmlformats-officedocument.presentationml.tags+xml"/>
  <Override PartName="/ppt/notesSlides/notesSlide7.xml" ContentType="application/vnd.openxmlformats-officedocument.presentationml.notesSlide+xml"/>
  <Override PartName="/ppt/tags/tag1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notesSlides/notesSlide9.xml" ContentType="application/vnd.openxmlformats-officedocument.presentationml.notesSlide+xml"/>
  <Override PartName="/ppt/tags/tag17.xml" ContentType="application/vnd.openxmlformats-officedocument.presentationml.tags+xml"/>
  <Override PartName="/ppt/notesSlides/notesSlide10.xml" ContentType="application/vnd.openxmlformats-officedocument.presentationml.notesSlide+xml"/>
  <Override PartName="/ppt/tags/tag18.xml" ContentType="application/vnd.openxmlformats-officedocument.presentationml.tags+xml"/>
  <Override PartName="/ppt/notesSlides/notesSlide11.xml" ContentType="application/vnd.openxmlformats-officedocument.presentationml.notesSlide+xml"/>
  <Override PartName="/ppt/tags/tag19.xml" ContentType="application/vnd.openxmlformats-officedocument.presentationml.tags+xml"/>
  <Override PartName="/ppt/notesSlides/notesSlide12.xml" ContentType="application/vnd.openxmlformats-officedocument.presentationml.notesSlide+xml"/>
  <Override PartName="/ppt/tags/tag20.xml" ContentType="application/vnd.openxmlformats-officedocument.presentationml.tags+xml"/>
  <Override PartName="/ppt/notesSlides/notesSlide13.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4.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5.xml" ContentType="application/vnd.openxmlformats-officedocument.presentationml.notesSlide+xml"/>
  <Override PartName="/ppt/tags/tag34.xml" ContentType="application/vnd.openxmlformats-officedocument.presentationml.tags+xml"/>
  <Override PartName="/ppt/notesSlides/notesSlide16.xml" ContentType="application/vnd.openxmlformats-officedocument.presentationml.notesSlide+xml"/>
  <Override PartName="/ppt/tags/tag35.xml" ContentType="application/vnd.openxmlformats-officedocument.presentationml.tags+xml"/>
  <Override PartName="/ppt/notesSlides/notesSlide17.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18.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314" r:id="rId3"/>
    <p:sldId id="498" r:id="rId4"/>
    <p:sldId id="499" r:id="rId5"/>
    <p:sldId id="500" r:id="rId6"/>
    <p:sldId id="322" r:id="rId7"/>
    <p:sldId id="368" r:id="rId8"/>
    <p:sldId id="501" r:id="rId9"/>
    <p:sldId id="502" r:id="rId10"/>
    <p:sldId id="503" r:id="rId11"/>
    <p:sldId id="504" r:id="rId12"/>
    <p:sldId id="505" r:id="rId13"/>
    <p:sldId id="506" r:id="rId14"/>
    <p:sldId id="507" r:id="rId15"/>
    <p:sldId id="496" r:id="rId16"/>
    <p:sldId id="454" r:id="rId17"/>
    <p:sldId id="508" r:id="rId18"/>
    <p:sldId id="509" r:id="rId19"/>
    <p:sldId id="510" r:id="rId20"/>
    <p:sldId id="511" r:id="rId21"/>
    <p:sldId id="512" r:id="rId22"/>
    <p:sldId id="513" r:id="rId23"/>
    <p:sldId id="497" r:id="rId24"/>
    <p:sldId id="285" r:id="rId25"/>
    <p:sldId id="514" r:id="rId26"/>
    <p:sldId id="515" r:id="rId27"/>
    <p:sldId id="313" r:id="rId28"/>
    <p:sldId id="516" r:id="rId29"/>
    <p:sldId id="293" r:id="rId30"/>
  </p:sldIdLst>
  <p:sldSz cx="12192000" cy="6858000"/>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09FB"/>
    <a:srgbClr val="7A68FC"/>
    <a:srgbClr val="1A04BC"/>
    <a:srgbClr val="2007B9"/>
    <a:srgbClr val="39F35C"/>
    <a:srgbClr val="FAFCFE"/>
    <a:srgbClr val="BE02A3"/>
    <a:srgbClr val="2602BE"/>
    <a:srgbClr val="1A2BA6"/>
    <a:srgbClr val="DECF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81" autoAdjust="0"/>
    <p:restoredTop sz="94660"/>
  </p:normalViewPr>
  <p:slideViewPr>
    <p:cSldViewPr snapToGrid="0">
      <p:cViewPr>
        <p:scale>
          <a:sx n="33" d="100"/>
          <a:sy n="33" d="100"/>
        </p:scale>
        <p:origin x="2860" y="1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EE5E05-BCB7-49CF-B5DA-D0999719F8DC}" type="datetimeFigureOut">
              <a:rPr lang="en-US" smtClean="0"/>
              <a:t>12/22/2024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17B5B5-DE13-4FC8-85F2-F4CC28074F9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17B5B5-DE13-4FC8-85F2-F4CC28074F98}"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5CD6F-FAC3-8EA5-9E36-8C38EC66A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F0DCF-6051-23BA-4AFF-3AC658E11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3BDBFE-4AD5-0460-456A-A8C844BC49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D8335C-2EA0-8361-826E-2FB2FC453232}"/>
              </a:ext>
            </a:extLst>
          </p:cNvPr>
          <p:cNvSpPr>
            <a:spLocks noGrp="1"/>
          </p:cNvSpPr>
          <p:nvPr>
            <p:ph type="sldNum" sz="quarter" idx="10"/>
          </p:nvPr>
        </p:nvSpPr>
        <p:spPr/>
        <p:txBody>
          <a:bodyPr/>
          <a:lstStyle/>
          <a:p>
            <a:fld id="{CE17B5B5-DE13-4FC8-85F2-F4CC28074F98}" type="slidenum">
              <a:rPr lang="en-US" smtClean="0"/>
              <a:t>3</a:t>
            </a:fld>
            <a:endParaRPr lang="en-US"/>
          </a:p>
        </p:txBody>
      </p:sp>
    </p:spTree>
    <p:extLst>
      <p:ext uri="{BB962C8B-B14F-4D97-AF65-F5344CB8AC3E}">
        <p14:creationId xmlns:p14="http://schemas.microsoft.com/office/powerpoint/2010/main" val="2465409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B4B89-0439-D880-AAFB-9E2D3CEA1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72391-C6EE-6A20-5511-4D9CE4CE9E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BE5B7F-8423-5FF7-C1C0-8D9A84AFA9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226F50-0C91-5B58-4E72-A2C89D3EDF5E}"/>
              </a:ext>
            </a:extLst>
          </p:cNvPr>
          <p:cNvSpPr>
            <a:spLocks noGrp="1"/>
          </p:cNvSpPr>
          <p:nvPr>
            <p:ph type="sldNum" sz="quarter" idx="10"/>
          </p:nvPr>
        </p:nvSpPr>
        <p:spPr/>
        <p:txBody>
          <a:bodyPr/>
          <a:lstStyle/>
          <a:p>
            <a:fld id="{CE17B5B5-DE13-4FC8-85F2-F4CC28074F98}" type="slidenum">
              <a:rPr lang="en-US" smtClean="0"/>
              <a:t>4</a:t>
            </a:fld>
            <a:endParaRPr lang="en-US"/>
          </a:p>
        </p:txBody>
      </p:sp>
    </p:spTree>
    <p:extLst>
      <p:ext uri="{BB962C8B-B14F-4D97-AF65-F5344CB8AC3E}">
        <p14:creationId xmlns:p14="http://schemas.microsoft.com/office/powerpoint/2010/main" val="2838824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F7622-CD16-4395-1385-FFBF36748A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F9AE52-64B8-6A02-0360-1E195C8590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D69ECB-EF50-4E48-3C27-4BF08C0EBF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DCE5F1-B6FE-54E7-E14E-10B90B146DE4}"/>
              </a:ext>
            </a:extLst>
          </p:cNvPr>
          <p:cNvSpPr>
            <a:spLocks noGrp="1"/>
          </p:cNvSpPr>
          <p:nvPr>
            <p:ph type="sldNum" sz="quarter" idx="10"/>
          </p:nvPr>
        </p:nvSpPr>
        <p:spPr/>
        <p:txBody>
          <a:bodyPr/>
          <a:lstStyle/>
          <a:p>
            <a:fld id="{CE17B5B5-DE13-4FC8-85F2-F4CC28074F98}" type="slidenum">
              <a:rPr lang="en-US" smtClean="0"/>
              <a:t>5</a:t>
            </a:fld>
            <a:endParaRPr lang="en-US"/>
          </a:p>
        </p:txBody>
      </p:sp>
    </p:spTree>
    <p:extLst>
      <p:ext uri="{BB962C8B-B14F-4D97-AF65-F5344CB8AC3E}">
        <p14:creationId xmlns:p14="http://schemas.microsoft.com/office/powerpoint/2010/main" val="3904518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17B5B5-DE13-4FC8-85F2-F4CC28074F98}" type="slidenum">
              <a:rPr lang="en-US" smtClean="0"/>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17B5B5-DE13-4FC8-85F2-F4CC28074F98}" type="slidenum">
              <a:rPr lang="en-US" smtClean="0"/>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69912-0E13-D71C-CF05-240A112FF5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122142-6BB7-E629-73F1-F8E5C4D6C25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36917930-1F14-3B4D-23E5-F3D67819A4D9}"/>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406592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324F-2F78-BD6E-8E88-91540035C1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D6B6A1-650E-410D-887F-F60700EC49C2}"/>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096B913B-CE33-C1AC-B7C4-AA2D7A70F23A}"/>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5184227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60ECF-5BAB-A05E-03AB-7E7C62A368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28E154-397A-ADAA-BFD6-0F76E875A87F}"/>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C12C0DC-DAC3-F2DA-8CD7-1F5824D478C7}"/>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4084048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2EF01-94BC-F955-8D85-47CC4C9D01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C27F02-51F7-F438-34EB-CABD8B4B9EB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ED2D09A-FB28-56A0-AC31-4B287145C6AC}"/>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9804699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50EE3-FB9B-E4DE-CE12-0B5EF4B967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432ECE-082E-AF20-29AA-5C9999AC82F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647C8C1D-BF41-973E-228E-82DEF1BBA1A2}"/>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947263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AAF5B-0ED8-4CFE-4846-308E9F4413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BD5536-E060-B548-DD0E-AD7444531FB2}"/>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9F55D7CB-3ACF-9B03-46E0-325346CF6220}"/>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1183131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8ED9A-820B-762F-CC55-9B91E61A25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1BC24D-316A-4BC9-FC9C-4F76F088BEC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16C37E0F-9AE8-FEDD-BCCA-6113A6D50643}"/>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822640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6EEEC-FE68-61CB-1535-9CE1738ADA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7DC62E-FF2F-81AE-2750-420FA0C679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2FDF3-6EBF-0B47-47E2-BF9A3D19A6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CCE627-9A50-9B19-ADE9-DCB29D5D215C}"/>
              </a:ext>
            </a:extLst>
          </p:cNvPr>
          <p:cNvSpPr>
            <a:spLocks noGrp="1"/>
          </p:cNvSpPr>
          <p:nvPr>
            <p:ph type="sldNum" sz="quarter" idx="10"/>
          </p:nvPr>
        </p:nvSpPr>
        <p:spPr/>
        <p:txBody>
          <a:bodyPr/>
          <a:lstStyle/>
          <a:p>
            <a:fld id="{CE17B5B5-DE13-4FC8-85F2-F4CC28074F98}" type="slidenum">
              <a:rPr lang="en-US" smtClean="0"/>
              <a:t>15</a:t>
            </a:fld>
            <a:endParaRPr lang="en-US"/>
          </a:p>
        </p:txBody>
      </p:sp>
    </p:spTree>
    <p:extLst>
      <p:ext uri="{BB962C8B-B14F-4D97-AF65-F5344CB8AC3E}">
        <p14:creationId xmlns:p14="http://schemas.microsoft.com/office/powerpoint/2010/main" val="82029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FAFA3-B7A3-0E42-F8AD-A6BBE5250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8F381C-51AA-C058-D713-727C35A694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83A9F1-873E-F0FA-0A92-CA16076A11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1EB85A-2B12-5007-9F66-4583C912FB50}"/>
              </a:ext>
            </a:extLst>
          </p:cNvPr>
          <p:cNvSpPr>
            <a:spLocks noGrp="1"/>
          </p:cNvSpPr>
          <p:nvPr>
            <p:ph type="sldNum" sz="quarter" idx="10"/>
          </p:nvPr>
        </p:nvSpPr>
        <p:spPr/>
        <p:txBody>
          <a:bodyPr/>
          <a:lstStyle/>
          <a:p>
            <a:fld id="{CE17B5B5-DE13-4FC8-85F2-F4CC28074F98}" type="slidenum">
              <a:rPr lang="en-US" smtClean="0"/>
              <a:t>23</a:t>
            </a:fld>
            <a:endParaRPr lang="en-US"/>
          </a:p>
        </p:txBody>
      </p:sp>
    </p:spTree>
    <p:extLst>
      <p:ext uri="{BB962C8B-B14F-4D97-AF65-F5344CB8AC3E}">
        <p14:creationId xmlns:p14="http://schemas.microsoft.com/office/powerpoint/2010/main" val="7328427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E17B5B5-DE13-4FC8-85F2-F4CC28074F98}" type="slidenum">
              <a:rPr lang="en-US" smtClean="0"/>
              <a:t>24</a:t>
            </a:fld>
            <a:endParaRPr lang="en-US"/>
          </a:p>
        </p:txBody>
      </p:sp>
    </p:spTree>
    <p:extLst>
      <p:ext uri="{BB962C8B-B14F-4D97-AF65-F5344CB8AC3E}">
        <p14:creationId xmlns:p14="http://schemas.microsoft.com/office/powerpoint/2010/main" val="42245799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BFA85-64EA-3813-93DE-D0134AEA36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C79934-26C4-F456-962D-3981798C25D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7727058-3F23-6292-FCBB-2D3C368C644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4FA5899-DFA7-63F2-B584-5FD5CD41746A}"/>
              </a:ext>
            </a:extLst>
          </p:cNvPr>
          <p:cNvSpPr>
            <a:spLocks noGrp="1"/>
          </p:cNvSpPr>
          <p:nvPr>
            <p:ph type="sldNum" sz="quarter" idx="5"/>
          </p:nvPr>
        </p:nvSpPr>
        <p:spPr/>
        <p:txBody>
          <a:bodyPr/>
          <a:lstStyle/>
          <a:p>
            <a:fld id="{CE17B5B5-DE13-4FC8-85F2-F4CC28074F98}" type="slidenum">
              <a:rPr lang="en-US" smtClean="0"/>
              <a:t>25</a:t>
            </a:fld>
            <a:endParaRPr lang="en-US"/>
          </a:p>
        </p:txBody>
      </p:sp>
    </p:spTree>
    <p:extLst>
      <p:ext uri="{BB962C8B-B14F-4D97-AF65-F5344CB8AC3E}">
        <p14:creationId xmlns:p14="http://schemas.microsoft.com/office/powerpoint/2010/main" val="10395521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6281B-4BB4-3571-8940-9D61FFF0F0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18334-86C7-0443-CF23-743A89BCC5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E579CE-E6C3-EBA5-9C9A-8F051292FD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8B13DD-D173-F7A2-FC55-84F55ED9AF76}"/>
              </a:ext>
            </a:extLst>
          </p:cNvPr>
          <p:cNvSpPr>
            <a:spLocks noGrp="1"/>
          </p:cNvSpPr>
          <p:nvPr>
            <p:ph type="sldNum" sz="quarter" idx="10"/>
          </p:nvPr>
        </p:nvSpPr>
        <p:spPr/>
        <p:txBody>
          <a:bodyPr/>
          <a:lstStyle/>
          <a:p>
            <a:fld id="{CE17B5B5-DE13-4FC8-85F2-F4CC28074F98}" type="slidenum">
              <a:rPr lang="en-US" smtClean="0"/>
              <a:t>26</a:t>
            </a:fld>
            <a:endParaRPr lang="en-US"/>
          </a:p>
        </p:txBody>
      </p:sp>
    </p:spTree>
    <p:extLst>
      <p:ext uri="{BB962C8B-B14F-4D97-AF65-F5344CB8AC3E}">
        <p14:creationId xmlns:p14="http://schemas.microsoft.com/office/powerpoint/2010/main" val="1774118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A0BD64B-D370-4038-8044-D5630B27533B}" type="datetime1">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8FC4D9-CEB1-4779-B81C-062997A0869C}" type="datetime1">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3F2635C-0C3D-495D-BBF5-EFB373F3682C}" type="datetime1">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7B977C-A37D-44A5-998A-C16D363F582D}" type="datetime1">
              <a:rPr lang="en-US" smtClean="0"/>
              <a:t>12/22/2024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3D0F6A-8B3A-4C64-BC9A-0DAE605257BF}" type="datetime1">
              <a:rPr lang="en-US" smtClean="0"/>
              <a:t>12/22/2024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E7E8BC5-5502-48BE-8292-644D57AD6C55}" type="datetime1">
              <a:rPr lang="en-US" smtClean="0"/>
              <a:t>12/22/2024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25D513-5233-4068-ACBB-430896BA56D1}" type="datetime1">
              <a:rPr lang="en-US" smtClean="0"/>
              <a:t>12/22/2024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EF61C63-19E1-4C03-AE76-46F2663A597C}" type="datetime1">
              <a:rPr lang="en-US" smtClean="0"/>
              <a:t>12/22/2024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449ED6B-688A-45F7-A15D-9A32FA9C0100}" type="datetime1">
              <a:rPr lang="en-US" smtClean="0"/>
              <a:t>12/22/2024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90D821F-40C2-4526-B067-872ECD9F5A5A}" type="datetime1">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044531-71AE-42C5-86A9-13CFCC47F9D2}" type="datetime1">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6A555E-7C04-4325-BEC5-83779E07C5D0}" type="datetime1">
              <a:rPr lang="en-US" smtClean="0"/>
              <a:t>12/22/2024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B04D65-EEE5-467D-A240-EF96AD461DB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jpe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1.jpeg"/><Relationship Id="rId5" Type="http://schemas.openxmlformats.org/officeDocument/2006/relationships/notesSlide" Target="../notesSlides/notesSlide2.xml"/><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8.xml"/><Relationship Id="rId5" Type="http://schemas.openxmlformats.org/officeDocument/2006/relationships/image" Target="../media/image2.pn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3.png"/><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0.xml"/><Relationship Id="rId5" Type="http://schemas.openxmlformats.org/officeDocument/2006/relationships/image" Target="../media/image4.png"/><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jpeg"/><Relationship Id="rId5" Type="http://schemas.openxmlformats.org/officeDocument/2006/relationships/notesSlide" Target="../notesSlides/notesSlide6.xml"/><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4.xml"/><Relationship Id="rId5" Type="http://schemas.openxmlformats.org/officeDocument/2006/relationships/image" Target="../media/image5.png"/><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8.jpeg"/><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6.xml"/><Relationship Id="rId5" Type="http://schemas.openxmlformats.org/officeDocument/2006/relationships/image" Target="../media/image9.png"/><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7.xml"/><Relationship Id="rId5" Type="http://schemas.openxmlformats.org/officeDocument/2006/relationships/image" Target="../media/image10.png"/><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8.xml"/><Relationship Id="rId5" Type="http://schemas.openxmlformats.org/officeDocument/2006/relationships/image" Target="../media/image10.png"/><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9.xml"/><Relationship Id="rId4"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20.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jpeg"/><Relationship Id="rId5" Type="http://schemas.openxmlformats.org/officeDocument/2006/relationships/notesSlide" Target="../notesSlides/notesSlide14.xml"/><Relationship Id="rId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24.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25.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26.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27.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28.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29.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30.xml"/></Relationships>
</file>

<file path=ppt/slides/_rels/slide23.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jpeg"/><Relationship Id="rId5" Type="http://schemas.openxmlformats.org/officeDocument/2006/relationships/notesSlide" Target="../notesSlides/notesSlide15.xml"/><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34.xml"/><Relationship Id="rId5" Type="http://schemas.openxmlformats.org/officeDocument/2006/relationships/image" Target="../media/image19.png"/><Relationship Id="rId4" Type="http://schemas.openxmlformats.org/officeDocument/2006/relationships/image" Target="../media/image1.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35.xml"/><Relationship Id="rId5" Type="http://schemas.openxmlformats.org/officeDocument/2006/relationships/image" Target="../media/image20.png"/><Relationship Id="rId4" Type="http://schemas.openxmlformats.org/officeDocument/2006/relationships/image" Target="../media/image1.jpeg"/></Relationships>
</file>

<file path=ppt/slides/_rels/slide2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1.jpeg"/><Relationship Id="rId5" Type="http://schemas.openxmlformats.org/officeDocument/2006/relationships/notesSlide" Target="../notesSlides/notesSlide18.xml"/><Relationship Id="rId4"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1.jpeg"/><Relationship Id="rId5" Type="http://schemas.openxmlformats.org/officeDocument/2006/relationships/slideLayout" Target="../slideLayouts/slideLayout1.xml"/><Relationship Id="rId4" Type="http://schemas.openxmlformats.org/officeDocument/2006/relationships/tags" Target="../tags/tag42.xml"/></Relationships>
</file>

<file path=ppt/slides/_rels/slide28.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1.jpeg"/><Relationship Id="rId5" Type="http://schemas.openxmlformats.org/officeDocument/2006/relationships/slideLayout" Target="../slideLayouts/slideLayout1.xml"/><Relationship Id="rId4" Type="http://schemas.openxmlformats.org/officeDocument/2006/relationships/tags" Target="../tags/tag46.xml"/></Relationships>
</file>

<file path=ppt/slides/_rels/slide2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795" y="1609725"/>
            <a:ext cx="12179935" cy="1111250"/>
          </a:xfrm>
          <a:solidFill>
            <a:schemeClr val="accent6">
              <a:lumMod val="50000"/>
            </a:schemeClr>
          </a:solidFill>
        </p:spPr>
        <p:txBody>
          <a:bodyPr>
            <a:normAutofit fontScale="90000"/>
          </a:bodyPr>
          <a:lstStyle/>
          <a:p>
            <a:br>
              <a:rPr lang="en-US" sz="3600" dirty="0">
                <a:latin typeface="Times New Roman" panose="02020603050405020304" pitchFamily="18" charset="0"/>
                <a:ea typeface="+mn-ea"/>
                <a:cs typeface="Times New Roman" panose="02020603050405020304" pitchFamily="18" charset="0"/>
              </a:rPr>
            </a:br>
            <a:r>
              <a:rPr lang="zh-CN" altLang="en-US" sz="3600" b="1" dirty="0">
                <a:solidFill>
                  <a:schemeClr val="bg1"/>
                </a:solidFill>
                <a:latin typeface="Times New Roman" panose="02020603050405020304" pitchFamily="18" charset="0"/>
                <a:ea typeface="+mn-ea"/>
                <a:cs typeface="Times New Roman" panose="02020603050405020304" pitchFamily="18" charset="0"/>
              </a:rPr>
              <a:t>实验四</a:t>
            </a:r>
            <a:br>
              <a:rPr lang="en-US" altLang="zh-CN" sz="3600" b="1" dirty="0">
                <a:solidFill>
                  <a:schemeClr val="bg1"/>
                </a:solidFill>
                <a:latin typeface="Times New Roman" panose="02020603050405020304" pitchFamily="18" charset="0"/>
                <a:ea typeface="+mn-ea"/>
                <a:cs typeface="Times New Roman" panose="02020603050405020304" pitchFamily="18" charset="0"/>
              </a:rPr>
            </a:br>
            <a:r>
              <a:rPr lang="zh-CN" altLang="en-US" sz="3600" b="1" dirty="0">
                <a:solidFill>
                  <a:schemeClr val="bg1"/>
                </a:solidFill>
                <a:latin typeface="Times New Roman" panose="02020603050405020304" pitchFamily="18" charset="0"/>
                <a:ea typeface="+mn-ea"/>
                <a:cs typeface="Times New Roman" panose="02020603050405020304" pitchFamily="18" charset="0"/>
              </a:rPr>
              <a:t>一种基于</a:t>
            </a:r>
            <a:r>
              <a:rPr lang="en-US" altLang="zh-CN" sz="3600" b="1" dirty="0">
                <a:solidFill>
                  <a:schemeClr val="bg1"/>
                </a:solidFill>
                <a:latin typeface="Times New Roman" panose="02020603050405020304" pitchFamily="18" charset="0"/>
                <a:ea typeface="+mn-ea"/>
                <a:cs typeface="Times New Roman" panose="02020603050405020304" pitchFamily="18" charset="0"/>
              </a:rPr>
              <a:t>Gabor</a:t>
            </a:r>
            <a:r>
              <a:rPr lang="zh-CN" altLang="en-US" sz="3600" b="1" dirty="0">
                <a:solidFill>
                  <a:schemeClr val="bg1"/>
                </a:solidFill>
                <a:latin typeface="Times New Roman" panose="02020603050405020304" pitchFamily="18" charset="0"/>
                <a:ea typeface="+mn-ea"/>
                <a:cs typeface="Times New Roman" panose="02020603050405020304" pitchFamily="18" charset="0"/>
              </a:rPr>
              <a:t>滤波器与</a:t>
            </a:r>
            <a:r>
              <a:rPr lang="en-US" altLang="zh-CN" sz="3600" b="1" dirty="0">
                <a:solidFill>
                  <a:schemeClr val="bg1"/>
                </a:solidFill>
                <a:latin typeface="Times New Roman" panose="02020603050405020304" pitchFamily="18" charset="0"/>
                <a:ea typeface="+mn-ea"/>
                <a:cs typeface="Times New Roman" panose="02020603050405020304" pitchFamily="18" charset="0"/>
              </a:rPr>
              <a:t>SVM</a:t>
            </a:r>
            <a:r>
              <a:rPr lang="zh-CN" altLang="en-US" sz="3600" b="1" dirty="0">
                <a:solidFill>
                  <a:schemeClr val="bg1"/>
                </a:solidFill>
                <a:latin typeface="Times New Roman" panose="02020603050405020304" pitchFamily="18" charset="0"/>
                <a:ea typeface="+mn-ea"/>
                <a:cs typeface="Times New Roman" panose="02020603050405020304" pitchFamily="18" charset="0"/>
              </a:rPr>
              <a:t>分类器的人脸识别系统</a:t>
            </a:r>
            <a:endParaRPr lang="en-US" sz="3600" b="1" dirty="0">
              <a:solidFill>
                <a:schemeClr val="bg1"/>
              </a:solidFill>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idx="1"/>
          </p:nvPr>
        </p:nvSpPr>
        <p:spPr>
          <a:xfrm>
            <a:off x="3996926" y="3017211"/>
            <a:ext cx="3929149" cy="466542"/>
          </a:xfrm>
        </p:spPr>
        <p:txBody>
          <a:bodyPr>
            <a:normAutofit fontScale="97500"/>
          </a:bodyPr>
          <a:lstStyle/>
          <a:p>
            <a:r>
              <a:rPr lang="zh-CN" altLang="en-US" sz="2800" b="1"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rPr>
              <a:t>黄嘉聪</a:t>
            </a:r>
            <a:endParaRPr lang="en-US" altLang="zh-TW" sz="2800" b="1" dirty="0">
              <a:solidFill>
                <a:schemeClr val="tx1"/>
              </a:solidFill>
              <a:latin typeface="Times New Roman" panose="02020603050405020304" pitchFamily="18" charset="0"/>
              <a:cs typeface="Times New Roman" panose="02020603050405020304" pitchFamily="18" charset="0"/>
            </a:endParaRPr>
          </a:p>
          <a:p>
            <a:endParaRPr lang="en-US" sz="3600" b="1" dirty="0">
              <a:solidFill>
                <a:schemeClr val="tx1"/>
              </a:solidFill>
            </a:endParaRPr>
          </a:p>
        </p:txBody>
      </p:sp>
      <p:sp>
        <p:nvSpPr>
          <p:cNvPr id="5" name="Rectangle 4"/>
          <p:cNvSpPr/>
          <p:nvPr/>
        </p:nvSpPr>
        <p:spPr>
          <a:xfrm>
            <a:off x="538480" y="989330"/>
            <a:ext cx="11652885" cy="16192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0992" y="777385"/>
            <a:ext cx="528271" cy="53559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p:cNvSpPr txBox="1"/>
          <p:nvPr/>
        </p:nvSpPr>
        <p:spPr>
          <a:xfrm>
            <a:off x="2570797" y="4102650"/>
            <a:ext cx="7050405" cy="78457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sz="2000" dirty="0">
                <a:latin typeface="Times New Roman" panose="02020603050405020304" pitchFamily="18" charset="0"/>
                <a:cs typeface="Times New Roman" panose="02020603050405020304" pitchFamily="18" charset="0"/>
              </a:rPr>
              <a:t> College of Computer Science and Software Engineering</a:t>
            </a:r>
          </a:p>
          <a:p>
            <a:r>
              <a:rPr lang="en-US" altLang="zh-CN" sz="1900" dirty="0">
                <a:latin typeface="Times New Roman" panose="02020603050405020304" pitchFamily="18" charset="0"/>
                <a:cs typeface="Times New Roman" panose="02020603050405020304" pitchFamily="18" charset="0"/>
              </a:rPr>
              <a:t>Shenzhen University</a:t>
            </a:r>
          </a:p>
        </p:txBody>
      </p:sp>
      <p:sp>
        <p:nvSpPr>
          <p:cNvPr id="17" name="Slide Number Placeholder 16"/>
          <p:cNvSpPr>
            <a:spLocks noGrp="1"/>
          </p:cNvSpPr>
          <p:nvPr>
            <p:ph type="sldNum" sz="quarter" idx="12"/>
          </p:nvPr>
        </p:nvSpPr>
        <p:spPr/>
        <p:txBody>
          <a:bodyPr/>
          <a:lstStyle/>
          <a:p>
            <a:fld id="{AFB04D65-EEE5-467D-A240-EF96AD461DB8}" type="slidenum">
              <a:rPr lang="en-US" smtClean="0"/>
              <a:t>1</a:t>
            </a:fld>
            <a:endParaRPr lang="en-US"/>
          </a:p>
        </p:txBody>
      </p:sp>
      <p:sp>
        <p:nvSpPr>
          <p:cNvPr id="18" name="Subtitle 2"/>
          <p:cNvSpPr txBox="1"/>
          <p:nvPr/>
        </p:nvSpPr>
        <p:spPr>
          <a:xfrm>
            <a:off x="4761441" y="5506126"/>
            <a:ext cx="2171517" cy="40591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sz="2000" dirty="0">
                <a:latin typeface="Times New Roman" panose="02020603050405020304" pitchFamily="18" charset="0"/>
                <a:cs typeface="Times New Roman" panose="02020603050405020304" pitchFamily="18" charset="0"/>
              </a:rPr>
              <a:t>2024-12-23</a:t>
            </a:r>
          </a:p>
        </p:txBody>
      </p:sp>
      <p:pic>
        <p:nvPicPr>
          <p:cNvPr id="8" name="图片 7"/>
          <p:cNvPicPr/>
          <p:nvPr/>
        </p:nvPicPr>
        <p:blipFill>
          <a:blip r:embed="rId2"/>
          <a:stretch>
            <a:fillRect/>
          </a:stretch>
        </p:blipFill>
        <p:spPr>
          <a:xfrm>
            <a:off x="11100435" y="21590"/>
            <a:ext cx="1090930" cy="9340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91638" y="1339967"/>
            <a:ext cx="3761385" cy="586737"/>
          </a:xfrm>
        </p:spPr>
        <p:txBody>
          <a:bodyPr>
            <a:noAutofit/>
          </a:bodyPr>
          <a:lstStyle/>
          <a:p>
            <a:pPr algn="l">
              <a:lnSpc>
                <a:spcPct val="130000"/>
              </a:lnSpc>
              <a:spcAft>
                <a:spcPts val="600"/>
              </a:spcAft>
            </a:pPr>
            <a:r>
              <a:rPr 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1. </a:t>
            </a: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效果演示与系统说明</a:t>
            </a:r>
            <a:endParaRPr lang="en-US" sz="2800"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Oval 8"/>
          <p:cNvSpPr/>
          <p:nvPr/>
        </p:nvSpPr>
        <p:spPr>
          <a:xfrm>
            <a:off x="10992" y="800831"/>
            <a:ext cx="528271" cy="53559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39115" y="989330"/>
            <a:ext cx="10976610" cy="14351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12"/>
          <p:cNvSpPr>
            <a:spLocks noGrp="1"/>
          </p:cNvSpPr>
          <p:nvPr>
            <p:ph type="sldNum" sz="quarter" idx="12"/>
          </p:nvPr>
        </p:nvSpPr>
        <p:spPr/>
        <p:txBody>
          <a:bodyPr/>
          <a:lstStyle/>
          <a:p>
            <a:fld id="{AFB04D65-EEE5-467D-A240-EF96AD461DB8}" type="slidenum">
              <a:rPr lang="en-US" smtClean="0"/>
              <a:t>2</a:t>
            </a:fld>
            <a:endParaRPr lang="en-US" dirty="0"/>
          </a:p>
        </p:txBody>
      </p:sp>
      <p:sp>
        <p:nvSpPr>
          <p:cNvPr id="10" name="Title 3"/>
          <p:cNvSpPr txBox="1"/>
          <p:nvPr/>
        </p:nvSpPr>
        <p:spPr>
          <a:xfrm>
            <a:off x="474418" y="1911467"/>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2. </a:t>
            </a: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实验使用相关模型介绍</a:t>
            </a:r>
            <a:endParaRPr lang="en-US" sz="2800"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14" name="Title 3"/>
          <p:cNvSpPr txBox="1"/>
          <p:nvPr/>
        </p:nvSpPr>
        <p:spPr>
          <a:xfrm>
            <a:off x="434340" y="3181985"/>
            <a:ext cx="11478895"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4. </a:t>
            </a: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系统识别提升相关部分</a:t>
            </a:r>
            <a:endParaRPr lang="en-US" sz="2800"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15" name="Title 3"/>
          <p:cNvSpPr txBox="1"/>
          <p:nvPr/>
        </p:nvSpPr>
        <p:spPr>
          <a:xfrm>
            <a:off x="434340" y="3857625"/>
            <a:ext cx="11700510"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5. </a:t>
            </a: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总结</a:t>
            </a:r>
            <a:r>
              <a:rPr 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 </a:t>
            </a:r>
            <a:endParaRPr lang="en-US" sz="2800"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Title 1"/>
          <p:cNvSpPr txBox="1"/>
          <p:nvPr>
            <p:custDataLst>
              <p:tags r:id="rId2"/>
            </p:custDataLst>
          </p:nvPr>
        </p:nvSpPr>
        <p:spPr>
          <a:xfrm>
            <a:off x="492125" y="246380"/>
            <a:ext cx="10647680" cy="7429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2800" b="1" dirty="0">
                <a:solidFill>
                  <a:srgbClr val="0070C0"/>
                </a:solidFill>
                <a:latin typeface="Times New Roman" panose="02020603050405020304" pitchFamily="18" charset="0"/>
                <a:ea typeface="+mn-ea"/>
                <a:cs typeface="Times New Roman" panose="02020603050405020304" pitchFamily="18" charset="0"/>
                <a:sym typeface="+mn-ea"/>
              </a:rPr>
              <a:t>目录</a:t>
            </a:r>
            <a:endParaRPr lang="en-US" sz="2800" b="1" dirty="0">
              <a:solidFill>
                <a:srgbClr val="0070C0"/>
              </a:solidFill>
              <a:latin typeface="Times New Roman" panose="02020603050405020304" pitchFamily="18" charset="0"/>
              <a:ea typeface="+mn-ea"/>
              <a:cs typeface="Times New Roman" panose="02020603050405020304" pitchFamily="18" charset="0"/>
              <a:sym typeface="+mn-ea"/>
            </a:endParaRPr>
          </a:p>
        </p:txBody>
      </p:sp>
      <p:sp>
        <p:nvSpPr>
          <p:cNvPr id="2" name="Title 3"/>
          <p:cNvSpPr txBox="1"/>
          <p:nvPr>
            <p:custDataLst>
              <p:tags r:id="rId3"/>
            </p:custDataLst>
          </p:nvPr>
        </p:nvSpPr>
        <p:spPr>
          <a:xfrm>
            <a:off x="472440" y="2546985"/>
            <a:ext cx="11576685"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3.</a:t>
            </a: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实验过程及思路</a:t>
            </a:r>
            <a:endParaRPr lang="en-US" sz="2800" dirty="0">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5" name="图片 4"/>
          <p:cNvPicPr/>
          <p:nvPr/>
        </p:nvPicPr>
        <p:blipFill>
          <a:blip r:embed="rId6"/>
          <a:stretch>
            <a:fillRect/>
          </a:stretch>
        </p:blipFill>
        <p:spPr>
          <a:xfrm>
            <a:off x="11100435" y="21590"/>
            <a:ext cx="1090930" cy="934085"/>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B6195-A99E-B630-A422-1E2045F127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617B8F-1EAA-C15D-AF00-95B6BCA594D1}"/>
              </a:ext>
            </a:extLst>
          </p:cNvPr>
          <p:cNvSpPr>
            <a:spLocks noGrp="1"/>
          </p:cNvSpPr>
          <p:nvPr>
            <p:ph type="ctrTitle"/>
          </p:nvPr>
        </p:nvSpPr>
        <p:spPr>
          <a:xfrm>
            <a:off x="491637" y="1359017"/>
            <a:ext cx="4264661" cy="586737"/>
          </a:xfrm>
        </p:spPr>
        <p:txBody>
          <a:bodyPr>
            <a:noAutofit/>
          </a:bodyPr>
          <a:lstStyle/>
          <a:p>
            <a:pPr algn="l">
              <a:lnSpc>
                <a:spcPct val="130000"/>
              </a:lnSpc>
              <a:spcAft>
                <a:spcPts val="600"/>
              </a:spcAft>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1. </a:t>
            </a: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效果演示与系统说明</a:t>
            </a:r>
            <a:endParaRPr lang="en-US" sz="2800"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Oval 8">
            <a:extLst>
              <a:ext uri="{FF2B5EF4-FFF2-40B4-BE49-F238E27FC236}">
                <a16:creationId xmlns:a16="http://schemas.microsoft.com/office/drawing/2014/main" id="{F3683AA3-5300-66CE-D3CD-F4A4CFA6197D}"/>
              </a:ext>
            </a:extLst>
          </p:cNvPr>
          <p:cNvSpPr/>
          <p:nvPr/>
        </p:nvSpPr>
        <p:spPr>
          <a:xfrm>
            <a:off x="10992" y="800831"/>
            <a:ext cx="528271" cy="53559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DD8AD45-FEE6-6806-058D-F79764A44ACD}"/>
              </a:ext>
            </a:extLst>
          </p:cNvPr>
          <p:cNvSpPr/>
          <p:nvPr/>
        </p:nvSpPr>
        <p:spPr>
          <a:xfrm>
            <a:off x="539115" y="989330"/>
            <a:ext cx="10976610" cy="15367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83456463-B425-E2F5-5A10-4C943FDBD347}"/>
              </a:ext>
            </a:extLst>
          </p:cNvPr>
          <p:cNvSpPr txBox="1"/>
          <p:nvPr/>
        </p:nvSpPr>
        <p:spPr>
          <a:xfrm>
            <a:off x="424963" y="246186"/>
            <a:ext cx="2889737" cy="5581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b="1" dirty="0">
                <a:solidFill>
                  <a:srgbClr val="0070C0"/>
                </a:solidFill>
                <a:latin typeface="Times New Roman" panose="02020603050405020304" pitchFamily="18" charset="0"/>
                <a:ea typeface="+mn-ea"/>
                <a:cs typeface="Times New Roman" panose="02020603050405020304" pitchFamily="18" charset="0"/>
                <a:sym typeface="+mn-ea"/>
              </a:rPr>
              <a:t>目录</a:t>
            </a:r>
            <a:endParaRPr lang="en-US" altLang="zh-CN" sz="3200" b="1" dirty="0">
              <a:solidFill>
                <a:srgbClr val="0070C0"/>
              </a:solidFill>
              <a:latin typeface="Times New Roman" panose="02020603050405020304" pitchFamily="18" charset="0"/>
              <a:ea typeface="+mn-ea"/>
              <a:cs typeface="Times New Roman" panose="02020603050405020304" pitchFamily="18" charset="0"/>
              <a:sym typeface="+mn-ea"/>
            </a:endParaRPr>
          </a:p>
        </p:txBody>
      </p:sp>
      <p:sp>
        <p:nvSpPr>
          <p:cNvPr id="13" name="Slide Number Placeholder 12">
            <a:extLst>
              <a:ext uri="{FF2B5EF4-FFF2-40B4-BE49-F238E27FC236}">
                <a16:creationId xmlns:a16="http://schemas.microsoft.com/office/drawing/2014/main" id="{DD7F70E5-C5AD-7B17-FBEB-20C218B5F7D8}"/>
              </a:ext>
            </a:extLst>
          </p:cNvPr>
          <p:cNvSpPr>
            <a:spLocks noGrp="1"/>
          </p:cNvSpPr>
          <p:nvPr>
            <p:ph type="sldNum" sz="quarter" idx="12"/>
          </p:nvPr>
        </p:nvSpPr>
        <p:spPr/>
        <p:txBody>
          <a:bodyPr/>
          <a:lstStyle/>
          <a:p>
            <a:fld id="{AFB04D65-EEE5-467D-A240-EF96AD461DB8}" type="slidenum">
              <a:rPr lang="en-US" smtClean="0"/>
              <a:t>3</a:t>
            </a:fld>
            <a:endParaRPr lang="en-US" dirty="0"/>
          </a:p>
        </p:txBody>
      </p:sp>
      <p:sp>
        <p:nvSpPr>
          <p:cNvPr id="10" name="Title 3">
            <a:extLst>
              <a:ext uri="{FF2B5EF4-FFF2-40B4-BE49-F238E27FC236}">
                <a16:creationId xmlns:a16="http://schemas.microsoft.com/office/drawing/2014/main" id="{19A3A0EF-6031-F499-1AB7-691B79A50A1E}"/>
              </a:ext>
            </a:extLst>
          </p:cNvPr>
          <p:cNvSpPr txBox="1"/>
          <p:nvPr/>
        </p:nvSpPr>
        <p:spPr>
          <a:xfrm>
            <a:off x="474418" y="1911467"/>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2.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实验使用相关模型介绍</a:t>
            </a:r>
          </a:p>
        </p:txBody>
      </p:sp>
      <p:sp>
        <p:nvSpPr>
          <p:cNvPr id="14" name="Title 3">
            <a:extLst>
              <a:ext uri="{FF2B5EF4-FFF2-40B4-BE49-F238E27FC236}">
                <a16:creationId xmlns:a16="http://schemas.microsoft.com/office/drawing/2014/main" id="{8DF3BE68-E735-D951-2119-7E6F459D499B}"/>
              </a:ext>
            </a:extLst>
          </p:cNvPr>
          <p:cNvSpPr txBox="1"/>
          <p:nvPr/>
        </p:nvSpPr>
        <p:spPr>
          <a:xfrm>
            <a:off x="453137" y="3244569"/>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4.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系统识别提升相关部分</a:t>
            </a:r>
          </a:p>
        </p:txBody>
      </p:sp>
      <p:sp>
        <p:nvSpPr>
          <p:cNvPr id="3" name="Title 3">
            <a:extLst>
              <a:ext uri="{FF2B5EF4-FFF2-40B4-BE49-F238E27FC236}">
                <a16:creationId xmlns:a16="http://schemas.microsoft.com/office/drawing/2014/main" id="{061BDD7F-C4D1-27AE-85F4-82EBFCF96742}"/>
              </a:ext>
            </a:extLst>
          </p:cNvPr>
          <p:cNvSpPr txBox="1"/>
          <p:nvPr>
            <p:custDataLst>
              <p:tags r:id="rId2"/>
            </p:custDataLst>
          </p:nvPr>
        </p:nvSpPr>
        <p:spPr>
          <a:xfrm>
            <a:off x="472440" y="3943350"/>
            <a:ext cx="11700510"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5.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总结 </a:t>
            </a:r>
          </a:p>
        </p:txBody>
      </p:sp>
      <p:sp>
        <p:nvSpPr>
          <p:cNvPr id="2" name="Title 3">
            <a:extLst>
              <a:ext uri="{FF2B5EF4-FFF2-40B4-BE49-F238E27FC236}">
                <a16:creationId xmlns:a16="http://schemas.microsoft.com/office/drawing/2014/main" id="{62E486AF-08B0-792D-6AB7-4EE3A47EE3B1}"/>
              </a:ext>
            </a:extLst>
          </p:cNvPr>
          <p:cNvSpPr txBox="1"/>
          <p:nvPr>
            <p:custDataLst>
              <p:tags r:id="rId3"/>
            </p:custDataLst>
          </p:nvPr>
        </p:nvSpPr>
        <p:spPr>
          <a:xfrm>
            <a:off x="472440" y="2546985"/>
            <a:ext cx="11576685"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3.</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实验过程及思路</a:t>
            </a:r>
          </a:p>
        </p:txBody>
      </p:sp>
      <p:pic>
        <p:nvPicPr>
          <p:cNvPr id="6" name="图片 5">
            <a:extLst>
              <a:ext uri="{FF2B5EF4-FFF2-40B4-BE49-F238E27FC236}">
                <a16:creationId xmlns:a16="http://schemas.microsoft.com/office/drawing/2014/main" id="{B1FD4E7B-9DA1-4921-9495-EDDB9CAB7566}"/>
              </a:ext>
            </a:extLst>
          </p:cNvPr>
          <p:cNvPicPr/>
          <p:nvPr/>
        </p:nvPicPr>
        <p:blipFill>
          <a:blip r:embed="rId6"/>
          <a:stretch>
            <a:fillRect/>
          </a:stretch>
        </p:blipFill>
        <p:spPr>
          <a:xfrm>
            <a:off x="11100435" y="21590"/>
            <a:ext cx="1090930" cy="934085"/>
          </a:xfrm>
          <a:prstGeom prst="rect">
            <a:avLst/>
          </a:prstGeom>
        </p:spPr>
      </p:pic>
    </p:spTree>
    <p:custDataLst>
      <p:tags r:id="rId1"/>
    </p:custDataLst>
    <p:extLst>
      <p:ext uri="{BB962C8B-B14F-4D97-AF65-F5344CB8AC3E}">
        <p14:creationId xmlns:p14="http://schemas.microsoft.com/office/powerpoint/2010/main" val="552598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987E6-7EB1-68CC-DD35-D0DDFB4B904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49E5564-F862-E4C3-67AE-6C53325DD639}"/>
              </a:ext>
            </a:extLst>
          </p:cNvPr>
          <p:cNvSpPr/>
          <p:nvPr/>
        </p:nvSpPr>
        <p:spPr>
          <a:xfrm>
            <a:off x="494030" y="726440"/>
            <a:ext cx="11179810"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Slide Number Placeholder 51">
            <a:extLst>
              <a:ext uri="{FF2B5EF4-FFF2-40B4-BE49-F238E27FC236}">
                <a16:creationId xmlns:a16="http://schemas.microsoft.com/office/drawing/2014/main" id="{49E5A814-70FE-4241-CAD5-8A7FF6E8B6E6}"/>
              </a:ext>
            </a:extLst>
          </p:cNvPr>
          <p:cNvSpPr>
            <a:spLocks noGrp="1"/>
          </p:cNvSpPr>
          <p:nvPr>
            <p:ph type="sldNum" sz="quarter" idx="12"/>
          </p:nvPr>
        </p:nvSpPr>
        <p:spPr/>
        <p:txBody>
          <a:bodyPr/>
          <a:lstStyle/>
          <a:p>
            <a:fld id="{AFB04D65-EEE5-467D-A240-EF96AD461DB8}" type="slidenum">
              <a:rPr lang="en-US" smtClean="0"/>
              <a:t>4</a:t>
            </a:fld>
            <a:endParaRPr lang="en-US"/>
          </a:p>
        </p:txBody>
      </p:sp>
      <p:sp>
        <p:nvSpPr>
          <p:cNvPr id="5" name="Oval 5">
            <a:extLst>
              <a:ext uri="{FF2B5EF4-FFF2-40B4-BE49-F238E27FC236}">
                <a16:creationId xmlns:a16="http://schemas.microsoft.com/office/drawing/2014/main" id="{EC298A0A-B330-7011-D0E6-1DFF6E746A1C}"/>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1</a:t>
            </a:r>
          </a:p>
        </p:txBody>
      </p:sp>
      <p:sp>
        <p:nvSpPr>
          <p:cNvPr id="19462" name="Title 1">
            <a:extLst>
              <a:ext uri="{FF2B5EF4-FFF2-40B4-BE49-F238E27FC236}">
                <a16:creationId xmlns:a16="http://schemas.microsoft.com/office/drawing/2014/main" id="{7A419499-9B85-8A7D-CC88-122EC5808372}"/>
              </a:ext>
            </a:extLst>
          </p:cNvPr>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效果演示与系统说明</a:t>
            </a:r>
            <a:endParaRPr lang="en-US" altLang="en-US" b="1" dirty="0">
              <a:latin typeface="楷体" panose="02010609060101010101" pitchFamily="49" charset="-122"/>
              <a:ea typeface="楷体" panose="02010609060101010101" pitchFamily="49" charset="-122"/>
            </a:endParaRPr>
          </a:p>
        </p:txBody>
      </p:sp>
      <p:pic>
        <p:nvPicPr>
          <p:cNvPr id="8" name="图片 7">
            <a:extLst>
              <a:ext uri="{FF2B5EF4-FFF2-40B4-BE49-F238E27FC236}">
                <a16:creationId xmlns:a16="http://schemas.microsoft.com/office/drawing/2014/main" id="{F4172159-51AB-0226-1BCB-696113ABCCA1}"/>
              </a:ext>
            </a:extLst>
          </p:cNvPr>
          <p:cNvPicPr/>
          <p:nvPr/>
        </p:nvPicPr>
        <p:blipFill>
          <a:blip r:embed="rId4"/>
          <a:stretch>
            <a:fillRect/>
          </a:stretch>
        </p:blipFill>
        <p:spPr>
          <a:xfrm>
            <a:off x="11061065" y="21590"/>
            <a:ext cx="1130300" cy="967740"/>
          </a:xfrm>
          <a:prstGeom prst="rect">
            <a:avLst/>
          </a:prstGeom>
        </p:spPr>
      </p:pic>
      <p:pic>
        <p:nvPicPr>
          <p:cNvPr id="6" name="图片 5">
            <a:extLst>
              <a:ext uri="{FF2B5EF4-FFF2-40B4-BE49-F238E27FC236}">
                <a16:creationId xmlns:a16="http://schemas.microsoft.com/office/drawing/2014/main" id="{A6ABDEE2-24E8-EE4C-98A4-C505CB9106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28286" y="3509470"/>
            <a:ext cx="6711298" cy="1073808"/>
          </a:xfrm>
          <a:prstGeom prst="rect">
            <a:avLst/>
          </a:prstGeom>
        </p:spPr>
      </p:pic>
      <p:sp>
        <p:nvSpPr>
          <p:cNvPr id="7" name="文本框 6">
            <a:extLst>
              <a:ext uri="{FF2B5EF4-FFF2-40B4-BE49-F238E27FC236}">
                <a16:creationId xmlns:a16="http://schemas.microsoft.com/office/drawing/2014/main" id="{266314CD-E1F7-81B6-6468-140550D65416}"/>
              </a:ext>
            </a:extLst>
          </p:cNvPr>
          <p:cNvSpPr txBox="1"/>
          <p:nvPr/>
        </p:nvSpPr>
        <p:spPr>
          <a:xfrm>
            <a:off x="4506772" y="2197395"/>
            <a:ext cx="3154326" cy="461665"/>
          </a:xfrm>
          <a:prstGeom prst="rect">
            <a:avLst/>
          </a:prstGeom>
          <a:noFill/>
        </p:spPr>
        <p:txBody>
          <a:bodyPr wrap="square" rtlCol="0">
            <a:spAutoFit/>
          </a:bodyPr>
          <a:lstStyle/>
          <a:p>
            <a:r>
              <a:rPr lang="zh-CN" altLang="en-US" sz="2400" b="1" dirty="0"/>
              <a:t>随机抽取识别率</a:t>
            </a:r>
            <a:r>
              <a:rPr lang="en-US" altLang="zh-CN" sz="2400" b="1" dirty="0"/>
              <a:t>96.3%</a:t>
            </a:r>
            <a:endParaRPr lang="zh-CN" altLang="en-US" sz="2400" b="1" dirty="0"/>
          </a:p>
        </p:txBody>
      </p:sp>
    </p:spTree>
    <p:custDataLst>
      <p:tags r:id="rId1"/>
    </p:custDataLst>
    <p:extLst>
      <p:ext uri="{BB962C8B-B14F-4D97-AF65-F5344CB8AC3E}">
        <p14:creationId xmlns:p14="http://schemas.microsoft.com/office/powerpoint/2010/main" val="474721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79C46-E8EE-6D8C-D91B-488B70650F0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F274343-910A-5D8C-D5A7-A3153567ACDD}"/>
              </a:ext>
            </a:extLst>
          </p:cNvPr>
          <p:cNvSpPr/>
          <p:nvPr/>
        </p:nvSpPr>
        <p:spPr>
          <a:xfrm>
            <a:off x="494030" y="726440"/>
            <a:ext cx="11179810"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Slide Number Placeholder 51">
            <a:extLst>
              <a:ext uri="{FF2B5EF4-FFF2-40B4-BE49-F238E27FC236}">
                <a16:creationId xmlns:a16="http://schemas.microsoft.com/office/drawing/2014/main" id="{8F9F8DC9-CED8-3C13-1CAD-44595958D26C}"/>
              </a:ext>
            </a:extLst>
          </p:cNvPr>
          <p:cNvSpPr>
            <a:spLocks noGrp="1"/>
          </p:cNvSpPr>
          <p:nvPr>
            <p:ph type="sldNum" sz="quarter" idx="12"/>
          </p:nvPr>
        </p:nvSpPr>
        <p:spPr/>
        <p:txBody>
          <a:bodyPr/>
          <a:lstStyle/>
          <a:p>
            <a:fld id="{AFB04D65-EEE5-467D-A240-EF96AD461DB8}" type="slidenum">
              <a:rPr lang="en-US" smtClean="0"/>
              <a:t>5</a:t>
            </a:fld>
            <a:endParaRPr lang="en-US"/>
          </a:p>
        </p:txBody>
      </p:sp>
      <p:sp>
        <p:nvSpPr>
          <p:cNvPr id="5" name="Oval 5">
            <a:extLst>
              <a:ext uri="{FF2B5EF4-FFF2-40B4-BE49-F238E27FC236}">
                <a16:creationId xmlns:a16="http://schemas.microsoft.com/office/drawing/2014/main" id="{9F095AE0-92BF-1A9C-DD46-9A657F03B100}"/>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1</a:t>
            </a:r>
          </a:p>
        </p:txBody>
      </p:sp>
      <p:sp>
        <p:nvSpPr>
          <p:cNvPr id="19462" name="Title 1">
            <a:extLst>
              <a:ext uri="{FF2B5EF4-FFF2-40B4-BE49-F238E27FC236}">
                <a16:creationId xmlns:a16="http://schemas.microsoft.com/office/drawing/2014/main" id="{ACD16C60-D5C9-3528-E9AF-45FCCC58B0A2}"/>
              </a:ext>
            </a:extLst>
          </p:cNvPr>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效果演示与系统说明</a:t>
            </a:r>
            <a:endParaRPr lang="en-US" altLang="en-US" b="1" dirty="0">
              <a:latin typeface="楷体" panose="02010609060101010101" pitchFamily="49" charset="-122"/>
              <a:ea typeface="楷体" panose="02010609060101010101" pitchFamily="49" charset="-122"/>
            </a:endParaRPr>
          </a:p>
        </p:txBody>
      </p:sp>
      <p:pic>
        <p:nvPicPr>
          <p:cNvPr id="8" name="图片 7">
            <a:extLst>
              <a:ext uri="{FF2B5EF4-FFF2-40B4-BE49-F238E27FC236}">
                <a16:creationId xmlns:a16="http://schemas.microsoft.com/office/drawing/2014/main" id="{C86B1E95-4F9E-4BD8-5433-3C3AB6E467B6}"/>
              </a:ext>
            </a:extLst>
          </p:cNvPr>
          <p:cNvPicPr/>
          <p:nvPr/>
        </p:nvPicPr>
        <p:blipFill>
          <a:blip r:embed="rId4"/>
          <a:stretch>
            <a:fillRect/>
          </a:stretch>
        </p:blipFill>
        <p:spPr>
          <a:xfrm>
            <a:off x="11061065" y="21590"/>
            <a:ext cx="1130300" cy="967740"/>
          </a:xfrm>
          <a:prstGeom prst="rect">
            <a:avLst/>
          </a:prstGeom>
        </p:spPr>
      </p:pic>
      <p:sp>
        <p:nvSpPr>
          <p:cNvPr id="7" name="文本框 6">
            <a:extLst>
              <a:ext uri="{FF2B5EF4-FFF2-40B4-BE49-F238E27FC236}">
                <a16:creationId xmlns:a16="http://schemas.microsoft.com/office/drawing/2014/main" id="{83646F1B-04BD-BC3D-192A-71140F57A637}"/>
              </a:ext>
            </a:extLst>
          </p:cNvPr>
          <p:cNvSpPr txBox="1"/>
          <p:nvPr/>
        </p:nvSpPr>
        <p:spPr>
          <a:xfrm>
            <a:off x="5001994" y="2133600"/>
            <a:ext cx="2235234" cy="461665"/>
          </a:xfrm>
          <a:prstGeom prst="rect">
            <a:avLst/>
          </a:prstGeom>
          <a:noFill/>
        </p:spPr>
        <p:txBody>
          <a:bodyPr wrap="square" rtlCol="0">
            <a:spAutoFit/>
          </a:bodyPr>
          <a:lstStyle/>
          <a:p>
            <a:r>
              <a:rPr lang="zh-CN" altLang="en-US" sz="2400" b="1" dirty="0"/>
              <a:t>识别结果例</a:t>
            </a:r>
          </a:p>
        </p:txBody>
      </p:sp>
      <p:pic>
        <p:nvPicPr>
          <p:cNvPr id="2" name="图片 1">
            <a:extLst>
              <a:ext uri="{FF2B5EF4-FFF2-40B4-BE49-F238E27FC236}">
                <a16:creationId xmlns:a16="http://schemas.microsoft.com/office/drawing/2014/main" id="{C04415EB-239F-520A-0F3C-C70CDFBF63EA}"/>
              </a:ext>
            </a:extLst>
          </p:cNvPr>
          <p:cNvPicPr>
            <a:picLocks noChangeAspect="1"/>
          </p:cNvPicPr>
          <p:nvPr/>
        </p:nvPicPr>
        <p:blipFill>
          <a:blip r:embed="rId5"/>
          <a:stretch>
            <a:fillRect/>
          </a:stretch>
        </p:blipFill>
        <p:spPr>
          <a:xfrm>
            <a:off x="3953390" y="3197463"/>
            <a:ext cx="4261090" cy="2130545"/>
          </a:xfrm>
          <a:prstGeom prst="rect">
            <a:avLst/>
          </a:prstGeom>
        </p:spPr>
      </p:pic>
    </p:spTree>
    <p:custDataLst>
      <p:tags r:id="rId1"/>
    </p:custDataLst>
    <p:extLst>
      <p:ext uri="{BB962C8B-B14F-4D97-AF65-F5344CB8AC3E}">
        <p14:creationId xmlns:p14="http://schemas.microsoft.com/office/powerpoint/2010/main" val="3792564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494030" y="726440"/>
            <a:ext cx="11179810"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Slide Number Placeholder 51"/>
          <p:cNvSpPr>
            <a:spLocks noGrp="1"/>
          </p:cNvSpPr>
          <p:nvPr>
            <p:ph type="sldNum" sz="quarter" idx="12"/>
          </p:nvPr>
        </p:nvSpPr>
        <p:spPr/>
        <p:txBody>
          <a:bodyPr/>
          <a:lstStyle/>
          <a:p>
            <a:fld id="{AFB04D65-EEE5-467D-A240-EF96AD461DB8}" type="slidenum">
              <a:rPr lang="en-US" smtClean="0"/>
              <a:t>6</a:t>
            </a:fld>
            <a:endParaRPr lang="en-US"/>
          </a:p>
        </p:txBody>
      </p:sp>
      <p:sp>
        <p:nvSpPr>
          <p:cNvPr id="5" name="Oval 5"/>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1</a:t>
            </a:r>
          </a:p>
        </p:txBody>
      </p:sp>
      <p:sp>
        <p:nvSpPr>
          <p:cNvPr id="19462" name="Title 1"/>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效果演示与系统说明</a:t>
            </a:r>
            <a:endParaRPr lang="en-US" altLang="en-US" b="1" dirty="0">
              <a:latin typeface="楷体" panose="02010609060101010101" pitchFamily="49" charset="-122"/>
              <a:ea typeface="楷体" panose="02010609060101010101" pitchFamily="49" charset="-122"/>
            </a:endParaRPr>
          </a:p>
        </p:txBody>
      </p:sp>
      <p:pic>
        <p:nvPicPr>
          <p:cNvPr id="8" name="图片 7"/>
          <p:cNvPicPr/>
          <p:nvPr/>
        </p:nvPicPr>
        <p:blipFill>
          <a:blip r:embed="rId4"/>
          <a:stretch>
            <a:fillRect/>
          </a:stretch>
        </p:blipFill>
        <p:spPr>
          <a:xfrm>
            <a:off x="11061065" y="21590"/>
            <a:ext cx="1130300" cy="967740"/>
          </a:xfrm>
          <a:prstGeom prst="rect">
            <a:avLst/>
          </a:prstGeom>
        </p:spPr>
      </p:pic>
      <p:sp>
        <p:nvSpPr>
          <p:cNvPr id="12" name="文本框 11">
            <a:extLst>
              <a:ext uri="{FF2B5EF4-FFF2-40B4-BE49-F238E27FC236}">
                <a16:creationId xmlns:a16="http://schemas.microsoft.com/office/drawing/2014/main" id="{AC204A44-F3F8-A1DF-5613-3E375B19BE2C}"/>
              </a:ext>
            </a:extLst>
          </p:cNvPr>
          <p:cNvSpPr txBox="1"/>
          <p:nvPr/>
        </p:nvSpPr>
        <p:spPr>
          <a:xfrm>
            <a:off x="3911938" y="1333807"/>
            <a:ext cx="3598502" cy="461665"/>
          </a:xfrm>
          <a:prstGeom prst="rect">
            <a:avLst/>
          </a:prstGeom>
          <a:noFill/>
        </p:spPr>
        <p:txBody>
          <a:bodyPr wrap="square" rtlCol="0">
            <a:spAutoFit/>
          </a:bodyPr>
          <a:lstStyle/>
          <a:p>
            <a:r>
              <a:rPr lang="zh-CN" altLang="en-US" sz="2400" b="1" dirty="0"/>
              <a:t>使用前置摄像头实时识别</a:t>
            </a:r>
          </a:p>
        </p:txBody>
      </p:sp>
      <p:pic>
        <p:nvPicPr>
          <p:cNvPr id="16" name="图片 15">
            <a:extLst>
              <a:ext uri="{FF2B5EF4-FFF2-40B4-BE49-F238E27FC236}">
                <a16:creationId xmlns:a16="http://schemas.microsoft.com/office/drawing/2014/main" id="{EF36E192-9BF0-B942-2743-5114A30151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49345" y="1894043"/>
            <a:ext cx="5741000" cy="4583252"/>
          </a:xfrm>
          <a:prstGeom prst="rect">
            <a:avLst/>
          </a:prstGeom>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91637" y="1359017"/>
            <a:ext cx="4264661" cy="586737"/>
          </a:xfrm>
        </p:spPr>
        <p:txBody>
          <a:bodyPr>
            <a:noAutofit/>
          </a:body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1.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效果演示与系统说明</a:t>
            </a:r>
            <a:endParaRPr 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Oval 8"/>
          <p:cNvSpPr/>
          <p:nvPr/>
        </p:nvSpPr>
        <p:spPr>
          <a:xfrm>
            <a:off x="10992" y="800831"/>
            <a:ext cx="528271" cy="53559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39115" y="989330"/>
            <a:ext cx="10976610" cy="15367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txBox="1"/>
          <p:nvPr/>
        </p:nvSpPr>
        <p:spPr>
          <a:xfrm>
            <a:off x="424963" y="246186"/>
            <a:ext cx="2889737" cy="5581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b="1" dirty="0">
                <a:solidFill>
                  <a:srgbClr val="0070C0"/>
                </a:solidFill>
                <a:latin typeface="Times New Roman" panose="02020603050405020304" pitchFamily="18" charset="0"/>
                <a:ea typeface="+mn-ea"/>
                <a:cs typeface="Times New Roman" panose="02020603050405020304" pitchFamily="18" charset="0"/>
                <a:sym typeface="+mn-ea"/>
              </a:rPr>
              <a:t>目录</a:t>
            </a:r>
            <a:endParaRPr lang="en-US" altLang="zh-CN" sz="3200" b="1" dirty="0">
              <a:solidFill>
                <a:srgbClr val="0070C0"/>
              </a:solidFill>
              <a:latin typeface="Times New Roman" panose="02020603050405020304" pitchFamily="18" charset="0"/>
              <a:ea typeface="+mn-ea"/>
              <a:cs typeface="Times New Roman" panose="02020603050405020304" pitchFamily="18" charset="0"/>
              <a:sym typeface="+mn-ea"/>
            </a:endParaRPr>
          </a:p>
        </p:txBody>
      </p:sp>
      <p:sp>
        <p:nvSpPr>
          <p:cNvPr id="13" name="Slide Number Placeholder 12"/>
          <p:cNvSpPr>
            <a:spLocks noGrp="1"/>
          </p:cNvSpPr>
          <p:nvPr>
            <p:ph type="sldNum" sz="quarter" idx="12"/>
          </p:nvPr>
        </p:nvSpPr>
        <p:spPr/>
        <p:txBody>
          <a:bodyPr/>
          <a:lstStyle/>
          <a:p>
            <a:fld id="{AFB04D65-EEE5-467D-A240-EF96AD461DB8}" type="slidenum">
              <a:rPr lang="en-US" smtClean="0"/>
              <a:t>7</a:t>
            </a:fld>
            <a:endParaRPr lang="en-US" dirty="0"/>
          </a:p>
        </p:txBody>
      </p:sp>
      <p:sp>
        <p:nvSpPr>
          <p:cNvPr id="10" name="Title 3"/>
          <p:cNvSpPr txBox="1"/>
          <p:nvPr/>
        </p:nvSpPr>
        <p:spPr>
          <a:xfrm>
            <a:off x="474418" y="1911467"/>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2. </a:t>
            </a: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实验使用相关模型介绍</a:t>
            </a:r>
          </a:p>
        </p:txBody>
      </p:sp>
      <p:sp>
        <p:nvSpPr>
          <p:cNvPr id="14" name="Title 3"/>
          <p:cNvSpPr txBox="1"/>
          <p:nvPr/>
        </p:nvSpPr>
        <p:spPr>
          <a:xfrm>
            <a:off x="453137" y="3244569"/>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4.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系统识别提升相关部分</a:t>
            </a:r>
          </a:p>
        </p:txBody>
      </p:sp>
      <p:sp>
        <p:nvSpPr>
          <p:cNvPr id="3" name="Title 3"/>
          <p:cNvSpPr txBox="1"/>
          <p:nvPr>
            <p:custDataLst>
              <p:tags r:id="rId2"/>
            </p:custDataLst>
          </p:nvPr>
        </p:nvSpPr>
        <p:spPr>
          <a:xfrm>
            <a:off x="472440" y="3943350"/>
            <a:ext cx="11700510"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5.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总结 </a:t>
            </a:r>
          </a:p>
        </p:txBody>
      </p:sp>
      <p:sp>
        <p:nvSpPr>
          <p:cNvPr id="2" name="Title 3"/>
          <p:cNvSpPr txBox="1"/>
          <p:nvPr>
            <p:custDataLst>
              <p:tags r:id="rId3"/>
            </p:custDataLst>
          </p:nvPr>
        </p:nvSpPr>
        <p:spPr>
          <a:xfrm>
            <a:off x="472440" y="2546985"/>
            <a:ext cx="11576685"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3.</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实验过程及思路</a:t>
            </a:r>
          </a:p>
        </p:txBody>
      </p:sp>
      <p:pic>
        <p:nvPicPr>
          <p:cNvPr id="6" name="图片 5"/>
          <p:cNvPicPr/>
          <p:nvPr/>
        </p:nvPicPr>
        <p:blipFill>
          <a:blip r:embed="rId6"/>
          <a:stretch>
            <a:fillRect/>
          </a:stretch>
        </p:blipFill>
        <p:spPr>
          <a:xfrm>
            <a:off x="11100435" y="21590"/>
            <a:ext cx="1090930" cy="934085"/>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B4E2D-DE49-9D6F-7CD1-FFAA44970F8F}"/>
            </a:ext>
          </a:extLst>
        </p:cNvPr>
        <p:cNvGrpSpPr/>
        <p:nvPr/>
      </p:nvGrpSpPr>
      <p:grpSpPr>
        <a:xfrm>
          <a:off x="0" y="0"/>
          <a:ext cx="0" cy="0"/>
          <a:chOff x="0" y="0"/>
          <a:chExt cx="0" cy="0"/>
        </a:xfrm>
      </p:grpSpPr>
      <p:sp>
        <p:nvSpPr>
          <p:cNvPr id="59" name="Slide Number Placeholder 58">
            <a:extLst>
              <a:ext uri="{FF2B5EF4-FFF2-40B4-BE49-F238E27FC236}">
                <a16:creationId xmlns:a16="http://schemas.microsoft.com/office/drawing/2014/main" id="{3DFBEA4A-B600-64D3-0746-1D3DF1B1FEA3}"/>
              </a:ext>
            </a:extLst>
          </p:cNvPr>
          <p:cNvSpPr>
            <a:spLocks noGrp="1"/>
          </p:cNvSpPr>
          <p:nvPr>
            <p:ph type="sldNum" sz="quarter" idx="12"/>
          </p:nvPr>
        </p:nvSpPr>
        <p:spPr/>
        <p:txBody>
          <a:bodyPr/>
          <a:lstStyle/>
          <a:p>
            <a:fld id="{AFB04D65-EEE5-467D-A240-EF96AD461DB8}" type="slidenum">
              <a:rPr lang="en-US" smtClean="0"/>
              <a:t>8</a:t>
            </a:fld>
            <a:endParaRPr lang="en-US" dirty="0"/>
          </a:p>
        </p:txBody>
      </p:sp>
      <p:sp>
        <p:nvSpPr>
          <p:cNvPr id="5" name="Oval 5">
            <a:extLst>
              <a:ext uri="{FF2B5EF4-FFF2-40B4-BE49-F238E27FC236}">
                <a16:creationId xmlns:a16="http://schemas.microsoft.com/office/drawing/2014/main" id="{10DC3F1E-A88B-8AB0-4E90-73CB7E4EFCF4}"/>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2</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3" name="Title 1">
            <a:extLst>
              <a:ext uri="{FF2B5EF4-FFF2-40B4-BE49-F238E27FC236}">
                <a16:creationId xmlns:a16="http://schemas.microsoft.com/office/drawing/2014/main" id="{60CED116-4FE0-2025-200B-04946508F77C}"/>
              </a:ext>
            </a:extLst>
          </p:cNvPr>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实验使用相关模型介绍</a:t>
            </a:r>
            <a:endParaRPr lang="en-US" altLang="en-US" b="1" dirty="0">
              <a:latin typeface="楷体" panose="02010609060101010101" pitchFamily="49" charset="-122"/>
              <a:ea typeface="楷体" panose="02010609060101010101" pitchFamily="49" charset="-122"/>
            </a:endParaRPr>
          </a:p>
        </p:txBody>
      </p:sp>
      <p:sp>
        <p:nvSpPr>
          <p:cNvPr id="3" name="Rectangle 10">
            <a:extLst>
              <a:ext uri="{FF2B5EF4-FFF2-40B4-BE49-F238E27FC236}">
                <a16:creationId xmlns:a16="http://schemas.microsoft.com/office/drawing/2014/main" id="{40261709-727D-30EE-23FD-482999B23D97}"/>
              </a:ext>
            </a:extLst>
          </p:cNvPr>
          <p:cNvSpPr/>
          <p:nvPr/>
        </p:nvSpPr>
        <p:spPr>
          <a:xfrm>
            <a:off x="518795" y="726440"/>
            <a:ext cx="1115504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图片 7">
            <a:extLst>
              <a:ext uri="{FF2B5EF4-FFF2-40B4-BE49-F238E27FC236}">
                <a16:creationId xmlns:a16="http://schemas.microsoft.com/office/drawing/2014/main" id="{D880174A-251D-6749-4EDB-022C78C64704}"/>
              </a:ext>
            </a:extLst>
          </p:cNvPr>
          <p:cNvPicPr/>
          <p:nvPr/>
        </p:nvPicPr>
        <p:blipFill>
          <a:blip r:embed="rId4"/>
          <a:stretch>
            <a:fillRect/>
          </a:stretch>
        </p:blipFill>
        <p:spPr>
          <a:xfrm>
            <a:off x="11061065" y="21590"/>
            <a:ext cx="1130300" cy="967740"/>
          </a:xfrm>
          <a:prstGeom prst="rect">
            <a:avLst/>
          </a:prstGeom>
        </p:spPr>
      </p:pic>
      <p:sp>
        <p:nvSpPr>
          <p:cNvPr id="6" name="文本框 5">
            <a:extLst>
              <a:ext uri="{FF2B5EF4-FFF2-40B4-BE49-F238E27FC236}">
                <a16:creationId xmlns:a16="http://schemas.microsoft.com/office/drawing/2014/main" id="{3FB13901-CE6F-83B2-FB4A-11F7751CFB7B}"/>
              </a:ext>
            </a:extLst>
          </p:cNvPr>
          <p:cNvSpPr txBox="1"/>
          <p:nvPr/>
        </p:nvSpPr>
        <p:spPr>
          <a:xfrm>
            <a:off x="528638" y="1141228"/>
            <a:ext cx="2030264" cy="461665"/>
          </a:xfrm>
          <a:prstGeom prst="rect">
            <a:avLst/>
          </a:prstGeom>
          <a:noFill/>
        </p:spPr>
        <p:txBody>
          <a:bodyPr wrap="square" rtlCol="0">
            <a:spAutoFit/>
          </a:bodyPr>
          <a:lstStyle/>
          <a:p>
            <a:r>
              <a:rPr lang="en-US" altLang="zh-CN" sz="2400" b="1" dirty="0"/>
              <a:t>Gabor</a:t>
            </a:r>
            <a:r>
              <a:rPr lang="zh-CN" altLang="en-US" sz="2400" b="1" dirty="0"/>
              <a:t>滤波器</a:t>
            </a:r>
          </a:p>
        </p:txBody>
      </p:sp>
      <p:sp>
        <p:nvSpPr>
          <p:cNvPr id="7" name="文本框 6">
            <a:extLst>
              <a:ext uri="{FF2B5EF4-FFF2-40B4-BE49-F238E27FC236}">
                <a16:creationId xmlns:a16="http://schemas.microsoft.com/office/drawing/2014/main" id="{6D48BA39-CC3E-188C-3215-6D99055ED7AF}"/>
              </a:ext>
            </a:extLst>
          </p:cNvPr>
          <p:cNvSpPr txBox="1"/>
          <p:nvPr/>
        </p:nvSpPr>
        <p:spPr>
          <a:xfrm>
            <a:off x="518795" y="2053551"/>
            <a:ext cx="9533861" cy="1200329"/>
          </a:xfrm>
          <a:prstGeom prst="rect">
            <a:avLst/>
          </a:prstGeom>
          <a:noFill/>
        </p:spPr>
        <p:txBody>
          <a:bodyPr wrap="square" rtlCol="0">
            <a:spAutoFit/>
          </a:bodyPr>
          <a:lstStyle/>
          <a:p>
            <a:r>
              <a:rPr lang="zh-CN" altLang="en-US" dirty="0"/>
              <a:t>在图像处理中，以</a:t>
            </a:r>
            <a:r>
              <a:rPr lang="en-US" altLang="zh-CN" dirty="0"/>
              <a:t>Dennis Gabor</a:t>
            </a:r>
            <a:r>
              <a:rPr lang="zh-CN" altLang="en-US" dirty="0"/>
              <a:t>命名的</a:t>
            </a:r>
            <a:r>
              <a:rPr lang="en-US" altLang="zh-CN" dirty="0"/>
              <a:t>Gabor</a:t>
            </a:r>
            <a:r>
              <a:rPr lang="zh-CN" altLang="en-US" dirty="0"/>
              <a:t>滤波器是一种用于纹理分析的线性滤波器，本质上是指在分析点或分析区域周围的局部区域内，分析图像中是否存在特定方向的特定频率内容。</a:t>
            </a:r>
            <a:r>
              <a:rPr lang="en-US" altLang="zh-CN" dirty="0"/>
              <a:t>Gabor</a:t>
            </a:r>
            <a:r>
              <a:rPr lang="zh-CN" altLang="en-US" dirty="0"/>
              <a:t>滤波器的频率和方向表示被许多当代视觉科学家认为与人类视觉系统的频率和方向表示相似。它们被发现特别适合于纹理表征和辨别。</a:t>
            </a:r>
          </a:p>
        </p:txBody>
      </p:sp>
      <p:sp>
        <p:nvSpPr>
          <p:cNvPr id="9" name="文本框 8">
            <a:extLst>
              <a:ext uri="{FF2B5EF4-FFF2-40B4-BE49-F238E27FC236}">
                <a16:creationId xmlns:a16="http://schemas.microsoft.com/office/drawing/2014/main" id="{05FA09CD-B726-42FA-90E6-E299BFD83826}"/>
              </a:ext>
            </a:extLst>
          </p:cNvPr>
          <p:cNvSpPr txBox="1"/>
          <p:nvPr/>
        </p:nvSpPr>
        <p:spPr>
          <a:xfrm>
            <a:off x="528638" y="3342700"/>
            <a:ext cx="8102011" cy="923330"/>
          </a:xfrm>
          <a:prstGeom prst="rect">
            <a:avLst/>
          </a:prstGeom>
          <a:noFill/>
        </p:spPr>
        <p:txBody>
          <a:bodyPr wrap="square" rtlCol="0">
            <a:spAutoFit/>
          </a:bodyPr>
          <a:lstStyle/>
          <a:p>
            <a:r>
              <a:rPr lang="zh-CN" altLang="en-US" b="0" i="0" dirty="0">
                <a:solidFill>
                  <a:srgbClr val="4D4D4D"/>
                </a:solidFill>
                <a:effectLst/>
                <a:latin typeface="-apple-system"/>
              </a:rPr>
              <a:t>它的脉冲响应（即对于</a:t>
            </a:r>
            <a:r>
              <a:rPr lang="zh-CN" altLang="en-US" dirty="0"/>
              <a:t>在时域（或空间域）下的响应）</a:t>
            </a:r>
            <a:r>
              <a:rPr lang="zh-CN" altLang="en-US" b="1" dirty="0"/>
              <a:t>公式表达：</a:t>
            </a:r>
            <a:endParaRPr lang="en-US" altLang="zh-CN" b="1" dirty="0"/>
          </a:p>
          <a:p>
            <a:r>
              <a:rPr lang="zh-CN" altLang="en-US" b="0" i="0" dirty="0">
                <a:solidFill>
                  <a:srgbClr val="4D4D4D"/>
                </a:solidFill>
                <a:effectLst/>
                <a:latin typeface="-apple-system"/>
              </a:rPr>
              <a:t>由正弦波</a:t>
            </a:r>
            <a:r>
              <a:rPr lang="en-US" altLang="zh-CN" b="0" i="0" dirty="0">
                <a:solidFill>
                  <a:srgbClr val="4D4D4D"/>
                </a:solidFill>
                <a:effectLst/>
                <a:latin typeface="-apple-system"/>
              </a:rPr>
              <a:t>(</a:t>
            </a:r>
            <a:r>
              <a:rPr lang="zh-CN" altLang="en-US" b="0" i="0" dirty="0">
                <a:solidFill>
                  <a:srgbClr val="4D4D4D"/>
                </a:solidFill>
                <a:effectLst/>
                <a:latin typeface="-apple-system"/>
              </a:rPr>
              <a:t>二维</a:t>
            </a:r>
            <a:r>
              <a:rPr lang="en-US" altLang="zh-CN" b="0" i="0" dirty="0">
                <a:solidFill>
                  <a:srgbClr val="4D4D4D"/>
                </a:solidFill>
                <a:effectLst/>
                <a:latin typeface="-apple-system"/>
              </a:rPr>
              <a:t>Gabor</a:t>
            </a:r>
            <a:r>
              <a:rPr lang="zh-CN" altLang="en-US" b="0" i="0" dirty="0">
                <a:solidFill>
                  <a:srgbClr val="4D4D4D"/>
                </a:solidFill>
                <a:effectLst/>
                <a:latin typeface="-apple-system"/>
              </a:rPr>
              <a:t>滤波器的平面波</a:t>
            </a:r>
            <a:r>
              <a:rPr lang="en-US" altLang="zh-CN" b="0" i="0" dirty="0">
                <a:solidFill>
                  <a:srgbClr val="4D4D4D"/>
                </a:solidFill>
                <a:effectLst/>
                <a:latin typeface="-apple-system"/>
              </a:rPr>
              <a:t>)</a:t>
            </a:r>
            <a:r>
              <a:rPr lang="zh-CN" altLang="en-US" b="0" i="0" dirty="0">
                <a:solidFill>
                  <a:srgbClr val="4D4D4D"/>
                </a:solidFill>
                <a:effectLst/>
                <a:latin typeface="-apple-system"/>
              </a:rPr>
              <a:t>乘以高斯函数定义。</a:t>
            </a:r>
            <a:br>
              <a:rPr lang="zh-CN" altLang="en-US" dirty="0"/>
            </a:br>
            <a:endParaRPr lang="zh-CN" altLang="en-US" b="1" dirty="0"/>
          </a:p>
        </p:txBody>
      </p:sp>
      <p:pic>
        <p:nvPicPr>
          <p:cNvPr id="10" name="Picture 2" descr="请添加图片描述">
            <a:extLst>
              <a:ext uri="{FF2B5EF4-FFF2-40B4-BE49-F238E27FC236}">
                <a16:creationId xmlns:a16="http://schemas.microsoft.com/office/drawing/2014/main" id="{606B52DC-3ECE-6F63-8676-54154E5351C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5697" y="4254704"/>
            <a:ext cx="3846409" cy="210164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589151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89AB1-3EB5-9D29-5635-ADF728308057}"/>
            </a:ext>
          </a:extLst>
        </p:cNvPr>
        <p:cNvGrpSpPr/>
        <p:nvPr/>
      </p:nvGrpSpPr>
      <p:grpSpPr>
        <a:xfrm>
          <a:off x="0" y="0"/>
          <a:ext cx="0" cy="0"/>
          <a:chOff x="0" y="0"/>
          <a:chExt cx="0" cy="0"/>
        </a:xfrm>
      </p:grpSpPr>
      <p:sp>
        <p:nvSpPr>
          <p:cNvPr id="59" name="Slide Number Placeholder 58">
            <a:extLst>
              <a:ext uri="{FF2B5EF4-FFF2-40B4-BE49-F238E27FC236}">
                <a16:creationId xmlns:a16="http://schemas.microsoft.com/office/drawing/2014/main" id="{1AF9CB48-794F-781C-0728-1CA4A52090CC}"/>
              </a:ext>
            </a:extLst>
          </p:cNvPr>
          <p:cNvSpPr>
            <a:spLocks noGrp="1"/>
          </p:cNvSpPr>
          <p:nvPr>
            <p:ph type="sldNum" sz="quarter" idx="12"/>
          </p:nvPr>
        </p:nvSpPr>
        <p:spPr/>
        <p:txBody>
          <a:bodyPr/>
          <a:lstStyle/>
          <a:p>
            <a:fld id="{AFB04D65-EEE5-467D-A240-EF96AD461DB8}" type="slidenum">
              <a:rPr lang="en-US" smtClean="0"/>
              <a:t>9</a:t>
            </a:fld>
            <a:endParaRPr lang="en-US" dirty="0"/>
          </a:p>
        </p:txBody>
      </p:sp>
      <p:sp>
        <p:nvSpPr>
          <p:cNvPr id="5" name="Oval 5">
            <a:extLst>
              <a:ext uri="{FF2B5EF4-FFF2-40B4-BE49-F238E27FC236}">
                <a16:creationId xmlns:a16="http://schemas.microsoft.com/office/drawing/2014/main" id="{11AED846-2C62-C799-876C-B1614113361E}"/>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2</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3" name="Title 1">
            <a:extLst>
              <a:ext uri="{FF2B5EF4-FFF2-40B4-BE49-F238E27FC236}">
                <a16:creationId xmlns:a16="http://schemas.microsoft.com/office/drawing/2014/main" id="{794B4A5C-B0E3-D31F-95DA-59FE8E11495E}"/>
              </a:ext>
            </a:extLst>
          </p:cNvPr>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实验使用相关模型介绍</a:t>
            </a:r>
            <a:endParaRPr lang="en-US" altLang="en-US" b="1" dirty="0">
              <a:latin typeface="楷体" panose="02010609060101010101" pitchFamily="49" charset="-122"/>
              <a:ea typeface="楷体" panose="02010609060101010101" pitchFamily="49" charset="-122"/>
            </a:endParaRPr>
          </a:p>
        </p:txBody>
      </p:sp>
      <p:sp>
        <p:nvSpPr>
          <p:cNvPr id="3" name="Rectangle 10">
            <a:extLst>
              <a:ext uri="{FF2B5EF4-FFF2-40B4-BE49-F238E27FC236}">
                <a16:creationId xmlns:a16="http://schemas.microsoft.com/office/drawing/2014/main" id="{B7DA548F-A916-5F76-DF3B-485F2E225F72}"/>
              </a:ext>
            </a:extLst>
          </p:cNvPr>
          <p:cNvSpPr/>
          <p:nvPr/>
        </p:nvSpPr>
        <p:spPr>
          <a:xfrm>
            <a:off x="518795" y="726440"/>
            <a:ext cx="1115504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图片 7">
            <a:extLst>
              <a:ext uri="{FF2B5EF4-FFF2-40B4-BE49-F238E27FC236}">
                <a16:creationId xmlns:a16="http://schemas.microsoft.com/office/drawing/2014/main" id="{590FE319-6CF2-5EC4-5548-5486037877B5}"/>
              </a:ext>
            </a:extLst>
          </p:cNvPr>
          <p:cNvPicPr/>
          <p:nvPr/>
        </p:nvPicPr>
        <p:blipFill>
          <a:blip r:embed="rId4"/>
          <a:stretch>
            <a:fillRect/>
          </a:stretch>
        </p:blipFill>
        <p:spPr>
          <a:xfrm>
            <a:off x="11061065" y="21590"/>
            <a:ext cx="1130300" cy="967740"/>
          </a:xfrm>
          <a:prstGeom prst="rect">
            <a:avLst/>
          </a:prstGeom>
        </p:spPr>
      </p:pic>
      <p:sp>
        <p:nvSpPr>
          <p:cNvPr id="6" name="文本框 5">
            <a:extLst>
              <a:ext uri="{FF2B5EF4-FFF2-40B4-BE49-F238E27FC236}">
                <a16:creationId xmlns:a16="http://schemas.microsoft.com/office/drawing/2014/main" id="{84653714-8AEE-D8C7-DA0C-72D5B860B1D4}"/>
              </a:ext>
            </a:extLst>
          </p:cNvPr>
          <p:cNvSpPr txBox="1"/>
          <p:nvPr/>
        </p:nvSpPr>
        <p:spPr>
          <a:xfrm>
            <a:off x="528638" y="1141228"/>
            <a:ext cx="2030264" cy="461665"/>
          </a:xfrm>
          <a:prstGeom prst="rect">
            <a:avLst/>
          </a:prstGeom>
          <a:noFill/>
        </p:spPr>
        <p:txBody>
          <a:bodyPr wrap="square" rtlCol="0">
            <a:spAutoFit/>
          </a:bodyPr>
          <a:lstStyle/>
          <a:p>
            <a:r>
              <a:rPr lang="en-US" altLang="zh-CN" sz="2400" b="1" dirty="0"/>
              <a:t>Gabor</a:t>
            </a:r>
            <a:r>
              <a:rPr lang="zh-CN" altLang="en-US" sz="2400" b="1" dirty="0"/>
              <a:t>滤波器</a:t>
            </a:r>
          </a:p>
        </p:txBody>
      </p:sp>
      <p:sp>
        <p:nvSpPr>
          <p:cNvPr id="7" name="文本框 6">
            <a:extLst>
              <a:ext uri="{FF2B5EF4-FFF2-40B4-BE49-F238E27FC236}">
                <a16:creationId xmlns:a16="http://schemas.microsoft.com/office/drawing/2014/main" id="{E133F247-8D79-6560-CC77-C28662BEC606}"/>
              </a:ext>
            </a:extLst>
          </p:cNvPr>
          <p:cNvSpPr txBox="1"/>
          <p:nvPr/>
        </p:nvSpPr>
        <p:spPr>
          <a:xfrm>
            <a:off x="518795" y="1889620"/>
            <a:ext cx="9533861" cy="923330"/>
          </a:xfrm>
          <a:prstGeom prst="rect">
            <a:avLst/>
          </a:prstGeom>
          <a:noFill/>
        </p:spPr>
        <p:txBody>
          <a:bodyPr wrap="square" rtlCol="0">
            <a:spAutoFit/>
          </a:bodyPr>
          <a:lstStyle/>
          <a:p>
            <a:r>
              <a:rPr lang="zh-CN" altLang="en-US" dirty="0"/>
              <a:t>使用一组不同参数（波长、方向、尺度等）的</a:t>
            </a:r>
            <a:r>
              <a:rPr lang="en-US" altLang="zh-CN" dirty="0"/>
              <a:t>Gabor</a:t>
            </a:r>
            <a:r>
              <a:rPr lang="zh-CN" altLang="en-US" dirty="0"/>
              <a:t>滤波器。这些滤波器用于在图像的不同区域，通常选择不同的方向（例如</a:t>
            </a:r>
            <a:r>
              <a:rPr lang="en-US" altLang="zh-CN" dirty="0"/>
              <a:t>0°</a:t>
            </a:r>
            <a:r>
              <a:rPr lang="zh-CN" altLang="en-US" dirty="0"/>
              <a:t>、</a:t>
            </a:r>
            <a:r>
              <a:rPr lang="en-US" altLang="zh-CN" dirty="0"/>
              <a:t>45°</a:t>
            </a:r>
            <a:r>
              <a:rPr lang="zh-CN" altLang="en-US" dirty="0"/>
              <a:t>、</a:t>
            </a:r>
            <a:r>
              <a:rPr lang="en-US" altLang="zh-CN" dirty="0"/>
              <a:t>90°</a:t>
            </a:r>
            <a:r>
              <a:rPr lang="zh-CN" altLang="en-US" dirty="0"/>
              <a:t>、</a:t>
            </a:r>
            <a:r>
              <a:rPr lang="en-US" altLang="zh-CN" dirty="0"/>
              <a:t>135°</a:t>
            </a:r>
            <a:r>
              <a:rPr lang="zh-CN" altLang="en-US" dirty="0"/>
              <a:t>）和不同的尺度（例如较粗和较细的波长）来提取特征。</a:t>
            </a:r>
          </a:p>
        </p:txBody>
      </p:sp>
      <p:sp>
        <p:nvSpPr>
          <p:cNvPr id="9" name="文本框 8">
            <a:extLst>
              <a:ext uri="{FF2B5EF4-FFF2-40B4-BE49-F238E27FC236}">
                <a16:creationId xmlns:a16="http://schemas.microsoft.com/office/drawing/2014/main" id="{7C0E6B77-A83E-4330-73B4-F95B352529E7}"/>
              </a:ext>
            </a:extLst>
          </p:cNvPr>
          <p:cNvSpPr txBox="1"/>
          <p:nvPr/>
        </p:nvSpPr>
        <p:spPr>
          <a:xfrm>
            <a:off x="501500" y="2909323"/>
            <a:ext cx="9551156" cy="646331"/>
          </a:xfrm>
          <a:prstGeom prst="rect">
            <a:avLst/>
          </a:prstGeom>
          <a:noFill/>
        </p:spPr>
        <p:txBody>
          <a:bodyPr wrap="square" rtlCol="0">
            <a:spAutoFit/>
          </a:bodyPr>
          <a:lstStyle/>
          <a:p>
            <a:r>
              <a:rPr lang="zh-CN" altLang="en-US" dirty="0"/>
              <a:t>从滤波后的图像中提取统计量（如均值、方差、最大值、最小值等）作为特征向量。由此产生的特征向量能够有效地描述图像的纹理信息，但是特征向量的维数会非常大</a:t>
            </a:r>
            <a:endParaRPr lang="zh-CN" altLang="en-US" b="1" dirty="0"/>
          </a:p>
        </p:txBody>
      </p:sp>
      <p:pic>
        <p:nvPicPr>
          <p:cNvPr id="2050" name="Picture 2" descr="在这里插入图片描述">
            <a:extLst>
              <a:ext uri="{FF2B5EF4-FFF2-40B4-BE49-F238E27FC236}">
                <a16:creationId xmlns:a16="http://schemas.microsoft.com/office/drawing/2014/main" id="{658D2DA2-0F51-24C6-F0DE-27CACD60CD7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3902" y="3802874"/>
            <a:ext cx="3810000" cy="24860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这里写图片描述">
            <a:extLst>
              <a:ext uri="{FF2B5EF4-FFF2-40B4-BE49-F238E27FC236}">
                <a16:creationId xmlns:a16="http://schemas.microsoft.com/office/drawing/2014/main" id="{045C5584-938D-AB7C-ED83-9B4B5E1AB1E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49267" y="3735424"/>
            <a:ext cx="3539324" cy="262092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这里写图片描述">
            <a:extLst>
              <a:ext uri="{FF2B5EF4-FFF2-40B4-BE49-F238E27FC236}">
                <a16:creationId xmlns:a16="http://schemas.microsoft.com/office/drawing/2014/main" id="{E4632E41-8E2B-FCB7-3DF0-CB06C95F1CC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30247" y="3727450"/>
            <a:ext cx="2352675" cy="26289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605031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A867B-0583-6B8B-C231-BF006989431C}"/>
            </a:ext>
          </a:extLst>
        </p:cNvPr>
        <p:cNvGrpSpPr/>
        <p:nvPr/>
      </p:nvGrpSpPr>
      <p:grpSpPr>
        <a:xfrm>
          <a:off x="0" y="0"/>
          <a:ext cx="0" cy="0"/>
          <a:chOff x="0" y="0"/>
          <a:chExt cx="0" cy="0"/>
        </a:xfrm>
      </p:grpSpPr>
      <p:sp>
        <p:nvSpPr>
          <p:cNvPr id="59" name="Slide Number Placeholder 58">
            <a:extLst>
              <a:ext uri="{FF2B5EF4-FFF2-40B4-BE49-F238E27FC236}">
                <a16:creationId xmlns:a16="http://schemas.microsoft.com/office/drawing/2014/main" id="{3B34E8FE-020B-DE71-D1E9-463BCD9B2D66}"/>
              </a:ext>
            </a:extLst>
          </p:cNvPr>
          <p:cNvSpPr>
            <a:spLocks noGrp="1"/>
          </p:cNvSpPr>
          <p:nvPr>
            <p:ph type="sldNum" sz="quarter" idx="12"/>
          </p:nvPr>
        </p:nvSpPr>
        <p:spPr/>
        <p:txBody>
          <a:bodyPr/>
          <a:lstStyle/>
          <a:p>
            <a:fld id="{AFB04D65-EEE5-467D-A240-EF96AD461DB8}" type="slidenum">
              <a:rPr lang="en-US" smtClean="0"/>
              <a:t>10</a:t>
            </a:fld>
            <a:endParaRPr lang="en-US" dirty="0"/>
          </a:p>
        </p:txBody>
      </p:sp>
      <p:sp>
        <p:nvSpPr>
          <p:cNvPr id="5" name="Oval 5">
            <a:extLst>
              <a:ext uri="{FF2B5EF4-FFF2-40B4-BE49-F238E27FC236}">
                <a16:creationId xmlns:a16="http://schemas.microsoft.com/office/drawing/2014/main" id="{A4FE2765-AB28-2047-2140-2A8534CB4593}"/>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2</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3" name="Title 1">
            <a:extLst>
              <a:ext uri="{FF2B5EF4-FFF2-40B4-BE49-F238E27FC236}">
                <a16:creationId xmlns:a16="http://schemas.microsoft.com/office/drawing/2014/main" id="{F00CDF6E-017A-70CB-9164-55092CCDCF07}"/>
              </a:ext>
            </a:extLst>
          </p:cNvPr>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实验使用相关模型介绍</a:t>
            </a:r>
            <a:endParaRPr lang="en-US" altLang="en-US" b="1" dirty="0">
              <a:latin typeface="楷体" panose="02010609060101010101" pitchFamily="49" charset="-122"/>
              <a:ea typeface="楷体" panose="02010609060101010101" pitchFamily="49" charset="-122"/>
            </a:endParaRPr>
          </a:p>
        </p:txBody>
      </p:sp>
      <p:sp>
        <p:nvSpPr>
          <p:cNvPr id="3" name="Rectangle 10">
            <a:extLst>
              <a:ext uri="{FF2B5EF4-FFF2-40B4-BE49-F238E27FC236}">
                <a16:creationId xmlns:a16="http://schemas.microsoft.com/office/drawing/2014/main" id="{7D4C81CF-B190-7A2F-F7F5-B7874365FAFA}"/>
              </a:ext>
            </a:extLst>
          </p:cNvPr>
          <p:cNvSpPr/>
          <p:nvPr/>
        </p:nvSpPr>
        <p:spPr>
          <a:xfrm>
            <a:off x="518795" y="726440"/>
            <a:ext cx="1115504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图片 7">
            <a:extLst>
              <a:ext uri="{FF2B5EF4-FFF2-40B4-BE49-F238E27FC236}">
                <a16:creationId xmlns:a16="http://schemas.microsoft.com/office/drawing/2014/main" id="{3A5D4B76-4C1A-BD95-0FAC-19D647D547D7}"/>
              </a:ext>
            </a:extLst>
          </p:cNvPr>
          <p:cNvPicPr/>
          <p:nvPr/>
        </p:nvPicPr>
        <p:blipFill>
          <a:blip r:embed="rId4"/>
          <a:stretch>
            <a:fillRect/>
          </a:stretch>
        </p:blipFill>
        <p:spPr>
          <a:xfrm>
            <a:off x="11061065" y="21590"/>
            <a:ext cx="1130300" cy="967740"/>
          </a:xfrm>
          <a:prstGeom prst="rect">
            <a:avLst/>
          </a:prstGeom>
        </p:spPr>
      </p:pic>
      <p:sp>
        <p:nvSpPr>
          <p:cNvPr id="6" name="文本框 5">
            <a:extLst>
              <a:ext uri="{FF2B5EF4-FFF2-40B4-BE49-F238E27FC236}">
                <a16:creationId xmlns:a16="http://schemas.microsoft.com/office/drawing/2014/main" id="{C98B3249-508E-8807-CEF0-7A446FFAB4B8}"/>
              </a:ext>
            </a:extLst>
          </p:cNvPr>
          <p:cNvSpPr txBox="1"/>
          <p:nvPr/>
        </p:nvSpPr>
        <p:spPr>
          <a:xfrm>
            <a:off x="528638" y="1141228"/>
            <a:ext cx="2987196" cy="461665"/>
          </a:xfrm>
          <a:prstGeom prst="rect">
            <a:avLst/>
          </a:prstGeom>
          <a:noFill/>
        </p:spPr>
        <p:txBody>
          <a:bodyPr wrap="square" rtlCol="0">
            <a:spAutoFit/>
          </a:bodyPr>
          <a:lstStyle/>
          <a:p>
            <a:r>
              <a:rPr lang="zh-CN" altLang="en-US" sz="2400" b="1" dirty="0"/>
              <a:t>支持向量机（</a:t>
            </a:r>
            <a:r>
              <a:rPr lang="en-US" altLang="zh-CN" sz="2400" b="1" dirty="0"/>
              <a:t>SVM</a:t>
            </a:r>
            <a:r>
              <a:rPr lang="zh-CN" altLang="en-US" sz="2400" b="1" dirty="0"/>
              <a:t>）</a:t>
            </a:r>
          </a:p>
        </p:txBody>
      </p:sp>
      <p:sp>
        <p:nvSpPr>
          <p:cNvPr id="7" name="文本框 6">
            <a:extLst>
              <a:ext uri="{FF2B5EF4-FFF2-40B4-BE49-F238E27FC236}">
                <a16:creationId xmlns:a16="http://schemas.microsoft.com/office/drawing/2014/main" id="{B26893B5-76FD-6D38-2813-2A3B5A649AE0}"/>
              </a:ext>
            </a:extLst>
          </p:cNvPr>
          <p:cNvSpPr txBox="1"/>
          <p:nvPr/>
        </p:nvSpPr>
        <p:spPr>
          <a:xfrm>
            <a:off x="518795" y="1882712"/>
            <a:ext cx="10333503" cy="923330"/>
          </a:xfrm>
          <a:prstGeom prst="rect">
            <a:avLst/>
          </a:prstGeom>
          <a:noFill/>
        </p:spPr>
        <p:txBody>
          <a:bodyPr wrap="square" rtlCol="0">
            <a:spAutoFit/>
          </a:bodyPr>
          <a:lstStyle/>
          <a:p>
            <a:r>
              <a:rPr lang="zh-CN" altLang="en-US" dirty="0"/>
              <a:t>支持向量机（</a:t>
            </a:r>
            <a:r>
              <a:rPr lang="en-US" altLang="zh-CN" dirty="0"/>
              <a:t>support vector machines</a:t>
            </a:r>
            <a:r>
              <a:rPr lang="zh-CN" altLang="en-US" dirty="0"/>
              <a:t>，</a:t>
            </a:r>
            <a:r>
              <a:rPr lang="en-US" altLang="zh-CN" dirty="0"/>
              <a:t>SVM</a:t>
            </a:r>
            <a:r>
              <a:rPr lang="zh-CN" altLang="en-US" dirty="0"/>
              <a:t>）是一种二分类模型，它将实例的特征向量映射为空间中的一些点，</a:t>
            </a:r>
            <a:r>
              <a:rPr lang="en-US" altLang="zh-CN" dirty="0"/>
              <a:t>SVM </a:t>
            </a:r>
            <a:r>
              <a:rPr lang="zh-CN" altLang="en-US" dirty="0"/>
              <a:t>的目的就是想要画出一条线，以 “最好地” 区分这两类点，以至如果以后有了新的点，这条线也能做出很好的分类。</a:t>
            </a:r>
            <a:r>
              <a:rPr lang="en-US" altLang="zh-CN" dirty="0"/>
              <a:t>SVM </a:t>
            </a:r>
            <a:r>
              <a:rPr lang="zh-CN" altLang="en-US" dirty="0"/>
              <a:t>适合中小型数据样本、非线性、高维的分类问题。</a:t>
            </a:r>
          </a:p>
        </p:txBody>
      </p:sp>
      <p:pic>
        <p:nvPicPr>
          <p:cNvPr id="3074" name="Picture 2" descr="在这里插入图片描述">
            <a:extLst>
              <a:ext uri="{FF2B5EF4-FFF2-40B4-BE49-F238E27FC236}">
                <a16:creationId xmlns:a16="http://schemas.microsoft.com/office/drawing/2014/main" id="{ADCCF396-7818-42F1-3016-BE9BCF5585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795" y="3150242"/>
            <a:ext cx="3306171" cy="285532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157783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AE55A-1941-8E17-D44E-9DA43758685B}"/>
            </a:ext>
          </a:extLst>
        </p:cNvPr>
        <p:cNvGrpSpPr/>
        <p:nvPr/>
      </p:nvGrpSpPr>
      <p:grpSpPr>
        <a:xfrm>
          <a:off x="0" y="0"/>
          <a:ext cx="0" cy="0"/>
          <a:chOff x="0" y="0"/>
          <a:chExt cx="0" cy="0"/>
        </a:xfrm>
      </p:grpSpPr>
      <p:sp>
        <p:nvSpPr>
          <p:cNvPr id="59" name="Slide Number Placeholder 58">
            <a:extLst>
              <a:ext uri="{FF2B5EF4-FFF2-40B4-BE49-F238E27FC236}">
                <a16:creationId xmlns:a16="http://schemas.microsoft.com/office/drawing/2014/main" id="{784DEC31-5A1A-D7E6-58C8-DC1F8B7EFE4D}"/>
              </a:ext>
            </a:extLst>
          </p:cNvPr>
          <p:cNvSpPr>
            <a:spLocks noGrp="1"/>
          </p:cNvSpPr>
          <p:nvPr>
            <p:ph type="sldNum" sz="quarter" idx="12"/>
          </p:nvPr>
        </p:nvSpPr>
        <p:spPr/>
        <p:txBody>
          <a:bodyPr/>
          <a:lstStyle/>
          <a:p>
            <a:fld id="{AFB04D65-EEE5-467D-A240-EF96AD461DB8}" type="slidenum">
              <a:rPr lang="en-US" smtClean="0"/>
              <a:t>11</a:t>
            </a:fld>
            <a:endParaRPr lang="en-US" dirty="0"/>
          </a:p>
        </p:txBody>
      </p:sp>
      <p:sp>
        <p:nvSpPr>
          <p:cNvPr id="5" name="Oval 5">
            <a:extLst>
              <a:ext uri="{FF2B5EF4-FFF2-40B4-BE49-F238E27FC236}">
                <a16:creationId xmlns:a16="http://schemas.microsoft.com/office/drawing/2014/main" id="{08D18E2D-B845-73B8-A5A6-B1FEE91586E6}"/>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2</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3" name="Title 1">
            <a:extLst>
              <a:ext uri="{FF2B5EF4-FFF2-40B4-BE49-F238E27FC236}">
                <a16:creationId xmlns:a16="http://schemas.microsoft.com/office/drawing/2014/main" id="{2042F91B-B313-4144-FD52-7252139DEA05}"/>
              </a:ext>
            </a:extLst>
          </p:cNvPr>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实验使用相关模型介绍</a:t>
            </a:r>
            <a:endParaRPr lang="en-US" altLang="en-US" b="1" dirty="0">
              <a:latin typeface="楷体" panose="02010609060101010101" pitchFamily="49" charset="-122"/>
              <a:ea typeface="楷体" panose="02010609060101010101" pitchFamily="49" charset="-122"/>
            </a:endParaRPr>
          </a:p>
        </p:txBody>
      </p:sp>
      <p:sp>
        <p:nvSpPr>
          <p:cNvPr id="3" name="Rectangle 10">
            <a:extLst>
              <a:ext uri="{FF2B5EF4-FFF2-40B4-BE49-F238E27FC236}">
                <a16:creationId xmlns:a16="http://schemas.microsoft.com/office/drawing/2014/main" id="{2EEA65B0-E41F-64B7-9738-FD7A7929C331}"/>
              </a:ext>
            </a:extLst>
          </p:cNvPr>
          <p:cNvSpPr/>
          <p:nvPr/>
        </p:nvSpPr>
        <p:spPr>
          <a:xfrm>
            <a:off x="518795" y="726440"/>
            <a:ext cx="1115504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图片 7">
            <a:extLst>
              <a:ext uri="{FF2B5EF4-FFF2-40B4-BE49-F238E27FC236}">
                <a16:creationId xmlns:a16="http://schemas.microsoft.com/office/drawing/2014/main" id="{EF171F78-600F-3316-BA8F-CC8DC0D15E89}"/>
              </a:ext>
            </a:extLst>
          </p:cNvPr>
          <p:cNvPicPr/>
          <p:nvPr/>
        </p:nvPicPr>
        <p:blipFill>
          <a:blip r:embed="rId4"/>
          <a:stretch>
            <a:fillRect/>
          </a:stretch>
        </p:blipFill>
        <p:spPr>
          <a:xfrm>
            <a:off x="11061065" y="21590"/>
            <a:ext cx="1130300" cy="967740"/>
          </a:xfrm>
          <a:prstGeom prst="rect">
            <a:avLst/>
          </a:prstGeom>
        </p:spPr>
      </p:pic>
      <p:sp>
        <p:nvSpPr>
          <p:cNvPr id="6" name="文本框 5">
            <a:extLst>
              <a:ext uri="{FF2B5EF4-FFF2-40B4-BE49-F238E27FC236}">
                <a16:creationId xmlns:a16="http://schemas.microsoft.com/office/drawing/2014/main" id="{9151D4FB-EDDA-71D5-8597-8505B0FA3EA5}"/>
              </a:ext>
            </a:extLst>
          </p:cNvPr>
          <p:cNvSpPr txBox="1"/>
          <p:nvPr/>
        </p:nvSpPr>
        <p:spPr>
          <a:xfrm>
            <a:off x="528638" y="1141228"/>
            <a:ext cx="2987196" cy="461665"/>
          </a:xfrm>
          <a:prstGeom prst="rect">
            <a:avLst/>
          </a:prstGeom>
          <a:noFill/>
        </p:spPr>
        <p:txBody>
          <a:bodyPr wrap="square" rtlCol="0">
            <a:spAutoFit/>
          </a:bodyPr>
          <a:lstStyle/>
          <a:p>
            <a:r>
              <a:rPr lang="zh-CN" altLang="en-US" sz="2400" b="1" dirty="0"/>
              <a:t>支持向量机（</a:t>
            </a:r>
            <a:r>
              <a:rPr lang="en-US" altLang="zh-CN" sz="2400" b="1" dirty="0"/>
              <a:t>SVM</a:t>
            </a:r>
            <a:r>
              <a:rPr lang="zh-CN" altLang="en-US" sz="2400" b="1" dirty="0"/>
              <a:t>）</a:t>
            </a:r>
          </a:p>
        </p:txBody>
      </p:sp>
      <p:sp>
        <p:nvSpPr>
          <p:cNvPr id="7" name="文本框 6">
            <a:extLst>
              <a:ext uri="{FF2B5EF4-FFF2-40B4-BE49-F238E27FC236}">
                <a16:creationId xmlns:a16="http://schemas.microsoft.com/office/drawing/2014/main" id="{1DF2FB0D-BB93-96CB-704B-528AD788EDFE}"/>
              </a:ext>
            </a:extLst>
          </p:cNvPr>
          <p:cNvSpPr txBox="1"/>
          <p:nvPr/>
        </p:nvSpPr>
        <p:spPr>
          <a:xfrm>
            <a:off x="518795" y="1882712"/>
            <a:ext cx="10542270" cy="923330"/>
          </a:xfrm>
          <a:prstGeom prst="rect">
            <a:avLst/>
          </a:prstGeom>
          <a:noFill/>
        </p:spPr>
        <p:txBody>
          <a:bodyPr wrap="square" rtlCol="0">
            <a:spAutoFit/>
          </a:bodyPr>
          <a:lstStyle/>
          <a:p>
            <a:r>
              <a:rPr lang="zh-CN" altLang="en-US" b="1" dirty="0"/>
              <a:t>找到的超平面具有最大化间隔：</a:t>
            </a:r>
            <a:endParaRPr lang="en-US" altLang="zh-CN" b="1" dirty="0"/>
          </a:p>
          <a:p>
            <a:r>
              <a:rPr lang="zh-CN" altLang="en-US" dirty="0"/>
              <a:t>间隔指的是超平面与最接近的样本点之间的距离。</a:t>
            </a:r>
            <a:r>
              <a:rPr lang="en-US" altLang="zh-CN" dirty="0"/>
              <a:t>SVM</a:t>
            </a:r>
            <a:r>
              <a:rPr lang="zh-CN" altLang="en-US" dirty="0"/>
              <a:t>试图找到一个能够最大化这一间隔的超平面，这样模型具有更好的泛化能力。换句话说，</a:t>
            </a:r>
            <a:r>
              <a:rPr lang="en-US" altLang="zh-CN" dirty="0"/>
              <a:t>SVM</a:t>
            </a:r>
            <a:r>
              <a:rPr lang="zh-CN" altLang="en-US" dirty="0"/>
              <a:t>通过最大化间隔来提高分类的可靠性和准确性。</a:t>
            </a:r>
          </a:p>
        </p:txBody>
      </p:sp>
      <p:pic>
        <p:nvPicPr>
          <p:cNvPr id="3076" name="Picture 4" descr="在这里插入图片描述">
            <a:extLst>
              <a:ext uri="{FF2B5EF4-FFF2-40B4-BE49-F238E27FC236}">
                <a16:creationId xmlns:a16="http://schemas.microsoft.com/office/drawing/2014/main" id="{C3337C7D-69AE-F71C-4F22-88A3CC5636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21" y="3265487"/>
            <a:ext cx="4857750" cy="30861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170864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652F1-2467-7EF7-B7E6-673C6D1243FC}"/>
            </a:ext>
          </a:extLst>
        </p:cNvPr>
        <p:cNvGrpSpPr/>
        <p:nvPr/>
      </p:nvGrpSpPr>
      <p:grpSpPr>
        <a:xfrm>
          <a:off x="0" y="0"/>
          <a:ext cx="0" cy="0"/>
          <a:chOff x="0" y="0"/>
          <a:chExt cx="0" cy="0"/>
        </a:xfrm>
      </p:grpSpPr>
      <p:sp>
        <p:nvSpPr>
          <p:cNvPr id="59" name="Slide Number Placeholder 58">
            <a:extLst>
              <a:ext uri="{FF2B5EF4-FFF2-40B4-BE49-F238E27FC236}">
                <a16:creationId xmlns:a16="http://schemas.microsoft.com/office/drawing/2014/main" id="{3C7385B3-6094-3B51-A236-288E70D97529}"/>
              </a:ext>
            </a:extLst>
          </p:cNvPr>
          <p:cNvSpPr>
            <a:spLocks noGrp="1"/>
          </p:cNvSpPr>
          <p:nvPr>
            <p:ph type="sldNum" sz="quarter" idx="12"/>
          </p:nvPr>
        </p:nvSpPr>
        <p:spPr/>
        <p:txBody>
          <a:bodyPr/>
          <a:lstStyle/>
          <a:p>
            <a:fld id="{AFB04D65-EEE5-467D-A240-EF96AD461DB8}" type="slidenum">
              <a:rPr lang="en-US" smtClean="0"/>
              <a:t>12</a:t>
            </a:fld>
            <a:endParaRPr lang="en-US" dirty="0"/>
          </a:p>
        </p:txBody>
      </p:sp>
      <p:sp>
        <p:nvSpPr>
          <p:cNvPr id="5" name="Oval 5">
            <a:extLst>
              <a:ext uri="{FF2B5EF4-FFF2-40B4-BE49-F238E27FC236}">
                <a16:creationId xmlns:a16="http://schemas.microsoft.com/office/drawing/2014/main" id="{6161FBA8-D9F4-4CFB-13C4-2B264F22E7EA}"/>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2</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3" name="Title 1">
            <a:extLst>
              <a:ext uri="{FF2B5EF4-FFF2-40B4-BE49-F238E27FC236}">
                <a16:creationId xmlns:a16="http://schemas.microsoft.com/office/drawing/2014/main" id="{BB4F31AE-46E3-AF3F-810E-45190B63BDEB}"/>
              </a:ext>
            </a:extLst>
          </p:cNvPr>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实验使用相关模型介绍</a:t>
            </a:r>
            <a:endParaRPr lang="en-US" altLang="en-US" b="1" dirty="0">
              <a:latin typeface="楷体" panose="02010609060101010101" pitchFamily="49" charset="-122"/>
              <a:ea typeface="楷体" panose="02010609060101010101" pitchFamily="49" charset="-122"/>
            </a:endParaRPr>
          </a:p>
        </p:txBody>
      </p:sp>
      <p:sp>
        <p:nvSpPr>
          <p:cNvPr id="3" name="Rectangle 10">
            <a:extLst>
              <a:ext uri="{FF2B5EF4-FFF2-40B4-BE49-F238E27FC236}">
                <a16:creationId xmlns:a16="http://schemas.microsoft.com/office/drawing/2014/main" id="{4F89CF42-06DC-BA4F-528D-0E6A70309C96}"/>
              </a:ext>
            </a:extLst>
          </p:cNvPr>
          <p:cNvSpPr/>
          <p:nvPr/>
        </p:nvSpPr>
        <p:spPr>
          <a:xfrm>
            <a:off x="518795" y="726440"/>
            <a:ext cx="1115504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图片 7">
            <a:extLst>
              <a:ext uri="{FF2B5EF4-FFF2-40B4-BE49-F238E27FC236}">
                <a16:creationId xmlns:a16="http://schemas.microsoft.com/office/drawing/2014/main" id="{F77065A2-EB27-3B4B-03B2-3DE6258B87C2}"/>
              </a:ext>
            </a:extLst>
          </p:cNvPr>
          <p:cNvPicPr/>
          <p:nvPr/>
        </p:nvPicPr>
        <p:blipFill>
          <a:blip r:embed="rId4"/>
          <a:stretch>
            <a:fillRect/>
          </a:stretch>
        </p:blipFill>
        <p:spPr>
          <a:xfrm>
            <a:off x="11061065" y="21590"/>
            <a:ext cx="1130300" cy="967740"/>
          </a:xfrm>
          <a:prstGeom prst="rect">
            <a:avLst/>
          </a:prstGeom>
        </p:spPr>
      </p:pic>
      <p:sp>
        <p:nvSpPr>
          <p:cNvPr id="6" name="文本框 5">
            <a:extLst>
              <a:ext uri="{FF2B5EF4-FFF2-40B4-BE49-F238E27FC236}">
                <a16:creationId xmlns:a16="http://schemas.microsoft.com/office/drawing/2014/main" id="{0AF1D45E-E8FE-F6BF-9641-57030A617E58}"/>
              </a:ext>
            </a:extLst>
          </p:cNvPr>
          <p:cNvSpPr txBox="1"/>
          <p:nvPr/>
        </p:nvSpPr>
        <p:spPr>
          <a:xfrm>
            <a:off x="528638" y="1141228"/>
            <a:ext cx="2987196" cy="461665"/>
          </a:xfrm>
          <a:prstGeom prst="rect">
            <a:avLst/>
          </a:prstGeom>
          <a:noFill/>
        </p:spPr>
        <p:txBody>
          <a:bodyPr wrap="square" rtlCol="0">
            <a:spAutoFit/>
          </a:bodyPr>
          <a:lstStyle/>
          <a:p>
            <a:r>
              <a:rPr lang="zh-CN" altLang="en-US" sz="2400" b="1" dirty="0"/>
              <a:t>支持向量机（</a:t>
            </a:r>
            <a:r>
              <a:rPr lang="en-US" altLang="zh-CN" sz="2400" b="1" dirty="0"/>
              <a:t>SVM</a:t>
            </a:r>
            <a:r>
              <a:rPr lang="zh-CN" altLang="en-US" sz="2400" b="1" dirty="0"/>
              <a:t>）</a:t>
            </a:r>
          </a:p>
        </p:txBody>
      </p:sp>
      <p:sp>
        <p:nvSpPr>
          <p:cNvPr id="7" name="文本框 6">
            <a:extLst>
              <a:ext uri="{FF2B5EF4-FFF2-40B4-BE49-F238E27FC236}">
                <a16:creationId xmlns:a16="http://schemas.microsoft.com/office/drawing/2014/main" id="{5BF174EA-45FA-D42F-9A09-131B632C0F4A}"/>
              </a:ext>
            </a:extLst>
          </p:cNvPr>
          <p:cNvSpPr txBox="1"/>
          <p:nvPr/>
        </p:nvSpPr>
        <p:spPr>
          <a:xfrm>
            <a:off x="528638" y="1702720"/>
            <a:ext cx="10542270" cy="1754326"/>
          </a:xfrm>
          <a:prstGeom prst="rect">
            <a:avLst/>
          </a:prstGeom>
          <a:noFill/>
        </p:spPr>
        <p:txBody>
          <a:bodyPr wrap="square" rtlCol="0">
            <a:spAutoFit/>
          </a:bodyPr>
          <a:lstStyle/>
          <a:p>
            <a:r>
              <a:rPr lang="zh-CN" altLang="en-US" b="1" dirty="0"/>
              <a:t>具有的性质</a:t>
            </a:r>
            <a:r>
              <a:rPr lang="zh-CN" altLang="en-US" dirty="0"/>
              <a:t>：</a:t>
            </a:r>
            <a:endParaRPr lang="en-US" altLang="zh-CN" dirty="0"/>
          </a:p>
          <a:p>
            <a:r>
              <a:rPr lang="zh-CN" altLang="en-US" dirty="0"/>
              <a:t>高效性：</a:t>
            </a:r>
            <a:r>
              <a:rPr lang="en-US" altLang="zh-CN" dirty="0"/>
              <a:t>SVM</a:t>
            </a:r>
            <a:r>
              <a:rPr lang="zh-CN" altLang="en-US" dirty="0"/>
              <a:t>在高维数据中表现良好，尤其是对于文本分类、图像分类等高维数据集，</a:t>
            </a:r>
            <a:r>
              <a:rPr lang="en-US" altLang="zh-CN" dirty="0"/>
              <a:t>SVM</a:t>
            </a:r>
            <a:r>
              <a:rPr lang="zh-CN" altLang="en-US" dirty="0"/>
              <a:t>能够有效处理。</a:t>
            </a:r>
          </a:p>
          <a:p>
            <a:r>
              <a:rPr lang="zh-CN" altLang="en-US" dirty="0"/>
              <a:t>准确性：通过最大化间隔，</a:t>
            </a:r>
            <a:r>
              <a:rPr lang="en-US" altLang="zh-CN" dirty="0"/>
              <a:t>SVM</a:t>
            </a:r>
            <a:r>
              <a:rPr lang="zh-CN" altLang="en-US" dirty="0"/>
              <a:t>能够提供较高的分类准确性，尤其是在样本数量较小或有明显分隔的情况下。</a:t>
            </a:r>
          </a:p>
          <a:p>
            <a:r>
              <a:rPr lang="zh-CN" altLang="en-US" dirty="0"/>
              <a:t>理论基础强：</a:t>
            </a:r>
            <a:r>
              <a:rPr lang="en-US" altLang="zh-CN" dirty="0"/>
              <a:t>SVM</a:t>
            </a:r>
            <a:r>
              <a:rPr lang="zh-CN" altLang="en-US" dirty="0"/>
              <a:t>有很强的理论支持，它的最优解是通过数学优化方法求得的，具有明确的最优解</a:t>
            </a:r>
          </a:p>
        </p:txBody>
      </p:sp>
      <p:pic>
        <p:nvPicPr>
          <p:cNvPr id="3076" name="Picture 4" descr="在这里插入图片描述">
            <a:extLst>
              <a:ext uri="{FF2B5EF4-FFF2-40B4-BE49-F238E27FC236}">
                <a16:creationId xmlns:a16="http://schemas.microsoft.com/office/drawing/2014/main" id="{DBFD18A9-DC79-96FD-603C-C38021ADC2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319" y="3556873"/>
            <a:ext cx="4857750" cy="30861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825513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BFB6D-3ADB-CE61-421E-6BA04AA48225}"/>
            </a:ext>
          </a:extLst>
        </p:cNvPr>
        <p:cNvGrpSpPr/>
        <p:nvPr/>
      </p:nvGrpSpPr>
      <p:grpSpPr>
        <a:xfrm>
          <a:off x="0" y="0"/>
          <a:ext cx="0" cy="0"/>
          <a:chOff x="0" y="0"/>
          <a:chExt cx="0" cy="0"/>
        </a:xfrm>
      </p:grpSpPr>
      <p:sp>
        <p:nvSpPr>
          <p:cNvPr id="59" name="Slide Number Placeholder 58">
            <a:extLst>
              <a:ext uri="{FF2B5EF4-FFF2-40B4-BE49-F238E27FC236}">
                <a16:creationId xmlns:a16="http://schemas.microsoft.com/office/drawing/2014/main" id="{1EBA0E5E-7E6D-6666-3D28-25B845D373F3}"/>
              </a:ext>
            </a:extLst>
          </p:cNvPr>
          <p:cNvSpPr>
            <a:spLocks noGrp="1"/>
          </p:cNvSpPr>
          <p:nvPr>
            <p:ph type="sldNum" sz="quarter" idx="12"/>
          </p:nvPr>
        </p:nvSpPr>
        <p:spPr/>
        <p:txBody>
          <a:bodyPr/>
          <a:lstStyle/>
          <a:p>
            <a:fld id="{AFB04D65-EEE5-467D-A240-EF96AD461DB8}" type="slidenum">
              <a:rPr lang="en-US" smtClean="0"/>
              <a:t>13</a:t>
            </a:fld>
            <a:endParaRPr lang="en-US" dirty="0"/>
          </a:p>
        </p:txBody>
      </p:sp>
      <p:sp>
        <p:nvSpPr>
          <p:cNvPr id="5" name="Oval 5">
            <a:extLst>
              <a:ext uri="{FF2B5EF4-FFF2-40B4-BE49-F238E27FC236}">
                <a16:creationId xmlns:a16="http://schemas.microsoft.com/office/drawing/2014/main" id="{1F65B526-0DC8-4C5B-EEEE-2E804FFC0F1C}"/>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2</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3" name="Title 1">
            <a:extLst>
              <a:ext uri="{FF2B5EF4-FFF2-40B4-BE49-F238E27FC236}">
                <a16:creationId xmlns:a16="http://schemas.microsoft.com/office/drawing/2014/main" id="{A19D46D9-C9A6-F3AF-E4BD-757BAB4385DC}"/>
              </a:ext>
            </a:extLst>
          </p:cNvPr>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实验使用相关模型介绍</a:t>
            </a:r>
            <a:endParaRPr lang="en-US" altLang="en-US" b="1" dirty="0">
              <a:latin typeface="楷体" panose="02010609060101010101" pitchFamily="49" charset="-122"/>
              <a:ea typeface="楷体" panose="02010609060101010101" pitchFamily="49" charset="-122"/>
            </a:endParaRPr>
          </a:p>
        </p:txBody>
      </p:sp>
      <p:sp>
        <p:nvSpPr>
          <p:cNvPr id="3" name="Rectangle 10">
            <a:extLst>
              <a:ext uri="{FF2B5EF4-FFF2-40B4-BE49-F238E27FC236}">
                <a16:creationId xmlns:a16="http://schemas.microsoft.com/office/drawing/2014/main" id="{BA8C2309-7847-0614-2602-3ACAB4F599E1}"/>
              </a:ext>
            </a:extLst>
          </p:cNvPr>
          <p:cNvSpPr/>
          <p:nvPr/>
        </p:nvSpPr>
        <p:spPr>
          <a:xfrm>
            <a:off x="518795" y="726440"/>
            <a:ext cx="1115504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图片 7">
            <a:extLst>
              <a:ext uri="{FF2B5EF4-FFF2-40B4-BE49-F238E27FC236}">
                <a16:creationId xmlns:a16="http://schemas.microsoft.com/office/drawing/2014/main" id="{CF42E61B-5D83-E34A-ACC4-15D0062EBC0F}"/>
              </a:ext>
            </a:extLst>
          </p:cNvPr>
          <p:cNvPicPr/>
          <p:nvPr/>
        </p:nvPicPr>
        <p:blipFill>
          <a:blip r:embed="rId4"/>
          <a:stretch>
            <a:fillRect/>
          </a:stretch>
        </p:blipFill>
        <p:spPr>
          <a:xfrm>
            <a:off x="11061065" y="21590"/>
            <a:ext cx="1130300" cy="967740"/>
          </a:xfrm>
          <a:prstGeom prst="rect">
            <a:avLst/>
          </a:prstGeom>
        </p:spPr>
      </p:pic>
      <p:sp>
        <p:nvSpPr>
          <p:cNvPr id="6" name="文本框 5">
            <a:extLst>
              <a:ext uri="{FF2B5EF4-FFF2-40B4-BE49-F238E27FC236}">
                <a16:creationId xmlns:a16="http://schemas.microsoft.com/office/drawing/2014/main" id="{EBEDFDDA-5132-9F57-7038-0D44CA986B8B}"/>
              </a:ext>
            </a:extLst>
          </p:cNvPr>
          <p:cNvSpPr txBox="1"/>
          <p:nvPr/>
        </p:nvSpPr>
        <p:spPr>
          <a:xfrm>
            <a:off x="528638" y="1141228"/>
            <a:ext cx="2987196" cy="461665"/>
          </a:xfrm>
          <a:prstGeom prst="rect">
            <a:avLst/>
          </a:prstGeom>
          <a:noFill/>
        </p:spPr>
        <p:txBody>
          <a:bodyPr wrap="square" rtlCol="0">
            <a:spAutoFit/>
          </a:bodyPr>
          <a:lstStyle/>
          <a:p>
            <a:r>
              <a:rPr lang="en-US" altLang="zh-CN" sz="2400" b="1" dirty="0" err="1"/>
              <a:t>Haar</a:t>
            </a:r>
            <a:r>
              <a:rPr lang="zh-CN" altLang="en-US" sz="2400" b="1" dirty="0"/>
              <a:t>级联分类器</a:t>
            </a:r>
          </a:p>
        </p:txBody>
      </p:sp>
      <p:sp>
        <p:nvSpPr>
          <p:cNvPr id="10" name="文本框 9">
            <a:extLst>
              <a:ext uri="{FF2B5EF4-FFF2-40B4-BE49-F238E27FC236}">
                <a16:creationId xmlns:a16="http://schemas.microsoft.com/office/drawing/2014/main" id="{F1A63232-F464-22DB-2AE4-BA2310620429}"/>
              </a:ext>
            </a:extLst>
          </p:cNvPr>
          <p:cNvSpPr txBox="1"/>
          <p:nvPr/>
        </p:nvSpPr>
        <p:spPr>
          <a:xfrm>
            <a:off x="528638" y="1963479"/>
            <a:ext cx="10441172" cy="646331"/>
          </a:xfrm>
          <a:prstGeom prst="rect">
            <a:avLst/>
          </a:prstGeom>
          <a:noFill/>
        </p:spPr>
        <p:txBody>
          <a:bodyPr wrap="square" rtlCol="0">
            <a:spAutoFit/>
          </a:bodyPr>
          <a:lstStyle/>
          <a:p>
            <a:r>
              <a:rPr lang="en-US" altLang="zh-CN" sz="1800" b="1" dirty="0" err="1"/>
              <a:t>Haar</a:t>
            </a:r>
            <a:r>
              <a:rPr lang="zh-CN" altLang="en-US" sz="1800" b="1" dirty="0"/>
              <a:t>级联分类器</a:t>
            </a:r>
            <a:r>
              <a:rPr lang="zh-CN" altLang="en-US" dirty="0"/>
              <a:t>是一种基于</a:t>
            </a:r>
            <a:r>
              <a:rPr lang="en-US" altLang="zh-CN" dirty="0" err="1"/>
              <a:t>Haar</a:t>
            </a:r>
            <a:r>
              <a:rPr lang="zh-CN" altLang="en-US" dirty="0"/>
              <a:t>特征和</a:t>
            </a:r>
            <a:r>
              <a:rPr lang="en-US" altLang="zh-CN" dirty="0"/>
              <a:t>AdaBoost</a:t>
            </a:r>
            <a:r>
              <a:rPr lang="zh-CN" altLang="en-US" dirty="0"/>
              <a:t>分类器的高效人脸检测算法。</a:t>
            </a:r>
            <a:r>
              <a:rPr lang="en-US" altLang="zh-CN" sz="1800" dirty="0"/>
              <a:t> </a:t>
            </a:r>
            <a:r>
              <a:rPr lang="en-US" altLang="zh-CN" sz="1800" dirty="0" err="1"/>
              <a:t>Haar</a:t>
            </a:r>
            <a:r>
              <a:rPr lang="zh-CN" altLang="en-US" sz="1800" dirty="0"/>
              <a:t>级联分类器</a:t>
            </a:r>
            <a:r>
              <a:rPr lang="zh-CN" altLang="en-US" dirty="0"/>
              <a:t>具有高效性和实时性，广泛应用于人脸检测和其他物体检测任务中。</a:t>
            </a:r>
          </a:p>
        </p:txBody>
      </p:sp>
      <p:sp>
        <p:nvSpPr>
          <p:cNvPr id="11" name="文本框 10">
            <a:extLst>
              <a:ext uri="{FF2B5EF4-FFF2-40B4-BE49-F238E27FC236}">
                <a16:creationId xmlns:a16="http://schemas.microsoft.com/office/drawing/2014/main" id="{A309EBD8-4100-EACF-98E1-0E046F75F512}"/>
              </a:ext>
            </a:extLst>
          </p:cNvPr>
          <p:cNvSpPr txBox="1"/>
          <p:nvPr/>
        </p:nvSpPr>
        <p:spPr>
          <a:xfrm>
            <a:off x="405322" y="2906232"/>
            <a:ext cx="11220893" cy="2585323"/>
          </a:xfrm>
          <a:prstGeom prst="rect">
            <a:avLst/>
          </a:prstGeom>
          <a:noFill/>
        </p:spPr>
        <p:txBody>
          <a:bodyPr wrap="square" rtlCol="0">
            <a:spAutoFit/>
          </a:bodyPr>
          <a:lstStyle/>
          <a:p>
            <a:r>
              <a:rPr lang="zh-CN" altLang="en-US" dirty="0"/>
              <a:t>工作原理：</a:t>
            </a:r>
            <a:endParaRPr lang="zh-CN" altLang="en-US" b="1" dirty="0"/>
          </a:p>
          <a:p>
            <a:pPr>
              <a:buFont typeface="+mj-lt"/>
              <a:buAutoNum type="arabicPeriod"/>
            </a:pPr>
            <a:r>
              <a:rPr lang="zh-CN" altLang="en-US" dirty="0"/>
              <a:t>训练阶段：</a:t>
            </a:r>
          </a:p>
          <a:p>
            <a:pPr marL="742950" lvl="1" indent="-285750">
              <a:buFont typeface="+mj-lt"/>
              <a:buAutoNum type="arabicPeriod"/>
            </a:pPr>
            <a:r>
              <a:rPr lang="zh-CN" altLang="en-US" dirty="0"/>
              <a:t>使用大量标注了正样本（人脸）和负样本（非人脸）的图像来训练</a:t>
            </a:r>
            <a:r>
              <a:rPr lang="en-US" altLang="zh-CN" dirty="0" err="1"/>
              <a:t>Haar</a:t>
            </a:r>
            <a:r>
              <a:rPr lang="zh-CN" altLang="en-US" dirty="0"/>
              <a:t>特征。</a:t>
            </a:r>
          </a:p>
          <a:p>
            <a:pPr marL="742950" lvl="1" indent="-285750">
              <a:buFont typeface="+mj-lt"/>
              <a:buAutoNum type="arabicPeriod"/>
            </a:pPr>
            <a:r>
              <a:rPr lang="zh-CN" altLang="en-US" dirty="0"/>
              <a:t>使用</a:t>
            </a:r>
            <a:r>
              <a:rPr lang="en-US" altLang="zh-CN" dirty="0"/>
              <a:t>AdaBoost</a:t>
            </a:r>
            <a:r>
              <a:rPr lang="zh-CN" altLang="en-US" dirty="0"/>
              <a:t>算法选择最能区分人脸和非人脸的特征，并建立一个级联分类器。</a:t>
            </a:r>
          </a:p>
          <a:p>
            <a:pPr>
              <a:buFont typeface="+mj-lt"/>
              <a:buAutoNum type="arabicPeriod"/>
            </a:pPr>
            <a:r>
              <a:rPr lang="zh-CN" altLang="en-US" dirty="0"/>
              <a:t>检测阶段：</a:t>
            </a:r>
          </a:p>
          <a:p>
            <a:pPr marL="742950" lvl="1" indent="-285750">
              <a:buFont typeface="+mj-lt"/>
              <a:buAutoNum type="arabicPeriod"/>
            </a:pPr>
            <a:r>
              <a:rPr lang="zh-CN" altLang="en-US" dirty="0"/>
              <a:t>对输入图像进行滑动窗口扫描，逐个位置和尺度地检测是否包含人脸。</a:t>
            </a:r>
          </a:p>
          <a:p>
            <a:pPr marL="742950" lvl="1" indent="-285750">
              <a:buFont typeface="+mj-lt"/>
              <a:buAutoNum type="arabicPeriod"/>
            </a:pPr>
            <a:r>
              <a:rPr lang="zh-CN" altLang="en-US" dirty="0"/>
              <a:t>每个窗口通过级联分类器的各个阶段，最终判定该区域是否为人脸。</a:t>
            </a:r>
            <a:endParaRPr lang="en-US" altLang="zh-CN" dirty="0"/>
          </a:p>
          <a:p>
            <a:pPr marL="742950" lvl="1" indent="-285750">
              <a:buFont typeface="+mj-lt"/>
              <a:buAutoNum type="arabicPeriod"/>
            </a:pPr>
            <a:endParaRPr lang="zh-CN" altLang="en-US" dirty="0"/>
          </a:p>
          <a:p>
            <a:r>
              <a:rPr lang="zh-CN" altLang="en-US" b="1" dirty="0"/>
              <a:t>由于实验中已经提供了训练好的</a:t>
            </a:r>
            <a:r>
              <a:rPr lang="en-US" altLang="zh-CN" b="1" dirty="0" err="1"/>
              <a:t>Haar</a:t>
            </a:r>
            <a:r>
              <a:rPr lang="zh-CN" altLang="en-US" b="1" dirty="0"/>
              <a:t>人脸检测器，故在实验当中直接使用</a:t>
            </a:r>
            <a:r>
              <a:rPr lang="en-US" altLang="zh-CN" b="1" dirty="0" err="1"/>
              <a:t>Haar</a:t>
            </a:r>
            <a:r>
              <a:rPr lang="zh-CN" altLang="en-US" b="1" dirty="0"/>
              <a:t>人脸检测器对人脸进行检测</a:t>
            </a:r>
          </a:p>
        </p:txBody>
      </p:sp>
    </p:spTree>
    <p:custDataLst>
      <p:tags r:id="rId1"/>
    </p:custDataLst>
    <p:extLst>
      <p:ext uri="{BB962C8B-B14F-4D97-AF65-F5344CB8AC3E}">
        <p14:creationId xmlns:p14="http://schemas.microsoft.com/office/powerpoint/2010/main" val="487763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AEB0D-C83F-BBC1-F8DD-08A68186FC85}"/>
            </a:ext>
          </a:extLst>
        </p:cNvPr>
        <p:cNvGrpSpPr/>
        <p:nvPr/>
      </p:nvGrpSpPr>
      <p:grpSpPr>
        <a:xfrm>
          <a:off x="0" y="0"/>
          <a:ext cx="0" cy="0"/>
          <a:chOff x="0" y="0"/>
          <a:chExt cx="0" cy="0"/>
        </a:xfrm>
      </p:grpSpPr>
      <p:sp>
        <p:nvSpPr>
          <p:cNvPr id="59" name="Slide Number Placeholder 58">
            <a:extLst>
              <a:ext uri="{FF2B5EF4-FFF2-40B4-BE49-F238E27FC236}">
                <a16:creationId xmlns:a16="http://schemas.microsoft.com/office/drawing/2014/main" id="{592AD752-E28C-F8B5-2FC4-1230DADACF1A}"/>
              </a:ext>
            </a:extLst>
          </p:cNvPr>
          <p:cNvSpPr>
            <a:spLocks noGrp="1"/>
          </p:cNvSpPr>
          <p:nvPr>
            <p:ph type="sldNum" sz="quarter" idx="12"/>
          </p:nvPr>
        </p:nvSpPr>
        <p:spPr/>
        <p:txBody>
          <a:bodyPr/>
          <a:lstStyle/>
          <a:p>
            <a:fld id="{AFB04D65-EEE5-467D-A240-EF96AD461DB8}" type="slidenum">
              <a:rPr lang="en-US" smtClean="0"/>
              <a:t>14</a:t>
            </a:fld>
            <a:endParaRPr lang="en-US" dirty="0"/>
          </a:p>
        </p:txBody>
      </p:sp>
      <p:sp>
        <p:nvSpPr>
          <p:cNvPr id="5" name="Oval 5">
            <a:extLst>
              <a:ext uri="{FF2B5EF4-FFF2-40B4-BE49-F238E27FC236}">
                <a16:creationId xmlns:a16="http://schemas.microsoft.com/office/drawing/2014/main" id="{B130F4B7-48E6-57C4-F99D-0CF919C8580F}"/>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2</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3" name="Title 1">
            <a:extLst>
              <a:ext uri="{FF2B5EF4-FFF2-40B4-BE49-F238E27FC236}">
                <a16:creationId xmlns:a16="http://schemas.microsoft.com/office/drawing/2014/main" id="{AC48ED33-1953-A54A-68B2-7CF26B771907}"/>
              </a:ext>
            </a:extLst>
          </p:cNvPr>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实验使用相关模型介绍</a:t>
            </a:r>
            <a:endParaRPr lang="en-US" altLang="en-US" b="1" dirty="0">
              <a:latin typeface="楷体" panose="02010609060101010101" pitchFamily="49" charset="-122"/>
              <a:ea typeface="楷体" panose="02010609060101010101" pitchFamily="49" charset="-122"/>
            </a:endParaRPr>
          </a:p>
        </p:txBody>
      </p:sp>
      <p:sp>
        <p:nvSpPr>
          <p:cNvPr id="3" name="Rectangle 10">
            <a:extLst>
              <a:ext uri="{FF2B5EF4-FFF2-40B4-BE49-F238E27FC236}">
                <a16:creationId xmlns:a16="http://schemas.microsoft.com/office/drawing/2014/main" id="{7D13C3B9-5A30-61D7-560A-9B29FE96DEC0}"/>
              </a:ext>
            </a:extLst>
          </p:cNvPr>
          <p:cNvSpPr/>
          <p:nvPr/>
        </p:nvSpPr>
        <p:spPr>
          <a:xfrm>
            <a:off x="518795" y="726440"/>
            <a:ext cx="1115504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图片 7">
            <a:extLst>
              <a:ext uri="{FF2B5EF4-FFF2-40B4-BE49-F238E27FC236}">
                <a16:creationId xmlns:a16="http://schemas.microsoft.com/office/drawing/2014/main" id="{1980456E-B0A8-0641-7154-CFD00E15B268}"/>
              </a:ext>
            </a:extLst>
          </p:cNvPr>
          <p:cNvPicPr/>
          <p:nvPr/>
        </p:nvPicPr>
        <p:blipFill>
          <a:blip r:embed="rId4"/>
          <a:stretch>
            <a:fillRect/>
          </a:stretch>
        </p:blipFill>
        <p:spPr>
          <a:xfrm>
            <a:off x="11061065" y="21590"/>
            <a:ext cx="1130300" cy="967740"/>
          </a:xfrm>
          <a:prstGeom prst="rect">
            <a:avLst/>
          </a:prstGeom>
        </p:spPr>
      </p:pic>
      <p:sp>
        <p:nvSpPr>
          <p:cNvPr id="6" name="文本框 5">
            <a:extLst>
              <a:ext uri="{FF2B5EF4-FFF2-40B4-BE49-F238E27FC236}">
                <a16:creationId xmlns:a16="http://schemas.microsoft.com/office/drawing/2014/main" id="{755FE000-D679-2A96-D4E7-813CC15299E9}"/>
              </a:ext>
            </a:extLst>
          </p:cNvPr>
          <p:cNvSpPr txBox="1"/>
          <p:nvPr/>
        </p:nvSpPr>
        <p:spPr>
          <a:xfrm>
            <a:off x="528638" y="1141228"/>
            <a:ext cx="2987196" cy="461665"/>
          </a:xfrm>
          <a:prstGeom prst="rect">
            <a:avLst/>
          </a:prstGeom>
          <a:noFill/>
        </p:spPr>
        <p:txBody>
          <a:bodyPr wrap="square" rtlCol="0">
            <a:spAutoFit/>
          </a:bodyPr>
          <a:lstStyle/>
          <a:p>
            <a:r>
              <a:rPr lang="en-US" altLang="zh-CN" sz="2400" b="1" dirty="0" err="1"/>
              <a:t>Haar</a:t>
            </a:r>
            <a:r>
              <a:rPr lang="zh-CN" altLang="en-US" sz="2400" b="1" dirty="0"/>
              <a:t>级联分类器</a:t>
            </a:r>
          </a:p>
        </p:txBody>
      </p:sp>
      <p:sp>
        <p:nvSpPr>
          <p:cNvPr id="10" name="文本框 9">
            <a:extLst>
              <a:ext uri="{FF2B5EF4-FFF2-40B4-BE49-F238E27FC236}">
                <a16:creationId xmlns:a16="http://schemas.microsoft.com/office/drawing/2014/main" id="{BFB86920-384D-7DFD-2A43-8CBE0585B3AF}"/>
              </a:ext>
            </a:extLst>
          </p:cNvPr>
          <p:cNvSpPr txBox="1"/>
          <p:nvPr/>
        </p:nvSpPr>
        <p:spPr>
          <a:xfrm>
            <a:off x="528638" y="1963479"/>
            <a:ext cx="10441172" cy="369332"/>
          </a:xfrm>
          <a:prstGeom prst="rect">
            <a:avLst/>
          </a:prstGeom>
          <a:noFill/>
        </p:spPr>
        <p:txBody>
          <a:bodyPr wrap="square" rtlCol="0">
            <a:spAutoFit/>
          </a:bodyPr>
          <a:lstStyle/>
          <a:p>
            <a:r>
              <a:rPr lang="zh-CN" altLang="en-US" dirty="0"/>
              <a:t>效果图：</a:t>
            </a:r>
          </a:p>
        </p:txBody>
      </p:sp>
      <p:pic>
        <p:nvPicPr>
          <p:cNvPr id="9" name="图片 8">
            <a:extLst>
              <a:ext uri="{FF2B5EF4-FFF2-40B4-BE49-F238E27FC236}">
                <a16:creationId xmlns:a16="http://schemas.microsoft.com/office/drawing/2014/main" id="{01B1EBB9-2119-1F01-DF56-0840963F32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6940" y="2569495"/>
            <a:ext cx="3863163" cy="2897372"/>
          </a:xfrm>
          <a:prstGeom prst="rect">
            <a:avLst/>
          </a:prstGeom>
        </p:spPr>
      </p:pic>
      <p:pic>
        <p:nvPicPr>
          <p:cNvPr id="13" name="图片 12">
            <a:extLst>
              <a:ext uri="{FF2B5EF4-FFF2-40B4-BE49-F238E27FC236}">
                <a16:creationId xmlns:a16="http://schemas.microsoft.com/office/drawing/2014/main" id="{9EDAD93B-F0FA-69E5-87DA-C8FDBA857AB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58751" y="2966332"/>
            <a:ext cx="2103697" cy="2103697"/>
          </a:xfrm>
          <a:prstGeom prst="rect">
            <a:avLst/>
          </a:prstGeom>
        </p:spPr>
      </p:pic>
      <p:sp>
        <p:nvSpPr>
          <p:cNvPr id="14" name="箭头: 右 13">
            <a:extLst>
              <a:ext uri="{FF2B5EF4-FFF2-40B4-BE49-F238E27FC236}">
                <a16:creationId xmlns:a16="http://schemas.microsoft.com/office/drawing/2014/main" id="{1075D85D-7531-49C8-49EE-CC7D05C994CB}"/>
              </a:ext>
            </a:extLst>
          </p:cNvPr>
          <p:cNvSpPr/>
          <p:nvPr/>
        </p:nvSpPr>
        <p:spPr>
          <a:xfrm>
            <a:off x="5266660" y="3508744"/>
            <a:ext cx="1545266" cy="10164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1151158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26F7C-7A89-8BBF-7614-32AE95B33AD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FCC90E0-C96A-3E68-F9F3-5009229C4C3E}"/>
              </a:ext>
            </a:extLst>
          </p:cNvPr>
          <p:cNvSpPr>
            <a:spLocks noGrp="1"/>
          </p:cNvSpPr>
          <p:nvPr>
            <p:ph type="ctrTitle"/>
          </p:nvPr>
        </p:nvSpPr>
        <p:spPr>
          <a:xfrm>
            <a:off x="491637" y="1359017"/>
            <a:ext cx="4264661" cy="586737"/>
          </a:xfrm>
        </p:spPr>
        <p:txBody>
          <a:bodyPr>
            <a:noAutofit/>
          </a:body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1.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效果演示与系统说明</a:t>
            </a:r>
            <a:endParaRPr 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Oval 8">
            <a:extLst>
              <a:ext uri="{FF2B5EF4-FFF2-40B4-BE49-F238E27FC236}">
                <a16:creationId xmlns:a16="http://schemas.microsoft.com/office/drawing/2014/main" id="{3DDEFA59-78CB-42A0-1C97-14E844F52BA9}"/>
              </a:ext>
            </a:extLst>
          </p:cNvPr>
          <p:cNvSpPr/>
          <p:nvPr/>
        </p:nvSpPr>
        <p:spPr>
          <a:xfrm>
            <a:off x="10992" y="800831"/>
            <a:ext cx="528271" cy="53559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2854487-D5CE-EE5D-8C18-5365AED08E75}"/>
              </a:ext>
            </a:extLst>
          </p:cNvPr>
          <p:cNvSpPr/>
          <p:nvPr/>
        </p:nvSpPr>
        <p:spPr>
          <a:xfrm>
            <a:off x="539115" y="989330"/>
            <a:ext cx="10976610" cy="15367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8E685F8F-21BF-EADB-DBEC-4BF85F1EA1B7}"/>
              </a:ext>
            </a:extLst>
          </p:cNvPr>
          <p:cNvSpPr txBox="1"/>
          <p:nvPr/>
        </p:nvSpPr>
        <p:spPr>
          <a:xfrm>
            <a:off x="424963" y="246186"/>
            <a:ext cx="2889737" cy="5581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b="1" dirty="0">
                <a:solidFill>
                  <a:srgbClr val="0070C0"/>
                </a:solidFill>
                <a:latin typeface="Times New Roman" panose="02020603050405020304" pitchFamily="18" charset="0"/>
                <a:ea typeface="+mn-ea"/>
                <a:cs typeface="Times New Roman" panose="02020603050405020304" pitchFamily="18" charset="0"/>
                <a:sym typeface="+mn-ea"/>
              </a:rPr>
              <a:t>目录</a:t>
            </a:r>
            <a:endParaRPr lang="en-US" altLang="zh-CN" sz="3200" b="1" dirty="0">
              <a:solidFill>
                <a:srgbClr val="0070C0"/>
              </a:solidFill>
              <a:latin typeface="Times New Roman" panose="02020603050405020304" pitchFamily="18" charset="0"/>
              <a:ea typeface="+mn-ea"/>
              <a:cs typeface="Times New Roman" panose="02020603050405020304" pitchFamily="18" charset="0"/>
              <a:sym typeface="+mn-ea"/>
            </a:endParaRPr>
          </a:p>
        </p:txBody>
      </p:sp>
      <p:sp>
        <p:nvSpPr>
          <p:cNvPr id="13" name="Slide Number Placeholder 12">
            <a:extLst>
              <a:ext uri="{FF2B5EF4-FFF2-40B4-BE49-F238E27FC236}">
                <a16:creationId xmlns:a16="http://schemas.microsoft.com/office/drawing/2014/main" id="{5CF001F6-BF50-8AAB-821B-4A826247C4DF}"/>
              </a:ext>
            </a:extLst>
          </p:cNvPr>
          <p:cNvSpPr>
            <a:spLocks noGrp="1"/>
          </p:cNvSpPr>
          <p:nvPr>
            <p:ph type="sldNum" sz="quarter" idx="12"/>
          </p:nvPr>
        </p:nvSpPr>
        <p:spPr/>
        <p:txBody>
          <a:bodyPr/>
          <a:lstStyle/>
          <a:p>
            <a:fld id="{AFB04D65-EEE5-467D-A240-EF96AD461DB8}" type="slidenum">
              <a:rPr lang="en-US" smtClean="0"/>
              <a:t>15</a:t>
            </a:fld>
            <a:endParaRPr lang="en-US" dirty="0"/>
          </a:p>
        </p:txBody>
      </p:sp>
      <p:sp>
        <p:nvSpPr>
          <p:cNvPr id="10" name="Title 3">
            <a:extLst>
              <a:ext uri="{FF2B5EF4-FFF2-40B4-BE49-F238E27FC236}">
                <a16:creationId xmlns:a16="http://schemas.microsoft.com/office/drawing/2014/main" id="{DDB95655-8431-8B31-EBCC-32F3AC885C43}"/>
              </a:ext>
            </a:extLst>
          </p:cNvPr>
          <p:cNvSpPr txBox="1"/>
          <p:nvPr/>
        </p:nvSpPr>
        <p:spPr>
          <a:xfrm>
            <a:off x="474418" y="1911467"/>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2.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实验使用相关模型介绍</a:t>
            </a:r>
          </a:p>
        </p:txBody>
      </p:sp>
      <p:sp>
        <p:nvSpPr>
          <p:cNvPr id="14" name="Title 3">
            <a:extLst>
              <a:ext uri="{FF2B5EF4-FFF2-40B4-BE49-F238E27FC236}">
                <a16:creationId xmlns:a16="http://schemas.microsoft.com/office/drawing/2014/main" id="{AFB61920-5C16-5CD0-BE72-F7F9AA4DBD88}"/>
              </a:ext>
            </a:extLst>
          </p:cNvPr>
          <p:cNvSpPr txBox="1"/>
          <p:nvPr/>
        </p:nvSpPr>
        <p:spPr>
          <a:xfrm>
            <a:off x="453137" y="3244569"/>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4.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系统识别提升相关部分</a:t>
            </a:r>
          </a:p>
        </p:txBody>
      </p:sp>
      <p:sp>
        <p:nvSpPr>
          <p:cNvPr id="3" name="Title 3">
            <a:extLst>
              <a:ext uri="{FF2B5EF4-FFF2-40B4-BE49-F238E27FC236}">
                <a16:creationId xmlns:a16="http://schemas.microsoft.com/office/drawing/2014/main" id="{15AF2246-FE33-7055-E59F-1F66079940C2}"/>
              </a:ext>
            </a:extLst>
          </p:cNvPr>
          <p:cNvSpPr txBox="1"/>
          <p:nvPr>
            <p:custDataLst>
              <p:tags r:id="rId2"/>
            </p:custDataLst>
          </p:nvPr>
        </p:nvSpPr>
        <p:spPr>
          <a:xfrm>
            <a:off x="472440" y="3943350"/>
            <a:ext cx="11700510"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5.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总结 </a:t>
            </a:r>
          </a:p>
        </p:txBody>
      </p:sp>
      <p:sp>
        <p:nvSpPr>
          <p:cNvPr id="2" name="Title 3">
            <a:extLst>
              <a:ext uri="{FF2B5EF4-FFF2-40B4-BE49-F238E27FC236}">
                <a16:creationId xmlns:a16="http://schemas.microsoft.com/office/drawing/2014/main" id="{12030C4F-929E-A2FA-BB87-3063871A63A9}"/>
              </a:ext>
            </a:extLst>
          </p:cNvPr>
          <p:cNvSpPr txBox="1"/>
          <p:nvPr>
            <p:custDataLst>
              <p:tags r:id="rId3"/>
            </p:custDataLst>
          </p:nvPr>
        </p:nvSpPr>
        <p:spPr>
          <a:xfrm>
            <a:off x="491637" y="2545785"/>
            <a:ext cx="11576685"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3.</a:t>
            </a: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实验过程及思路</a:t>
            </a:r>
          </a:p>
        </p:txBody>
      </p:sp>
      <p:pic>
        <p:nvPicPr>
          <p:cNvPr id="6" name="图片 5">
            <a:extLst>
              <a:ext uri="{FF2B5EF4-FFF2-40B4-BE49-F238E27FC236}">
                <a16:creationId xmlns:a16="http://schemas.microsoft.com/office/drawing/2014/main" id="{7829E10C-AFF0-5949-FC96-106EC98FED92}"/>
              </a:ext>
            </a:extLst>
          </p:cNvPr>
          <p:cNvPicPr/>
          <p:nvPr/>
        </p:nvPicPr>
        <p:blipFill>
          <a:blip r:embed="rId6"/>
          <a:stretch>
            <a:fillRect/>
          </a:stretch>
        </p:blipFill>
        <p:spPr>
          <a:xfrm>
            <a:off x="11100435" y="21590"/>
            <a:ext cx="1090930" cy="934085"/>
          </a:xfrm>
          <a:prstGeom prst="rect">
            <a:avLst/>
          </a:prstGeom>
        </p:spPr>
      </p:pic>
    </p:spTree>
    <p:custDataLst>
      <p:tags r:id="rId1"/>
    </p:custDataLst>
    <p:extLst>
      <p:ext uri="{BB962C8B-B14F-4D97-AF65-F5344CB8AC3E}">
        <p14:creationId xmlns:p14="http://schemas.microsoft.com/office/powerpoint/2010/main" val="1471584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lide Number Placeholder 44"/>
          <p:cNvSpPr>
            <a:spLocks noGrp="1"/>
          </p:cNvSpPr>
          <p:nvPr>
            <p:ph type="sldNum" sz="quarter" idx="12"/>
          </p:nvPr>
        </p:nvSpPr>
        <p:spPr/>
        <p:txBody>
          <a:bodyPr/>
          <a:lstStyle/>
          <a:p>
            <a:fld id="{AFB04D65-EEE5-467D-A240-EF96AD461DB8}" type="slidenum">
              <a:rPr lang="en-US" smtClean="0"/>
              <a:t>16</a:t>
            </a:fld>
            <a:endParaRPr lang="en-US"/>
          </a:p>
        </p:txBody>
      </p:sp>
      <p:sp>
        <p:nvSpPr>
          <p:cNvPr id="3" name="Oval 5"/>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3</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 name="Title 1"/>
          <p:cNvSpPr txBox="1"/>
          <p:nvPr/>
        </p:nvSpPr>
        <p:spPr>
          <a:xfrm>
            <a:off x="519430" y="177800"/>
            <a:ext cx="11153775"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sym typeface="+mn-ea"/>
              </a:rPr>
              <a:t> </a:t>
            </a:r>
          </a:p>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实验过程及思路</a:t>
            </a:r>
            <a:endParaRPr lang="en-US" altLang="en-US" b="1" dirty="0">
              <a:latin typeface="楷体" panose="02010609060101010101" pitchFamily="49" charset="-122"/>
              <a:ea typeface="楷体" panose="02010609060101010101" pitchFamily="49" charset="-122"/>
            </a:endParaRPr>
          </a:p>
        </p:txBody>
      </p:sp>
      <p:sp>
        <p:nvSpPr>
          <p:cNvPr id="10" name="Rectangle 10"/>
          <p:cNvSpPr/>
          <p:nvPr/>
        </p:nvSpPr>
        <p:spPr>
          <a:xfrm>
            <a:off x="424816" y="72624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图片 1"/>
          <p:cNvPicPr/>
          <p:nvPr/>
        </p:nvPicPr>
        <p:blipFill>
          <a:blip r:embed="rId3"/>
          <a:stretch>
            <a:fillRect/>
          </a:stretch>
        </p:blipFill>
        <p:spPr>
          <a:xfrm>
            <a:off x="11061065" y="21590"/>
            <a:ext cx="1130300" cy="967740"/>
          </a:xfrm>
          <a:prstGeom prst="rect">
            <a:avLst/>
          </a:prstGeom>
        </p:spPr>
      </p:pic>
      <p:sp>
        <p:nvSpPr>
          <p:cNvPr id="5" name="文本框 4">
            <a:extLst>
              <a:ext uri="{FF2B5EF4-FFF2-40B4-BE49-F238E27FC236}">
                <a16:creationId xmlns:a16="http://schemas.microsoft.com/office/drawing/2014/main" id="{35EAF369-5270-895D-A818-CF433A85F18C}"/>
              </a:ext>
            </a:extLst>
          </p:cNvPr>
          <p:cNvSpPr txBox="1"/>
          <p:nvPr/>
        </p:nvSpPr>
        <p:spPr>
          <a:xfrm>
            <a:off x="424816" y="1271239"/>
            <a:ext cx="2351838" cy="523220"/>
          </a:xfrm>
          <a:prstGeom prst="rect">
            <a:avLst/>
          </a:prstGeom>
          <a:noFill/>
        </p:spPr>
        <p:txBody>
          <a:bodyPr wrap="square" rtlCol="0">
            <a:spAutoFit/>
          </a:bodyPr>
          <a:lstStyle/>
          <a:p>
            <a:r>
              <a:rPr lang="zh-CN" altLang="en-US" sz="2800" b="1" dirty="0"/>
              <a:t>训练流程：</a:t>
            </a:r>
          </a:p>
        </p:txBody>
      </p:sp>
      <p:pic>
        <p:nvPicPr>
          <p:cNvPr id="17" name="图片 16">
            <a:extLst>
              <a:ext uri="{FF2B5EF4-FFF2-40B4-BE49-F238E27FC236}">
                <a16:creationId xmlns:a16="http://schemas.microsoft.com/office/drawing/2014/main" id="{5622C315-EA04-E522-DBFE-82516E7CB1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6654" y="1550231"/>
            <a:ext cx="6772275" cy="4581525"/>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D7C69-BE1F-AE26-5F05-68A1A0277434}"/>
            </a:ext>
          </a:extLst>
        </p:cNvPr>
        <p:cNvGrpSpPr/>
        <p:nvPr/>
      </p:nvGrpSpPr>
      <p:grpSpPr>
        <a:xfrm>
          <a:off x="0" y="0"/>
          <a:ext cx="0" cy="0"/>
          <a:chOff x="0" y="0"/>
          <a:chExt cx="0" cy="0"/>
        </a:xfrm>
      </p:grpSpPr>
      <p:sp>
        <p:nvSpPr>
          <p:cNvPr id="45" name="Slide Number Placeholder 44">
            <a:extLst>
              <a:ext uri="{FF2B5EF4-FFF2-40B4-BE49-F238E27FC236}">
                <a16:creationId xmlns:a16="http://schemas.microsoft.com/office/drawing/2014/main" id="{C8BBC290-920E-BAFC-2D51-1DDCD0FABF9A}"/>
              </a:ext>
            </a:extLst>
          </p:cNvPr>
          <p:cNvSpPr>
            <a:spLocks noGrp="1"/>
          </p:cNvSpPr>
          <p:nvPr>
            <p:ph type="sldNum" sz="quarter" idx="12"/>
          </p:nvPr>
        </p:nvSpPr>
        <p:spPr/>
        <p:txBody>
          <a:bodyPr/>
          <a:lstStyle/>
          <a:p>
            <a:fld id="{AFB04D65-EEE5-467D-A240-EF96AD461DB8}" type="slidenum">
              <a:rPr lang="en-US" smtClean="0"/>
              <a:t>17</a:t>
            </a:fld>
            <a:endParaRPr lang="en-US"/>
          </a:p>
        </p:txBody>
      </p:sp>
      <p:sp>
        <p:nvSpPr>
          <p:cNvPr id="3" name="Oval 5">
            <a:extLst>
              <a:ext uri="{FF2B5EF4-FFF2-40B4-BE49-F238E27FC236}">
                <a16:creationId xmlns:a16="http://schemas.microsoft.com/office/drawing/2014/main" id="{098BC71F-DF74-1F3F-2626-51D9B1A297D1}"/>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3</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 name="Title 1">
            <a:extLst>
              <a:ext uri="{FF2B5EF4-FFF2-40B4-BE49-F238E27FC236}">
                <a16:creationId xmlns:a16="http://schemas.microsoft.com/office/drawing/2014/main" id="{019E456E-4EF2-5848-315D-6311B587522E}"/>
              </a:ext>
            </a:extLst>
          </p:cNvPr>
          <p:cNvSpPr txBox="1"/>
          <p:nvPr/>
        </p:nvSpPr>
        <p:spPr>
          <a:xfrm>
            <a:off x="519430" y="177800"/>
            <a:ext cx="11153775"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sym typeface="+mn-ea"/>
              </a:rPr>
              <a:t> </a:t>
            </a:r>
          </a:p>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实验过程及思路</a:t>
            </a:r>
            <a:endParaRPr lang="en-US" altLang="en-US" b="1" dirty="0">
              <a:latin typeface="楷体" panose="02010609060101010101" pitchFamily="49" charset="-122"/>
              <a:ea typeface="楷体" panose="02010609060101010101" pitchFamily="49" charset="-122"/>
            </a:endParaRPr>
          </a:p>
        </p:txBody>
      </p:sp>
      <p:sp>
        <p:nvSpPr>
          <p:cNvPr id="10" name="Rectangle 10">
            <a:extLst>
              <a:ext uri="{FF2B5EF4-FFF2-40B4-BE49-F238E27FC236}">
                <a16:creationId xmlns:a16="http://schemas.microsoft.com/office/drawing/2014/main" id="{BF8FB606-D7D7-8E7E-CD14-CBC1D4F5758A}"/>
              </a:ext>
            </a:extLst>
          </p:cNvPr>
          <p:cNvSpPr/>
          <p:nvPr/>
        </p:nvSpPr>
        <p:spPr>
          <a:xfrm>
            <a:off x="424816" y="72624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图片 1">
            <a:extLst>
              <a:ext uri="{FF2B5EF4-FFF2-40B4-BE49-F238E27FC236}">
                <a16:creationId xmlns:a16="http://schemas.microsoft.com/office/drawing/2014/main" id="{2478A8FA-3C28-C9B7-229E-371D841908B0}"/>
              </a:ext>
            </a:extLst>
          </p:cNvPr>
          <p:cNvPicPr/>
          <p:nvPr/>
        </p:nvPicPr>
        <p:blipFill>
          <a:blip r:embed="rId3"/>
          <a:stretch>
            <a:fillRect/>
          </a:stretch>
        </p:blipFill>
        <p:spPr>
          <a:xfrm>
            <a:off x="11061065" y="21590"/>
            <a:ext cx="1130300" cy="967740"/>
          </a:xfrm>
          <a:prstGeom prst="rect">
            <a:avLst/>
          </a:prstGeom>
        </p:spPr>
      </p:pic>
      <p:sp>
        <p:nvSpPr>
          <p:cNvPr id="5" name="文本框 4">
            <a:extLst>
              <a:ext uri="{FF2B5EF4-FFF2-40B4-BE49-F238E27FC236}">
                <a16:creationId xmlns:a16="http://schemas.microsoft.com/office/drawing/2014/main" id="{D7659D09-542B-4B98-E4EF-C0BBFB8923F4}"/>
              </a:ext>
            </a:extLst>
          </p:cNvPr>
          <p:cNvSpPr txBox="1"/>
          <p:nvPr/>
        </p:nvSpPr>
        <p:spPr>
          <a:xfrm>
            <a:off x="424816" y="1271239"/>
            <a:ext cx="2351838" cy="523220"/>
          </a:xfrm>
          <a:prstGeom prst="rect">
            <a:avLst/>
          </a:prstGeom>
          <a:noFill/>
        </p:spPr>
        <p:txBody>
          <a:bodyPr wrap="square" rtlCol="0">
            <a:spAutoFit/>
          </a:bodyPr>
          <a:lstStyle/>
          <a:p>
            <a:r>
              <a:rPr lang="zh-CN" altLang="en-US" sz="2800" b="1" dirty="0"/>
              <a:t>训练代码：</a:t>
            </a:r>
          </a:p>
        </p:txBody>
      </p:sp>
      <p:pic>
        <p:nvPicPr>
          <p:cNvPr id="11" name="图片 10">
            <a:extLst>
              <a:ext uri="{FF2B5EF4-FFF2-40B4-BE49-F238E27FC236}">
                <a16:creationId xmlns:a16="http://schemas.microsoft.com/office/drawing/2014/main" id="{936851F1-55A7-8B1E-EF3E-A1F5F3039D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60057" y="1271239"/>
            <a:ext cx="6230882" cy="5267292"/>
          </a:xfrm>
          <a:prstGeom prst="rect">
            <a:avLst/>
          </a:prstGeom>
        </p:spPr>
      </p:pic>
      <p:sp>
        <p:nvSpPr>
          <p:cNvPr id="12" name="文本框 11">
            <a:extLst>
              <a:ext uri="{FF2B5EF4-FFF2-40B4-BE49-F238E27FC236}">
                <a16:creationId xmlns:a16="http://schemas.microsoft.com/office/drawing/2014/main" id="{C2A12DE3-7189-7C2A-118D-036C89BE2ED6}"/>
              </a:ext>
            </a:extLst>
          </p:cNvPr>
          <p:cNvSpPr txBox="1"/>
          <p:nvPr/>
        </p:nvSpPr>
        <p:spPr>
          <a:xfrm>
            <a:off x="264319" y="3146307"/>
            <a:ext cx="2351838" cy="923330"/>
          </a:xfrm>
          <a:prstGeom prst="rect">
            <a:avLst/>
          </a:prstGeom>
          <a:noFill/>
        </p:spPr>
        <p:txBody>
          <a:bodyPr wrap="square" rtlCol="0">
            <a:spAutoFit/>
          </a:bodyPr>
          <a:lstStyle/>
          <a:p>
            <a:r>
              <a:rPr lang="zh-CN" altLang="en-US" dirty="0"/>
              <a:t>进一步处理放到后面算力要求比较小，也方便</a:t>
            </a:r>
            <a:r>
              <a:rPr lang="en-US" altLang="zh-CN" dirty="0" err="1"/>
              <a:t>Haar</a:t>
            </a:r>
            <a:r>
              <a:rPr lang="zh-CN" altLang="en-US" dirty="0"/>
              <a:t>检测人脸</a:t>
            </a:r>
          </a:p>
        </p:txBody>
      </p:sp>
    </p:spTree>
    <p:custDataLst>
      <p:tags r:id="rId1"/>
    </p:custDataLst>
    <p:extLst>
      <p:ext uri="{BB962C8B-B14F-4D97-AF65-F5344CB8AC3E}">
        <p14:creationId xmlns:p14="http://schemas.microsoft.com/office/powerpoint/2010/main" val="2958722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369EA-845A-6AC2-B443-461B100B202B}"/>
            </a:ext>
          </a:extLst>
        </p:cNvPr>
        <p:cNvGrpSpPr/>
        <p:nvPr/>
      </p:nvGrpSpPr>
      <p:grpSpPr>
        <a:xfrm>
          <a:off x="0" y="0"/>
          <a:ext cx="0" cy="0"/>
          <a:chOff x="0" y="0"/>
          <a:chExt cx="0" cy="0"/>
        </a:xfrm>
      </p:grpSpPr>
      <p:sp>
        <p:nvSpPr>
          <p:cNvPr id="45" name="Slide Number Placeholder 44">
            <a:extLst>
              <a:ext uri="{FF2B5EF4-FFF2-40B4-BE49-F238E27FC236}">
                <a16:creationId xmlns:a16="http://schemas.microsoft.com/office/drawing/2014/main" id="{45D644BF-A91C-9FD6-93E2-01AE1DD08F1B}"/>
              </a:ext>
            </a:extLst>
          </p:cNvPr>
          <p:cNvSpPr>
            <a:spLocks noGrp="1"/>
          </p:cNvSpPr>
          <p:nvPr>
            <p:ph type="sldNum" sz="quarter" idx="12"/>
          </p:nvPr>
        </p:nvSpPr>
        <p:spPr/>
        <p:txBody>
          <a:bodyPr/>
          <a:lstStyle/>
          <a:p>
            <a:fld id="{AFB04D65-EEE5-467D-A240-EF96AD461DB8}" type="slidenum">
              <a:rPr lang="en-US" smtClean="0"/>
              <a:t>18</a:t>
            </a:fld>
            <a:endParaRPr lang="en-US"/>
          </a:p>
        </p:txBody>
      </p:sp>
      <p:sp>
        <p:nvSpPr>
          <p:cNvPr id="3" name="Oval 5">
            <a:extLst>
              <a:ext uri="{FF2B5EF4-FFF2-40B4-BE49-F238E27FC236}">
                <a16:creationId xmlns:a16="http://schemas.microsoft.com/office/drawing/2014/main" id="{DAFD1CA2-10B4-964F-C941-E64503DA1FF1}"/>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3</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 name="Title 1">
            <a:extLst>
              <a:ext uri="{FF2B5EF4-FFF2-40B4-BE49-F238E27FC236}">
                <a16:creationId xmlns:a16="http://schemas.microsoft.com/office/drawing/2014/main" id="{5DA79DC2-DACD-B2C4-7E61-365223D53961}"/>
              </a:ext>
            </a:extLst>
          </p:cNvPr>
          <p:cNvSpPr txBox="1"/>
          <p:nvPr/>
        </p:nvSpPr>
        <p:spPr>
          <a:xfrm>
            <a:off x="519430" y="177800"/>
            <a:ext cx="11153775"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sym typeface="+mn-ea"/>
              </a:rPr>
              <a:t> </a:t>
            </a:r>
          </a:p>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实验过程及思路</a:t>
            </a:r>
            <a:endParaRPr lang="en-US" altLang="en-US" b="1" dirty="0">
              <a:latin typeface="楷体" panose="02010609060101010101" pitchFamily="49" charset="-122"/>
              <a:ea typeface="楷体" panose="02010609060101010101" pitchFamily="49" charset="-122"/>
            </a:endParaRPr>
          </a:p>
        </p:txBody>
      </p:sp>
      <p:sp>
        <p:nvSpPr>
          <p:cNvPr id="10" name="Rectangle 10">
            <a:extLst>
              <a:ext uri="{FF2B5EF4-FFF2-40B4-BE49-F238E27FC236}">
                <a16:creationId xmlns:a16="http://schemas.microsoft.com/office/drawing/2014/main" id="{A7FE9DC4-578F-8D8B-0F2E-79E0DB273EDB}"/>
              </a:ext>
            </a:extLst>
          </p:cNvPr>
          <p:cNvSpPr/>
          <p:nvPr/>
        </p:nvSpPr>
        <p:spPr>
          <a:xfrm>
            <a:off x="424816" y="72624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图片 1">
            <a:extLst>
              <a:ext uri="{FF2B5EF4-FFF2-40B4-BE49-F238E27FC236}">
                <a16:creationId xmlns:a16="http://schemas.microsoft.com/office/drawing/2014/main" id="{8664F6EB-B276-0D24-3D75-F351374AD585}"/>
              </a:ext>
            </a:extLst>
          </p:cNvPr>
          <p:cNvPicPr/>
          <p:nvPr/>
        </p:nvPicPr>
        <p:blipFill>
          <a:blip r:embed="rId3"/>
          <a:stretch>
            <a:fillRect/>
          </a:stretch>
        </p:blipFill>
        <p:spPr>
          <a:xfrm>
            <a:off x="11061065" y="21590"/>
            <a:ext cx="1130300" cy="967740"/>
          </a:xfrm>
          <a:prstGeom prst="rect">
            <a:avLst/>
          </a:prstGeom>
        </p:spPr>
      </p:pic>
      <p:sp>
        <p:nvSpPr>
          <p:cNvPr id="5" name="文本框 4">
            <a:extLst>
              <a:ext uri="{FF2B5EF4-FFF2-40B4-BE49-F238E27FC236}">
                <a16:creationId xmlns:a16="http://schemas.microsoft.com/office/drawing/2014/main" id="{A3B9129B-C99F-6DC5-4C11-9A316000F9C7}"/>
              </a:ext>
            </a:extLst>
          </p:cNvPr>
          <p:cNvSpPr txBox="1"/>
          <p:nvPr/>
        </p:nvSpPr>
        <p:spPr>
          <a:xfrm>
            <a:off x="424816" y="1271239"/>
            <a:ext cx="2351838" cy="523220"/>
          </a:xfrm>
          <a:prstGeom prst="rect">
            <a:avLst/>
          </a:prstGeom>
          <a:noFill/>
        </p:spPr>
        <p:txBody>
          <a:bodyPr wrap="square" rtlCol="0">
            <a:spAutoFit/>
          </a:bodyPr>
          <a:lstStyle/>
          <a:p>
            <a:r>
              <a:rPr lang="zh-CN" altLang="en-US" sz="2800" b="1" dirty="0"/>
              <a:t>训练代码：</a:t>
            </a:r>
          </a:p>
        </p:txBody>
      </p:sp>
      <p:sp>
        <p:nvSpPr>
          <p:cNvPr id="12" name="文本框 11">
            <a:extLst>
              <a:ext uri="{FF2B5EF4-FFF2-40B4-BE49-F238E27FC236}">
                <a16:creationId xmlns:a16="http://schemas.microsoft.com/office/drawing/2014/main" id="{33B5BD8E-0494-00A7-A94B-DD5093900E1F}"/>
              </a:ext>
            </a:extLst>
          </p:cNvPr>
          <p:cNvSpPr txBox="1"/>
          <p:nvPr/>
        </p:nvSpPr>
        <p:spPr>
          <a:xfrm>
            <a:off x="264319" y="2130644"/>
            <a:ext cx="2351838" cy="1477328"/>
          </a:xfrm>
          <a:prstGeom prst="rect">
            <a:avLst/>
          </a:prstGeom>
          <a:noFill/>
        </p:spPr>
        <p:txBody>
          <a:bodyPr wrap="square" rtlCol="0">
            <a:spAutoFit/>
          </a:bodyPr>
          <a:lstStyle/>
          <a:p>
            <a:r>
              <a:rPr lang="zh-CN" altLang="en-US" dirty="0"/>
              <a:t>每个图片裁剪出来的大小都不一样，特征向量长度也不一样，直接丢进去会报错，就强行让他们一样了</a:t>
            </a:r>
          </a:p>
        </p:txBody>
      </p:sp>
      <p:pic>
        <p:nvPicPr>
          <p:cNvPr id="8" name="图片 7">
            <a:extLst>
              <a:ext uri="{FF2B5EF4-FFF2-40B4-BE49-F238E27FC236}">
                <a16:creationId xmlns:a16="http://schemas.microsoft.com/office/drawing/2014/main" id="{5366BA38-8783-4B39-6415-106346394D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7619" y="1139096"/>
            <a:ext cx="6872370" cy="5541104"/>
          </a:xfrm>
          <a:prstGeom prst="rect">
            <a:avLst/>
          </a:prstGeom>
        </p:spPr>
      </p:pic>
      <p:sp>
        <p:nvSpPr>
          <p:cNvPr id="9" name="文本框 8">
            <a:extLst>
              <a:ext uri="{FF2B5EF4-FFF2-40B4-BE49-F238E27FC236}">
                <a16:creationId xmlns:a16="http://schemas.microsoft.com/office/drawing/2014/main" id="{0299C0FB-1746-4E65-3AE6-7D9142CB0649}"/>
              </a:ext>
            </a:extLst>
          </p:cNvPr>
          <p:cNvSpPr txBox="1"/>
          <p:nvPr/>
        </p:nvSpPr>
        <p:spPr>
          <a:xfrm>
            <a:off x="264319" y="4133645"/>
            <a:ext cx="2143678" cy="646331"/>
          </a:xfrm>
          <a:prstGeom prst="rect">
            <a:avLst/>
          </a:prstGeom>
          <a:noFill/>
        </p:spPr>
        <p:txBody>
          <a:bodyPr wrap="square" rtlCol="0">
            <a:spAutoFit/>
          </a:bodyPr>
          <a:lstStyle/>
          <a:p>
            <a:r>
              <a:rPr lang="zh-CN" altLang="en-US" dirty="0"/>
              <a:t>直接从里面随机挑的测试集</a:t>
            </a:r>
          </a:p>
        </p:txBody>
      </p:sp>
    </p:spTree>
    <p:custDataLst>
      <p:tags r:id="rId1"/>
    </p:custDataLst>
    <p:extLst>
      <p:ext uri="{BB962C8B-B14F-4D97-AF65-F5344CB8AC3E}">
        <p14:creationId xmlns:p14="http://schemas.microsoft.com/office/powerpoint/2010/main" val="1390072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0E471-A4A0-1AEC-39BF-87C847D12552}"/>
            </a:ext>
          </a:extLst>
        </p:cNvPr>
        <p:cNvGrpSpPr/>
        <p:nvPr/>
      </p:nvGrpSpPr>
      <p:grpSpPr>
        <a:xfrm>
          <a:off x="0" y="0"/>
          <a:ext cx="0" cy="0"/>
          <a:chOff x="0" y="0"/>
          <a:chExt cx="0" cy="0"/>
        </a:xfrm>
      </p:grpSpPr>
      <p:sp>
        <p:nvSpPr>
          <p:cNvPr id="45" name="Slide Number Placeholder 44">
            <a:extLst>
              <a:ext uri="{FF2B5EF4-FFF2-40B4-BE49-F238E27FC236}">
                <a16:creationId xmlns:a16="http://schemas.microsoft.com/office/drawing/2014/main" id="{CA6B7D1C-33DF-40C4-7422-5348E3D6E6AA}"/>
              </a:ext>
            </a:extLst>
          </p:cNvPr>
          <p:cNvSpPr>
            <a:spLocks noGrp="1"/>
          </p:cNvSpPr>
          <p:nvPr>
            <p:ph type="sldNum" sz="quarter" idx="12"/>
          </p:nvPr>
        </p:nvSpPr>
        <p:spPr/>
        <p:txBody>
          <a:bodyPr/>
          <a:lstStyle/>
          <a:p>
            <a:fld id="{AFB04D65-EEE5-467D-A240-EF96AD461DB8}" type="slidenum">
              <a:rPr lang="en-US" smtClean="0"/>
              <a:t>19</a:t>
            </a:fld>
            <a:endParaRPr lang="en-US"/>
          </a:p>
        </p:txBody>
      </p:sp>
      <p:sp>
        <p:nvSpPr>
          <p:cNvPr id="3" name="Oval 5">
            <a:extLst>
              <a:ext uri="{FF2B5EF4-FFF2-40B4-BE49-F238E27FC236}">
                <a16:creationId xmlns:a16="http://schemas.microsoft.com/office/drawing/2014/main" id="{FDB24576-2558-A805-6BEC-FFC88C99ED14}"/>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3</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 name="Title 1">
            <a:extLst>
              <a:ext uri="{FF2B5EF4-FFF2-40B4-BE49-F238E27FC236}">
                <a16:creationId xmlns:a16="http://schemas.microsoft.com/office/drawing/2014/main" id="{0E5C5FBB-748A-167D-6E78-292A019D89F1}"/>
              </a:ext>
            </a:extLst>
          </p:cNvPr>
          <p:cNvSpPr txBox="1"/>
          <p:nvPr/>
        </p:nvSpPr>
        <p:spPr>
          <a:xfrm>
            <a:off x="519430" y="177800"/>
            <a:ext cx="11153775"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sym typeface="+mn-ea"/>
              </a:rPr>
              <a:t> </a:t>
            </a:r>
          </a:p>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实验过程及思路</a:t>
            </a:r>
            <a:endParaRPr lang="en-US" altLang="en-US" b="1" dirty="0">
              <a:latin typeface="楷体" panose="02010609060101010101" pitchFamily="49" charset="-122"/>
              <a:ea typeface="楷体" panose="02010609060101010101" pitchFamily="49" charset="-122"/>
            </a:endParaRPr>
          </a:p>
        </p:txBody>
      </p:sp>
      <p:sp>
        <p:nvSpPr>
          <p:cNvPr id="10" name="Rectangle 10">
            <a:extLst>
              <a:ext uri="{FF2B5EF4-FFF2-40B4-BE49-F238E27FC236}">
                <a16:creationId xmlns:a16="http://schemas.microsoft.com/office/drawing/2014/main" id="{22D17916-87D5-E06D-86B9-F2A52EB4E068}"/>
              </a:ext>
            </a:extLst>
          </p:cNvPr>
          <p:cNvSpPr/>
          <p:nvPr/>
        </p:nvSpPr>
        <p:spPr>
          <a:xfrm>
            <a:off x="424816" y="72624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图片 1">
            <a:extLst>
              <a:ext uri="{FF2B5EF4-FFF2-40B4-BE49-F238E27FC236}">
                <a16:creationId xmlns:a16="http://schemas.microsoft.com/office/drawing/2014/main" id="{1BB0F7DC-71E3-BFE0-5D6C-DAC988FB5DB7}"/>
              </a:ext>
            </a:extLst>
          </p:cNvPr>
          <p:cNvPicPr/>
          <p:nvPr/>
        </p:nvPicPr>
        <p:blipFill>
          <a:blip r:embed="rId3"/>
          <a:stretch>
            <a:fillRect/>
          </a:stretch>
        </p:blipFill>
        <p:spPr>
          <a:xfrm>
            <a:off x="11061065" y="21590"/>
            <a:ext cx="1130300" cy="967740"/>
          </a:xfrm>
          <a:prstGeom prst="rect">
            <a:avLst/>
          </a:prstGeom>
        </p:spPr>
      </p:pic>
      <p:sp>
        <p:nvSpPr>
          <p:cNvPr id="5" name="文本框 4">
            <a:extLst>
              <a:ext uri="{FF2B5EF4-FFF2-40B4-BE49-F238E27FC236}">
                <a16:creationId xmlns:a16="http://schemas.microsoft.com/office/drawing/2014/main" id="{ADCC4B0C-0ECE-891E-F9FA-25D41014BEAA}"/>
              </a:ext>
            </a:extLst>
          </p:cNvPr>
          <p:cNvSpPr txBox="1"/>
          <p:nvPr/>
        </p:nvSpPr>
        <p:spPr>
          <a:xfrm>
            <a:off x="424815" y="1271239"/>
            <a:ext cx="3069751" cy="523220"/>
          </a:xfrm>
          <a:prstGeom prst="rect">
            <a:avLst/>
          </a:prstGeom>
          <a:noFill/>
        </p:spPr>
        <p:txBody>
          <a:bodyPr wrap="square" rtlCol="0">
            <a:spAutoFit/>
          </a:bodyPr>
          <a:lstStyle/>
          <a:p>
            <a:r>
              <a:rPr lang="zh-CN" altLang="en-US" sz="2800" b="1" dirty="0"/>
              <a:t>训练代码（函数）：</a:t>
            </a:r>
          </a:p>
        </p:txBody>
      </p:sp>
      <p:sp>
        <p:nvSpPr>
          <p:cNvPr id="12" name="文本框 11">
            <a:extLst>
              <a:ext uri="{FF2B5EF4-FFF2-40B4-BE49-F238E27FC236}">
                <a16:creationId xmlns:a16="http://schemas.microsoft.com/office/drawing/2014/main" id="{D966AD8C-5EC0-9773-C33A-407643108511}"/>
              </a:ext>
            </a:extLst>
          </p:cNvPr>
          <p:cNvSpPr txBox="1"/>
          <p:nvPr/>
        </p:nvSpPr>
        <p:spPr>
          <a:xfrm>
            <a:off x="389284" y="3753984"/>
            <a:ext cx="2833301" cy="1200329"/>
          </a:xfrm>
          <a:prstGeom prst="rect">
            <a:avLst/>
          </a:prstGeom>
          <a:noFill/>
        </p:spPr>
        <p:txBody>
          <a:bodyPr wrap="square" rtlCol="0">
            <a:spAutoFit/>
          </a:bodyPr>
          <a:lstStyle/>
          <a:p>
            <a:r>
              <a:rPr lang="zh-CN" altLang="en-US" dirty="0"/>
              <a:t>滤波器遍历不同的高斯函数（也就是其设置）、方向、频率。为了</a:t>
            </a:r>
            <a:r>
              <a:rPr lang="en-US" altLang="zh-CN" dirty="0"/>
              <a:t>SVM</a:t>
            </a:r>
            <a:r>
              <a:rPr lang="zh-CN" altLang="en-US" dirty="0"/>
              <a:t>处理方便展开为一维数组</a:t>
            </a:r>
          </a:p>
        </p:txBody>
      </p:sp>
      <p:sp>
        <p:nvSpPr>
          <p:cNvPr id="9" name="文本框 8">
            <a:extLst>
              <a:ext uri="{FF2B5EF4-FFF2-40B4-BE49-F238E27FC236}">
                <a16:creationId xmlns:a16="http://schemas.microsoft.com/office/drawing/2014/main" id="{6AC9D8FB-A0C4-3D68-7870-937C5ED943F5}"/>
              </a:ext>
            </a:extLst>
          </p:cNvPr>
          <p:cNvSpPr txBox="1"/>
          <p:nvPr/>
        </p:nvSpPr>
        <p:spPr>
          <a:xfrm>
            <a:off x="519430" y="2217462"/>
            <a:ext cx="2143678" cy="646331"/>
          </a:xfrm>
          <a:prstGeom prst="rect">
            <a:avLst/>
          </a:prstGeom>
          <a:noFill/>
        </p:spPr>
        <p:txBody>
          <a:bodyPr wrap="square" rtlCol="0">
            <a:spAutoFit/>
          </a:bodyPr>
          <a:lstStyle/>
          <a:p>
            <a:r>
              <a:rPr lang="zh-CN" altLang="en-US" dirty="0"/>
              <a:t>使用</a:t>
            </a:r>
            <a:r>
              <a:rPr lang="en-US" altLang="zh-CN" dirty="0"/>
              <a:t>Gamma</a:t>
            </a:r>
            <a:r>
              <a:rPr lang="zh-CN" altLang="en-US" dirty="0"/>
              <a:t>函数对图像进行预处理</a:t>
            </a:r>
          </a:p>
        </p:txBody>
      </p:sp>
      <p:pic>
        <p:nvPicPr>
          <p:cNvPr id="15" name="图片 14">
            <a:extLst>
              <a:ext uri="{FF2B5EF4-FFF2-40B4-BE49-F238E27FC236}">
                <a16:creationId xmlns:a16="http://schemas.microsoft.com/office/drawing/2014/main" id="{FBB2236D-2B8E-9972-26D0-7079F97D24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45934" y="1027423"/>
            <a:ext cx="6492949" cy="5694052"/>
          </a:xfrm>
          <a:prstGeom prst="rect">
            <a:avLst/>
          </a:prstGeom>
        </p:spPr>
      </p:pic>
      <p:sp>
        <p:nvSpPr>
          <p:cNvPr id="16" name="文本框 15">
            <a:extLst>
              <a:ext uri="{FF2B5EF4-FFF2-40B4-BE49-F238E27FC236}">
                <a16:creationId xmlns:a16="http://schemas.microsoft.com/office/drawing/2014/main" id="{DCBFC974-559F-0513-3574-976956927620}"/>
              </a:ext>
            </a:extLst>
          </p:cNvPr>
          <p:cNvSpPr txBox="1"/>
          <p:nvPr/>
        </p:nvSpPr>
        <p:spPr>
          <a:xfrm>
            <a:off x="519430" y="6176541"/>
            <a:ext cx="2573010" cy="646331"/>
          </a:xfrm>
          <a:prstGeom prst="rect">
            <a:avLst/>
          </a:prstGeom>
          <a:noFill/>
        </p:spPr>
        <p:txBody>
          <a:bodyPr wrap="square" rtlCol="0">
            <a:spAutoFit/>
          </a:bodyPr>
          <a:lstStyle/>
          <a:p>
            <a:r>
              <a:rPr lang="zh-CN" altLang="en-US" dirty="0"/>
              <a:t>使用实验中训练好的</a:t>
            </a:r>
            <a:r>
              <a:rPr lang="en-US" altLang="zh-CN" dirty="0" err="1"/>
              <a:t>Haar</a:t>
            </a:r>
            <a:r>
              <a:rPr lang="zh-CN" altLang="en-US" dirty="0"/>
              <a:t>人脸分类器</a:t>
            </a:r>
          </a:p>
        </p:txBody>
      </p:sp>
    </p:spTree>
    <p:custDataLst>
      <p:tags r:id="rId1"/>
    </p:custDataLst>
    <p:extLst>
      <p:ext uri="{BB962C8B-B14F-4D97-AF65-F5344CB8AC3E}">
        <p14:creationId xmlns:p14="http://schemas.microsoft.com/office/powerpoint/2010/main" val="3446854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60138-519D-A654-31FE-90E2056D4F7B}"/>
            </a:ext>
          </a:extLst>
        </p:cNvPr>
        <p:cNvGrpSpPr/>
        <p:nvPr/>
      </p:nvGrpSpPr>
      <p:grpSpPr>
        <a:xfrm>
          <a:off x="0" y="0"/>
          <a:ext cx="0" cy="0"/>
          <a:chOff x="0" y="0"/>
          <a:chExt cx="0" cy="0"/>
        </a:xfrm>
      </p:grpSpPr>
      <p:sp>
        <p:nvSpPr>
          <p:cNvPr id="45" name="Slide Number Placeholder 44">
            <a:extLst>
              <a:ext uri="{FF2B5EF4-FFF2-40B4-BE49-F238E27FC236}">
                <a16:creationId xmlns:a16="http://schemas.microsoft.com/office/drawing/2014/main" id="{864DD538-B38A-17D9-F94C-4955F366621D}"/>
              </a:ext>
            </a:extLst>
          </p:cNvPr>
          <p:cNvSpPr>
            <a:spLocks noGrp="1"/>
          </p:cNvSpPr>
          <p:nvPr>
            <p:ph type="sldNum" sz="quarter" idx="12"/>
          </p:nvPr>
        </p:nvSpPr>
        <p:spPr/>
        <p:txBody>
          <a:bodyPr/>
          <a:lstStyle/>
          <a:p>
            <a:fld id="{AFB04D65-EEE5-467D-A240-EF96AD461DB8}" type="slidenum">
              <a:rPr lang="en-US" smtClean="0"/>
              <a:t>20</a:t>
            </a:fld>
            <a:endParaRPr lang="en-US"/>
          </a:p>
        </p:txBody>
      </p:sp>
      <p:sp>
        <p:nvSpPr>
          <p:cNvPr id="3" name="Oval 5">
            <a:extLst>
              <a:ext uri="{FF2B5EF4-FFF2-40B4-BE49-F238E27FC236}">
                <a16:creationId xmlns:a16="http://schemas.microsoft.com/office/drawing/2014/main" id="{1601B94D-75B9-9253-FA72-B147E0817FC7}"/>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3</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 name="Title 1">
            <a:extLst>
              <a:ext uri="{FF2B5EF4-FFF2-40B4-BE49-F238E27FC236}">
                <a16:creationId xmlns:a16="http://schemas.microsoft.com/office/drawing/2014/main" id="{A437EA21-042A-B006-9109-F4E29D6889F7}"/>
              </a:ext>
            </a:extLst>
          </p:cNvPr>
          <p:cNvSpPr txBox="1"/>
          <p:nvPr/>
        </p:nvSpPr>
        <p:spPr>
          <a:xfrm>
            <a:off x="519430" y="177800"/>
            <a:ext cx="11153775"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sym typeface="+mn-ea"/>
              </a:rPr>
              <a:t> </a:t>
            </a:r>
          </a:p>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实验过程及思路</a:t>
            </a:r>
            <a:endParaRPr lang="en-US" altLang="en-US" b="1" dirty="0">
              <a:latin typeface="楷体" panose="02010609060101010101" pitchFamily="49" charset="-122"/>
              <a:ea typeface="楷体" panose="02010609060101010101" pitchFamily="49" charset="-122"/>
            </a:endParaRPr>
          </a:p>
        </p:txBody>
      </p:sp>
      <p:sp>
        <p:nvSpPr>
          <p:cNvPr id="10" name="Rectangle 10">
            <a:extLst>
              <a:ext uri="{FF2B5EF4-FFF2-40B4-BE49-F238E27FC236}">
                <a16:creationId xmlns:a16="http://schemas.microsoft.com/office/drawing/2014/main" id="{41AE53FE-A3F7-1CEE-3290-C4A4AD7FAA21}"/>
              </a:ext>
            </a:extLst>
          </p:cNvPr>
          <p:cNvSpPr/>
          <p:nvPr/>
        </p:nvSpPr>
        <p:spPr>
          <a:xfrm>
            <a:off x="424816" y="72624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图片 1">
            <a:extLst>
              <a:ext uri="{FF2B5EF4-FFF2-40B4-BE49-F238E27FC236}">
                <a16:creationId xmlns:a16="http://schemas.microsoft.com/office/drawing/2014/main" id="{67207A70-84A6-51A5-433A-9C18925A07A4}"/>
              </a:ext>
            </a:extLst>
          </p:cNvPr>
          <p:cNvPicPr/>
          <p:nvPr/>
        </p:nvPicPr>
        <p:blipFill>
          <a:blip r:embed="rId3"/>
          <a:stretch>
            <a:fillRect/>
          </a:stretch>
        </p:blipFill>
        <p:spPr>
          <a:xfrm>
            <a:off x="11061065" y="21590"/>
            <a:ext cx="1130300" cy="967740"/>
          </a:xfrm>
          <a:prstGeom prst="rect">
            <a:avLst/>
          </a:prstGeom>
        </p:spPr>
      </p:pic>
      <p:sp>
        <p:nvSpPr>
          <p:cNvPr id="5" name="文本框 4">
            <a:extLst>
              <a:ext uri="{FF2B5EF4-FFF2-40B4-BE49-F238E27FC236}">
                <a16:creationId xmlns:a16="http://schemas.microsoft.com/office/drawing/2014/main" id="{A62D9408-562F-D812-0A01-4DF7E25E81BC}"/>
              </a:ext>
            </a:extLst>
          </p:cNvPr>
          <p:cNvSpPr txBox="1"/>
          <p:nvPr/>
        </p:nvSpPr>
        <p:spPr>
          <a:xfrm>
            <a:off x="424816" y="1271239"/>
            <a:ext cx="2351838" cy="523220"/>
          </a:xfrm>
          <a:prstGeom prst="rect">
            <a:avLst/>
          </a:prstGeom>
          <a:noFill/>
        </p:spPr>
        <p:txBody>
          <a:bodyPr wrap="square" rtlCol="0">
            <a:spAutoFit/>
          </a:bodyPr>
          <a:lstStyle/>
          <a:p>
            <a:r>
              <a:rPr lang="zh-CN" altLang="en-US" sz="2800" b="1" dirty="0"/>
              <a:t>识别流程：</a:t>
            </a:r>
          </a:p>
        </p:txBody>
      </p:sp>
      <p:pic>
        <p:nvPicPr>
          <p:cNvPr id="15" name="图片 14">
            <a:extLst>
              <a:ext uri="{FF2B5EF4-FFF2-40B4-BE49-F238E27FC236}">
                <a16:creationId xmlns:a16="http://schemas.microsoft.com/office/drawing/2014/main" id="{25369FC2-7317-4267-FFA1-AB0C5D10F5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68020" y="1794459"/>
            <a:ext cx="8582025" cy="4676775"/>
          </a:xfrm>
          <a:prstGeom prst="rect">
            <a:avLst/>
          </a:prstGeom>
        </p:spPr>
      </p:pic>
    </p:spTree>
    <p:custDataLst>
      <p:tags r:id="rId1"/>
    </p:custDataLst>
    <p:extLst>
      <p:ext uri="{BB962C8B-B14F-4D97-AF65-F5344CB8AC3E}">
        <p14:creationId xmlns:p14="http://schemas.microsoft.com/office/powerpoint/2010/main" val="3323019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8C3A1-3BAA-EB60-347E-F6BCDA3DF9D5}"/>
            </a:ext>
          </a:extLst>
        </p:cNvPr>
        <p:cNvGrpSpPr/>
        <p:nvPr/>
      </p:nvGrpSpPr>
      <p:grpSpPr>
        <a:xfrm>
          <a:off x="0" y="0"/>
          <a:ext cx="0" cy="0"/>
          <a:chOff x="0" y="0"/>
          <a:chExt cx="0" cy="0"/>
        </a:xfrm>
      </p:grpSpPr>
      <p:sp>
        <p:nvSpPr>
          <p:cNvPr id="45" name="Slide Number Placeholder 44">
            <a:extLst>
              <a:ext uri="{FF2B5EF4-FFF2-40B4-BE49-F238E27FC236}">
                <a16:creationId xmlns:a16="http://schemas.microsoft.com/office/drawing/2014/main" id="{4F2249B7-6EEC-71A3-5D41-E17F91602948}"/>
              </a:ext>
            </a:extLst>
          </p:cNvPr>
          <p:cNvSpPr>
            <a:spLocks noGrp="1"/>
          </p:cNvSpPr>
          <p:nvPr>
            <p:ph type="sldNum" sz="quarter" idx="12"/>
          </p:nvPr>
        </p:nvSpPr>
        <p:spPr/>
        <p:txBody>
          <a:bodyPr/>
          <a:lstStyle/>
          <a:p>
            <a:fld id="{AFB04D65-EEE5-467D-A240-EF96AD461DB8}" type="slidenum">
              <a:rPr lang="en-US" smtClean="0"/>
              <a:t>21</a:t>
            </a:fld>
            <a:endParaRPr lang="en-US"/>
          </a:p>
        </p:txBody>
      </p:sp>
      <p:sp>
        <p:nvSpPr>
          <p:cNvPr id="3" name="Oval 5">
            <a:extLst>
              <a:ext uri="{FF2B5EF4-FFF2-40B4-BE49-F238E27FC236}">
                <a16:creationId xmlns:a16="http://schemas.microsoft.com/office/drawing/2014/main" id="{47FBDDDC-EBCB-D53C-0C91-FB2C3642814B}"/>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3</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 name="Title 1">
            <a:extLst>
              <a:ext uri="{FF2B5EF4-FFF2-40B4-BE49-F238E27FC236}">
                <a16:creationId xmlns:a16="http://schemas.microsoft.com/office/drawing/2014/main" id="{6A06A2F9-156A-B5B6-965E-97A7A1F4E1FB}"/>
              </a:ext>
            </a:extLst>
          </p:cNvPr>
          <p:cNvSpPr txBox="1"/>
          <p:nvPr/>
        </p:nvSpPr>
        <p:spPr>
          <a:xfrm>
            <a:off x="519430" y="177800"/>
            <a:ext cx="11153775"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sym typeface="+mn-ea"/>
              </a:rPr>
              <a:t> </a:t>
            </a:r>
          </a:p>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实验过程及思路</a:t>
            </a:r>
            <a:endParaRPr lang="en-US" altLang="en-US" b="1" dirty="0">
              <a:latin typeface="楷体" panose="02010609060101010101" pitchFamily="49" charset="-122"/>
              <a:ea typeface="楷体" panose="02010609060101010101" pitchFamily="49" charset="-122"/>
            </a:endParaRPr>
          </a:p>
        </p:txBody>
      </p:sp>
      <p:sp>
        <p:nvSpPr>
          <p:cNvPr id="10" name="Rectangle 10">
            <a:extLst>
              <a:ext uri="{FF2B5EF4-FFF2-40B4-BE49-F238E27FC236}">
                <a16:creationId xmlns:a16="http://schemas.microsoft.com/office/drawing/2014/main" id="{1BE2C1BF-63A7-747D-A962-86F0EC11FD1A}"/>
              </a:ext>
            </a:extLst>
          </p:cNvPr>
          <p:cNvSpPr/>
          <p:nvPr/>
        </p:nvSpPr>
        <p:spPr>
          <a:xfrm>
            <a:off x="424816" y="72624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图片 1">
            <a:extLst>
              <a:ext uri="{FF2B5EF4-FFF2-40B4-BE49-F238E27FC236}">
                <a16:creationId xmlns:a16="http://schemas.microsoft.com/office/drawing/2014/main" id="{16F1A596-5354-4BB8-DEEC-3E555FC3BD2D}"/>
              </a:ext>
            </a:extLst>
          </p:cNvPr>
          <p:cNvPicPr/>
          <p:nvPr/>
        </p:nvPicPr>
        <p:blipFill>
          <a:blip r:embed="rId3"/>
          <a:stretch>
            <a:fillRect/>
          </a:stretch>
        </p:blipFill>
        <p:spPr>
          <a:xfrm>
            <a:off x="11061065" y="21590"/>
            <a:ext cx="1130300" cy="967740"/>
          </a:xfrm>
          <a:prstGeom prst="rect">
            <a:avLst/>
          </a:prstGeom>
        </p:spPr>
      </p:pic>
      <p:sp>
        <p:nvSpPr>
          <p:cNvPr id="5" name="文本框 4">
            <a:extLst>
              <a:ext uri="{FF2B5EF4-FFF2-40B4-BE49-F238E27FC236}">
                <a16:creationId xmlns:a16="http://schemas.microsoft.com/office/drawing/2014/main" id="{A16AE113-A866-44EA-A278-ED5F1EEB8B5D}"/>
              </a:ext>
            </a:extLst>
          </p:cNvPr>
          <p:cNvSpPr txBox="1"/>
          <p:nvPr/>
        </p:nvSpPr>
        <p:spPr>
          <a:xfrm>
            <a:off x="424816" y="1271239"/>
            <a:ext cx="2351838" cy="523220"/>
          </a:xfrm>
          <a:prstGeom prst="rect">
            <a:avLst/>
          </a:prstGeom>
          <a:noFill/>
        </p:spPr>
        <p:txBody>
          <a:bodyPr wrap="square" rtlCol="0">
            <a:spAutoFit/>
          </a:bodyPr>
          <a:lstStyle/>
          <a:p>
            <a:r>
              <a:rPr lang="zh-CN" altLang="en-US" sz="2800" b="1" dirty="0"/>
              <a:t>识别代码：</a:t>
            </a:r>
          </a:p>
        </p:txBody>
      </p:sp>
      <p:sp>
        <p:nvSpPr>
          <p:cNvPr id="12" name="文本框 11">
            <a:extLst>
              <a:ext uri="{FF2B5EF4-FFF2-40B4-BE49-F238E27FC236}">
                <a16:creationId xmlns:a16="http://schemas.microsoft.com/office/drawing/2014/main" id="{F386F401-18C4-5167-3833-C5DD11D3FC3B}"/>
              </a:ext>
            </a:extLst>
          </p:cNvPr>
          <p:cNvSpPr txBox="1"/>
          <p:nvPr/>
        </p:nvSpPr>
        <p:spPr>
          <a:xfrm>
            <a:off x="364686" y="2206104"/>
            <a:ext cx="2351838" cy="646331"/>
          </a:xfrm>
          <a:prstGeom prst="rect">
            <a:avLst/>
          </a:prstGeom>
          <a:noFill/>
        </p:spPr>
        <p:txBody>
          <a:bodyPr wrap="square" rtlCol="0">
            <a:spAutoFit/>
          </a:bodyPr>
          <a:lstStyle/>
          <a:p>
            <a:r>
              <a:rPr lang="zh-CN" altLang="en-US" dirty="0"/>
              <a:t>预处理、检测人脸、提取特征</a:t>
            </a:r>
          </a:p>
        </p:txBody>
      </p:sp>
      <p:sp>
        <p:nvSpPr>
          <p:cNvPr id="9" name="文本框 8">
            <a:extLst>
              <a:ext uri="{FF2B5EF4-FFF2-40B4-BE49-F238E27FC236}">
                <a16:creationId xmlns:a16="http://schemas.microsoft.com/office/drawing/2014/main" id="{26E30981-30B1-1948-6585-57D20373B322}"/>
              </a:ext>
            </a:extLst>
          </p:cNvPr>
          <p:cNvSpPr txBox="1"/>
          <p:nvPr/>
        </p:nvSpPr>
        <p:spPr>
          <a:xfrm>
            <a:off x="424816" y="4005566"/>
            <a:ext cx="2143678" cy="369332"/>
          </a:xfrm>
          <a:prstGeom prst="rect">
            <a:avLst/>
          </a:prstGeom>
          <a:noFill/>
        </p:spPr>
        <p:txBody>
          <a:bodyPr wrap="square" rtlCol="0">
            <a:spAutoFit/>
          </a:bodyPr>
          <a:lstStyle/>
          <a:p>
            <a:r>
              <a:rPr lang="zh-CN" altLang="en-US" dirty="0"/>
              <a:t>预测，计算置信度</a:t>
            </a:r>
          </a:p>
        </p:txBody>
      </p:sp>
      <p:pic>
        <p:nvPicPr>
          <p:cNvPr id="15" name="图片 14">
            <a:extLst>
              <a:ext uri="{FF2B5EF4-FFF2-40B4-BE49-F238E27FC236}">
                <a16:creationId xmlns:a16="http://schemas.microsoft.com/office/drawing/2014/main" id="{1EC93E34-1A00-1560-79C5-AC3049F700A9}"/>
              </a:ext>
            </a:extLst>
          </p:cNvPr>
          <p:cNvPicPr>
            <a:picLocks noChangeAspect="1"/>
          </p:cNvPicPr>
          <p:nvPr/>
        </p:nvPicPr>
        <p:blipFill>
          <a:blip r:embed="rId4">
            <a:extLst>
              <a:ext uri="{28A0092B-C50C-407E-A947-70E740481C1C}">
                <a14:useLocalDpi xmlns:a14="http://schemas.microsoft.com/office/drawing/2010/main" val="0"/>
              </a:ext>
            </a:extLst>
          </a:blip>
          <a:srcRect t="2593" b="2593"/>
          <a:stretch/>
        </p:blipFill>
        <p:spPr>
          <a:xfrm>
            <a:off x="3609755" y="984776"/>
            <a:ext cx="6850814" cy="5690870"/>
          </a:xfrm>
          <a:prstGeom prst="rect">
            <a:avLst/>
          </a:prstGeom>
        </p:spPr>
      </p:pic>
      <p:sp>
        <p:nvSpPr>
          <p:cNvPr id="16" name="文本框 15">
            <a:extLst>
              <a:ext uri="{FF2B5EF4-FFF2-40B4-BE49-F238E27FC236}">
                <a16:creationId xmlns:a16="http://schemas.microsoft.com/office/drawing/2014/main" id="{8E2637AF-E506-F433-DD89-8181760310FE}"/>
              </a:ext>
            </a:extLst>
          </p:cNvPr>
          <p:cNvSpPr txBox="1"/>
          <p:nvPr/>
        </p:nvSpPr>
        <p:spPr>
          <a:xfrm>
            <a:off x="519430" y="5402095"/>
            <a:ext cx="1817613" cy="369332"/>
          </a:xfrm>
          <a:prstGeom prst="rect">
            <a:avLst/>
          </a:prstGeom>
          <a:noFill/>
        </p:spPr>
        <p:txBody>
          <a:bodyPr wrap="square" rtlCol="0">
            <a:spAutoFit/>
          </a:bodyPr>
          <a:lstStyle/>
          <a:p>
            <a:r>
              <a:rPr lang="zh-CN" altLang="en-US" dirty="0"/>
              <a:t>绘制并展示结果</a:t>
            </a:r>
          </a:p>
        </p:txBody>
      </p:sp>
    </p:spTree>
    <p:custDataLst>
      <p:tags r:id="rId1"/>
    </p:custDataLst>
    <p:extLst>
      <p:ext uri="{BB962C8B-B14F-4D97-AF65-F5344CB8AC3E}">
        <p14:creationId xmlns:p14="http://schemas.microsoft.com/office/powerpoint/2010/main" val="1312932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18F04-5A2B-21B5-12EA-1DBCC5CD28E7}"/>
            </a:ext>
          </a:extLst>
        </p:cNvPr>
        <p:cNvGrpSpPr/>
        <p:nvPr/>
      </p:nvGrpSpPr>
      <p:grpSpPr>
        <a:xfrm>
          <a:off x="0" y="0"/>
          <a:ext cx="0" cy="0"/>
          <a:chOff x="0" y="0"/>
          <a:chExt cx="0" cy="0"/>
        </a:xfrm>
      </p:grpSpPr>
      <p:sp>
        <p:nvSpPr>
          <p:cNvPr id="45" name="Slide Number Placeholder 44">
            <a:extLst>
              <a:ext uri="{FF2B5EF4-FFF2-40B4-BE49-F238E27FC236}">
                <a16:creationId xmlns:a16="http://schemas.microsoft.com/office/drawing/2014/main" id="{EB514297-2F64-016C-B907-6F7D1D1600F3}"/>
              </a:ext>
            </a:extLst>
          </p:cNvPr>
          <p:cNvSpPr>
            <a:spLocks noGrp="1"/>
          </p:cNvSpPr>
          <p:nvPr>
            <p:ph type="sldNum" sz="quarter" idx="12"/>
          </p:nvPr>
        </p:nvSpPr>
        <p:spPr/>
        <p:txBody>
          <a:bodyPr/>
          <a:lstStyle/>
          <a:p>
            <a:fld id="{AFB04D65-EEE5-467D-A240-EF96AD461DB8}" type="slidenum">
              <a:rPr lang="en-US" smtClean="0"/>
              <a:t>22</a:t>
            </a:fld>
            <a:endParaRPr lang="en-US"/>
          </a:p>
        </p:txBody>
      </p:sp>
      <p:sp>
        <p:nvSpPr>
          <p:cNvPr id="3" name="Oval 5">
            <a:extLst>
              <a:ext uri="{FF2B5EF4-FFF2-40B4-BE49-F238E27FC236}">
                <a16:creationId xmlns:a16="http://schemas.microsoft.com/office/drawing/2014/main" id="{66B69DBD-6252-1C31-703D-7BF4AFB00421}"/>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3</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 name="Title 1">
            <a:extLst>
              <a:ext uri="{FF2B5EF4-FFF2-40B4-BE49-F238E27FC236}">
                <a16:creationId xmlns:a16="http://schemas.microsoft.com/office/drawing/2014/main" id="{66893247-AE1F-C278-87DC-DB0A6114B593}"/>
              </a:ext>
            </a:extLst>
          </p:cNvPr>
          <p:cNvSpPr txBox="1"/>
          <p:nvPr/>
        </p:nvSpPr>
        <p:spPr>
          <a:xfrm>
            <a:off x="519430" y="177800"/>
            <a:ext cx="11153775"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sym typeface="+mn-ea"/>
              </a:rPr>
              <a:t> </a:t>
            </a:r>
          </a:p>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实验过程及思路</a:t>
            </a:r>
            <a:endParaRPr lang="en-US" altLang="en-US" b="1" dirty="0">
              <a:latin typeface="楷体" panose="02010609060101010101" pitchFamily="49" charset="-122"/>
              <a:ea typeface="楷体" panose="02010609060101010101" pitchFamily="49" charset="-122"/>
            </a:endParaRPr>
          </a:p>
        </p:txBody>
      </p:sp>
      <p:sp>
        <p:nvSpPr>
          <p:cNvPr id="10" name="Rectangle 10">
            <a:extLst>
              <a:ext uri="{FF2B5EF4-FFF2-40B4-BE49-F238E27FC236}">
                <a16:creationId xmlns:a16="http://schemas.microsoft.com/office/drawing/2014/main" id="{0A2CA546-E1F0-7348-3311-89232307A542}"/>
              </a:ext>
            </a:extLst>
          </p:cNvPr>
          <p:cNvSpPr/>
          <p:nvPr/>
        </p:nvSpPr>
        <p:spPr>
          <a:xfrm>
            <a:off x="424816" y="72624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图片 1">
            <a:extLst>
              <a:ext uri="{FF2B5EF4-FFF2-40B4-BE49-F238E27FC236}">
                <a16:creationId xmlns:a16="http://schemas.microsoft.com/office/drawing/2014/main" id="{3855931E-9803-41BF-35A6-6593C9B9EDF0}"/>
              </a:ext>
            </a:extLst>
          </p:cNvPr>
          <p:cNvPicPr/>
          <p:nvPr/>
        </p:nvPicPr>
        <p:blipFill>
          <a:blip r:embed="rId3"/>
          <a:stretch>
            <a:fillRect/>
          </a:stretch>
        </p:blipFill>
        <p:spPr>
          <a:xfrm>
            <a:off x="11061065" y="21590"/>
            <a:ext cx="1130300" cy="967740"/>
          </a:xfrm>
          <a:prstGeom prst="rect">
            <a:avLst/>
          </a:prstGeom>
        </p:spPr>
      </p:pic>
      <p:sp>
        <p:nvSpPr>
          <p:cNvPr id="5" name="文本框 4">
            <a:extLst>
              <a:ext uri="{FF2B5EF4-FFF2-40B4-BE49-F238E27FC236}">
                <a16:creationId xmlns:a16="http://schemas.microsoft.com/office/drawing/2014/main" id="{EA416FB0-D325-4E01-0598-78427D0D5E29}"/>
              </a:ext>
            </a:extLst>
          </p:cNvPr>
          <p:cNvSpPr txBox="1"/>
          <p:nvPr/>
        </p:nvSpPr>
        <p:spPr>
          <a:xfrm>
            <a:off x="424816" y="1271239"/>
            <a:ext cx="2772040" cy="523220"/>
          </a:xfrm>
          <a:prstGeom prst="rect">
            <a:avLst/>
          </a:prstGeom>
          <a:noFill/>
        </p:spPr>
        <p:txBody>
          <a:bodyPr wrap="square" rtlCol="0">
            <a:spAutoFit/>
          </a:bodyPr>
          <a:lstStyle/>
          <a:p>
            <a:r>
              <a:rPr lang="zh-CN" altLang="en-US" sz="2800" b="1" dirty="0"/>
              <a:t>实验过程的插曲</a:t>
            </a:r>
          </a:p>
        </p:txBody>
      </p:sp>
      <p:sp>
        <p:nvSpPr>
          <p:cNvPr id="12" name="文本框 11">
            <a:extLst>
              <a:ext uri="{FF2B5EF4-FFF2-40B4-BE49-F238E27FC236}">
                <a16:creationId xmlns:a16="http://schemas.microsoft.com/office/drawing/2014/main" id="{1E22D5E1-BF3F-F0D1-927F-3104184D0A29}"/>
              </a:ext>
            </a:extLst>
          </p:cNvPr>
          <p:cNvSpPr txBox="1"/>
          <p:nvPr/>
        </p:nvSpPr>
        <p:spPr>
          <a:xfrm>
            <a:off x="1963744" y="3315584"/>
            <a:ext cx="2615609" cy="584775"/>
          </a:xfrm>
          <a:prstGeom prst="rect">
            <a:avLst/>
          </a:prstGeom>
          <a:noFill/>
        </p:spPr>
        <p:txBody>
          <a:bodyPr wrap="square" rtlCol="0">
            <a:spAutoFit/>
          </a:bodyPr>
          <a:lstStyle/>
          <a:p>
            <a:r>
              <a:rPr lang="en-US" altLang="zh-CN" sz="3200" dirty="0"/>
              <a:t>HOG+DNN</a:t>
            </a:r>
            <a:endParaRPr lang="zh-CN" altLang="en-US" sz="3200" dirty="0"/>
          </a:p>
        </p:txBody>
      </p:sp>
      <p:sp>
        <p:nvSpPr>
          <p:cNvPr id="9" name="文本框 8">
            <a:extLst>
              <a:ext uri="{FF2B5EF4-FFF2-40B4-BE49-F238E27FC236}">
                <a16:creationId xmlns:a16="http://schemas.microsoft.com/office/drawing/2014/main" id="{E795E0FA-ADA7-98F9-E91A-BDAC0270D0CE}"/>
              </a:ext>
            </a:extLst>
          </p:cNvPr>
          <p:cNvSpPr txBox="1"/>
          <p:nvPr/>
        </p:nvSpPr>
        <p:spPr>
          <a:xfrm>
            <a:off x="7272184" y="3286342"/>
            <a:ext cx="2325472" cy="584775"/>
          </a:xfrm>
          <a:prstGeom prst="rect">
            <a:avLst/>
          </a:prstGeom>
          <a:noFill/>
        </p:spPr>
        <p:txBody>
          <a:bodyPr wrap="square" rtlCol="0">
            <a:spAutoFit/>
          </a:bodyPr>
          <a:lstStyle/>
          <a:p>
            <a:r>
              <a:rPr lang="en-US" altLang="zh-CN" sz="3200" dirty="0" err="1"/>
              <a:t>Gobar+SVM</a:t>
            </a:r>
            <a:endParaRPr lang="zh-CN" altLang="en-US" sz="3200" dirty="0"/>
          </a:p>
        </p:txBody>
      </p:sp>
      <p:sp>
        <p:nvSpPr>
          <p:cNvPr id="6" name="箭头: 右 5">
            <a:extLst>
              <a:ext uri="{FF2B5EF4-FFF2-40B4-BE49-F238E27FC236}">
                <a16:creationId xmlns:a16="http://schemas.microsoft.com/office/drawing/2014/main" id="{F5603F20-D997-00C9-4015-DF220CAA450A}"/>
              </a:ext>
            </a:extLst>
          </p:cNvPr>
          <p:cNvSpPr/>
          <p:nvPr/>
        </p:nvSpPr>
        <p:spPr>
          <a:xfrm>
            <a:off x="4430233" y="3319688"/>
            <a:ext cx="2615609" cy="5765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2470380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7067B-F335-2A5B-B3EB-5EE678C84D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8B45DE-7FDE-3CC1-62A5-B7D1A401FA1D}"/>
              </a:ext>
            </a:extLst>
          </p:cNvPr>
          <p:cNvSpPr>
            <a:spLocks noGrp="1"/>
          </p:cNvSpPr>
          <p:nvPr>
            <p:ph type="ctrTitle"/>
          </p:nvPr>
        </p:nvSpPr>
        <p:spPr>
          <a:xfrm>
            <a:off x="491637" y="1359017"/>
            <a:ext cx="4264661" cy="586737"/>
          </a:xfrm>
        </p:spPr>
        <p:txBody>
          <a:bodyPr>
            <a:noAutofit/>
          </a:body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1.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效果演示与系统说明</a:t>
            </a:r>
            <a:endParaRPr 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Oval 8">
            <a:extLst>
              <a:ext uri="{FF2B5EF4-FFF2-40B4-BE49-F238E27FC236}">
                <a16:creationId xmlns:a16="http://schemas.microsoft.com/office/drawing/2014/main" id="{E761D543-6E6F-856F-9CBF-24573EDC53EE}"/>
              </a:ext>
            </a:extLst>
          </p:cNvPr>
          <p:cNvSpPr/>
          <p:nvPr/>
        </p:nvSpPr>
        <p:spPr>
          <a:xfrm>
            <a:off x="10992" y="800831"/>
            <a:ext cx="528271" cy="53559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C1A3DD8-1A9C-AF55-A5E4-16D8E3587946}"/>
              </a:ext>
            </a:extLst>
          </p:cNvPr>
          <p:cNvSpPr/>
          <p:nvPr/>
        </p:nvSpPr>
        <p:spPr>
          <a:xfrm>
            <a:off x="539115" y="989330"/>
            <a:ext cx="10976610" cy="15367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C0892F3C-ADE6-77C7-BCE2-858A9F604582}"/>
              </a:ext>
            </a:extLst>
          </p:cNvPr>
          <p:cNvSpPr txBox="1"/>
          <p:nvPr/>
        </p:nvSpPr>
        <p:spPr>
          <a:xfrm>
            <a:off x="424963" y="246186"/>
            <a:ext cx="2889737" cy="5581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b="1" dirty="0">
                <a:solidFill>
                  <a:srgbClr val="0070C0"/>
                </a:solidFill>
                <a:latin typeface="Times New Roman" panose="02020603050405020304" pitchFamily="18" charset="0"/>
                <a:ea typeface="+mn-ea"/>
                <a:cs typeface="Times New Roman" panose="02020603050405020304" pitchFamily="18" charset="0"/>
                <a:sym typeface="+mn-ea"/>
              </a:rPr>
              <a:t>目录</a:t>
            </a:r>
            <a:endParaRPr lang="en-US" altLang="zh-CN" sz="3200" b="1" dirty="0">
              <a:solidFill>
                <a:srgbClr val="0070C0"/>
              </a:solidFill>
              <a:latin typeface="Times New Roman" panose="02020603050405020304" pitchFamily="18" charset="0"/>
              <a:ea typeface="+mn-ea"/>
              <a:cs typeface="Times New Roman" panose="02020603050405020304" pitchFamily="18" charset="0"/>
              <a:sym typeface="+mn-ea"/>
            </a:endParaRPr>
          </a:p>
        </p:txBody>
      </p:sp>
      <p:sp>
        <p:nvSpPr>
          <p:cNvPr id="13" name="Slide Number Placeholder 12">
            <a:extLst>
              <a:ext uri="{FF2B5EF4-FFF2-40B4-BE49-F238E27FC236}">
                <a16:creationId xmlns:a16="http://schemas.microsoft.com/office/drawing/2014/main" id="{99541B56-843E-BAE5-9308-C2647DF5C176}"/>
              </a:ext>
            </a:extLst>
          </p:cNvPr>
          <p:cNvSpPr>
            <a:spLocks noGrp="1"/>
          </p:cNvSpPr>
          <p:nvPr>
            <p:ph type="sldNum" sz="quarter" idx="12"/>
          </p:nvPr>
        </p:nvSpPr>
        <p:spPr/>
        <p:txBody>
          <a:bodyPr/>
          <a:lstStyle/>
          <a:p>
            <a:fld id="{AFB04D65-EEE5-467D-A240-EF96AD461DB8}" type="slidenum">
              <a:rPr lang="en-US" smtClean="0"/>
              <a:t>23</a:t>
            </a:fld>
            <a:endParaRPr lang="en-US" dirty="0"/>
          </a:p>
        </p:txBody>
      </p:sp>
      <p:sp>
        <p:nvSpPr>
          <p:cNvPr id="10" name="Title 3">
            <a:extLst>
              <a:ext uri="{FF2B5EF4-FFF2-40B4-BE49-F238E27FC236}">
                <a16:creationId xmlns:a16="http://schemas.microsoft.com/office/drawing/2014/main" id="{0A54EBE1-5197-0844-6BB5-B4DBD35F893A}"/>
              </a:ext>
            </a:extLst>
          </p:cNvPr>
          <p:cNvSpPr txBox="1"/>
          <p:nvPr/>
        </p:nvSpPr>
        <p:spPr>
          <a:xfrm>
            <a:off x="474418" y="1911467"/>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2.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实验使用相关模型介绍</a:t>
            </a:r>
          </a:p>
        </p:txBody>
      </p:sp>
      <p:sp>
        <p:nvSpPr>
          <p:cNvPr id="14" name="Title 3">
            <a:extLst>
              <a:ext uri="{FF2B5EF4-FFF2-40B4-BE49-F238E27FC236}">
                <a16:creationId xmlns:a16="http://schemas.microsoft.com/office/drawing/2014/main" id="{5F4A7BFF-A56D-D081-078B-90ECB1BE94B5}"/>
              </a:ext>
            </a:extLst>
          </p:cNvPr>
          <p:cNvSpPr txBox="1"/>
          <p:nvPr/>
        </p:nvSpPr>
        <p:spPr>
          <a:xfrm>
            <a:off x="453137" y="3244569"/>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4. </a:t>
            </a: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系统识别提升相关部分</a:t>
            </a:r>
          </a:p>
        </p:txBody>
      </p:sp>
      <p:sp>
        <p:nvSpPr>
          <p:cNvPr id="3" name="Title 3">
            <a:extLst>
              <a:ext uri="{FF2B5EF4-FFF2-40B4-BE49-F238E27FC236}">
                <a16:creationId xmlns:a16="http://schemas.microsoft.com/office/drawing/2014/main" id="{2D6830BC-5A63-AAE9-CC76-BEFD12D826E4}"/>
              </a:ext>
            </a:extLst>
          </p:cNvPr>
          <p:cNvSpPr txBox="1"/>
          <p:nvPr>
            <p:custDataLst>
              <p:tags r:id="rId2"/>
            </p:custDataLst>
          </p:nvPr>
        </p:nvSpPr>
        <p:spPr>
          <a:xfrm>
            <a:off x="472440" y="3943350"/>
            <a:ext cx="11700510"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5.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总结 </a:t>
            </a:r>
          </a:p>
        </p:txBody>
      </p:sp>
      <p:sp>
        <p:nvSpPr>
          <p:cNvPr id="2" name="Title 3">
            <a:extLst>
              <a:ext uri="{FF2B5EF4-FFF2-40B4-BE49-F238E27FC236}">
                <a16:creationId xmlns:a16="http://schemas.microsoft.com/office/drawing/2014/main" id="{B88B38F2-0898-ACAA-4855-B34BF68E99F6}"/>
              </a:ext>
            </a:extLst>
          </p:cNvPr>
          <p:cNvSpPr txBox="1"/>
          <p:nvPr>
            <p:custDataLst>
              <p:tags r:id="rId3"/>
            </p:custDataLst>
          </p:nvPr>
        </p:nvSpPr>
        <p:spPr>
          <a:xfrm>
            <a:off x="472440" y="2546985"/>
            <a:ext cx="11576685"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3.</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实验过程及思路</a:t>
            </a:r>
          </a:p>
        </p:txBody>
      </p:sp>
      <p:pic>
        <p:nvPicPr>
          <p:cNvPr id="6" name="图片 5">
            <a:extLst>
              <a:ext uri="{FF2B5EF4-FFF2-40B4-BE49-F238E27FC236}">
                <a16:creationId xmlns:a16="http://schemas.microsoft.com/office/drawing/2014/main" id="{FFADC342-6CB2-2856-4803-E78F8BEC0563}"/>
              </a:ext>
            </a:extLst>
          </p:cNvPr>
          <p:cNvPicPr/>
          <p:nvPr/>
        </p:nvPicPr>
        <p:blipFill>
          <a:blip r:embed="rId6"/>
          <a:stretch>
            <a:fillRect/>
          </a:stretch>
        </p:blipFill>
        <p:spPr>
          <a:xfrm>
            <a:off x="11100435" y="21590"/>
            <a:ext cx="1090930" cy="934085"/>
          </a:xfrm>
          <a:prstGeom prst="rect">
            <a:avLst/>
          </a:prstGeom>
        </p:spPr>
      </p:pic>
    </p:spTree>
    <p:custDataLst>
      <p:tags r:id="rId1"/>
    </p:custDataLst>
    <p:extLst>
      <p:ext uri="{BB962C8B-B14F-4D97-AF65-F5344CB8AC3E}">
        <p14:creationId xmlns:p14="http://schemas.microsoft.com/office/powerpoint/2010/main" val="11589246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Slide Number Placeholder 82"/>
          <p:cNvSpPr>
            <a:spLocks noGrp="1"/>
          </p:cNvSpPr>
          <p:nvPr>
            <p:ph type="sldNum" sz="quarter" idx="12"/>
          </p:nvPr>
        </p:nvSpPr>
        <p:spPr/>
        <p:txBody>
          <a:bodyPr/>
          <a:lstStyle/>
          <a:p>
            <a:fld id="{AFB04D65-EEE5-467D-A240-EF96AD461DB8}" type="slidenum">
              <a:rPr lang="en-US" smtClean="0"/>
              <a:t>24</a:t>
            </a:fld>
            <a:endParaRPr lang="en-US" dirty="0"/>
          </a:p>
        </p:txBody>
      </p:sp>
      <p:sp>
        <p:nvSpPr>
          <p:cNvPr id="2" name="Oval 5"/>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4</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 name="Rectangle 10"/>
          <p:cNvSpPr/>
          <p:nvPr/>
        </p:nvSpPr>
        <p:spPr>
          <a:xfrm>
            <a:off x="424816" y="72624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p:cNvSpPr txBox="1"/>
          <p:nvPr/>
        </p:nvSpPr>
        <p:spPr>
          <a:xfrm>
            <a:off x="519430" y="177800"/>
            <a:ext cx="11153775"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sym typeface="+mn-ea"/>
              </a:rPr>
              <a:t> </a:t>
            </a:r>
          </a:p>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系统识别提升相关部分</a:t>
            </a:r>
            <a:endParaRPr lang="en-US" altLang="en-US" b="1" dirty="0">
              <a:latin typeface="楷体" panose="02010609060101010101" pitchFamily="49" charset="-122"/>
              <a:ea typeface="楷体" panose="02010609060101010101" pitchFamily="49" charset="-122"/>
            </a:endParaRPr>
          </a:p>
        </p:txBody>
      </p:sp>
      <p:pic>
        <p:nvPicPr>
          <p:cNvPr id="9" name="图片 8"/>
          <p:cNvPicPr/>
          <p:nvPr/>
        </p:nvPicPr>
        <p:blipFill>
          <a:blip r:embed="rId4"/>
          <a:stretch>
            <a:fillRect/>
          </a:stretch>
        </p:blipFill>
        <p:spPr>
          <a:xfrm>
            <a:off x="11061065" y="21590"/>
            <a:ext cx="1130300" cy="967740"/>
          </a:xfrm>
          <a:prstGeom prst="rect">
            <a:avLst/>
          </a:prstGeom>
        </p:spPr>
      </p:pic>
      <p:pic>
        <p:nvPicPr>
          <p:cNvPr id="11" name="图片 10">
            <a:extLst>
              <a:ext uri="{FF2B5EF4-FFF2-40B4-BE49-F238E27FC236}">
                <a16:creationId xmlns:a16="http://schemas.microsoft.com/office/drawing/2014/main" id="{A55AAB29-8669-1C4F-A7D4-99FD616E6071}"/>
              </a:ext>
            </a:extLst>
          </p:cNvPr>
          <p:cNvPicPr>
            <a:picLocks noChangeAspect="1"/>
          </p:cNvPicPr>
          <p:nvPr/>
        </p:nvPicPr>
        <p:blipFill>
          <a:blip r:embed="rId5"/>
          <a:stretch>
            <a:fillRect/>
          </a:stretch>
        </p:blipFill>
        <p:spPr>
          <a:xfrm>
            <a:off x="698616" y="1427284"/>
            <a:ext cx="9887458" cy="781090"/>
          </a:xfrm>
          <a:prstGeom prst="rect">
            <a:avLst/>
          </a:prstGeom>
        </p:spPr>
      </p:pic>
      <p:sp>
        <p:nvSpPr>
          <p:cNvPr id="13" name="文本框 12">
            <a:extLst>
              <a:ext uri="{FF2B5EF4-FFF2-40B4-BE49-F238E27FC236}">
                <a16:creationId xmlns:a16="http://schemas.microsoft.com/office/drawing/2014/main" id="{60999502-DDFF-6A3C-7797-DB46D19EDA9A}"/>
              </a:ext>
            </a:extLst>
          </p:cNvPr>
          <p:cNvSpPr txBox="1"/>
          <p:nvPr/>
        </p:nvSpPr>
        <p:spPr>
          <a:xfrm>
            <a:off x="698616" y="2947788"/>
            <a:ext cx="1708297" cy="523220"/>
          </a:xfrm>
          <a:prstGeom prst="rect">
            <a:avLst/>
          </a:prstGeom>
          <a:noFill/>
        </p:spPr>
        <p:txBody>
          <a:bodyPr wrap="square" rtlCol="0">
            <a:spAutoFit/>
          </a:bodyPr>
          <a:lstStyle/>
          <a:p>
            <a:r>
              <a:rPr lang="zh-CN" altLang="en-US" sz="2800" b="1" dirty="0"/>
              <a:t>光照变化</a:t>
            </a:r>
          </a:p>
        </p:txBody>
      </p:sp>
      <p:sp>
        <p:nvSpPr>
          <p:cNvPr id="19" name="箭头: 右 18">
            <a:extLst>
              <a:ext uri="{FF2B5EF4-FFF2-40B4-BE49-F238E27FC236}">
                <a16:creationId xmlns:a16="http://schemas.microsoft.com/office/drawing/2014/main" id="{51F920C4-216A-0B69-373D-7B70F7645141}"/>
              </a:ext>
            </a:extLst>
          </p:cNvPr>
          <p:cNvSpPr/>
          <p:nvPr/>
        </p:nvSpPr>
        <p:spPr>
          <a:xfrm>
            <a:off x="2839304" y="2947788"/>
            <a:ext cx="2431312" cy="5232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F52006D-CEE1-2649-D864-A2AE68402DD5}"/>
              </a:ext>
            </a:extLst>
          </p:cNvPr>
          <p:cNvSpPr txBox="1"/>
          <p:nvPr/>
        </p:nvSpPr>
        <p:spPr>
          <a:xfrm>
            <a:off x="5642345" y="2732344"/>
            <a:ext cx="3707219" cy="954107"/>
          </a:xfrm>
          <a:prstGeom prst="rect">
            <a:avLst/>
          </a:prstGeom>
          <a:noFill/>
        </p:spPr>
        <p:txBody>
          <a:bodyPr wrap="square" rtlCol="0">
            <a:spAutoFit/>
          </a:bodyPr>
          <a:lstStyle/>
          <a:p>
            <a:r>
              <a:rPr lang="en-US" altLang="zh-CN" sz="2800" b="1" dirty="0"/>
              <a:t>Gamma</a:t>
            </a:r>
            <a:r>
              <a:rPr lang="zh-CN" altLang="en-US" sz="2800" b="1" dirty="0"/>
              <a:t>变化提升亮度保留图像特征</a:t>
            </a:r>
          </a:p>
        </p:txBody>
      </p:sp>
      <p:sp>
        <p:nvSpPr>
          <p:cNvPr id="26" name="文本框 25">
            <a:extLst>
              <a:ext uri="{FF2B5EF4-FFF2-40B4-BE49-F238E27FC236}">
                <a16:creationId xmlns:a16="http://schemas.microsoft.com/office/drawing/2014/main" id="{01E1921A-FB79-13A2-EEDF-034D0ED72C5E}"/>
              </a:ext>
            </a:extLst>
          </p:cNvPr>
          <p:cNvSpPr txBox="1"/>
          <p:nvPr/>
        </p:nvSpPr>
        <p:spPr>
          <a:xfrm>
            <a:off x="698616" y="4063780"/>
            <a:ext cx="1708297" cy="523220"/>
          </a:xfrm>
          <a:prstGeom prst="rect">
            <a:avLst/>
          </a:prstGeom>
          <a:noFill/>
        </p:spPr>
        <p:txBody>
          <a:bodyPr wrap="square" rtlCol="0">
            <a:spAutoFit/>
          </a:bodyPr>
          <a:lstStyle/>
          <a:p>
            <a:r>
              <a:rPr lang="zh-CN" altLang="en-US" sz="2800" b="1" dirty="0"/>
              <a:t>特征提取</a:t>
            </a:r>
          </a:p>
        </p:txBody>
      </p:sp>
      <p:sp>
        <p:nvSpPr>
          <p:cNvPr id="27" name="箭头: 右 26">
            <a:extLst>
              <a:ext uri="{FF2B5EF4-FFF2-40B4-BE49-F238E27FC236}">
                <a16:creationId xmlns:a16="http://schemas.microsoft.com/office/drawing/2014/main" id="{6619C0D3-34A5-7BD8-DB69-31B49295AE1B}"/>
              </a:ext>
            </a:extLst>
          </p:cNvPr>
          <p:cNvSpPr/>
          <p:nvPr/>
        </p:nvSpPr>
        <p:spPr>
          <a:xfrm>
            <a:off x="2839304" y="4063780"/>
            <a:ext cx="2431312" cy="5232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4191139A-6233-D68F-C802-5B856E61F4E0}"/>
              </a:ext>
            </a:extLst>
          </p:cNvPr>
          <p:cNvSpPr txBox="1"/>
          <p:nvPr/>
        </p:nvSpPr>
        <p:spPr>
          <a:xfrm>
            <a:off x="5642345" y="3848336"/>
            <a:ext cx="3707219" cy="954107"/>
          </a:xfrm>
          <a:prstGeom prst="rect">
            <a:avLst/>
          </a:prstGeom>
          <a:noFill/>
        </p:spPr>
        <p:txBody>
          <a:bodyPr wrap="square" rtlCol="0">
            <a:spAutoFit/>
          </a:bodyPr>
          <a:lstStyle/>
          <a:p>
            <a:r>
              <a:rPr lang="en-US" altLang="zh-CN" sz="2800" b="1" dirty="0"/>
              <a:t>HOG</a:t>
            </a:r>
            <a:r>
              <a:rPr lang="zh-CN" altLang="en-US" sz="2800" b="1" dirty="0"/>
              <a:t>特征变为多维度</a:t>
            </a:r>
            <a:r>
              <a:rPr lang="en-US" altLang="zh-CN" sz="2800" b="1" dirty="0"/>
              <a:t>Gabor</a:t>
            </a:r>
            <a:r>
              <a:rPr lang="zh-CN" altLang="en-US" sz="2800" b="1" dirty="0"/>
              <a:t>特征提取</a:t>
            </a:r>
          </a:p>
        </p:txBody>
      </p:sp>
      <p:sp>
        <p:nvSpPr>
          <p:cNvPr id="30" name="文本框 29">
            <a:extLst>
              <a:ext uri="{FF2B5EF4-FFF2-40B4-BE49-F238E27FC236}">
                <a16:creationId xmlns:a16="http://schemas.microsoft.com/office/drawing/2014/main" id="{9980C606-DCC5-9543-B050-5E09082EAA15}"/>
              </a:ext>
            </a:extLst>
          </p:cNvPr>
          <p:cNvSpPr txBox="1"/>
          <p:nvPr/>
        </p:nvSpPr>
        <p:spPr>
          <a:xfrm>
            <a:off x="698616" y="5133605"/>
            <a:ext cx="1708297" cy="523220"/>
          </a:xfrm>
          <a:prstGeom prst="rect">
            <a:avLst/>
          </a:prstGeom>
          <a:noFill/>
        </p:spPr>
        <p:txBody>
          <a:bodyPr wrap="square" rtlCol="0">
            <a:spAutoFit/>
          </a:bodyPr>
          <a:lstStyle/>
          <a:p>
            <a:r>
              <a:rPr lang="zh-CN" altLang="en-US" sz="2800" b="1" dirty="0"/>
              <a:t>噪声干扰</a:t>
            </a:r>
          </a:p>
        </p:txBody>
      </p:sp>
      <p:sp>
        <p:nvSpPr>
          <p:cNvPr id="31" name="箭头: 右 30">
            <a:extLst>
              <a:ext uri="{FF2B5EF4-FFF2-40B4-BE49-F238E27FC236}">
                <a16:creationId xmlns:a16="http://schemas.microsoft.com/office/drawing/2014/main" id="{1E1E398F-701A-D29E-0CB6-CBCDCA93AE51}"/>
              </a:ext>
            </a:extLst>
          </p:cNvPr>
          <p:cNvSpPr/>
          <p:nvPr/>
        </p:nvSpPr>
        <p:spPr>
          <a:xfrm>
            <a:off x="2839304" y="5133605"/>
            <a:ext cx="2431312" cy="5232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DED35430-9E89-8A3F-EBC3-825C1E2D70CB}"/>
              </a:ext>
            </a:extLst>
          </p:cNvPr>
          <p:cNvSpPr txBox="1"/>
          <p:nvPr/>
        </p:nvSpPr>
        <p:spPr>
          <a:xfrm>
            <a:off x="5642345" y="4918161"/>
            <a:ext cx="3707219" cy="954107"/>
          </a:xfrm>
          <a:prstGeom prst="rect">
            <a:avLst/>
          </a:prstGeom>
          <a:noFill/>
        </p:spPr>
        <p:txBody>
          <a:bodyPr wrap="square" rtlCol="0">
            <a:spAutoFit/>
          </a:bodyPr>
          <a:lstStyle/>
          <a:p>
            <a:r>
              <a:rPr lang="zh-CN" altLang="en-US" sz="2800" b="1" dirty="0"/>
              <a:t>高斯模糊过滤噪声干扰</a:t>
            </a:r>
          </a:p>
        </p:txBody>
      </p:sp>
      <p:sp>
        <p:nvSpPr>
          <p:cNvPr id="38" name="文本框 37">
            <a:extLst>
              <a:ext uri="{FF2B5EF4-FFF2-40B4-BE49-F238E27FC236}">
                <a16:creationId xmlns:a16="http://schemas.microsoft.com/office/drawing/2014/main" id="{83055E2A-63CF-8844-F5C6-A78E5835BBB1}"/>
              </a:ext>
            </a:extLst>
          </p:cNvPr>
          <p:cNvSpPr txBox="1"/>
          <p:nvPr/>
        </p:nvSpPr>
        <p:spPr>
          <a:xfrm>
            <a:off x="645040" y="6131756"/>
            <a:ext cx="9292857" cy="646331"/>
          </a:xfrm>
          <a:prstGeom prst="rect">
            <a:avLst/>
          </a:prstGeom>
          <a:noFill/>
        </p:spPr>
        <p:txBody>
          <a:bodyPr wrap="square" rtlCol="0">
            <a:spAutoFit/>
          </a:bodyPr>
          <a:lstStyle/>
          <a:p>
            <a:r>
              <a:rPr lang="zh-CN" altLang="en-US" dirty="0"/>
              <a:t>注：由于识别系统基于</a:t>
            </a:r>
            <a:r>
              <a:rPr lang="en-US" altLang="zh-CN" dirty="0" err="1"/>
              <a:t>Haar</a:t>
            </a:r>
            <a:r>
              <a:rPr lang="zh-CN" altLang="en-US" dirty="0"/>
              <a:t>人脸识别器的识别</a:t>
            </a:r>
            <a:endParaRPr lang="en-US" altLang="zh-CN" dirty="0"/>
          </a:p>
          <a:p>
            <a:r>
              <a:rPr lang="zh-CN" altLang="en-US" dirty="0"/>
              <a:t>角度和遮挡这两个影响“识别到人脸”的未作处理，虽然其本身也会影响人脸识别精度</a:t>
            </a: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8FF90-442D-C541-8F7C-9D3D29DD9776}"/>
            </a:ext>
          </a:extLst>
        </p:cNvPr>
        <p:cNvGrpSpPr/>
        <p:nvPr/>
      </p:nvGrpSpPr>
      <p:grpSpPr>
        <a:xfrm>
          <a:off x="0" y="0"/>
          <a:ext cx="0" cy="0"/>
          <a:chOff x="0" y="0"/>
          <a:chExt cx="0" cy="0"/>
        </a:xfrm>
      </p:grpSpPr>
      <p:sp>
        <p:nvSpPr>
          <p:cNvPr id="83" name="Slide Number Placeholder 82">
            <a:extLst>
              <a:ext uri="{FF2B5EF4-FFF2-40B4-BE49-F238E27FC236}">
                <a16:creationId xmlns:a16="http://schemas.microsoft.com/office/drawing/2014/main" id="{E51004A7-D142-1273-14EC-9BAD2A213E63}"/>
              </a:ext>
            </a:extLst>
          </p:cNvPr>
          <p:cNvSpPr>
            <a:spLocks noGrp="1"/>
          </p:cNvSpPr>
          <p:nvPr>
            <p:ph type="sldNum" sz="quarter" idx="12"/>
          </p:nvPr>
        </p:nvSpPr>
        <p:spPr/>
        <p:txBody>
          <a:bodyPr/>
          <a:lstStyle/>
          <a:p>
            <a:fld id="{AFB04D65-EEE5-467D-A240-EF96AD461DB8}" type="slidenum">
              <a:rPr lang="en-US" smtClean="0"/>
              <a:t>25</a:t>
            </a:fld>
            <a:endParaRPr lang="en-US" dirty="0"/>
          </a:p>
        </p:txBody>
      </p:sp>
      <p:sp>
        <p:nvSpPr>
          <p:cNvPr id="2" name="Oval 5">
            <a:extLst>
              <a:ext uri="{FF2B5EF4-FFF2-40B4-BE49-F238E27FC236}">
                <a16:creationId xmlns:a16="http://schemas.microsoft.com/office/drawing/2014/main" id="{59C18666-E389-0402-A9C7-FB70569A79CB}"/>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4</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 name="Rectangle 10">
            <a:extLst>
              <a:ext uri="{FF2B5EF4-FFF2-40B4-BE49-F238E27FC236}">
                <a16:creationId xmlns:a16="http://schemas.microsoft.com/office/drawing/2014/main" id="{A7558F5E-5F88-DA24-E077-781FDE6B00B6}"/>
              </a:ext>
            </a:extLst>
          </p:cNvPr>
          <p:cNvSpPr/>
          <p:nvPr/>
        </p:nvSpPr>
        <p:spPr>
          <a:xfrm>
            <a:off x="424816" y="72624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F921CDC9-9785-6BA3-4CB4-D01C9CE4A33D}"/>
              </a:ext>
            </a:extLst>
          </p:cNvPr>
          <p:cNvSpPr txBox="1"/>
          <p:nvPr/>
        </p:nvSpPr>
        <p:spPr>
          <a:xfrm>
            <a:off x="519430" y="177800"/>
            <a:ext cx="11153775"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sym typeface="+mn-ea"/>
              </a:rPr>
              <a:t> </a:t>
            </a:r>
          </a:p>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系统识别提升相关部分</a:t>
            </a:r>
            <a:endParaRPr lang="en-US" altLang="en-US" b="1" dirty="0">
              <a:latin typeface="楷体" panose="02010609060101010101" pitchFamily="49" charset="-122"/>
              <a:ea typeface="楷体" panose="02010609060101010101" pitchFamily="49" charset="-122"/>
            </a:endParaRPr>
          </a:p>
        </p:txBody>
      </p:sp>
      <p:pic>
        <p:nvPicPr>
          <p:cNvPr id="9" name="图片 8">
            <a:extLst>
              <a:ext uri="{FF2B5EF4-FFF2-40B4-BE49-F238E27FC236}">
                <a16:creationId xmlns:a16="http://schemas.microsoft.com/office/drawing/2014/main" id="{3EE982CA-C3B1-5032-5B7A-B70891225E39}"/>
              </a:ext>
            </a:extLst>
          </p:cNvPr>
          <p:cNvPicPr/>
          <p:nvPr/>
        </p:nvPicPr>
        <p:blipFill>
          <a:blip r:embed="rId4"/>
          <a:stretch>
            <a:fillRect/>
          </a:stretch>
        </p:blipFill>
        <p:spPr>
          <a:xfrm>
            <a:off x="11061065" y="21590"/>
            <a:ext cx="1130300" cy="967740"/>
          </a:xfrm>
          <a:prstGeom prst="rect">
            <a:avLst/>
          </a:prstGeom>
        </p:spPr>
      </p:pic>
      <p:sp>
        <p:nvSpPr>
          <p:cNvPr id="3" name="文本框 2">
            <a:extLst>
              <a:ext uri="{FF2B5EF4-FFF2-40B4-BE49-F238E27FC236}">
                <a16:creationId xmlns:a16="http://schemas.microsoft.com/office/drawing/2014/main" id="{14B76246-D59E-EB88-A702-DF7BA513ECA8}"/>
              </a:ext>
            </a:extLst>
          </p:cNvPr>
          <p:cNvSpPr txBox="1"/>
          <p:nvPr/>
        </p:nvSpPr>
        <p:spPr>
          <a:xfrm>
            <a:off x="519430" y="1379582"/>
            <a:ext cx="2030407" cy="369332"/>
          </a:xfrm>
          <a:prstGeom prst="rect">
            <a:avLst/>
          </a:prstGeom>
          <a:noFill/>
        </p:spPr>
        <p:txBody>
          <a:bodyPr wrap="square" rtlCol="0">
            <a:spAutoFit/>
          </a:bodyPr>
          <a:lstStyle/>
          <a:p>
            <a:r>
              <a:rPr lang="zh-CN" altLang="en-US" dirty="0"/>
              <a:t>提交数据程序</a:t>
            </a:r>
          </a:p>
        </p:txBody>
      </p:sp>
      <p:pic>
        <p:nvPicPr>
          <p:cNvPr id="7" name="图片 6">
            <a:extLst>
              <a:ext uri="{FF2B5EF4-FFF2-40B4-BE49-F238E27FC236}">
                <a16:creationId xmlns:a16="http://schemas.microsoft.com/office/drawing/2014/main" id="{F7EB3F1A-5B91-AC84-B6BE-09995E29FE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48468" y="2110177"/>
            <a:ext cx="5727994" cy="3530781"/>
          </a:xfrm>
          <a:prstGeom prst="rect">
            <a:avLst/>
          </a:prstGeom>
        </p:spPr>
      </p:pic>
    </p:spTree>
    <p:custDataLst>
      <p:tags r:id="rId1"/>
    </p:custDataLst>
    <p:extLst>
      <p:ext uri="{BB962C8B-B14F-4D97-AF65-F5344CB8AC3E}">
        <p14:creationId xmlns:p14="http://schemas.microsoft.com/office/powerpoint/2010/main" val="3360917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548D1-D5DB-3BC1-B934-5DD35C1167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802549B-9B78-4AB1-5232-4BFE330CA248}"/>
              </a:ext>
            </a:extLst>
          </p:cNvPr>
          <p:cNvSpPr>
            <a:spLocks noGrp="1"/>
          </p:cNvSpPr>
          <p:nvPr>
            <p:ph type="ctrTitle"/>
          </p:nvPr>
        </p:nvSpPr>
        <p:spPr>
          <a:xfrm>
            <a:off x="491637" y="1359017"/>
            <a:ext cx="4264661" cy="586737"/>
          </a:xfrm>
        </p:spPr>
        <p:txBody>
          <a:bodyPr>
            <a:noAutofit/>
          </a:body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1.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效果演示与系统说明</a:t>
            </a:r>
            <a:endParaRPr 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Oval 8">
            <a:extLst>
              <a:ext uri="{FF2B5EF4-FFF2-40B4-BE49-F238E27FC236}">
                <a16:creationId xmlns:a16="http://schemas.microsoft.com/office/drawing/2014/main" id="{EF7F63D6-3B0A-4CF9-410F-B3F40DCE46DC}"/>
              </a:ext>
            </a:extLst>
          </p:cNvPr>
          <p:cNvSpPr/>
          <p:nvPr/>
        </p:nvSpPr>
        <p:spPr>
          <a:xfrm>
            <a:off x="10992" y="800831"/>
            <a:ext cx="528271" cy="53559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820A8F-0CBD-91F1-EAA7-ECE1DBBE1FA1}"/>
              </a:ext>
            </a:extLst>
          </p:cNvPr>
          <p:cNvSpPr/>
          <p:nvPr/>
        </p:nvSpPr>
        <p:spPr>
          <a:xfrm>
            <a:off x="539115" y="989330"/>
            <a:ext cx="10976610" cy="15367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A8AD8AD6-D0B9-8C89-B55F-2C27CB79D358}"/>
              </a:ext>
            </a:extLst>
          </p:cNvPr>
          <p:cNvSpPr txBox="1"/>
          <p:nvPr/>
        </p:nvSpPr>
        <p:spPr>
          <a:xfrm>
            <a:off x="424963" y="246186"/>
            <a:ext cx="2889737" cy="5581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b="1" dirty="0">
                <a:solidFill>
                  <a:srgbClr val="0070C0"/>
                </a:solidFill>
                <a:latin typeface="Times New Roman" panose="02020603050405020304" pitchFamily="18" charset="0"/>
                <a:ea typeface="+mn-ea"/>
                <a:cs typeface="Times New Roman" panose="02020603050405020304" pitchFamily="18" charset="0"/>
                <a:sym typeface="+mn-ea"/>
              </a:rPr>
              <a:t>目录</a:t>
            </a:r>
            <a:endParaRPr lang="en-US" altLang="zh-CN" sz="3200" b="1" dirty="0">
              <a:solidFill>
                <a:srgbClr val="0070C0"/>
              </a:solidFill>
              <a:latin typeface="Times New Roman" panose="02020603050405020304" pitchFamily="18" charset="0"/>
              <a:ea typeface="+mn-ea"/>
              <a:cs typeface="Times New Roman" panose="02020603050405020304" pitchFamily="18" charset="0"/>
              <a:sym typeface="+mn-ea"/>
            </a:endParaRPr>
          </a:p>
        </p:txBody>
      </p:sp>
      <p:sp>
        <p:nvSpPr>
          <p:cNvPr id="13" name="Slide Number Placeholder 12">
            <a:extLst>
              <a:ext uri="{FF2B5EF4-FFF2-40B4-BE49-F238E27FC236}">
                <a16:creationId xmlns:a16="http://schemas.microsoft.com/office/drawing/2014/main" id="{3136BEA8-4EE8-49DA-634A-6F09E0005F5D}"/>
              </a:ext>
            </a:extLst>
          </p:cNvPr>
          <p:cNvSpPr>
            <a:spLocks noGrp="1"/>
          </p:cNvSpPr>
          <p:nvPr>
            <p:ph type="sldNum" sz="quarter" idx="12"/>
          </p:nvPr>
        </p:nvSpPr>
        <p:spPr/>
        <p:txBody>
          <a:bodyPr/>
          <a:lstStyle/>
          <a:p>
            <a:fld id="{AFB04D65-EEE5-467D-A240-EF96AD461DB8}" type="slidenum">
              <a:rPr lang="en-US" smtClean="0"/>
              <a:t>26</a:t>
            </a:fld>
            <a:endParaRPr lang="en-US" dirty="0"/>
          </a:p>
        </p:txBody>
      </p:sp>
      <p:sp>
        <p:nvSpPr>
          <p:cNvPr id="10" name="Title 3">
            <a:extLst>
              <a:ext uri="{FF2B5EF4-FFF2-40B4-BE49-F238E27FC236}">
                <a16:creationId xmlns:a16="http://schemas.microsoft.com/office/drawing/2014/main" id="{218136DB-40E5-7559-AE68-AE1FD6E6DDA4}"/>
              </a:ext>
            </a:extLst>
          </p:cNvPr>
          <p:cNvSpPr txBox="1"/>
          <p:nvPr/>
        </p:nvSpPr>
        <p:spPr>
          <a:xfrm>
            <a:off x="474418" y="1911467"/>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2.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实验使用相关模型介绍</a:t>
            </a:r>
          </a:p>
        </p:txBody>
      </p:sp>
      <p:sp>
        <p:nvSpPr>
          <p:cNvPr id="14" name="Title 3">
            <a:extLst>
              <a:ext uri="{FF2B5EF4-FFF2-40B4-BE49-F238E27FC236}">
                <a16:creationId xmlns:a16="http://schemas.microsoft.com/office/drawing/2014/main" id="{CDD5367B-EFFA-ACC3-74D1-A52AB758D863}"/>
              </a:ext>
            </a:extLst>
          </p:cNvPr>
          <p:cNvSpPr txBox="1"/>
          <p:nvPr/>
        </p:nvSpPr>
        <p:spPr>
          <a:xfrm>
            <a:off x="453137" y="3244569"/>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4. </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系统识别提升相关部分</a:t>
            </a:r>
          </a:p>
        </p:txBody>
      </p:sp>
      <p:sp>
        <p:nvSpPr>
          <p:cNvPr id="3" name="Title 3">
            <a:extLst>
              <a:ext uri="{FF2B5EF4-FFF2-40B4-BE49-F238E27FC236}">
                <a16:creationId xmlns:a16="http://schemas.microsoft.com/office/drawing/2014/main" id="{2C7EC25C-2677-FDD8-A22F-B370D8639D93}"/>
              </a:ext>
            </a:extLst>
          </p:cNvPr>
          <p:cNvSpPr txBox="1"/>
          <p:nvPr>
            <p:custDataLst>
              <p:tags r:id="rId2"/>
            </p:custDataLst>
          </p:nvPr>
        </p:nvSpPr>
        <p:spPr>
          <a:xfrm>
            <a:off x="472440" y="3943350"/>
            <a:ext cx="11700510"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5. </a:t>
            </a: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总结 </a:t>
            </a:r>
          </a:p>
        </p:txBody>
      </p:sp>
      <p:sp>
        <p:nvSpPr>
          <p:cNvPr id="2" name="Title 3">
            <a:extLst>
              <a:ext uri="{FF2B5EF4-FFF2-40B4-BE49-F238E27FC236}">
                <a16:creationId xmlns:a16="http://schemas.microsoft.com/office/drawing/2014/main" id="{1C3F8A13-38A2-76EF-FFD5-3E0D7BB69E0F}"/>
              </a:ext>
            </a:extLst>
          </p:cNvPr>
          <p:cNvSpPr txBox="1"/>
          <p:nvPr>
            <p:custDataLst>
              <p:tags r:id="rId3"/>
            </p:custDataLst>
          </p:nvPr>
        </p:nvSpPr>
        <p:spPr>
          <a:xfrm>
            <a:off x="472440" y="2546985"/>
            <a:ext cx="11576685"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3.</a:t>
            </a:r>
            <a:r>
              <a:rPr lang="zh-CN" alt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实验过程及思路</a:t>
            </a:r>
          </a:p>
        </p:txBody>
      </p:sp>
      <p:pic>
        <p:nvPicPr>
          <p:cNvPr id="6" name="图片 5">
            <a:extLst>
              <a:ext uri="{FF2B5EF4-FFF2-40B4-BE49-F238E27FC236}">
                <a16:creationId xmlns:a16="http://schemas.microsoft.com/office/drawing/2014/main" id="{5CE88ABC-579E-E781-CBF3-614DDC66F7C2}"/>
              </a:ext>
            </a:extLst>
          </p:cNvPr>
          <p:cNvPicPr/>
          <p:nvPr/>
        </p:nvPicPr>
        <p:blipFill>
          <a:blip r:embed="rId6"/>
          <a:stretch>
            <a:fillRect/>
          </a:stretch>
        </p:blipFill>
        <p:spPr>
          <a:xfrm>
            <a:off x="11100435" y="21590"/>
            <a:ext cx="1090930" cy="934085"/>
          </a:xfrm>
          <a:prstGeom prst="rect">
            <a:avLst/>
          </a:prstGeom>
        </p:spPr>
      </p:pic>
    </p:spTree>
    <p:custDataLst>
      <p:tags r:id="rId1"/>
    </p:custDataLst>
    <p:extLst>
      <p:ext uri="{BB962C8B-B14F-4D97-AF65-F5344CB8AC3E}">
        <p14:creationId xmlns:p14="http://schemas.microsoft.com/office/powerpoint/2010/main" val="457007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p:cNvSpPr>
            <a:spLocks noGrp="1"/>
          </p:cNvSpPr>
          <p:nvPr>
            <p:ph type="sldNum" sz="quarter" idx="12"/>
          </p:nvPr>
        </p:nvSpPr>
        <p:spPr/>
        <p:txBody>
          <a:bodyPr/>
          <a:lstStyle/>
          <a:p>
            <a:fld id="{AFB04D65-EEE5-467D-A240-EF96AD461DB8}" type="slidenum">
              <a:rPr lang="en-US" smtClean="0"/>
              <a:t>27</a:t>
            </a:fld>
            <a:endParaRPr lang="en-US"/>
          </a:p>
        </p:txBody>
      </p:sp>
      <p:sp>
        <p:nvSpPr>
          <p:cNvPr id="3" name="Oval 5"/>
          <p:cNvSpPr/>
          <p:nvPr>
            <p:custDataLst>
              <p:tags r:id="rId2"/>
            </p:custDataLst>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none" spc="0" normalizeH="0" baseline="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sym typeface="+mn-ea"/>
              </a:rPr>
              <a:t>5</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7" name="Rectangle 10"/>
          <p:cNvSpPr/>
          <p:nvPr>
            <p:custDataLst>
              <p:tags r:id="rId3"/>
            </p:custDataLst>
          </p:nvPr>
        </p:nvSpPr>
        <p:spPr>
          <a:xfrm>
            <a:off x="424816" y="72624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p:cNvSpPr txBox="1"/>
          <p:nvPr>
            <p:custDataLst>
              <p:tags r:id="rId4"/>
            </p:custDataLst>
          </p:nvPr>
        </p:nvSpPr>
        <p:spPr>
          <a:xfrm>
            <a:off x="519430" y="177800"/>
            <a:ext cx="11153775"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sym typeface="+mn-ea"/>
              </a:rPr>
              <a:t> </a:t>
            </a:r>
          </a:p>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总结</a:t>
            </a:r>
            <a:endParaRPr lang="en-US" altLang="en-US" b="1" dirty="0">
              <a:latin typeface="楷体" panose="02010609060101010101" pitchFamily="49" charset="-122"/>
              <a:ea typeface="楷体" panose="02010609060101010101" pitchFamily="49" charset="-122"/>
            </a:endParaRPr>
          </a:p>
        </p:txBody>
      </p:sp>
      <p:pic>
        <p:nvPicPr>
          <p:cNvPr id="14" name="图片 13"/>
          <p:cNvPicPr/>
          <p:nvPr/>
        </p:nvPicPr>
        <p:blipFill>
          <a:blip r:embed="rId6"/>
          <a:stretch>
            <a:fillRect/>
          </a:stretch>
        </p:blipFill>
        <p:spPr>
          <a:xfrm>
            <a:off x="11061065" y="21590"/>
            <a:ext cx="1130300" cy="967740"/>
          </a:xfrm>
          <a:prstGeom prst="rect">
            <a:avLst/>
          </a:prstGeom>
        </p:spPr>
      </p:pic>
      <p:sp>
        <p:nvSpPr>
          <p:cNvPr id="8" name="文本框 7">
            <a:extLst>
              <a:ext uri="{FF2B5EF4-FFF2-40B4-BE49-F238E27FC236}">
                <a16:creationId xmlns:a16="http://schemas.microsoft.com/office/drawing/2014/main" id="{5E82060B-5E93-D8C8-E98F-54AFFA3A7083}"/>
              </a:ext>
            </a:extLst>
          </p:cNvPr>
          <p:cNvSpPr txBox="1"/>
          <p:nvPr/>
        </p:nvSpPr>
        <p:spPr>
          <a:xfrm>
            <a:off x="424816" y="1427284"/>
            <a:ext cx="8754626" cy="3693319"/>
          </a:xfrm>
          <a:prstGeom prst="rect">
            <a:avLst/>
          </a:prstGeom>
          <a:noFill/>
        </p:spPr>
        <p:txBody>
          <a:bodyPr wrap="square" rtlCol="0">
            <a:spAutoFit/>
          </a:bodyPr>
          <a:lstStyle/>
          <a:p>
            <a:pPr indent="266700" algn="just"/>
            <a:r>
              <a:rPr lang="zh-CN" altLang="en-US" sz="1800" kern="100" dirty="0">
                <a:effectLst/>
                <a:latin typeface="Times New Roman" panose="02020603050405020304" pitchFamily="18" charset="0"/>
                <a:ea typeface="宋体" panose="02010600030101010101" pitchFamily="2" charset="-122"/>
              </a:rPr>
              <a:t>通</a:t>
            </a:r>
            <a:r>
              <a:rPr lang="zh-CN" altLang="zh-CN" sz="1800" kern="100" dirty="0">
                <a:effectLst/>
                <a:latin typeface="Times New Roman" panose="02020603050405020304" pitchFamily="18" charset="0"/>
                <a:ea typeface="宋体" panose="02010600030101010101" pitchFamily="2" charset="-122"/>
              </a:rPr>
              <a:t>过本次实验，我深入了解了图像处理的基本操作，掌握了人脸检测和特征提取的原理，并将其成功应用于实际问题</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人脸识别中。</a:t>
            </a:r>
            <a:endParaRPr lang="en-US" altLang="zh-CN" kern="100" dirty="0">
              <a:latin typeface="Times New Roman" panose="02020603050405020304" pitchFamily="18" charset="0"/>
              <a:ea typeface="宋体" panose="02010600030101010101" pitchFamily="2" charset="-122"/>
            </a:endParaRPr>
          </a:p>
          <a:p>
            <a:pPr indent="266700" algn="just"/>
            <a:endParaRPr lang="zh-CN" altLang="zh-CN" sz="1800" kern="100" dirty="0">
              <a:effectLst/>
              <a:latin typeface="Times New Roman" panose="02020603050405020304" pitchFamily="18" charset="0"/>
              <a:ea typeface="宋体" panose="02010600030101010101" pitchFamily="2" charset="-122"/>
            </a:endParaRPr>
          </a:p>
          <a:p>
            <a:pPr indent="266700" algn="just"/>
            <a:r>
              <a:rPr lang="zh-CN" altLang="zh-CN" sz="1800" kern="100" dirty="0">
                <a:effectLst/>
                <a:latin typeface="Times New Roman" panose="02020603050405020304" pitchFamily="18" charset="0"/>
                <a:ea typeface="宋体" panose="02010600030101010101" pitchFamily="2" charset="-122"/>
              </a:rPr>
              <a:t>在训练模型过程中，首先使用</a:t>
            </a:r>
            <a:r>
              <a:rPr lang="en-US" altLang="zh-CN" sz="1800" kern="100" dirty="0" err="1">
                <a:effectLst/>
                <a:latin typeface="Times New Roman" panose="02020603050405020304" pitchFamily="18" charset="0"/>
                <a:ea typeface="宋体" panose="02010600030101010101" pitchFamily="2" charset="-122"/>
              </a:rPr>
              <a:t>Haar</a:t>
            </a:r>
            <a:r>
              <a:rPr lang="zh-CN" altLang="zh-CN" sz="1800" kern="100" dirty="0">
                <a:effectLst/>
                <a:latin typeface="Times New Roman" panose="02020603050405020304" pitchFamily="18" charset="0"/>
                <a:ea typeface="宋体" panose="02010600030101010101" pitchFamily="2" charset="-122"/>
              </a:rPr>
              <a:t>人脸识别器提取了图像中的人脸，并对这些图像进行了预处理，包括灰度化、</a:t>
            </a:r>
            <a:r>
              <a:rPr lang="en-US" altLang="zh-CN" sz="1800" kern="100" dirty="0">
                <a:effectLst/>
                <a:latin typeface="Times New Roman" panose="02020603050405020304" pitchFamily="18" charset="0"/>
                <a:ea typeface="宋体" panose="02010600030101010101" pitchFamily="2" charset="-122"/>
              </a:rPr>
              <a:t>Gamma</a:t>
            </a:r>
            <a:r>
              <a:rPr lang="zh-CN" altLang="zh-CN" sz="1800" kern="100" dirty="0">
                <a:effectLst/>
                <a:latin typeface="Times New Roman" panose="02020603050405020304" pitchFamily="18" charset="0"/>
                <a:ea typeface="宋体" panose="02010600030101010101" pitchFamily="2" charset="-122"/>
              </a:rPr>
              <a:t>变换和高斯模糊。灰度化处理简化了图像内容，只保留了亮度信息，从而减少了多余信息带来的噪声干扰。</a:t>
            </a:r>
            <a:r>
              <a:rPr lang="en-US" altLang="zh-CN" sz="1800" kern="100" dirty="0">
                <a:effectLst/>
                <a:latin typeface="Times New Roman" panose="02020603050405020304" pitchFamily="18" charset="0"/>
                <a:ea typeface="宋体" panose="02010600030101010101" pitchFamily="2" charset="-122"/>
              </a:rPr>
              <a:t>Gamma</a:t>
            </a:r>
            <a:r>
              <a:rPr lang="zh-CN" altLang="zh-CN" sz="1800" kern="100" dirty="0">
                <a:effectLst/>
                <a:latin typeface="Times New Roman" panose="02020603050405020304" pitchFamily="18" charset="0"/>
                <a:ea typeface="宋体" panose="02010600030101010101" pitchFamily="2" charset="-122"/>
              </a:rPr>
              <a:t>变换调整了图像的亮度，使得图像更加清晰。而高斯模糊则进一步消除了图像中的噪声，使得后续的特征提取更加准确。 在特征提取阶段，采用了</a:t>
            </a:r>
            <a:r>
              <a:rPr lang="en-US" altLang="zh-CN" sz="1800" kern="100" dirty="0">
                <a:effectLst/>
                <a:latin typeface="Times New Roman" panose="02020603050405020304" pitchFamily="18" charset="0"/>
                <a:ea typeface="宋体" panose="02010600030101010101" pitchFamily="2" charset="-122"/>
              </a:rPr>
              <a:t>Gabor</a:t>
            </a:r>
            <a:r>
              <a:rPr lang="zh-CN" altLang="zh-CN" sz="1800" kern="100" dirty="0">
                <a:effectLst/>
                <a:latin typeface="Times New Roman" panose="02020603050405020304" pitchFamily="18" charset="0"/>
                <a:ea typeface="宋体" panose="02010600030101010101" pitchFamily="2" charset="-122"/>
              </a:rPr>
              <a:t>滤波器。经过高斯模糊处理后的图像，在使用</a:t>
            </a:r>
            <a:r>
              <a:rPr lang="en-US" altLang="zh-CN" sz="1800" kern="100" dirty="0">
                <a:effectLst/>
                <a:latin typeface="Times New Roman" panose="02020603050405020304" pitchFamily="18" charset="0"/>
                <a:ea typeface="宋体" panose="02010600030101010101" pitchFamily="2" charset="-122"/>
              </a:rPr>
              <a:t>Gabor</a:t>
            </a:r>
            <a:r>
              <a:rPr lang="zh-CN" altLang="zh-CN" sz="1800" kern="100" dirty="0">
                <a:effectLst/>
                <a:latin typeface="Times New Roman" panose="02020603050405020304" pitchFamily="18" charset="0"/>
                <a:ea typeface="宋体" panose="02010600030101010101" pitchFamily="2" charset="-122"/>
              </a:rPr>
              <a:t>滤波器进行特征提取时，噪声明显减少，人脸的特征也更加清晰。 接下来，我使用了支持向量机（</a:t>
            </a:r>
            <a:r>
              <a:rPr lang="en-US" altLang="zh-CN" sz="1800" kern="100" dirty="0">
                <a:effectLst/>
                <a:latin typeface="Times New Roman" panose="02020603050405020304" pitchFamily="18" charset="0"/>
                <a:ea typeface="宋体" panose="02010600030101010101" pitchFamily="2" charset="-122"/>
              </a:rPr>
              <a:t>SVM</a:t>
            </a:r>
            <a:r>
              <a:rPr lang="zh-CN" altLang="zh-CN" sz="1800" kern="100" dirty="0">
                <a:effectLst/>
                <a:latin typeface="Times New Roman" panose="02020603050405020304" pitchFamily="18" charset="0"/>
                <a:ea typeface="宋体" panose="02010600030101010101" pitchFamily="2" charset="-122"/>
              </a:rPr>
              <a:t>）模型来进行人脸识别。通过设定合适的参数，我成功地训练了一个</a:t>
            </a:r>
            <a:r>
              <a:rPr lang="en-US" altLang="zh-CN" sz="1800" kern="100" dirty="0">
                <a:effectLst/>
                <a:latin typeface="Times New Roman" panose="02020603050405020304" pitchFamily="18" charset="0"/>
                <a:ea typeface="宋体" panose="02010600030101010101" pitchFamily="2" charset="-122"/>
              </a:rPr>
              <a:t>SVM</a:t>
            </a:r>
            <a:r>
              <a:rPr lang="zh-CN" altLang="zh-CN" sz="1800" kern="100" dirty="0">
                <a:effectLst/>
                <a:latin typeface="Times New Roman" panose="02020603050405020304" pitchFamily="18" charset="0"/>
                <a:ea typeface="宋体" panose="02010600030101010101" pitchFamily="2" charset="-122"/>
              </a:rPr>
              <a:t>模型，并使用该模型对测试集进行了预测。实验结果表明，</a:t>
            </a:r>
            <a:r>
              <a:rPr lang="en-US" altLang="zh-CN" sz="1800" kern="100" dirty="0">
                <a:effectLst/>
                <a:latin typeface="Times New Roman" panose="02020603050405020304" pitchFamily="18" charset="0"/>
                <a:ea typeface="宋体" panose="02010600030101010101" pitchFamily="2" charset="-122"/>
              </a:rPr>
              <a:t>SVM</a:t>
            </a:r>
            <a:r>
              <a:rPr lang="zh-CN" altLang="zh-CN" sz="1800" kern="100" dirty="0">
                <a:effectLst/>
                <a:latin typeface="Times New Roman" panose="02020603050405020304" pitchFamily="18" charset="0"/>
                <a:ea typeface="宋体" panose="02010600030101010101" pitchFamily="2" charset="-122"/>
              </a:rPr>
              <a:t>模型在识别人脸方面具有较高的准确率。 在实验的最后阶段，我将检测出的人脸特征保存到文件中，并将训练好的</a:t>
            </a:r>
            <a:r>
              <a:rPr lang="en-US" altLang="zh-CN" sz="1800" kern="100" dirty="0">
                <a:effectLst/>
                <a:latin typeface="Times New Roman" panose="02020603050405020304" pitchFamily="18" charset="0"/>
                <a:ea typeface="宋体" panose="02010600030101010101" pitchFamily="2" charset="-122"/>
              </a:rPr>
              <a:t>SVM</a:t>
            </a:r>
            <a:r>
              <a:rPr lang="zh-CN" altLang="zh-CN" sz="1800" kern="100" dirty="0">
                <a:effectLst/>
                <a:latin typeface="Times New Roman" panose="02020603050405020304" pitchFamily="18" charset="0"/>
                <a:ea typeface="宋体" panose="02010600030101010101" pitchFamily="2" charset="-122"/>
              </a:rPr>
              <a:t>模型保存下来，以便后续使用。</a:t>
            </a: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F7C3E-7937-D3C2-797D-A5E48504E817}"/>
            </a:ext>
          </a:extLst>
        </p:cNvPr>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8A7F860E-9CCB-0F89-E9EF-CBC2B8AAECC7}"/>
              </a:ext>
            </a:extLst>
          </p:cNvPr>
          <p:cNvSpPr>
            <a:spLocks noGrp="1"/>
          </p:cNvSpPr>
          <p:nvPr>
            <p:ph type="sldNum" sz="quarter" idx="12"/>
          </p:nvPr>
        </p:nvSpPr>
        <p:spPr/>
        <p:txBody>
          <a:bodyPr/>
          <a:lstStyle/>
          <a:p>
            <a:fld id="{AFB04D65-EEE5-467D-A240-EF96AD461DB8}" type="slidenum">
              <a:rPr lang="en-US" smtClean="0"/>
              <a:t>28</a:t>
            </a:fld>
            <a:endParaRPr lang="en-US"/>
          </a:p>
        </p:txBody>
      </p:sp>
      <p:sp>
        <p:nvSpPr>
          <p:cNvPr id="3" name="Oval 5">
            <a:extLst>
              <a:ext uri="{FF2B5EF4-FFF2-40B4-BE49-F238E27FC236}">
                <a16:creationId xmlns:a16="http://schemas.microsoft.com/office/drawing/2014/main" id="{C6BBC44E-C4AB-3460-5BEE-78F3A5E54C3D}"/>
              </a:ext>
            </a:extLst>
          </p:cNvPr>
          <p:cNvSpPr/>
          <p:nvPr>
            <p:custDataLst>
              <p:tags r:id="rId2"/>
            </p:custDataLst>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none" spc="0" normalizeH="0" baseline="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sym typeface="+mn-ea"/>
              </a:rPr>
              <a:t>5</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7" name="Rectangle 10">
            <a:extLst>
              <a:ext uri="{FF2B5EF4-FFF2-40B4-BE49-F238E27FC236}">
                <a16:creationId xmlns:a16="http://schemas.microsoft.com/office/drawing/2014/main" id="{C418BF33-E993-34DD-6BC3-38BC568E13F9}"/>
              </a:ext>
            </a:extLst>
          </p:cNvPr>
          <p:cNvSpPr/>
          <p:nvPr>
            <p:custDataLst>
              <p:tags r:id="rId3"/>
            </p:custDataLst>
          </p:nvPr>
        </p:nvSpPr>
        <p:spPr>
          <a:xfrm>
            <a:off x="424816" y="72624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69F7BA25-524E-F228-B939-1698C8CD2F21}"/>
              </a:ext>
            </a:extLst>
          </p:cNvPr>
          <p:cNvSpPr txBox="1"/>
          <p:nvPr>
            <p:custDataLst>
              <p:tags r:id="rId4"/>
            </p:custDataLst>
          </p:nvPr>
        </p:nvSpPr>
        <p:spPr>
          <a:xfrm>
            <a:off x="519430" y="177800"/>
            <a:ext cx="11153775"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sym typeface="+mn-ea"/>
              </a:rPr>
              <a:t> </a:t>
            </a:r>
          </a:p>
          <a:p>
            <a:pPr marL="0" lvl="0" indent="0" eaLnBrk="1" hangingPunct="1">
              <a:spcBef>
                <a:spcPct val="0"/>
              </a:spcBef>
              <a:buFontTx/>
              <a:buNone/>
            </a:pPr>
            <a:r>
              <a:rPr lang="zh-CN" alt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总结</a:t>
            </a:r>
            <a:endParaRPr lang="en-US" altLang="en-US" b="1" dirty="0">
              <a:latin typeface="楷体" panose="02010609060101010101" pitchFamily="49" charset="-122"/>
              <a:ea typeface="楷体" panose="02010609060101010101" pitchFamily="49" charset="-122"/>
            </a:endParaRPr>
          </a:p>
        </p:txBody>
      </p:sp>
      <p:pic>
        <p:nvPicPr>
          <p:cNvPr id="14" name="图片 13">
            <a:extLst>
              <a:ext uri="{FF2B5EF4-FFF2-40B4-BE49-F238E27FC236}">
                <a16:creationId xmlns:a16="http://schemas.microsoft.com/office/drawing/2014/main" id="{589BA764-1087-324D-24E0-371F231B65A7}"/>
              </a:ext>
            </a:extLst>
          </p:cNvPr>
          <p:cNvPicPr/>
          <p:nvPr/>
        </p:nvPicPr>
        <p:blipFill>
          <a:blip r:embed="rId6"/>
          <a:stretch>
            <a:fillRect/>
          </a:stretch>
        </p:blipFill>
        <p:spPr>
          <a:xfrm>
            <a:off x="11061065" y="21590"/>
            <a:ext cx="1130300" cy="967740"/>
          </a:xfrm>
          <a:prstGeom prst="rect">
            <a:avLst/>
          </a:prstGeom>
        </p:spPr>
      </p:pic>
      <p:sp>
        <p:nvSpPr>
          <p:cNvPr id="8" name="文本框 7">
            <a:extLst>
              <a:ext uri="{FF2B5EF4-FFF2-40B4-BE49-F238E27FC236}">
                <a16:creationId xmlns:a16="http://schemas.microsoft.com/office/drawing/2014/main" id="{B4950DA3-792E-F19C-E5D7-B59A8DE2C61A}"/>
              </a:ext>
            </a:extLst>
          </p:cNvPr>
          <p:cNvSpPr txBox="1"/>
          <p:nvPr/>
        </p:nvSpPr>
        <p:spPr>
          <a:xfrm>
            <a:off x="424816" y="1406019"/>
            <a:ext cx="8754626" cy="1754326"/>
          </a:xfrm>
          <a:prstGeom prst="rect">
            <a:avLst/>
          </a:prstGeom>
          <a:noFill/>
        </p:spPr>
        <p:txBody>
          <a:bodyPr wrap="square" rtlCol="0">
            <a:spAutoFit/>
          </a:bodyPr>
          <a:lstStyle/>
          <a:p>
            <a:pPr indent="266700" algn="just"/>
            <a:r>
              <a:rPr lang="zh-CN" altLang="zh-CN" sz="1800" kern="100" dirty="0">
                <a:effectLst/>
                <a:latin typeface="Times New Roman" panose="02020603050405020304" pitchFamily="18" charset="0"/>
                <a:ea typeface="宋体" panose="02010600030101010101" pitchFamily="2" charset="-122"/>
              </a:rPr>
              <a:t>在模型使用过程中，首先通过</a:t>
            </a:r>
            <a:r>
              <a:rPr lang="en-US" altLang="zh-CN" sz="1800" kern="100" dirty="0">
                <a:effectLst/>
                <a:latin typeface="Times New Roman" panose="02020603050405020304" pitchFamily="18" charset="0"/>
                <a:ea typeface="宋体" panose="02010600030101010101" pitchFamily="2" charset="-122"/>
              </a:rPr>
              <a:t>Python</a:t>
            </a:r>
            <a:r>
              <a:rPr lang="zh-CN" altLang="zh-CN" sz="1800" kern="100" dirty="0">
                <a:effectLst/>
                <a:latin typeface="Times New Roman" panose="02020603050405020304" pitchFamily="18" charset="0"/>
                <a:ea typeface="宋体" panose="02010600030101010101" pitchFamily="2" charset="-122"/>
              </a:rPr>
              <a:t>的</a:t>
            </a:r>
            <a:r>
              <a:rPr lang="en-US" altLang="zh-CN" sz="1800" kern="100" dirty="0">
                <a:effectLst/>
                <a:latin typeface="Times New Roman" panose="02020603050405020304" pitchFamily="18" charset="0"/>
                <a:ea typeface="宋体" panose="02010600030101010101" pitchFamily="2" charset="-122"/>
              </a:rPr>
              <a:t>OpenCV</a:t>
            </a:r>
            <a:r>
              <a:rPr lang="zh-CN" altLang="zh-CN" sz="1800" kern="100" dirty="0">
                <a:effectLst/>
                <a:latin typeface="Times New Roman" panose="02020603050405020304" pitchFamily="18" charset="0"/>
                <a:ea typeface="宋体" panose="02010600030101010101" pitchFamily="2" charset="-122"/>
              </a:rPr>
              <a:t>库从摄像头中捕获视频帧，然后类似于训练阶段，使用</a:t>
            </a:r>
            <a:r>
              <a:rPr lang="en-US" altLang="zh-CN" sz="1800" kern="100" dirty="0" err="1">
                <a:effectLst/>
                <a:latin typeface="Times New Roman" panose="02020603050405020304" pitchFamily="18" charset="0"/>
                <a:ea typeface="宋体" panose="02010600030101010101" pitchFamily="2" charset="-122"/>
              </a:rPr>
              <a:t>Haar</a:t>
            </a:r>
            <a:r>
              <a:rPr lang="zh-CN" altLang="zh-CN" sz="1800" kern="100" dirty="0">
                <a:effectLst/>
                <a:latin typeface="Times New Roman" panose="02020603050405020304" pitchFamily="18" charset="0"/>
                <a:ea typeface="宋体" panose="02010600030101010101" pitchFamily="2" charset="-122"/>
              </a:rPr>
              <a:t>人脸识别器提取了视频当中的人脸，并对这些帧进行了与训练模型过程当中相同预处理，包括灰度化、</a:t>
            </a:r>
            <a:r>
              <a:rPr lang="en-US" altLang="zh-CN" sz="1800" kern="100" dirty="0">
                <a:effectLst/>
                <a:latin typeface="Times New Roman" panose="02020603050405020304" pitchFamily="18" charset="0"/>
                <a:ea typeface="宋体" panose="02010600030101010101" pitchFamily="2" charset="-122"/>
              </a:rPr>
              <a:t>Gamma</a:t>
            </a:r>
            <a:r>
              <a:rPr lang="zh-CN" altLang="zh-CN" sz="1800" kern="100" dirty="0">
                <a:effectLst/>
                <a:latin typeface="Times New Roman" panose="02020603050405020304" pitchFamily="18" charset="0"/>
                <a:ea typeface="宋体" panose="02010600030101010101" pitchFamily="2" charset="-122"/>
              </a:rPr>
              <a:t>变换和高斯模糊。然后将检测出的人脸特征与模型预测结果在视频帧上进行了标注，并实时展示了识别结果。在实验的最后阶段，通过对比原始视频和处理后的视频，可以清晰地看到人脸检测和识别的效果</a:t>
            </a:r>
            <a:r>
              <a:rPr lang="zh-CN" altLang="en-US" sz="1800" kern="100" dirty="0">
                <a:effectLst/>
                <a:latin typeface="Times New Roman" panose="02020603050405020304" pitchFamily="18" charset="0"/>
                <a:ea typeface="宋体" panose="02010600030101010101" pitchFamily="2" charset="-122"/>
              </a:rPr>
              <a:t>，表明实验成功完成。</a:t>
            </a:r>
            <a:endParaRPr lang="zh-CN" altLang="zh-CN" sz="1800" kern="100" dirty="0">
              <a:effectLst/>
              <a:latin typeface="Times New Roman" panose="02020603050405020304" pitchFamily="18" charset="0"/>
              <a:ea typeface="宋体" panose="02010600030101010101" pitchFamily="2" charset="-122"/>
            </a:endParaRPr>
          </a:p>
        </p:txBody>
      </p:sp>
    </p:spTree>
    <p:custDataLst>
      <p:tags r:id="rId1"/>
    </p:custDataLst>
    <p:extLst>
      <p:ext uri="{BB962C8B-B14F-4D97-AF65-F5344CB8AC3E}">
        <p14:creationId xmlns:p14="http://schemas.microsoft.com/office/powerpoint/2010/main" val="1754276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053" y="1797889"/>
            <a:ext cx="10483814" cy="698986"/>
          </a:xfrm>
        </p:spPr>
        <p:txBody>
          <a:bodyPr>
            <a:normAutofit fontScale="90000"/>
          </a:bodyPr>
          <a:lstStyle/>
          <a:p>
            <a:r>
              <a:rPr lang="zh-CN" altLang="en-US" sz="4890" b="1" dirty="0">
                <a:solidFill>
                  <a:srgbClr val="0070C0"/>
                </a:solidFill>
                <a:latin typeface="Times New Roman" panose="02020603050405020304" pitchFamily="18" charset="0"/>
                <a:ea typeface="+mn-ea"/>
                <a:cs typeface="Times New Roman" panose="02020603050405020304" pitchFamily="18" charset="0"/>
              </a:rPr>
              <a:t>感谢您的聆听！</a:t>
            </a:r>
            <a:endParaRPr lang="en-US" sz="4890" b="1" dirty="0">
              <a:solidFill>
                <a:srgbClr val="0070C0"/>
              </a:solidFill>
              <a:latin typeface="Times New Roman" panose="02020603050405020304" pitchFamily="18" charset="0"/>
              <a:ea typeface="+mn-ea"/>
              <a:cs typeface="Times New Roman" panose="02020603050405020304" pitchFamily="18" charset="0"/>
            </a:endParaRPr>
          </a:p>
        </p:txBody>
      </p:sp>
      <p:sp>
        <p:nvSpPr>
          <p:cNvPr id="5" name="Rectangle 4"/>
          <p:cNvSpPr/>
          <p:nvPr/>
        </p:nvSpPr>
        <p:spPr>
          <a:xfrm>
            <a:off x="266701" y="98913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0992" y="777385"/>
            <a:ext cx="528271" cy="53559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p:cNvSpPr>
            <a:spLocks noGrp="1"/>
          </p:cNvSpPr>
          <p:nvPr>
            <p:ph type="sldNum" sz="quarter" idx="12"/>
          </p:nvPr>
        </p:nvSpPr>
        <p:spPr/>
        <p:txBody>
          <a:bodyPr/>
          <a:lstStyle/>
          <a:p>
            <a:fld id="{AFB04D65-EEE5-467D-A240-EF96AD461DB8}" type="slidenum">
              <a:rPr lang="en-US" smtClean="0"/>
              <a:t>29</a:t>
            </a:fld>
            <a:endParaRPr lang="en-US"/>
          </a:p>
        </p:txBody>
      </p:sp>
      <p:pic>
        <p:nvPicPr>
          <p:cNvPr id="4" name="图片 3"/>
          <p:cNvPicPr/>
          <p:nvPr/>
        </p:nvPicPr>
        <p:blipFill>
          <a:blip r:embed="rId2"/>
          <a:stretch>
            <a:fillRect/>
          </a:stretch>
        </p:blipFill>
        <p:spPr>
          <a:xfrm>
            <a:off x="11100435" y="21590"/>
            <a:ext cx="1090930" cy="934085"/>
          </a:xfrm>
          <a:prstGeom prst="rect">
            <a:avLst/>
          </a:prstGeom>
        </p:spPr>
      </p:pic>
      <p:pic>
        <p:nvPicPr>
          <p:cNvPr id="10" name="图片 9">
            <a:extLst>
              <a:ext uri="{FF2B5EF4-FFF2-40B4-BE49-F238E27FC236}">
                <a16:creationId xmlns:a16="http://schemas.microsoft.com/office/drawing/2014/main" id="{FA0C11A7-6A7A-7873-5111-79F0BD622F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44317" y="2617018"/>
            <a:ext cx="6073285" cy="4104457"/>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2aaf42ed-1dcc-47fa-8bd8-205f62f4d456"/>
  <p:tag name="COMMONDATA" val="eyJoZGlkIjoiMzMxYjExN2Y1ZGVhYjRlNWU0N2IwZjZlZmRjNWUyY2UifQ=="/>
</p:tagLst>
</file>

<file path=ppt/tags/tag2.xml><?xml version="1.0" encoding="utf-8"?>
<p:tagLst xmlns:a="http://schemas.openxmlformats.org/drawingml/2006/main" xmlns:r="http://schemas.openxmlformats.org/officeDocument/2006/relationships" xmlns:p="http://schemas.openxmlformats.org/presentationml/2006/main">
  <p:tag name="TIMING" val="|0.1|0|0|0.2|0"/>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TIMING" val="|0.1|0|0|0.2|0"/>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TIMING" val="|0|0.1|0"/>
</p:tagLst>
</file>

<file path=ppt/tags/tag9.xml><?xml version="1.0" encoding="utf-8"?>
<p:tagLst xmlns:a="http://schemas.openxmlformats.org/drawingml/2006/main" xmlns:r="http://schemas.openxmlformats.org/officeDocument/2006/relationships" xmlns:p="http://schemas.openxmlformats.org/presentationml/2006/main">
  <p:tag name="TIMING" val="|0|0.1|0"/>
</p:tagLst>
</file>

<file path=ppt/tags/tag10.xml><?xml version="1.0" encoding="utf-8"?>
<p:tagLst xmlns:a="http://schemas.openxmlformats.org/drawingml/2006/main" xmlns:r="http://schemas.openxmlformats.org/officeDocument/2006/relationships" xmlns:p="http://schemas.openxmlformats.org/presentationml/2006/main">
  <p:tag name="TIMING" val="|0|0.1|0"/>
</p:tagLst>
</file>

<file path=ppt/tags/tag11.xml><?xml version="1.0" encoding="utf-8"?>
<p:tagLst xmlns:a="http://schemas.openxmlformats.org/drawingml/2006/main" xmlns:r="http://schemas.openxmlformats.org/officeDocument/2006/relationships" xmlns:p="http://schemas.openxmlformats.org/presentationml/2006/main">
  <p:tag name="TIMING" val="|0.1|0|0|0.2|0"/>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TIMING" val="|0.3|0|0|0|0|0.4|0"/>
</p:tagLst>
</file>

<file path=ppt/tags/tag15.xml><?xml version="1.0" encoding="utf-8"?>
<p:tagLst xmlns:a="http://schemas.openxmlformats.org/drawingml/2006/main" xmlns:r="http://schemas.openxmlformats.org/officeDocument/2006/relationships" xmlns:p="http://schemas.openxmlformats.org/presentationml/2006/main">
  <p:tag name="TIMING" val="|0.3|0|0|0|0|0.4|0"/>
</p:tagLst>
</file>

<file path=ppt/tags/tag16.xml><?xml version="1.0" encoding="utf-8"?>
<p:tagLst xmlns:a="http://schemas.openxmlformats.org/drawingml/2006/main" xmlns:r="http://schemas.openxmlformats.org/officeDocument/2006/relationships" xmlns:p="http://schemas.openxmlformats.org/presentationml/2006/main">
  <p:tag name="TIMING" val="|0.3|0|0|0|0|0.4|0"/>
</p:tagLst>
</file>

<file path=ppt/tags/tag17.xml><?xml version="1.0" encoding="utf-8"?>
<p:tagLst xmlns:a="http://schemas.openxmlformats.org/drawingml/2006/main" xmlns:r="http://schemas.openxmlformats.org/officeDocument/2006/relationships" xmlns:p="http://schemas.openxmlformats.org/presentationml/2006/main">
  <p:tag name="TIMING" val="|0.3|0|0|0|0|0.4|0"/>
</p:tagLst>
</file>

<file path=ppt/tags/tag18.xml><?xml version="1.0" encoding="utf-8"?>
<p:tagLst xmlns:a="http://schemas.openxmlformats.org/drawingml/2006/main" xmlns:r="http://schemas.openxmlformats.org/officeDocument/2006/relationships" xmlns:p="http://schemas.openxmlformats.org/presentationml/2006/main">
  <p:tag name="TIMING" val="|0.3|0|0|0|0|0.4|0"/>
</p:tagLst>
</file>

<file path=ppt/tags/tag19.xml><?xml version="1.0" encoding="utf-8"?>
<p:tagLst xmlns:a="http://schemas.openxmlformats.org/drawingml/2006/main" xmlns:r="http://schemas.openxmlformats.org/officeDocument/2006/relationships" xmlns:p="http://schemas.openxmlformats.org/presentationml/2006/main">
  <p:tag name="TIMING" val="|0.3|0|0|0|0|0.4|0"/>
</p:tagLst>
</file>

<file path=ppt/tags/tag20.xml><?xml version="1.0" encoding="utf-8"?>
<p:tagLst xmlns:a="http://schemas.openxmlformats.org/drawingml/2006/main" xmlns:r="http://schemas.openxmlformats.org/officeDocument/2006/relationships" xmlns:p="http://schemas.openxmlformats.org/presentationml/2006/main">
  <p:tag name="TIMING" val="|0.3|0|0|0|0|0.4|0"/>
</p:tagLst>
</file>

<file path=ppt/tags/tag21.xml><?xml version="1.0" encoding="utf-8"?>
<p:tagLst xmlns:a="http://schemas.openxmlformats.org/drawingml/2006/main" xmlns:r="http://schemas.openxmlformats.org/officeDocument/2006/relationships" xmlns:p="http://schemas.openxmlformats.org/presentationml/2006/main">
  <p:tag name="TIMING" val="|0.1|0|0|0.2|0"/>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TIMING" val="|13|0.6|10.4"/>
</p:tagLst>
</file>

<file path=ppt/tags/tag25.xml><?xml version="1.0" encoding="utf-8"?>
<p:tagLst xmlns:a="http://schemas.openxmlformats.org/drawingml/2006/main" xmlns:r="http://schemas.openxmlformats.org/officeDocument/2006/relationships" xmlns:p="http://schemas.openxmlformats.org/presentationml/2006/main">
  <p:tag name="TIMING" val="|13|0.6|10.4"/>
</p:tagLst>
</file>

<file path=ppt/tags/tag26.xml><?xml version="1.0" encoding="utf-8"?>
<p:tagLst xmlns:a="http://schemas.openxmlformats.org/drawingml/2006/main" xmlns:r="http://schemas.openxmlformats.org/officeDocument/2006/relationships" xmlns:p="http://schemas.openxmlformats.org/presentationml/2006/main">
  <p:tag name="TIMING" val="|13|0.6|10.4"/>
</p:tagLst>
</file>

<file path=ppt/tags/tag27.xml><?xml version="1.0" encoding="utf-8"?>
<p:tagLst xmlns:a="http://schemas.openxmlformats.org/drawingml/2006/main" xmlns:r="http://schemas.openxmlformats.org/officeDocument/2006/relationships" xmlns:p="http://schemas.openxmlformats.org/presentationml/2006/main">
  <p:tag name="TIMING" val="|13|0.6|10.4"/>
</p:tagLst>
</file>

<file path=ppt/tags/tag28.xml><?xml version="1.0" encoding="utf-8"?>
<p:tagLst xmlns:a="http://schemas.openxmlformats.org/drawingml/2006/main" xmlns:r="http://schemas.openxmlformats.org/officeDocument/2006/relationships" xmlns:p="http://schemas.openxmlformats.org/presentationml/2006/main">
  <p:tag name="TIMING" val="|13|0.6|10.4"/>
</p:tagLst>
</file>

<file path=ppt/tags/tag29.xml><?xml version="1.0" encoding="utf-8"?>
<p:tagLst xmlns:a="http://schemas.openxmlformats.org/drawingml/2006/main" xmlns:r="http://schemas.openxmlformats.org/officeDocument/2006/relationships" xmlns:p="http://schemas.openxmlformats.org/presentationml/2006/main">
  <p:tag name="TIMING" val="|13|0.6|10.4"/>
</p:tagLst>
</file>

<file path=ppt/tags/tag30.xml><?xml version="1.0" encoding="utf-8"?>
<p:tagLst xmlns:a="http://schemas.openxmlformats.org/drawingml/2006/main" xmlns:r="http://schemas.openxmlformats.org/officeDocument/2006/relationships" xmlns:p="http://schemas.openxmlformats.org/presentationml/2006/main">
  <p:tag name="TIMING" val="|13|0.6|10.4"/>
</p:tagLst>
</file>

<file path=ppt/tags/tag31.xml><?xml version="1.0" encoding="utf-8"?>
<p:tagLst xmlns:a="http://schemas.openxmlformats.org/drawingml/2006/main" xmlns:r="http://schemas.openxmlformats.org/officeDocument/2006/relationships" xmlns:p="http://schemas.openxmlformats.org/presentationml/2006/main">
  <p:tag name="TIMING" val="|0.1|0|0|0.2|0"/>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TIMING" val="|2.2|1.1|18.6|18.3|3.3|7.5|4.4"/>
</p:tagLst>
</file>

<file path=ppt/tags/tag35.xml><?xml version="1.0" encoding="utf-8"?>
<p:tagLst xmlns:a="http://schemas.openxmlformats.org/drawingml/2006/main" xmlns:r="http://schemas.openxmlformats.org/officeDocument/2006/relationships" xmlns:p="http://schemas.openxmlformats.org/presentationml/2006/main">
  <p:tag name="TIMING" val="|2.2|1.1|18.6|18.3|3.3|7.5|4.4"/>
</p:tagLst>
</file>

<file path=ppt/tags/tag36.xml><?xml version="1.0" encoding="utf-8"?>
<p:tagLst xmlns:a="http://schemas.openxmlformats.org/drawingml/2006/main" xmlns:r="http://schemas.openxmlformats.org/officeDocument/2006/relationships" xmlns:p="http://schemas.openxmlformats.org/presentationml/2006/main">
  <p:tag name="TIMING" val="|0.1|0|0|0.2|0"/>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TIMING" val="|0.6|0.6|1"/>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TIMING" val="|0.6|0.6|1"/>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TotalTime>
  <Words>1639</Words>
  <Application>Microsoft Office PowerPoint</Application>
  <PresentationFormat>宽屏</PresentationFormat>
  <Paragraphs>199</Paragraphs>
  <Slides>29</Slides>
  <Notes>18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29</vt:i4>
      </vt:variant>
    </vt:vector>
  </HeadingPairs>
  <TitlesOfParts>
    <vt:vector size="37" baseType="lpstr">
      <vt:lpstr>-apple-system</vt:lpstr>
      <vt:lpstr>华文中宋</vt:lpstr>
      <vt:lpstr>楷体</vt:lpstr>
      <vt:lpstr>Arial</vt:lpstr>
      <vt:lpstr>Calibri</vt:lpstr>
      <vt:lpstr>Calibri Light</vt:lpstr>
      <vt:lpstr>Times New Roman</vt:lpstr>
      <vt:lpstr>Office Theme</vt:lpstr>
      <vt:lpstr> 实验四 一种基于Gabor滤波器与SVM分类器的人脸识别系统</vt:lpstr>
      <vt:lpstr>1. 效果演示与系统说明</vt:lpstr>
      <vt:lpstr>1. 效果演示与系统说明</vt:lpstr>
      <vt:lpstr>PowerPoint 演示文稿</vt:lpstr>
      <vt:lpstr>PowerPoint 演示文稿</vt:lpstr>
      <vt:lpstr>PowerPoint 演示文稿</vt:lpstr>
      <vt:lpstr>1. 效果演示与系统说明</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效果演示与系统说明</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效果演示与系统说明</vt:lpstr>
      <vt:lpstr>PowerPoint 演示文稿</vt:lpstr>
      <vt:lpstr>PowerPoint 演示文稿</vt:lpstr>
      <vt:lpstr>1. 效果演示与系统说明</vt:lpstr>
      <vt:lpstr>PowerPoint 演示文稿</vt:lpstr>
      <vt:lpstr>PowerPoint 演示文稿</vt:lpstr>
      <vt:lpstr>感谢您的聆听！</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5G移动通信网络室内分布系统规划建模及快速算法研究</dc:title>
  <dc:creator>LI Genghui</dc:creator>
  <cp:lastModifiedBy>Jiacong Huang</cp:lastModifiedBy>
  <cp:revision>496</cp:revision>
  <dcterms:created xsi:type="dcterms:W3CDTF">2021-04-18T01:49:00Z</dcterms:created>
  <dcterms:modified xsi:type="dcterms:W3CDTF">2024-12-22T14:58:40Z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2C463E9A8F92441E9D6350FF7286A4C3</vt:lpwstr>
  </property>
  <property fmtid="{D5CDD505-2E9C-101B-9397-08002B2CF9AE}" pid="3" name="KSOProductBuildVer">
    <vt:lpwstr>2052-12.1.0.18608</vt:lpwstr>
  </property>
</Properties>
</file>