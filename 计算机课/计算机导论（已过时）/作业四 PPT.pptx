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3"/>
    <p:sldId id="257" r:id="rId4"/>
    <p:sldId id="258" r:id="rId5"/>
    <p:sldId id="272" r:id="rId6"/>
    <p:sldId id="270" r:id="rId7"/>
    <p:sldId id="274" r:id="rId8"/>
    <p:sldId id="259" r:id="rId9"/>
    <p:sldId id="260" r:id="rId10"/>
    <p:sldId id="275" r:id="rId11"/>
    <p:sldId id="261" r:id="rId12"/>
    <p:sldId id="276" r:id="rId13"/>
    <p:sldId id="262" r:id="rId14"/>
    <p:sldId id="277" r:id="rId15"/>
    <p:sldId id="263" r:id="rId16"/>
    <p:sldId id="264" r:id="rId17"/>
    <p:sldId id="278" r:id="rId18"/>
    <p:sldId id="281" r:id="rId19"/>
    <p:sldId id="279" r:id="rId20"/>
    <p:sldId id="280" r:id="rId21"/>
    <p:sldId id="283" r:id="rId22"/>
    <p:sldId id="284" r:id="rId23"/>
    <p:sldId id="285" r:id="rId24"/>
    <p:sldId id="286" r:id="rId25"/>
  </p:sldIdLst>
  <p:sldSz cx="12192000" cy="6858000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gs" Target="tags/tag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 sz="7200">
                <a:latin typeface="华文楷体" panose="02010600040101010101" charset="-122"/>
                <a:ea typeface="华文楷体" panose="02010600040101010101" charset="-122"/>
              </a:rPr>
              <a:t>个人学习</a:t>
            </a:r>
            <a:r>
              <a:rPr lang="zh-CN" altLang="en-US" sz="7200">
                <a:latin typeface="华文楷体" panose="02010600040101010101" charset="-122"/>
                <a:ea typeface="华文楷体" panose="02010600040101010101" charset="-122"/>
              </a:rPr>
              <a:t>总结</a:t>
            </a:r>
            <a:endParaRPr lang="zh-CN" altLang="en-US" sz="72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 sz="3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深圳大学 黄嘉聪</a:t>
            </a:r>
            <a:endParaRPr lang="zh-CN" altLang="en-US" sz="3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6000">
                <a:latin typeface="华文楷体" panose="02010600040101010101" charset="-122"/>
                <a:ea typeface="华文楷体" panose="02010600040101010101" charset="-122"/>
              </a:rPr>
              <a:t>一、学习</a:t>
            </a:r>
            <a:r>
              <a:rPr lang="zh-CN" altLang="en-US" sz="6000">
                <a:latin typeface="华文楷体" panose="02010600040101010101" charset="-122"/>
                <a:ea typeface="华文楷体" panose="02010600040101010101" charset="-122"/>
              </a:rPr>
              <a:t>自我</a:t>
            </a:r>
            <a:endParaRPr lang="zh-CN" altLang="en-US" sz="60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p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1.职业兴趣-我喜欢干什么？</a:t>
            </a:r>
            <a:endParaRPr lang="zh-CN" altLang="en-US" sz="36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36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2.职业能力—我能做什么？</a:t>
            </a:r>
            <a:endParaRPr lang="zh-CN" altLang="en-US" sz="36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36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3.个人特质-我适合干什么？</a:t>
            </a:r>
            <a:endParaRPr lang="zh-CN" altLang="en-US" sz="36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36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4.职业价值观-我最看重什么？</a:t>
            </a:r>
            <a:endParaRPr lang="zh-CN" altLang="en-US" sz="36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1.职业兴趣-我喜欢干什么？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1.职业兴趣-我喜欢干什么？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351338"/>
          </a:xfrm>
        </p:spPr>
        <p:txBody>
          <a:bodyPr/>
          <a:p>
            <a:r>
              <a:rPr lang="zh-CN" altLang="en-US" sz="3600"/>
              <a:t>霍兰德职业兴趣报告指出，我的职业兴趣前三项分别是常规性、探索型、社会型。</a:t>
            </a:r>
            <a:endParaRPr lang="zh-CN" altLang="en-US" sz="3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1.职业兴趣-我喜欢干什么？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我的具体情况是：</a:t>
            </a:r>
            <a:endParaRPr lang="zh-CN" altLang="en-US"/>
          </a:p>
          <a:p>
            <a:r>
              <a:rPr lang="zh-CN" altLang="en-US"/>
              <a:t>在常规型这方面，我相对喜欢按部就班的按照规则做事情，因而，更适合其对应的软件工程师、数据库管理、金融分析师等职业。</a:t>
            </a:r>
            <a:endParaRPr lang="zh-CN" altLang="en-US"/>
          </a:p>
          <a:p>
            <a:r>
              <a:rPr lang="zh-CN" altLang="en-US"/>
              <a:t>在探索型这一方面，我喜欢基础学科的内容，有从事相关研究工作的兴趣，对应工作为科学研究人员、教师、软件工程师、系统分析师。</a:t>
            </a:r>
            <a:endParaRPr lang="zh-CN" altLang="en-US"/>
          </a:p>
          <a:p>
            <a:r>
              <a:rPr lang="zh-CN" altLang="en-US"/>
              <a:t>在社会型这一方面，也乐意传授知识给他人，对应工作为教育工作者。</a:t>
            </a:r>
            <a:endParaRPr lang="zh-CN" altLang="en-US"/>
          </a:p>
          <a:p>
            <a:r>
              <a:rPr lang="zh-CN" altLang="en-US"/>
              <a:t>其次，我对于计算机有着浓厚的兴趣。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2.职业能力—我能做什么？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我的评测报告显示，我在于事务型、研究型工作能力较强，而艺术类等创造性活动较弱。</a:t>
            </a:r>
            <a:endParaRPr lang="zh-CN" altLang="en-US"/>
          </a:p>
          <a:p>
            <a:r>
              <a:rPr lang="zh-CN" altLang="en-US"/>
              <a:t>他人对我的评价就是创造力不强，不擅长动手操作，但是做事能力不错。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2.职业能力—我能做什么？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我的具体情况是：</a:t>
            </a:r>
            <a:endParaRPr lang="zh-CN" altLang="en-US"/>
          </a:p>
          <a:p>
            <a:r>
              <a:rPr lang="zh-CN" altLang="en-US"/>
              <a:t>从我自身的感受和实际情况而言，我的处理事情的能力较强；我的理科类、计算机类的能力相对较强，而对于动手组装，创造性的艺术活动类不擅长。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3.个人特质-我适合干什么？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351338"/>
          </a:xfrm>
        </p:spPr>
        <p:txBody>
          <a:bodyPr/>
          <a:p>
            <a:r>
              <a:rPr lang="zh-CN" altLang="en-US" sz="4000"/>
              <a:t>我的MBTI测试结果是ISTJ型人格。</a:t>
            </a:r>
            <a:endParaRPr lang="zh-CN" altLang="en-US" sz="4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3.个人特质-我适合干什么？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351338"/>
          </a:xfrm>
        </p:spPr>
        <p:txBody>
          <a:bodyPr/>
          <a:p>
            <a:pPr marL="0" indent="0">
              <a:buNone/>
            </a:pPr>
            <a:r>
              <a:rPr lang="zh-CN" altLang="en-US" sz="3600"/>
              <a:t>我的具体情况是：</a:t>
            </a:r>
            <a:endParaRPr lang="zh-CN" altLang="en-US" sz="3600"/>
          </a:p>
          <a:p>
            <a:r>
              <a:rPr lang="zh-CN" altLang="en-US" sz="3600"/>
              <a:t>我平时喜欢按照规划按部就班的工作，在处理事情时不喜欢先假设某种情况，习惯是先分析事实和环境来规划和处理事情。</a:t>
            </a:r>
            <a:endParaRPr lang="zh-CN" altLang="en-US" sz="3600"/>
          </a:p>
          <a:p>
            <a:r>
              <a:rPr lang="zh-CN" altLang="en-US" sz="3600"/>
              <a:t>适合职业是数据库管理、财务工作者、预算分析员、证券经纪人。</a:t>
            </a:r>
            <a:endParaRPr lang="zh-CN" altLang="en-US" sz="3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4.职业价值观-我最看重什么？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4400"/>
              <a:t>舒博15种职业价值观测试结果由高到低依次是：安全性，经济报酬，成就。</a:t>
            </a:r>
            <a:endParaRPr lang="zh-CN" altLang="en-US" sz="4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4.职业价值观-我最看重什么？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24305"/>
            <a:ext cx="10515600" cy="4351338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/>
              <a:t>我的具体情况是：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r>
              <a:rPr lang="zh-CN" altLang="en-US"/>
              <a:t>我基于我自身的经历而言，我对于职业的稳定性和安全性要求是最高的，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足够的经济报酬，报酬本身也是金钱对于我安全性的保证之一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成就是符合我“做了事情会有成果的”的价值观的体现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适合的职业是：体制内、教师、软件工程师等技术岗位、科学家等研究岗位。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5400" b="1">
                <a:latin typeface="华文楷体" panose="02010600040101010101" charset="-122"/>
                <a:ea typeface="华文楷体" panose="02010600040101010101" charset="-122"/>
              </a:rPr>
              <a:t>学习自我小结</a:t>
            </a:r>
            <a:endParaRPr lang="zh-CN" altLang="en-US" sz="5400" b="1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4400">
                <a:latin typeface="宋体" panose="02010600030101010101" pitchFamily="2" charset="-122"/>
                <a:ea typeface="宋体" panose="02010600030101010101" pitchFamily="2" charset="-122"/>
              </a:rPr>
              <a:t>我适合计算机类工作。</a:t>
            </a:r>
            <a:endParaRPr lang="zh-CN" altLang="en-US" sz="4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4400">
                <a:latin typeface="宋体" panose="02010600030101010101" pitchFamily="2" charset="-122"/>
                <a:ea typeface="宋体" panose="02010600030101010101" pitchFamily="2" charset="-122"/>
              </a:rPr>
              <a:t>教师类工作，金融方向的工作可作为次要选择。</a:t>
            </a:r>
            <a:endParaRPr lang="zh-CN" altLang="en-US" sz="4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6000">
                <a:latin typeface="华文楷体" panose="02010600040101010101" charset="-122"/>
                <a:ea typeface="华文楷体" panose="02010600040101010101" charset="-122"/>
              </a:rPr>
              <a:t>二、学习职业分析</a:t>
            </a:r>
            <a:r>
              <a:rPr lang="zh-CN" altLang="en-US" sz="6000">
                <a:latin typeface="华文楷体" panose="02010600040101010101" charset="-122"/>
                <a:ea typeface="华文楷体" panose="02010600040101010101" charset="-122"/>
              </a:rPr>
              <a:t>总结</a:t>
            </a:r>
            <a:endParaRPr lang="zh-CN" altLang="en-US" sz="60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4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1.家庭环境分析。</a:t>
            </a:r>
            <a:endParaRPr lang="zh-CN" altLang="en-US" sz="4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4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4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2.学校环境分析。</a:t>
            </a:r>
            <a:endParaRPr lang="zh-CN" altLang="en-US" sz="4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4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4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3.社会及职业环境分析。</a:t>
            </a:r>
            <a:endParaRPr lang="zh-CN" altLang="en-US" sz="4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1.家庭环境分析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zh-CN" altLang="en-US" sz="3000">
                <a:latin typeface="宋体" panose="02010600030101010101" pitchFamily="2" charset="-122"/>
                <a:ea typeface="宋体" panose="02010600030101010101" pitchFamily="2" charset="-122"/>
              </a:rPr>
              <a:t>经济状况：家庭经济状况并非富裕，需要我及早找到一个工作报酬高、稳定性高的工作，来补贴家用，减轻家庭负担。</a:t>
            </a:r>
            <a:endParaRPr lang="zh-CN" altLang="en-US" sz="3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3000">
                <a:latin typeface="宋体" panose="02010600030101010101" pitchFamily="2" charset="-122"/>
                <a:ea typeface="宋体" panose="02010600030101010101" pitchFamily="2" charset="-122"/>
              </a:rPr>
              <a:t>家人期望：作为家里的长子，身上负担着为弟弟妹妹成长的责任，作为一个榜样，自己要找到一份比较合理的工作，排除短期内送外卖等灵活性工作等。作为一个家庭的预备顶梁柱，需要找到一份稳定性高的工作来支持家庭环境。</a:t>
            </a:r>
            <a:endParaRPr lang="zh-CN" altLang="en-US" sz="3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3000">
                <a:latin typeface="宋体" panose="02010600030101010101" pitchFamily="2" charset="-122"/>
                <a:ea typeface="宋体" panose="02010600030101010101" pitchFamily="2" charset="-122"/>
              </a:rPr>
              <a:t>家庭文化：家庭是属于很早就出来打拼的一类，家庭对于体制、老师、医生、银行等传统职业的限制几乎没有，可以不考虑其限制。</a:t>
            </a:r>
            <a:endParaRPr lang="zh-CN" altLang="en-US" sz="3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2.学校环境分析。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zh-CN" altLang="en-US" sz="3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个人情况：我就读的学校是深圳大学，专业是信息与计算科学（数学与计算机实验班）。</a:t>
            </a:r>
            <a:endParaRPr lang="zh-CN" altLang="en-US" sz="3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3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学校优势：计算机类专业在全国名列前茅；</a:t>
            </a:r>
            <a:endParaRPr lang="zh-CN" altLang="en-US" sz="3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3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其二，作为伴随深圳一同成长的学校，周围被科技创新公司环绕，</a:t>
            </a:r>
            <a:r>
              <a:rPr lang="zh-CN" altLang="en-US" sz="3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因而计算机类实习机会多，校招企业广泛，并且多深圳本地企业，计算机类企业</a:t>
            </a:r>
            <a:r>
              <a:rPr lang="en-US" altLang="zh-CN" sz="3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zh-CN" altLang="en-US" sz="3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具有巨大优势</a:t>
            </a:r>
            <a:endParaRPr lang="en-US" altLang="zh-CN" sz="3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2.学校环境分析。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综合看待：学习的专业与学校优势专业贴合很紧密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与所处的位置-深圳贴合很紧密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因而要积极学习学校专业教学内容，积极参加学校内的校招（尤其是上述类企业），把握住学校本身的资源和机会。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3.社会及职业环境分析。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3600">
                <a:latin typeface="宋体" panose="02010600030101010101" pitchFamily="2" charset="-122"/>
                <a:ea typeface="宋体" panose="02010600030101010101" pitchFamily="2" charset="-122"/>
              </a:rPr>
              <a:t>深圳是全国科技创新的领头羊，科技创新企业，互联网企业，如华为、字节跳动、腾讯等大厂在此聚集，计算机方向就业企业多，从这一角度说，往计算机方面突破会有大机会。</a:t>
            </a:r>
            <a:endParaRPr lang="zh-CN" altLang="en-US" sz="3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3.社会及职业环境分析。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</a:rPr>
              <a:t>计算机行业：作为目前世界发展的主要方向之一，在目前人工智能、大数据等新方向的出现赋予了该行业新的能量，是世界发展的重要引擎与推动力，具有不可忽视的力量。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</a:rPr>
              <a:t>但目前该行业在长期发展中逐步步入红海期，竞争激烈程度上升。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</a:rPr>
              <a:t>与我目前的学习方向，性格特征非常符合。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3.社会及职业环境分析。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</a:rPr>
              <a:t>但是，值得高兴的是，笔者目前仍处于大一，距离走出社会工作还有一段时间，四年之后的就业形式一定会比现在好。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</a:rPr>
              <a:t>到时候新一步信息化智能化的趋势会给计算机类赋予新的机遇，深圳作为改革开放的先锋区，对于国家不可避免的信息化，智能化浪潮</a:t>
            </a:r>
            <a:r>
              <a:rPr lang="zh-CN" altLang="en-US" sz="4000">
                <a:latin typeface="宋体" panose="02010600030101010101" pitchFamily="2" charset="-122"/>
                <a:ea typeface="宋体" panose="02010600030101010101" pitchFamily="2" charset="-122"/>
              </a:rPr>
              <a:t>自然有许多的优势扶持政策，这也是其优势之一。</a:t>
            </a:r>
            <a:endParaRPr lang="zh-CN" altLang="en-US" sz="4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6000">
                <a:latin typeface="华文楷体" panose="02010600040101010101" charset="-122"/>
                <a:ea typeface="华文楷体" panose="02010600040101010101" charset="-122"/>
              </a:rPr>
              <a:t>三、最终学习后</a:t>
            </a:r>
            <a:r>
              <a:rPr lang="zh-CN" altLang="en-US" sz="6000">
                <a:latin typeface="华文楷体" panose="02010600040101010101" charset="-122"/>
                <a:ea typeface="华文楷体" panose="02010600040101010101" charset="-122"/>
              </a:rPr>
              <a:t>职业定位</a:t>
            </a:r>
            <a:endParaRPr lang="zh-CN" altLang="en-US" sz="60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4" name="内容占位符 3"/>
          <p:cNvSpPr/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zh-CN" altLang="en-US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838325" y="2288540"/>
          <a:ext cx="8289290" cy="33235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2295"/>
                <a:gridCol w="6436995"/>
              </a:tblGrid>
              <a:tr h="5784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3200" b="1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宋体" panose="02010600030101010101" pitchFamily="2" charset="-122"/>
                        </a:rPr>
                        <a:t>职业目标</a:t>
                      </a:r>
                      <a:endParaRPr lang="en-US" altLang="en-US" sz="3200" b="1">
                        <a:solidFill>
                          <a:schemeClr val="tx1"/>
                        </a:solidFill>
                        <a:latin typeface="+mj-ea"/>
                        <a:ea typeface="+mj-ea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3200" b="1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宋体" panose="02010600030101010101" pitchFamily="2" charset="-122"/>
                        </a:rPr>
                        <a:t>将来从事计算机行业的前端开发员，高级软件工程师</a:t>
                      </a:r>
                      <a:endParaRPr lang="en-US" altLang="en-US" sz="3200" b="1">
                        <a:solidFill>
                          <a:schemeClr val="tx1"/>
                        </a:solidFill>
                        <a:latin typeface="+mj-ea"/>
                        <a:ea typeface="+mj-ea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 anchor="t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84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3200" b="1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宋体" panose="02010600030101010101" pitchFamily="2" charset="-122"/>
                        </a:rPr>
                        <a:t>职业发展策略</a:t>
                      </a:r>
                      <a:endParaRPr lang="en-US" altLang="en-US" sz="3200" b="1">
                        <a:solidFill>
                          <a:schemeClr val="tx1"/>
                        </a:solidFill>
                        <a:latin typeface="+mj-ea"/>
                        <a:ea typeface="+mj-ea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3200" b="1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宋体" panose="02010600030101010101" pitchFamily="2" charset="-122"/>
                        </a:rPr>
                        <a:t>在深圳本地发展，</a:t>
                      </a:r>
                      <a:endParaRPr lang="en-US" altLang="en-US" sz="3200" b="1">
                        <a:solidFill>
                          <a:schemeClr val="tx1"/>
                        </a:solidFill>
                        <a:latin typeface="+mj-ea"/>
                        <a:ea typeface="+mj-ea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 anchor="t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785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3200" b="1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宋体" panose="02010600030101010101" pitchFamily="2" charset="-122"/>
                        </a:rPr>
                        <a:t>职业发展路径</a:t>
                      </a:r>
                      <a:endParaRPr lang="en-US" altLang="en-US" sz="3200" b="1">
                        <a:solidFill>
                          <a:schemeClr val="tx1"/>
                        </a:solidFill>
                        <a:latin typeface="+mj-ea"/>
                        <a:ea typeface="+mj-ea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3200" b="1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宋体" panose="02010600030101010101" pitchFamily="2" charset="-122"/>
                        </a:rPr>
                        <a:t>走竞赛路线，次之走专业学习路线</a:t>
                      </a:r>
                      <a:endParaRPr lang="en-US" altLang="en-US" sz="3200" b="1">
                        <a:solidFill>
                          <a:schemeClr val="tx1"/>
                        </a:solidFill>
                        <a:latin typeface="+mj-ea"/>
                        <a:ea typeface="+mj-ea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 anchor="t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887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3200" b="1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宋体" panose="02010600030101010101" pitchFamily="2" charset="-122"/>
                        </a:rPr>
                        <a:t>具体路径</a:t>
                      </a:r>
                      <a:endParaRPr lang="en-US" altLang="en-US" sz="3200" b="1">
                        <a:solidFill>
                          <a:schemeClr val="tx1"/>
                        </a:solidFill>
                        <a:latin typeface="+mj-ea"/>
                        <a:ea typeface="+mj-ea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3200" b="1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j-ea"/>
                        </a:rPr>
                        <a:t>专业学习/竞赛--初级软件工程师-高级软件工程师</a:t>
                      </a:r>
                      <a:endParaRPr lang="en-US" altLang="en-US" sz="3200" b="1">
                        <a:solidFill>
                          <a:schemeClr val="tx1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vert="horz" anchor="t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 sz="6000">
                <a:latin typeface="华文楷体" panose="02010600040101010101" charset="-122"/>
                <a:ea typeface="华文楷体" panose="02010600040101010101" charset="-122"/>
                <a:sym typeface="+mn-ea"/>
              </a:rPr>
              <a:t>四、对于学习后计划实施的设计</a:t>
            </a:r>
            <a:endParaRPr lang="zh-CN" altLang="en-US" sz="6000"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261485" y="1395095"/>
            <a:ext cx="7588885" cy="54629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60045" y="2583180"/>
            <a:ext cx="4456430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除了以上之外，在大一~大三的过程之中，尽可能的考到教师资格证（中学）。</a:t>
            </a:r>
            <a:endParaRPr lang="zh-CN" altLang="en-US" sz="3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 sz="6000">
                <a:latin typeface="华文楷体" panose="02010600040101010101" charset="-122"/>
                <a:ea typeface="华文楷体" panose="02010600040101010101" charset="-122"/>
                <a:sym typeface="+mn-ea"/>
              </a:rPr>
              <a:t>四、对于学习后计划实施的设计</a:t>
            </a:r>
            <a:endParaRPr lang="zh-CN" altLang="en-US" sz="6000"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23900" y="3130550"/>
            <a:ext cx="5542280" cy="31718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615" y="3300095"/>
            <a:ext cx="5269865" cy="2832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 sz="6000">
                <a:latin typeface="华文楷体" panose="02010600040101010101" charset="-122"/>
                <a:ea typeface="华文楷体" panose="02010600040101010101" charset="-122"/>
              </a:rPr>
              <a:t>四、对</a:t>
            </a:r>
            <a:r>
              <a:rPr lang="zh-CN" altLang="en-US" sz="6000">
                <a:latin typeface="华文楷体" panose="02010600040101010101" charset="-122"/>
                <a:ea typeface="华文楷体" panose="02010600040101010101" charset="-122"/>
              </a:rPr>
              <a:t>于学习后计划实施的</a:t>
            </a:r>
            <a:r>
              <a:rPr lang="zh-CN" altLang="en-US" sz="6000">
                <a:latin typeface="华文楷体" panose="02010600040101010101" charset="-122"/>
                <a:ea typeface="华文楷体" panose="02010600040101010101" charset="-122"/>
              </a:rPr>
              <a:t>设计</a:t>
            </a:r>
            <a:endParaRPr lang="zh-CN" altLang="en-US" sz="6000"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8" name="内容占位符 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98495" y="1825625"/>
            <a:ext cx="5794375" cy="43516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TABLE_BEAUTIFY" val="smartTable{5baefd9b-5556-49f7-841f-9ce5f7b28bbb}"/>
  <p:tag name="TABLE_ENDDRAG_ORIGIN_RECT" val="652*261"/>
  <p:tag name="TABLE_ENDDRAG_RECT" val="144*180*652*261"/>
</p:tagLst>
</file>

<file path=ppt/tags/tag2.xml><?xml version="1.0" encoding="utf-8"?>
<p:tagLst xmlns:p="http://schemas.openxmlformats.org/presentationml/2006/main">
  <p:tag name="COMMONDATA" val="eyJoZGlkIjoiMGUwMzM5OTI4YTM0YjQ0ODhlODJlNjE0OWNjODk0ZTkifQ=="/>
  <p:tag name="KSO_WPP_MARK_KEY" val="59e767ea-89e9-4a35-8998-0e27fe3bb462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1904</Words>
  <Application>WPS 演示</Application>
  <PresentationFormat>宽屏</PresentationFormat>
  <Paragraphs>137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Arial</vt:lpstr>
      <vt:lpstr>宋体</vt:lpstr>
      <vt:lpstr>Wingdings</vt:lpstr>
      <vt:lpstr>华文楷体</vt:lpstr>
      <vt:lpstr>微软雅黑</vt:lpstr>
      <vt:lpstr>Arial Unicode MS</vt:lpstr>
      <vt:lpstr>Calibri</vt:lpstr>
      <vt:lpstr>Office 主题</vt:lpstr>
      <vt:lpstr>职业生涯规划介绍</vt:lpstr>
      <vt:lpstr>一、自我分析</vt:lpstr>
      <vt:lpstr>1.职业兴趣-我喜欢干什么？</vt:lpstr>
      <vt:lpstr>1.职业兴趣-我喜欢干什么？</vt:lpstr>
      <vt:lpstr>1.职业兴趣-我喜欢干什么？</vt:lpstr>
      <vt:lpstr>2.职业能力—我能做什么？</vt:lpstr>
      <vt:lpstr>2.职业能力—我能做什么？</vt:lpstr>
      <vt:lpstr>3.个人特质-我适合干什么？</vt:lpstr>
      <vt:lpstr>3.个人特质-我适合干什么？</vt:lpstr>
      <vt:lpstr>4.职业价值观-我最看重什么？</vt:lpstr>
      <vt:lpstr>4.职业价值观-我最看重什么？</vt:lpstr>
      <vt:lpstr>自我分析小结</vt:lpstr>
      <vt:lpstr>二、职业分析</vt:lpstr>
      <vt:lpstr>1.家庭环境分析</vt:lpstr>
      <vt:lpstr>2.学校环境分析。</vt:lpstr>
      <vt:lpstr>2.学校环境分析。</vt:lpstr>
      <vt:lpstr>3.社会及职业环境分析。</vt:lpstr>
      <vt:lpstr>3.社会及职业环境分析。</vt:lpstr>
      <vt:lpstr>3.社会及职业环境分析。</vt:lpstr>
      <vt:lpstr>三、职业定位</vt:lpstr>
      <vt:lpstr>四、计划实施</vt:lpstr>
      <vt:lpstr>四、计划实施</vt:lpstr>
      <vt:lpstr>四、计划实施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Chino</dc:creator>
  <cp:lastModifiedBy>Chino</cp:lastModifiedBy>
  <cp:revision>3</cp:revision>
  <dcterms:created xsi:type="dcterms:W3CDTF">2023-11-01T11:45:00Z</dcterms:created>
  <dcterms:modified xsi:type="dcterms:W3CDTF">2023-11-16T13:40:41Z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2E95EA745F5348168A7C638032A7CFE8</vt:lpwstr>
  </property>
  <property fmtid="{D5CDD505-2E9C-101B-9397-08002B2CF9AE}" pid="3" name="KSOProductBuildVer">
    <vt:lpwstr>2052-11.1.0.12165</vt:lpwstr>
  </property>
</Properties>
</file>